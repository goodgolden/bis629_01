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omments/comment1.xml" ContentType="application/vnd.openxmlformats-officedocument.presentationml.comment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omments/comment2.xml" ContentType="application/vnd.openxmlformats-officedocument.presentationml.comment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ink/ink7.xml" ContentType="application/inkml+xml"/>
  <Override PartName="/ppt/notesSlides/notesSlide48.xml" ContentType="application/vnd.openxmlformats-officedocument.presentationml.notesSlide+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notesSlides/notesSlide49.xml" ContentType="application/vnd.openxmlformats-officedocument.presentationml.notesSlide+xml"/>
  <Override PartName="/ppt/ink/ink14.xml" ContentType="application/inkml+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ink/ink15.xml" ContentType="application/inkml+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ink/ink16.xml" ContentType="application/inkml+xml"/>
  <Override PartName="/ppt/ink/ink17.xml" ContentType="application/inkml+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ink/ink18.xml" ContentType="application/inkml+xml"/>
  <Override PartName="/ppt/ink/ink19.xml" ContentType="application/inkml+xml"/>
  <Override PartName="/ppt/ink/ink20.xml" ContentType="application/inkml+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comments/comment3.xml" ContentType="application/vnd.openxmlformats-officedocument.presentationml.comments+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comments/comment4.xml" ContentType="application/vnd.openxmlformats-officedocument.presentationml.comments+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comments/comment5.xml" ContentType="application/vnd.openxmlformats-officedocument.presentationml.comments+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comments/comment6.xml" ContentType="application/vnd.openxmlformats-officedocument.presentationml.comments+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comments/comment7.xml" ContentType="application/vnd.openxmlformats-officedocument.presentationml.comments+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comments/comment8.xml" ContentType="application/vnd.openxmlformats-officedocument.presentationml.comments+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6"/>
  </p:notesMasterIdLst>
  <p:handoutMasterIdLst>
    <p:handoutMasterId r:id="rId137"/>
  </p:handoutMasterIdLst>
  <p:sldIdLst>
    <p:sldId id="256" r:id="rId2"/>
    <p:sldId id="307" r:id="rId3"/>
    <p:sldId id="308" r:id="rId4"/>
    <p:sldId id="309" r:id="rId5"/>
    <p:sldId id="310" r:id="rId6"/>
    <p:sldId id="311" r:id="rId7"/>
    <p:sldId id="399" r:id="rId8"/>
    <p:sldId id="400" r:id="rId9"/>
    <p:sldId id="312" r:id="rId10"/>
    <p:sldId id="313" r:id="rId11"/>
    <p:sldId id="314" r:id="rId12"/>
    <p:sldId id="315" r:id="rId13"/>
    <p:sldId id="316" r:id="rId14"/>
    <p:sldId id="401" r:id="rId15"/>
    <p:sldId id="317" r:id="rId16"/>
    <p:sldId id="318" r:id="rId17"/>
    <p:sldId id="319" r:id="rId18"/>
    <p:sldId id="320" r:id="rId19"/>
    <p:sldId id="322" r:id="rId20"/>
    <p:sldId id="323" r:id="rId21"/>
    <p:sldId id="324" r:id="rId22"/>
    <p:sldId id="402" r:id="rId23"/>
    <p:sldId id="325" r:id="rId24"/>
    <p:sldId id="329" r:id="rId25"/>
    <p:sldId id="403" r:id="rId26"/>
    <p:sldId id="326" r:id="rId27"/>
    <p:sldId id="436" r:id="rId28"/>
    <p:sldId id="327" r:id="rId29"/>
    <p:sldId id="437" r:id="rId30"/>
    <p:sldId id="438" r:id="rId31"/>
    <p:sldId id="330" r:id="rId32"/>
    <p:sldId id="331" r:id="rId33"/>
    <p:sldId id="344" r:id="rId34"/>
    <p:sldId id="345" r:id="rId35"/>
    <p:sldId id="478" r:id="rId36"/>
    <p:sldId id="484" r:id="rId37"/>
    <p:sldId id="485" r:id="rId38"/>
    <p:sldId id="445" r:id="rId39"/>
    <p:sldId id="346" r:id="rId40"/>
    <p:sldId id="479" r:id="rId41"/>
    <p:sldId id="446" r:id="rId42"/>
    <p:sldId id="347" r:id="rId43"/>
    <p:sldId id="348" r:id="rId44"/>
    <p:sldId id="349" r:id="rId45"/>
    <p:sldId id="455" r:id="rId46"/>
    <p:sldId id="447" r:id="rId47"/>
    <p:sldId id="456" r:id="rId48"/>
    <p:sldId id="477" r:id="rId49"/>
    <p:sldId id="466" r:id="rId50"/>
    <p:sldId id="442" r:id="rId51"/>
    <p:sldId id="441" r:id="rId52"/>
    <p:sldId id="351" r:id="rId53"/>
    <p:sldId id="350" r:id="rId54"/>
    <p:sldId id="407" r:id="rId55"/>
    <p:sldId id="467" r:id="rId56"/>
    <p:sldId id="452" r:id="rId57"/>
    <p:sldId id="453" r:id="rId58"/>
    <p:sldId id="454" r:id="rId59"/>
    <p:sldId id="352" r:id="rId60"/>
    <p:sldId id="443" r:id="rId61"/>
    <p:sldId id="448" r:id="rId62"/>
    <p:sldId id="444" r:id="rId63"/>
    <p:sldId id="450" r:id="rId64"/>
    <p:sldId id="482" r:id="rId65"/>
    <p:sldId id="449" r:id="rId66"/>
    <p:sldId id="332" r:id="rId67"/>
    <p:sldId id="404" r:id="rId68"/>
    <p:sldId id="335" r:id="rId69"/>
    <p:sldId id="336" r:id="rId70"/>
    <p:sldId id="337" r:id="rId71"/>
    <p:sldId id="353" r:id="rId72"/>
    <p:sldId id="338" r:id="rId73"/>
    <p:sldId id="339" r:id="rId74"/>
    <p:sldId id="340" r:id="rId75"/>
    <p:sldId id="333" r:id="rId76"/>
    <p:sldId id="342" r:id="rId77"/>
    <p:sldId id="334" r:id="rId78"/>
    <p:sldId id="405" r:id="rId79"/>
    <p:sldId id="343" r:id="rId80"/>
    <p:sldId id="354" r:id="rId81"/>
    <p:sldId id="355" r:id="rId82"/>
    <p:sldId id="460" r:id="rId83"/>
    <p:sldId id="457" r:id="rId84"/>
    <p:sldId id="471" r:id="rId85"/>
    <p:sldId id="459" r:id="rId86"/>
    <p:sldId id="461" r:id="rId87"/>
    <p:sldId id="358" r:id="rId88"/>
    <p:sldId id="363" r:id="rId89"/>
    <p:sldId id="357" r:id="rId90"/>
    <p:sldId id="408" r:id="rId91"/>
    <p:sldId id="359" r:id="rId92"/>
    <p:sldId id="360" r:id="rId93"/>
    <p:sldId id="361" r:id="rId94"/>
    <p:sldId id="362" r:id="rId95"/>
    <p:sldId id="364" r:id="rId96"/>
    <p:sldId id="365" r:id="rId97"/>
    <p:sldId id="368" r:id="rId98"/>
    <p:sldId id="369" r:id="rId99"/>
    <p:sldId id="462" r:id="rId100"/>
    <p:sldId id="463" r:id="rId101"/>
    <p:sldId id="473" r:id="rId102"/>
    <p:sldId id="470" r:id="rId103"/>
    <p:sldId id="474" r:id="rId104"/>
    <p:sldId id="469" r:id="rId105"/>
    <p:sldId id="475" r:id="rId106"/>
    <p:sldId id="464" r:id="rId107"/>
    <p:sldId id="476" r:id="rId108"/>
    <p:sldId id="410" r:id="rId109"/>
    <p:sldId id="458" r:id="rId110"/>
    <p:sldId id="483" r:id="rId111"/>
    <p:sldId id="411" r:id="rId112"/>
    <p:sldId id="412" r:id="rId113"/>
    <p:sldId id="413" r:id="rId114"/>
    <p:sldId id="414" r:id="rId115"/>
    <p:sldId id="415" r:id="rId116"/>
    <p:sldId id="416" r:id="rId117"/>
    <p:sldId id="417" r:id="rId118"/>
    <p:sldId id="418" r:id="rId119"/>
    <p:sldId id="419" r:id="rId120"/>
    <p:sldId id="420" r:id="rId121"/>
    <p:sldId id="421" r:id="rId122"/>
    <p:sldId id="422" r:id="rId123"/>
    <p:sldId id="423" r:id="rId124"/>
    <p:sldId id="424" r:id="rId125"/>
    <p:sldId id="425" r:id="rId126"/>
    <p:sldId id="426" r:id="rId127"/>
    <p:sldId id="427" r:id="rId128"/>
    <p:sldId id="428" r:id="rId129"/>
    <p:sldId id="429" r:id="rId130"/>
    <p:sldId id="430" r:id="rId131"/>
    <p:sldId id="431" r:id="rId132"/>
    <p:sldId id="432" r:id="rId133"/>
    <p:sldId id="433" r:id="rId134"/>
    <p:sldId id="434" r:id="rId1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Junhan Fang" initials="JF" lastIdx="15" clrIdx="6">
    <p:extLst>
      <p:ext uri="{19B8F6BF-5375-455C-9EA6-DF929625EA0E}">
        <p15:presenceInfo xmlns:p15="http://schemas.microsoft.com/office/powerpoint/2012/main" userId="Junhan Fang" providerId="None"/>
      </p:ext>
    </p:extLst>
  </p:cmAuthor>
  <p:cmAuthor id="1" name="Spiegelman, Donna" initials="SD" lastIdx="1" clrIdx="0">
    <p:extLst>
      <p:ext uri="{19B8F6BF-5375-455C-9EA6-DF929625EA0E}">
        <p15:presenceInfo xmlns:p15="http://schemas.microsoft.com/office/powerpoint/2012/main" userId="Spiegelman, Donna" providerId="None"/>
      </p:ext>
    </p:extLst>
  </p:cmAuthor>
  <p:cmAuthor id="8" name="Junhan Fang" initials="JF [2]" lastIdx="2" clrIdx="7">
    <p:extLst>
      <p:ext uri="{19B8F6BF-5375-455C-9EA6-DF929625EA0E}">
        <p15:presenceInfo xmlns:p15="http://schemas.microsoft.com/office/powerpoint/2012/main" userId="S::j34fang@uwaterloo.ca::c550d546-2f0e-42bd-aa49-d1c50495ce93" providerId="AD"/>
      </p:ext>
    </p:extLst>
  </p:cmAuthor>
  <p:cmAuthor id="2" name="Donna" initials="dls" lastIdx="20" clrIdx="1">
    <p:extLst>
      <p:ext uri="{19B8F6BF-5375-455C-9EA6-DF929625EA0E}">
        <p15:presenceInfo xmlns:p15="http://schemas.microsoft.com/office/powerpoint/2012/main" userId="Donna" providerId="None"/>
      </p:ext>
    </p:extLst>
  </p:cmAuthor>
  <p:cmAuthor id="9" name="Spiegelman, Donna" initials="SD [3]" lastIdx="9" clrIdx="8">
    <p:extLst>
      <p:ext uri="{19B8F6BF-5375-455C-9EA6-DF929625EA0E}">
        <p15:presenceInfo xmlns:p15="http://schemas.microsoft.com/office/powerpoint/2012/main" userId="S::stdls@hsph.harvard.edu::f2f794f1-90ae-475b-b03c-b13d22493641" providerId="AD"/>
      </p:ext>
    </p:extLst>
  </p:cmAuthor>
  <p:cmAuthor id="3" name="Spiegelman, Donna" initials="SD [2]" lastIdx="76" clrIdx="2">
    <p:extLst>
      <p:ext uri="{19B8F6BF-5375-455C-9EA6-DF929625EA0E}">
        <p15:presenceInfo xmlns:p15="http://schemas.microsoft.com/office/powerpoint/2012/main" userId="S::donna.spiegelman@yale.edu::fb7e3339-209c-474a-bdc4-68157e32c0ce" providerId="AD"/>
      </p:ext>
    </p:extLst>
  </p:cmAuthor>
  <p:cmAuthor id="10" name="Li, Zexiang" initials="ZL" lastIdx="3" clrIdx="9">
    <p:extLst>
      <p:ext uri="{19B8F6BF-5375-455C-9EA6-DF929625EA0E}">
        <p15:presenceInfo xmlns:p15="http://schemas.microsoft.com/office/powerpoint/2012/main" userId="S::zexiang.li@yale.edu::7f6e18c6-e05b-4c53-a0bf-6fc36c90a4c8" providerId="AD"/>
      </p:ext>
    </p:extLst>
  </p:cmAuthor>
  <p:cmAuthor id="4" name="Saracho, Ericka" initials="SE" lastIdx="2" clrIdx="3">
    <p:extLst>
      <p:ext uri="{19B8F6BF-5375-455C-9EA6-DF929625EA0E}">
        <p15:presenceInfo xmlns:p15="http://schemas.microsoft.com/office/powerpoint/2012/main" userId="S::ericka.saracho@yale.edu::b7a2dfe3-ab51-4323-a179-511f0b2a26cc" providerId="AD"/>
      </p:ext>
    </p:extLst>
  </p:cmAuthor>
  <p:cmAuthor id="5" name="Ericka Saracho" initials="ES" lastIdx="11" clrIdx="4">
    <p:extLst>
      <p:ext uri="{19B8F6BF-5375-455C-9EA6-DF929625EA0E}">
        <p15:presenceInfo xmlns:p15="http://schemas.microsoft.com/office/powerpoint/2012/main" userId="b49fc48b52df45da" providerId="Windows Live"/>
      </p:ext>
    </p:extLst>
  </p:cmAuthor>
  <p:cmAuthor id="6" name="Fang, Junhan" initials="FJ" lastIdx="66" clrIdx="5">
    <p:extLst>
      <p:ext uri="{19B8F6BF-5375-455C-9EA6-DF929625EA0E}">
        <p15:presenceInfo xmlns:p15="http://schemas.microsoft.com/office/powerpoint/2012/main" userId="S::junhan.fang@yale.edu::8025f05e-d1a4-4f81-a47a-b4214820d5e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13" autoAdjust="0"/>
    <p:restoredTop sz="91272" autoAdjust="0"/>
  </p:normalViewPr>
  <p:slideViewPr>
    <p:cSldViewPr snapToGrid="0">
      <p:cViewPr varScale="1">
        <p:scale>
          <a:sx n="119" d="100"/>
          <a:sy n="119" d="100"/>
        </p:scale>
        <p:origin x="67"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commentAuthors" Target="commentAuthor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comments/comment1.xml><?xml version="1.0" encoding="utf-8"?>
<p:cmLst xmlns:a="http://schemas.openxmlformats.org/drawingml/2006/main" xmlns:r="http://schemas.openxmlformats.org/officeDocument/2006/relationships" xmlns:p="http://schemas.openxmlformats.org/presentationml/2006/main">
  <p:cm authorId="3" dt="2025-09-26T09:42:31.390" idx="59">
    <p:pos x="7366" y="4029"/>
    <p:text>asked zach to make a slide iwth the other correction factor</p:text>
    <p:extLst>
      <p:ext uri="{C676402C-5697-4E1C-873F-D02D1690AC5C}">
        <p15:threadingInfo xmlns:p15="http://schemas.microsoft.com/office/powerpoint/2012/main" timeZoneBias="24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3" dt="2025-10-22T19:49:23.852" idx="76">
    <p:pos x="3256" y="1904"/>
    <p:text>this came from chatgbt and needs to be checked</p:text>
    <p:extLst>
      <p:ext uri="{C676402C-5697-4E1C-873F-D02D1690AC5C}">
        <p15:threadingInfo xmlns:p15="http://schemas.microsoft.com/office/powerpoint/2012/main" timeZoneBias="24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3" dt="2021-10-18T13:37:28.617" idx="37">
    <p:pos x="7680" y="-11"/>
    <p:text>please insert cluster level analysis.tex here</p:text>
    <p:extLst>
      <p:ext uri="{C676402C-5697-4E1C-873F-D02D1690AC5C}">
        <p15:threadingInfo xmlns:p15="http://schemas.microsoft.com/office/powerpoint/2012/main" timeZoneBias="24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3" dt="2025-10-20T12:15:57.564" idx="66">
    <p:pos x="3" y="-313"/>
    <p:text>need to track down to what extent the CRT notes invoke the normality assumptions?</p:text>
    <p:extLst>
      <p:ext uri="{C676402C-5697-4E1C-873F-D02D1690AC5C}">
        <p15:threadingInfo xmlns:p15="http://schemas.microsoft.com/office/powerpoint/2012/main" timeZoneBias="24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9" dt="2024-10-25T11:57:45.075" idx="9">
    <p:pos x="7518" y="-328"/>
    <p:text>I am not 100% sure this second statement is correct.</p:text>
    <p:extLst>
      <p:ext uri="{C676402C-5697-4E1C-873F-D02D1690AC5C}">
        <p15:threadingInfo xmlns:p15="http://schemas.microsoft.com/office/powerpoint/2012/main" timeZoneBias="24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7" dt="2023-01-23T14:26:27.821" idx="3">
    <p:pos x="7437" y="4465"/>
    <p:text>need to check</p:text>
    <p:extLst>
      <p:ext uri="{C676402C-5697-4E1C-873F-D02D1690AC5C}">
        <p15:threadingInfo xmlns:p15="http://schemas.microsoft.com/office/powerpoint/2012/main" timeZoneBias="300"/>
      </p:ext>
    </p:extLst>
  </p:cm>
  <p:cm authorId="7" dt="2023-01-30T16:14:36.482" idx="9">
    <p:pos x="7437" y="4561"/>
    <p:text>take</p:text>
    <p:extLst>
      <p:ext uri="{C676402C-5697-4E1C-873F-D02D1690AC5C}">
        <p15:threadingInfo xmlns:p15="http://schemas.microsoft.com/office/powerpoint/2012/main" timeZoneBias="300">
          <p15:parentCm authorId="7" idx="3"/>
        </p15:threadingInfo>
      </p:ext>
    </p:extLst>
  </p:cm>
  <p:cm authorId="9" dt="2023-10-09T14:39:51.341" idx="1">
    <p:pos x="7437" y="4657"/>
    <p:text>WE should use the same P_1 and P_2 as for the variable cluster-level analysis</p:text>
    <p:extLst>
      <p:ext uri="{C676402C-5697-4E1C-873F-D02D1690AC5C}">
        <p15:threadingInfo xmlns:p15="http://schemas.microsoft.com/office/powerpoint/2012/main" timeZoneBias="240">
          <p15:parentCm authorId="7" idx="3"/>
        </p15:threadingInfo>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3" dt="2025-10-07T11:03:49.156" idx="61">
    <p:pos x="5697" y="4458"/>
    <p:text>need to rewrite as w2k p2k over w1k p1k</p:text>
    <p:extLst>
      <p:ext uri="{C676402C-5697-4E1C-873F-D02D1690AC5C}">
        <p15:threadingInfo xmlns:p15="http://schemas.microsoft.com/office/powerpoint/2012/main" timeZoneBias="240"/>
      </p:ext>
    </p:extLst>
  </p:cm>
  <p:cm authorId="3" dt="2025-10-07T11:04:59.886" idx="62">
    <p:pos x="5697" y="4554"/>
    <p:text>requires p2k is homogeneous and p1k is homogeneous! new discovery!</p:text>
    <p:extLst>
      <p:ext uri="{C676402C-5697-4E1C-873F-D02D1690AC5C}">
        <p15:threadingInfo xmlns:p15="http://schemas.microsoft.com/office/powerpoint/2012/main" timeZoneBias="240">
          <p15:parentCm authorId="3" idx="61"/>
        </p15:threadingInfo>
      </p:ext>
    </p:extLst>
  </p:cm>
  <p:cm authorId="3" dt="2025-10-07T12:56:23.835" idx="63">
    <p:pos x="5697" y="4650"/>
    <p:text>needs further thought and development in the future; seems result will depend on weights even when no effect modification is there is variation of rates between clusters</p:text>
    <p:extLst>
      <p:ext uri="{C676402C-5697-4E1C-873F-D02D1690AC5C}">
        <p15:threadingInfo xmlns:p15="http://schemas.microsoft.com/office/powerpoint/2012/main" timeZoneBias="240">
          <p15:parentCm authorId="3" idx="61"/>
        </p15:threadingInfo>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9" dt="2024-10-25T11:44:57.750" idx="5">
    <p:pos x="7164" y="-337"/>
    <p:text>Note sure this is true, so I removed it for now: On average, when there is no effect modification, the ecological fallacy cannot arise in a CRT in intent to treat analysis since the treatment assignment is shared by all cluster members. Confounding can occur only on the group level.</p:text>
    <p:extLst>
      <p:ext uri="{C676402C-5697-4E1C-873F-D02D1690AC5C}">
        <p15:threadingInfo xmlns:p15="http://schemas.microsoft.com/office/powerpoint/2012/main" timeZoneBias="240"/>
      </p:ext>
    </p:extLst>
  </p:cm>
  <p:cm authorId="9" dt="2024-10-25T11:46:43.690" idx="6">
    <p:pos x="10" y="10"/>
    <p:text>Some further thoughts, not sure if true. If a balanced CRT with constand m, and homoscedastic variance, unweight CLS = LMM. Do Ruyi and Fan agree?</p:text>
    <p:extLst>
      <p:ext uri="{C676402C-5697-4E1C-873F-D02D1690AC5C}">
        <p15:threadingInfo xmlns:p15="http://schemas.microsoft.com/office/powerpoint/2012/main" timeZoneBias="240"/>
      </p:ext>
    </p:extLst>
  </p:cm>
  <p:cm authorId="9" dt="2024-10-25T11:48:29.233" idx="8">
    <p:pos x="10" y="106"/>
    <p:text>If balanced K but variable m, heteroscedastic outcome, weighted CLS = LMM. corect?</p:text>
    <p:extLst>
      <p:ext uri="{C676402C-5697-4E1C-873F-D02D1690AC5C}">
        <p15:threadingInfo xmlns:p15="http://schemas.microsoft.com/office/powerpoint/2012/main" timeZoneBias="240">
          <p15:parentCm authorId="9" idx="6"/>
        </p15:threadingInfo>
      </p:ext>
    </p:extLst>
  </p:cm>
  <p:cm authorId="3" dt="2025-10-07T12:57:52.832" idx="64">
    <p:pos x="10" y="202"/>
    <p:text>correct based on ruyi and zach's work</p:text>
    <p:extLst>
      <p:ext uri="{C676402C-5697-4E1C-873F-D02D1690AC5C}">
        <p15:threadingInfo xmlns:p15="http://schemas.microsoft.com/office/powerpoint/2012/main" timeZoneBias="240">
          <p15:parentCm authorId="9" idx="6"/>
        </p15:threadingInfo>
      </p:ext>
    </p:extLst>
  </p:cm>
  <p:cm authorId="3" dt="2025-10-07T12:58:16.878" idx="65">
    <p:pos x="10" y="298"/>
    <p:text>may not be equal but asymptotically equivalent</p:text>
    <p:extLst>
      <p:ext uri="{C676402C-5697-4E1C-873F-D02D1690AC5C}">
        <p15:threadingInfo xmlns:p15="http://schemas.microsoft.com/office/powerpoint/2012/main" timeZoneBias="240">
          <p15:parentCm authorId="9" idx="6"/>
        </p15:threadingInfo>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ED1D6AB-BC6E-8749-8967-9B2138EEB0A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7A260E8-CB06-964E-8679-A7C293B5CB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F58F543-A0DD-664C-93D0-E49F32ADBFE2}" type="datetimeFigureOut">
              <a:rPr lang="en-US" smtClean="0"/>
              <a:t>8/28/2026</a:t>
            </a:fld>
            <a:endParaRPr lang="en-US"/>
          </a:p>
        </p:txBody>
      </p:sp>
      <p:sp>
        <p:nvSpPr>
          <p:cNvPr id="4" name="Footer Placeholder 3">
            <a:extLst>
              <a:ext uri="{FF2B5EF4-FFF2-40B4-BE49-F238E27FC236}">
                <a16:creationId xmlns:a16="http://schemas.microsoft.com/office/drawing/2014/main" id="{AB12075F-BD59-064B-872A-6871926B983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E0530B8-6D0F-D04E-AAF1-C0BC0CBCD9D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79C654-E83A-0743-8810-70E3898EEE88}" type="slidenum">
              <a:rPr lang="en-US" smtClean="0"/>
              <a:t>‹#›</a:t>
            </a:fld>
            <a:endParaRPr lang="en-US"/>
          </a:p>
        </p:txBody>
      </p:sp>
    </p:spTree>
    <p:extLst>
      <p:ext uri="{BB962C8B-B14F-4D97-AF65-F5344CB8AC3E}">
        <p14:creationId xmlns:p14="http://schemas.microsoft.com/office/powerpoint/2010/main" val="2585959785"/>
      </p:ext>
    </p:extLst>
  </p:cSld>
  <p:clrMap bg1="lt1" tx1="dk1" bg2="lt2" tx2="dk2" accent1="accent1" accent2="accent2" accent3="accent3" accent4="accent4" accent5="accent5" accent6="accent6" hlink="hlink" folHlink="folHlink"/>
  <p:hf hd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02T18:29:06.79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0,'5'0,"10"0,12 0,10 5,8 1,5 0,3-1,2 7,0 2,0-2,0-2,-1-4,-9-2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02T18:29:12.51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0,'5'0,"5"0,7 5,4 1,7 0,9-1,6-2,5-1,17-1,-2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02T18:29:14.30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80,'5'0,"5"0,6 0,10 0,9 0,11-4,4-7,1 0,2 0,-9-1,-7-4,-10 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02T18:29:19.31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1,'5'0,"10"0,11 8,7 4,1 0,5-3,4-3,3-2,4-2,2-1,1-1,1 9,-10 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02T18:29:25.28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83,'0'-9,"0"-7,10-2,11 3,11 4,10 4,1 2,-1 4,-4 0,6 1,-1 6,-8 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02T18:29:26.91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70,'9'-1,"12"1,12 1,13-1,3-5,3-1,2 0,-1-8,11-1,1 2,-9 3</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03T20:18:03.785"/>
    </inkml:context>
    <inkml:brush xml:id="br0">
      <inkml:brushProperty name="width" value="0.05" units="cm"/>
      <inkml:brushProperty name="height" value="0.05" units="cm"/>
      <inkml:brushProperty name="color" value="#E71224"/>
    </inkml:brush>
  </inkml:definitions>
  <inkml:trace contextRef="#ctx0" brushRef="#br0">6980 3 24575,'-126'-1'0,"-101"1"0,153 4 0,-76 13 0,15 4 0,-191 8 0,-287-30 0,248-1 0,-77 2 0,352-4 0,-144-25 0,-27-3 0,-253 28 0,278 6 0,-1673-2 0,1716 10 0,157-5 0,0 2 0,0 1 0,-48 18 0,30-3 0,0 2 0,1 2 0,2 3 0,-62 46 0,35-15 0,-125 127 0,172-156 0,3 2 0,-29 41 0,42-51 0,0 0 0,2 1 0,1 1 0,-12 37 0,1 11 0,3 1 0,3 1 0,4 1 0,-6 117 0,20-179 0,-1 0 0,2-1 0,0 1 0,1-1 0,0 1 0,1-1 0,1 0 0,0-1 0,1 1 0,0-1 0,1 0 0,1 0 0,0-1 0,0 0 0,1-1 0,1 1 0,0-2 0,21 18 0,-14-15 0,0 0 0,1-2 0,0 0 0,1-1 0,23 9 0,100 28 0,-97-33 0,85 28 0,143 40 0,31 6 0,107 14 0,-410-102 0,117 20 0,40 10 0,-93-14 0,114 12 0,51 11 0,-202-32 0,0 1 0,50 21 0,49 34 0,-64-30 0,33 19 0,46 21 0,-113-60 0,0-1 0,1-2 0,33 7 0,50 4 0,-54-11 0,0 2 0,97 34 0,-103-25 0,1-3 0,102 22 0,-97-29-2,447 70-635,158-6 509,-407-53 128,-203-19 0,-10 3-8,75 18-1,-43-7 154,95 30 551,-112-29-724,82 16-1,89-13 29,3 2 0,-179-15 0,126 18 0,131 20 0,-12-1 0,109 4-288,226 17-272,161-57 1237,-473-12-506,-231 1-171,128-21 0,85-34 0,-216 37 0,-1-3 0,-1-4 0,-1-4 0,-2-3 0,128-74 0,73-84 0,-223 144 0,-3-2 0,76-85 0,-110 105 0,-1 0 0,-1-2 0,-2 0 0,-1-1 0,-2-2 0,-1 1 0,15-50 0,-17 37 0,-1-2 0,-3 1 0,7-88 0,-11-334 0,-7 348 0,-5 3 0,3 99 0,0 1 0,-2-1 0,-12-36 0,8 36 0,0 0 0,-2 0 0,0 0 0,-1 2 0,-1-1 0,-1 2 0,0 0 0,-1 0 0,-29-23 0,18 20 0,-1 1 0,0 1 0,-2 2 0,0 0 0,-60-21 0,-197-56 0,194 64 0,-22-9 0,106 35 0,-115-53 0,-27-15 0,99 49 0,2-2 0,-82-52 0,101 55 0,-31-17 0,48 31 0,-1 1 0,0 0 0,0 1 0,0 1 0,-18-4 0,-18-1 0,-69-14 0,50 6 0,-48-13 0,56 13 0,-1 3 0,-75-8 0,-132 8 0,125 16 0,-93-2 0,184-4 0,0-2 0,-59-15 0,-68-9 0,-313 23 0,309 9 0,-546-1-1365,685-1-5461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03T20:18:18.587"/>
    </inkml:context>
    <inkml:brush xml:id="br0">
      <inkml:brushProperty name="width" value="0.05" units="cm"/>
      <inkml:brushProperty name="height" value="0.05" units="cm"/>
      <inkml:brushProperty name="color" value="#E71224"/>
    </inkml:brush>
  </inkml:definitions>
  <inkml:trace contextRef="#ctx0" brushRef="#br0">0 1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03T20:18:27.842"/>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03T20:18:38.448"/>
    </inkml:context>
    <inkml:brush xml:id="br0">
      <inkml:brushProperty name="width" value="0.05" units="cm"/>
      <inkml:brushProperty name="height" value="0.05" units="cm"/>
      <inkml:brushProperty name="color" value="#E71224"/>
    </inkml:brush>
  </inkml:definitions>
  <inkml:trace contextRef="#ctx0" brushRef="#br0">0 1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03T20:18:38.776"/>
    </inkml:context>
    <inkml:brush xml:id="br0">
      <inkml:brushProperty name="width" value="0.05" units="cm"/>
      <inkml:brushProperty name="height" value="0.05" units="cm"/>
      <inkml:brushProperty name="color" value="#E71224"/>
    </inkml:brush>
  </inkml:definitions>
  <inkml:trace contextRef="#ctx0" brushRef="#br0">0 1 24575,'0'0'-8191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03T20:18:40.990"/>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03T20:18:41.803"/>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05T19:17:57.763"/>
    </inkml:context>
    <inkml:brush xml:id="br0">
      <inkml:brushProperty name="width" value="0.05" units="cm"/>
      <inkml:brushProperty name="height" value="0.05" units="cm"/>
      <inkml:brushProperty name="color" value="#E71224"/>
    </inkml:brush>
  </inkml:definitions>
  <inkml:trace contextRef="#ctx0" brushRef="#br0">246 5113 24575,'33'0'0,"-2"0"0,38 0 0,-26 0 0,25 0 0,28 0 0,-23 0 0,4 0 0,1 0 0,4 0 0,-29 0 0,-1 0 0,10 0 0,-1 0 0,-5 0 0,5 0 0,-8 0 0,1 0 0,7 0 0,-6 0 0,7 0 0,-9 0 0,1-6 0,7 5 0,-5-5 0,5 6 0,-8-6 0,1 4 0,7-4 0,-5 6 0,5 0 0,-7-6 0,7 5 0,27-5 0,-10-1 0,17 6 0,-23-12 0,-8 11 0,6-4 0,-7 6 0,9-7 0,0 6 0,-8-6 0,-2 7 0,-9 0 0,-7 0 0,-2 0 0,-7 0 0,-1 0 0,1 0 0,-1 0 0,1 0 0,-7 0 0,5 0 0,-4 0 0,5 0 0,-5 0 0,4 0 0,11 0 0,10-6 0,16 4 0,15-4 0,-11 6 0,3 0 0,-25 0 0,-9-6 0,-15 5 0,-7-4 0,-7 5 0,-6 0 0,-5-5 0,4 4 0,-8-8 0,4 4 0,-5-5 0,0-11 0,0-4 0,6-19 0,-5-2 0,11-16 0,-4-2 0,7-8 0,-1 0 0,0 0 0,1-1-324,-7 23 0,0-3 324,7-36 0,-7 32 0,0-1 0,7-35 0,-6 18 0,5-14 0,-13 14 0,6-9-69,0 2 69,0 18 0,1 3 0,4 7 0,-5 1 0,7-9 0,0-11 0,-6 14 0,6-18 0,-13 20-6547,6-15 6547,-7 0-452,0-1 452,0 1 0,0 0 0,0 0 0,0-10 0,0-1 0,0-1 0,0 11 0,-7-7-60,-1 14 60,-7-15 0,0 8 0,1 10 0,0-7 6293,0 14-6293,0-6 1316,1 9-1316,-1-1 167,1 1-167,0 0 0,-1 0 0,1-1 0,-12-16 0,9 13 0,-15-13 0,16 17 0,-11-9 0,11 7 0,-12-7 0,6 0 0,-6 7 0,-8-15 0,5 6 0,-5-8 0,-1 6 0,-1-5 0,-6 12 0,7-3 0,-6 4 0,15 12 0,-13-2 0,14 11 0,-13-3 0,8 8 0,-2-5 0,-3 12 0,11-4 0,-4 10 0,7 3 0,0 5 0,5 0 0,1 5 0,-10 1 0,7 5 0,-20 0 0,9 0 0,-15 0 0,-18 0 0,-3 0 0,-25 0 0,7 0 0,33 0 0,-1 0 0,-1 3 0,0 1 0,-5 0 0,-1 1 0,0 7 0,2 0 0,-31 5 0,32-5 0,2 0 0,-24 9 0,-16-4 0,13 5 0,8-1 0,1-5 0,0 11 0,8-11 0,-26 20 0,37-14 0,5-3 0,-1 1 0,-10 7 0,-22 3 0,9-1 0,19-12 0,1 1 0,-19 11 0,19-14 0,1-1 0,-4 11 0,-7-10 0,0 5 0,7-1 0,-15-3 0,14 3 0,-6 1 0,9-5 0,0 4 0,-1-6 0,8 0 0,-5 0 0,18-6 0,-9-1 0,18-6 0,-5 5 0,12-4 0,1 4 0,6-5 0,0 0 0,0 5 0,4 0 0,-3 5 0,3 0 0,-4 0 0,-1 6 0,0 1 0,0 11 0,-1 3 0,-8 45 0,12-14 0,-11 34 0,17-15 0,-11-7-219,12-19 1,1 3 218,-7 41 0,7-40 0,0-1 0,0 28 0,0-25 0,0 0-645,0 33 645,0-30 0,0 1 0,0-7 0,0-2 0,0-3 0,0 0 0,0 6 0,0-2 0,6 31 0,-2-20 0,2-3 0,8 1 0,-6-5 0,1 0 0,5 15 0,2 17 0,-8-30 0,0 0 0,0-12 0,0 0 0,1 17 0,0 1-3213,-1-16 1,0 0 3212,0 4 0,0 2 0,1 4 0,-1 1-279,1 1 1,-1 1 278,1 5 0,0-1 0,-1-14 0,0-1-162,-3 1 0,-1 0 162,10 38 0,-12-8 0,5 6 0,-7-5 0,0-27 402,0 8-402,0-24 6189,0-5-6189,0 12 1262,0-13-1262,0 14 0,0-6 0,0 7 535,0 0-535,0-7 0,0-8 0,0-10 0,0-5 0,0-7 0,5 0 0,-4-6 0,7 0 0,-3-1 0,0 0 0,4-4 0,-8 4 0,7-8 0,-3 3 0,0-4 0,-1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03T20:35:45.545"/>
    </inkml:context>
    <inkml:brush xml:id="br0">
      <inkml:brushProperty name="width" value="0.05" units="cm"/>
      <inkml:brushProperty name="height" value="0.05" units="cm"/>
      <inkml:brushProperty name="color" value="#E71224"/>
    </inkml:brush>
  </inkml:definitions>
  <inkml:trace contextRef="#ctx0" brushRef="#br0">5938 193 24575,'0'0'0,"0"-1"0,-1 0 0,1 0 0,-1 1 0,0-1 0,1 0 0,-1 1 0,0-1 0,1 0 0,-1 1 0,0-1 0,1 1 0,-1-1 0,0 1 0,0 0 0,0-1 0,0 1 0,1 0 0,-1-1 0,0 1 0,0 0 0,0 0 0,0 0 0,0 0 0,0 0 0,-1 0 0,-2-1 0,-56-8 0,0 4 0,-87 1 0,79 4 0,-929-3 8,511 5-171,333 0-225,-264 38 0,354-30 389,-549 105-41,319-23-162,88-23 206,-326 67 963,416-109-1014,-340 96-262,-8-18 309,388-91 0,55-10 0,0 1 0,0 1 0,0 1 0,1 0 0,0 1 0,1 2 0,0 0 0,0 0 0,1 2 0,0 0 0,-22 22 0,-175 197 93,183-192-47,1 0 1,2 2-1,3 2 1,1 0-1,2 1 0,1 1 1,3 1-1,2 1 1,-16 78-1,29-111-46,2-1 0,-1 0 0,2 1 0,-1-1 0,4 19 0,-2-25 0,0 1 0,1-1 0,0 0 0,1 0 0,0 0 0,0 0 0,0 0 0,1 0 0,0-1 0,9 11 0,-1-4 0,0 0 0,2-1 0,-1 0 0,2-1 0,-1 0 0,2-1 0,23 11 0,122 45 0,-111-48 0,12 3 0,0-3 0,1-3 0,0-2 0,101 6 0,209 18 0,-116-10 0,-77 5 0,-123-20 0,79 8 0,305-15 0,-257-8 0,2474 3 0,-2604 2 0,0 2 0,69 14 0,102 35 0,-48-10 0,278 43-548,3-37 486,-394-47 62,9 1 0,95 15 0,179 36 0,-28-5-196,-116-19-396,549 63 399,-533-65 21,-26-2 167,112 16-5,47 6 159,185-26 728,-517-23-855,-13 2-21,1-1 1,-1 0-1,1-1 1,-1 1-1,1-2 1,-1 1-1,0-1 1,0 0-1,10-4 1,-17 6-2,1 0 0,-1-1 0,0 1 0,1 0 0,-1 0 0,0-1 0,1 1 0,-1 0 0,0-1 0,0 1 0,1 0 0,-1-1 0,0 1 0,0 0 0,1-1 0,-1 1 0,0-1 0,0 1 0,0 0 0,0-1 0,0 1 0,0-1 0,0 1 0,0 0 0,0-1 0,0 1 0,0-1 0,0 1 0,0-1 0,0 1 0,0 0 0,0-1 0,0 1 0,-1-1 0,1 1 0,0 0 0,0-1 0,0 1 0,-1-1 0,-7-10 43,0-1 0,0 2 0,-1-1 0,0 1 0,-1 1 0,-15-12 0,0-1 252,-104-97-176,115 105-119,2 0 0,-1-1 0,2-1 0,0 0 0,0-1 0,-15-34 0,13 18 0,0-1 0,-13-64 0,21 69 0,1 0 0,1 0 0,2-1 0,1 1 0,1 0 0,1 0 0,2 0 0,15-56 0,7 2 0,61-131 0,-83 204 0,71-188 0,-5 10 0,-26 82 0,44-93 0,143-251 0,-199 389 0,-4-2 0,-2-1 0,22-85 0,-42 128 0,-1 0 0,-2 0 0,2-25 0,-4 39 0,-1 0 0,0-1 0,-1 1 0,0 0 0,0 0 0,0 0 0,-1 0 0,0 0 0,-1 0 0,1 0 0,-1 1 0,-1-1 0,-4-6 0,3 7 0,0 0 0,0 0 0,-1 1 0,0 0 0,0 0 0,0 0 0,-1 1 0,0 0 0,0 0 0,0 0 0,0 1 0,-13-4 0,-4 1 0,0 0 0,-46-3 0,-346 4 0,322 7 0,-1696 8 0,1202-11 0,552 1 0,-1-1 0,0-2 0,-48-11 0,20-1 0,-1 3 0,-93-6 0,-354 16 0,256 4 0,172-2 0,-134 3 0,171 0 0,-1 2 0,-70 18 0,7 10 0,56-15 0,-63 11 0,49-19-1365,7-4-5461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05T19:34:58.773"/>
    </inkml:context>
    <inkml:brush xml:id="br0">
      <inkml:brushProperty name="width" value="0.05" units="cm"/>
      <inkml:brushProperty name="height" value="0.05" units="cm"/>
      <inkml:brushProperty name="color" value="#E71224"/>
    </inkml:brush>
  </inkml:definitions>
  <inkml:trace contextRef="#ctx0" brushRef="#br0">2818 514 24575,'-25'0'0,"-6"0"0,0 0 0,7 0 0,-35 0 0,12 0 0,-26 0 0,25 0 0,-20 0 0,31 0 0,-50 0 0,19 0 0,-16 0 0,-6 0 0,15 0 0,-16 0 0,8 0 0,14 0 0,-28 0 0,36 0 0,11 7 0,-1 0 0,-24-4 0,-6 24 0,9-18 0,8 18 0,9-13 0,11 10 0,7-10 0,1 9 0,-1-4 0,-9 14 0,7-7 0,-23 15 0,19-7 0,-19 9 0,12 5 0,-16 5 0,5-1 0,1 6 0,12-15 0,6 5 0,1 0 0,7-8 0,-7 16 0,13-10 0,-6 9 0,1 31 0,4-25 0,1 24 0,3-32 0,10 9 0,-5 2 0,6-1 0,-1 27 0,0-13 0,10-25 0,1-1 0,-3 25 0,7 12 0,0-13 0,0 18 0,0 0 0,0-9 0,13-3 0,9-9 0,9 0 0,10 0 0,-4-6 0,6-2 0,0-6 0,7-1-632,12 19 632,7-12 0,-29-24 0,0-1 0,21 13 0,12 8 0,-21-17 0,15 15 0,-12-20 0,-5 8 0,1-18 0,-11 4 0,4-7 0,0 0 632,2-5-632,8 5 0,7-9 0,3 10 0,8-4 0,19 16 0,-4-13 0,-36-6 0,1 0 0,41 5 0,-18-1 0,-13-6 0,-2-2 0,7 1 0,9 2 0,4-1 0,14 0 0,-30-4 0,1 0 0,-7-5 0,-3 0 0,32 7 0,-19-2 0,-2 0-707,9 3 707,-9-2 0,0-2 0,12-5 0,-27-2 0,1-2 0,41-3-244,-9 0 244,-3 0 0,-9 0 0,1 0 0,-1 0 0,-9 0 0,7 0 0,-6 0 0,8 0 0,9 0 0,-6 0 0,6 0 0,-9 0 0,0 0 0,9 0 0,-6 0 0,6 0 0,-9 0 0,10 0 697,-8 0-697,17 0 0,-39-4 0,1 0 0,45 2 0,-34-2 0,-3 0 0,17-2 0,21 5 0,-24-12 0,9 4 0,6-6 0,-15 0 0,6 0 0,-9 1 0,-8 0 254,6 0-254,-6-1 0,27-7-654,-5-2 654,-34 11 0,0 0 0,41-16 0,-18 7 0,-14 1 0,-1-2 0,14-15 0,-18 17 0,1-2 0,24-20 0,-32 18 0,0 0 0,38-23 0,-38 18 0,-1-3 0,30-31 0,-17 10 0,-21 15 0,-2 0 0,15-14 0,9-16 0,-20 13 0,-7-8 0,1-9 0,-11-11 0,4-9 0,-20 37 0,-2-3 0,2 0 0,-1-2 0,1-16 0,0 0 0,0 20 0,-2 1 0,-1-13 0,-2 3 0,3-21 0,-7 36 0,0-1 0,0-41 0,0 17 0,0-3 0,0 6 0,0-2 0,0-16 0,0 8 0,0-11 0,-12 31 0,-3-1 0,3 13 0,-3 1 0,-10-10 0,-1 2 0,-14-33 0,-2 16 0,-4-8 0,1 10 0,-13 5 0,13-3 0,11 32 0,0 0 0,-12-22 0,-21-13 0,-1 13 0,7 14 0,10 7 0,-3 1 0,-25-3 0,27 12 0,-3 1 0,4 9 0,-1 1 0,-1-1 0,0 1 0,-5 4 0,0 2 0,-7-4 0,2 2 0,-28 0-703,12 5 1,1 1 702,-20-6 0,17 9 0,-2 1 0,22-3 0,3 1 0,-6 6 0,0 0 0,0-6 0,1-1-335,2 7 0,2 0 335,5-3 0,0 0 0,3 4 0,1 0 0,-44 0 0,-1 0 0,0 0 0,5 0-299,15 0 299,-6 0 0,8 0 0,-8 0 0,-13 0 0,16 0 0,-12 0 0,17 7 0,-1 1 0,-8 7 0,18-1 0,3 0 0,7-1 0,8 0 0,-5 0 0,12-1 0,-5 1 0,7-1 0,-7-5 0,5 4 576,-5-10-576,7 5 1375,0-6-1375,1 0 733,-1 5-733,0-4 344,0 5-344,0-6 0,1 0 0,-1 5 0,-7 3 0,5-2 0,-12 6 0,12-5 0,-13 6 0,6 0 0,-7 0 0,-1 1 0,1-1 0,7 0 0,2 5 0,7-5 0,7 5 0,6-7 0,3-5 0,10 2 0,0-2 0,6-1 0,5-1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05T19:34:59.660"/>
    </inkml:context>
    <inkml:brush xml:id="br0">
      <inkml:brushProperty name="width" value="0.05" units="cm"/>
      <inkml:brushProperty name="height" value="0.05" units="cm"/>
      <inkml:brushProperty name="color" value="#E71224"/>
    </inkml:brush>
  </inkml:definitions>
  <inkml:trace contextRef="#ctx0" brushRef="#br0">1 1 24575,'0'0'0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23T12:40:43.940"/>
    </inkml:context>
    <inkml:brush xml:id="br0">
      <inkml:brushProperty name="width" value="0.05" units="cm"/>
      <inkml:brushProperty name="height" value="0.05" units="cm"/>
      <inkml:brushProperty name="color" value="#E71224"/>
    </inkml:brush>
  </inkml:definitions>
  <inkml:trace contextRef="#ctx0" brushRef="#br0">1149 3069 8191,'59'7'0,"-4"-1"5063,-30-6-5063,9 0 0,9 0 0,7 0 0,-11 0 0,17-5 0,5-15 0,-11 6 2818,29-22-2818,-38 18 1719,31-18-1719,-19 6 6784,8-6-6784,-3 1 0,-10-1 0,4 1 0,-12 1 0,-1 0 0,-6 2 0,-6 0 0,-2 1 0,-10 1 0,4 1 0,-7-7 0,9-16 0,-2-9 0,0-15 0,-2 15 0,-4-20 0,-1 18 0,1-21 0,-1 8 0,1 0 0,-1 8 0,0 2 0,0 8 0,-1-1 0,1 0 0,0 1 0,-6-9 0,5 7 0,-10-6 0,4 7 0,-5 1 0,0-1 0,0 0 0,0 1 0,0 6 0,0 2 0,0-1 0,0 6 0,0-5 0,0 13 0,0-5 0,0 4 0,0-5 0,0 0 0,-5-1 0,-6 1 0,-6-1 0,-10-1 0,-2-5 0,-7 2 0,1-5 0,-5 6 0,3 0 0,-9 6 0,11 1 0,-9 11 0,12 8 0,-4 6 0,6 5 0,0 4 0,0 2 0,0 4 0,-6 0 0,5 0 0,-11 0 0,5 0 0,-7 0 0,1 0 0,-7 0 0,-2 0 0,0 0 0,-5 0 0,5 5 0,0 1 0,-5 6 0,5-1 0,0 0 0,2 0 0,7 0 0,-1 5 0,-6-4 0,5 9 0,-5-4 0,0 5 0,-2 1 0,-7 0 0,1 1 0,-1-1 0,0 6 0,7-6 0,2 5 0,0-6 0,5 0 0,1 0 0,2-1 0,10-1 0,1 5 0,2-4 0,9 3 0,0-5 0,3-1 0,7 0 0,-4 5 0,1-3 0,2 8 0,-2-3 0,2 10 0,1-3 0,-6 35 0,4-16 0,-5 20 0,6-14 0,-1-5 0,1 6 0,-1 1 0,0-8 0,1-1 0,5-6 0,-4-1 0,9 0 0,-4 0 0,5-5 0,0 3 0,0-3 0,0 12 0,0-5 0,0 28 0,0-24 0,6 31 0,1-27 0,5 21 0,0-14 0,0 14 0,0-20 0,-1 10 0,1-12 0,-1 6 0,1 1 0,-1-7 0,1 5 0,-1-6 0,1 8 0,-1-1 0,1-6 0,4 17 0,0-27 0,0 13 0,3-25 0,-8 0 0,7 0 0,-2-1 0,4 1 0,0 0 0,-1-6 0,0 5 0,0-10 0,-1 5 0,1-1 0,0-4 0,0 1 0,4-3 0,-4-2 0,23 4 0,-19 0 0,18-4 0,-16-1 0,5-5 0,-1 1 0,1 0 0,0 0 0,0 0 0,-6 0 0,5-5 0,-10 3 0,10-7 0,-10 3 0,10 1 0,-10-4 0,4 3 0,-5-4 0,0 0 0,1 0 0,-6 0 0,4 0 0,-3 0 0,4 0 0,-4 0 0,3 0 0,-4 0 0,6 0 0,-1 0 0,0 0 0,-5 0 0,0 0 0,-5 0 0,0-4 0,1 0 0,-1-5 0,0 1 0,5-1 0,-4 1 0,3-1 0,1 1 0,-4-1 0,8-4 0,-3 3 0,0-7 0,3 7 0,-3-7 0,4 7 0,9-12 0,-12 11 0,6-10 0,-12 12 0,-1 0 0,0 1 0,1 7 0,-5-6 0,0 3 0,-4-4 0,3 0 0,-2 0 0,2 0 0,-3-1 0,0 1 0,0-10 0,0 8 0,0-5 0,0 12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23T12:46:08.092"/>
    </inkml:context>
    <inkml:brush xml:id="br0">
      <inkml:brushProperty name="width" value="0.05" units="cm"/>
      <inkml:brushProperty name="height" value="0.05" units="cm"/>
      <inkml:brushProperty name="color" value="#E71224"/>
    </inkml:brush>
  </inkml:definitions>
  <inkml:trace contextRef="#ctx0" brushRef="#br0">1664 9 22158,'-6'-5'0,"-4"2"1171,-7 3-1171,-12 0 406,-1 0-406,-6 0 207,-3 0-207,-7 0 633,3 0-633,3 0 0,7 0 0,8 0 0,-11 0 0,-8 0 0,-1 0 0,-12 0 0,5 0 0,-6 0 0,-1 5 0,7 6 0,-5 7 0,-2 5 0,-2 6 0,-5 1 0,13 5 0,7-1 0,2-5 0,11 2 0,1-4 0,1 5 0,10-7 0,-4 4 0,0-3 0,4 4 0,-5 1 0,6-1 0,-7 7 0,6-5 0,-13 18 0,12-11 0,-12 13 0,10-2 0,-10-2 0,10 3 0,1-12 0,4-3 0,12-7 0,-6-4 0,12-2 0,-3-5 0,4 6 0,0-5 0,0 4 0,0 1 0,0 0 0,0 6 0,4 0 0,6-1 0,6 1 0,24 16 0,-15-13 0,19 8 0,-19-16 0,0-6 0,5 6 0,-6-9 0,7 8 0,-1-8 0,6 4 0,1-4 0,6 5 0,8-9 0,-6 9 0,5-9 0,0 4 0,-5-5 0,5 5 0,-7-4 0,7 4 0,-5-5 0,-1-1 0,-2 1 0,-5 0 0,0-6 0,5 5 0,-11-9 0,5 4 0,-1 0 0,-3-4 0,3 4 0,1-5 0,15 0 0,-5 0 0,11 0 0,-14 0 0,0 0 0,1 0 0,-1 0 0,0 0 0,0-5 0,7 4 0,-5-9 0,6 4 0,-8 0 0,0-4 0,7 4 0,2 0 0,6-5 0,-6 5 0,5-6 0,-12 1 0,5 0 0,-13 0 0,-1 1 0,-11 0 0,3 0 0,-13 2 0,7-2 0,-12 2 0,3-5 0,-1 3 0,-2-3 0,3 4 0,-1-12 0,-2 6 0,3-17 0,2 1 0,-4 0 0,10-11 0,-10 5 0,10-7 0,-5-6 0,0 10 0,-2 2 0,-9 15 0,-1 0 0,-4 3 0,0-8 0,0 8 0,0-3 0,0-1 0,0 5 0,0-5 0,0 6 0,0 0 0,0 0 0,0-1 0,-4-4 0,-2 3 0,-3-8 0,-1 3 0,0 0 0,0-3 0,1 8 0,-1-3 0,1 5 0,0-6 0,0 5 0,-5-5 0,4 6 0,-7 0 0,-2-8 0,0 5 0,-3-5 0,4 8 0,-1 0 0,1 0 0,-5-1 0,-2-1 0,0 1 0,-3 4 0,3-3 0,0 3 0,-3 0 0,3-4 0,-5 8 0,0-3 0,0-1 0,-6 4 0,5-8 0,-11 2 0,11-3 0,-11-2 0,10 7 0,-9-6 0,9 6 0,-10-2 0,5 2 0,-1 4 0,-3 5 0,9-3 0,-4 8 0,6-3 0,0 4 0,1 0 0,-1 0 0,-6 0 0,18 0 0,-2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23T12:47:07.697"/>
    </inkml:context>
    <inkml:brush xml:id="br0">
      <inkml:brushProperty name="width" value="0.05" units="cm"/>
      <inkml:brushProperty name="height" value="0.05" units="cm"/>
      <inkml:brushProperty name="color" value="#E71224"/>
    </inkml:brush>
  </inkml:definitions>
  <inkml:trace contextRef="#ctx0" brushRef="#br0">2696 719 18830,'-5'-8'0,"2"-4"2636,3-7-2636,0-6 980,0-11-980,-16-3 511,-4-11-511,-15-4 1618,-5 1-1618,-11-8 0,0 4 0,2 16 0,2-9 0,3 24 0,-10-9 0,-4 6 0,6 11 0,8-2 0,-5 7 0,10-2 0,-18 4 0,12 0 0,-12 4 0,5-3 0,0 9 0,-5-10 0,12 10 0,-12-4 0,12 5 0,-5 0 0,12 0 0,-4 0 0,5 0 0,-6 0 0,-1 0 0,-22 0 0,10 0 0,-12 0 0,11 0 0,-2 5 0,-9 8 0,-25 14 0,33-2 0,-28 8 0,40-6 0,-37 13 0,26-2 0,-5 0 0,27-12 0,12-7 0,-3-3 0,8 1 0,1-3 0,-7 12 0,10-5 0,-10 5 0,8-8 0,-1 5 0,-5-3 0,3 9 0,-3-4 0,4 5 0,0 0 0,4 0 0,-3-1 0,8 1 0,-4 6 0,5-5 0,4 11 0,-3-5 0,8 13 0,-9-5 0,9 5 0,-4 0 0,5 2 0,0 7 0,0-1 0,0 1 0,5-1 0,2 1 0,4-1 0,16 20 0,-7-15 0,12 8 0,-8-14 0,3-10 0,-2 10 0,9-9 0,-4 9 0,5-9 0,0 9 0,0-8 0,0 3 0,0-5 0,-1-7 0,6 0 0,-5-1 0,3-9 0,2 9 0,-8-18 0,11 6 0,-6-6 0,7 1 0,6-5 0,-5 3 0,5-7 0,-7 2 0,0-4 0,-5 0 0,3-1 0,-3 1 0,5 0 0,0-5 0,0-2 0,8-4 0,-6 0 0,11 0 0,-4 0 0,0 0 0,5 0 0,-6 0 0,8 0 0,7 0 0,-6 0 0,7-5 0,-1-2 0,-6-10 0,6 4 0,-7-10 0,-1 5 0,-6-5 0,5 0 0,-12 1 0,12-1 0,-11-5 0,5 4 0,-6-4 0,-8 7 0,6-7 0,-10 1 0,20-15 0,-11 7 0,13-20 0,-3-8 0,-1-3 0,-5-7 0,-10 19 0,-2-3 0,-16 12 0,8-5 0,-9 7 0,0-7 0,-1-2 0,-4 0 0,-1 2 0,0-1 0,0 12 0,0-9 0,-6 16 0,0-4 0,-5 6 0,0 1 0,0 4 0,0 1 0,0 1 0,0 4 0,0-10 0,0 9 0,0-3 0,-8 5 0,2 0 0,-7 4 0,4-3 0,1 7 0,-1-7 0,-4 7 0,3-7 0,-16-5 0,9-4 0,-9-1 0,0-3 0,0 4 0,-7-7 0,-5-1 0,-3-5 0,-6 2 0,-5-3 0,10 6 0,-7 5 0,9-4 0,-4 15 0,5-8 0,3 15 0,6-4 0,5 6 0,-9 3 0,21 2 0,-6 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820CA8-88C1-4E73-8ADB-D85BCE78A117}" type="datetimeFigureOut">
              <a:rPr lang="en-US" smtClean="0"/>
              <a:t>8/28/2026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A979E6-713B-4271-BC29-AFAD243A2AFB}" type="slidenum">
              <a:rPr lang="en-US" smtClean="0"/>
              <a:t>‹#›</a:t>
            </a:fld>
            <a:endParaRPr lang="en-US"/>
          </a:p>
        </p:txBody>
      </p:sp>
    </p:spTree>
    <p:extLst>
      <p:ext uri="{BB962C8B-B14F-4D97-AF65-F5344CB8AC3E}">
        <p14:creationId xmlns:p14="http://schemas.microsoft.com/office/powerpoint/2010/main" val="2869781429"/>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1</a:t>
            </a:fld>
            <a:endParaRPr lang="en-US"/>
          </a:p>
        </p:txBody>
      </p:sp>
      <p:sp>
        <p:nvSpPr>
          <p:cNvPr id="5" name="Footer Placeholder 4">
            <a:extLst>
              <a:ext uri="{FF2B5EF4-FFF2-40B4-BE49-F238E27FC236}">
                <a16:creationId xmlns:a16="http://schemas.microsoft.com/office/drawing/2014/main" id="{723E516D-981E-E146-8F11-865BAF57355E}"/>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5309004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2</a:t>
            </a:fld>
            <a:endParaRPr lang="en-US"/>
          </a:p>
        </p:txBody>
      </p:sp>
      <p:sp>
        <p:nvSpPr>
          <p:cNvPr id="5" name="Footer Placeholder 4">
            <a:extLst>
              <a:ext uri="{FF2B5EF4-FFF2-40B4-BE49-F238E27FC236}">
                <a16:creationId xmlns:a16="http://schemas.microsoft.com/office/drawing/2014/main" id="{B6E52F41-815F-1045-8135-B5B85A3C5A20}"/>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78919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3</a:t>
            </a:fld>
            <a:endParaRPr lang="en-US"/>
          </a:p>
        </p:txBody>
      </p:sp>
      <p:sp>
        <p:nvSpPr>
          <p:cNvPr id="5" name="Footer Placeholder 4">
            <a:extLst>
              <a:ext uri="{FF2B5EF4-FFF2-40B4-BE49-F238E27FC236}">
                <a16:creationId xmlns:a16="http://schemas.microsoft.com/office/drawing/2014/main" id="{34ED3887-6CF7-7645-BCDE-24E381340F5E}"/>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6248977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4</a:t>
            </a:fld>
            <a:endParaRPr lang="en-US"/>
          </a:p>
        </p:txBody>
      </p:sp>
      <p:sp>
        <p:nvSpPr>
          <p:cNvPr id="5" name="Footer Placeholder 4">
            <a:extLst>
              <a:ext uri="{FF2B5EF4-FFF2-40B4-BE49-F238E27FC236}">
                <a16:creationId xmlns:a16="http://schemas.microsoft.com/office/drawing/2014/main" id="{2CC96C58-6234-2842-996F-7A4C7BCE4AD4}"/>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9767558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5</a:t>
            </a:fld>
            <a:endParaRPr lang="en-US"/>
          </a:p>
        </p:txBody>
      </p:sp>
      <p:sp>
        <p:nvSpPr>
          <p:cNvPr id="5" name="Footer Placeholder 4">
            <a:extLst>
              <a:ext uri="{FF2B5EF4-FFF2-40B4-BE49-F238E27FC236}">
                <a16:creationId xmlns:a16="http://schemas.microsoft.com/office/drawing/2014/main" id="{E2A7BBEA-97EC-4849-8A3E-2EB8B7BADADA}"/>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3224873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6</a:t>
            </a:fld>
            <a:endParaRPr lang="en-US"/>
          </a:p>
        </p:txBody>
      </p:sp>
      <p:sp>
        <p:nvSpPr>
          <p:cNvPr id="5" name="Footer Placeholder 4">
            <a:extLst>
              <a:ext uri="{FF2B5EF4-FFF2-40B4-BE49-F238E27FC236}">
                <a16:creationId xmlns:a16="http://schemas.microsoft.com/office/drawing/2014/main" id="{CB22FF60-84B1-B64F-9C1C-7E7034288FB8}"/>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7381160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7</a:t>
            </a:fld>
            <a:endParaRPr lang="en-US"/>
          </a:p>
        </p:txBody>
      </p:sp>
      <p:sp>
        <p:nvSpPr>
          <p:cNvPr id="5" name="Footer Placeholder 4">
            <a:extLst>
              <a:ext uri="{FF2B5EF4-FFF2-40B4-BE49-F238E27FC236}">
                <a16:creationId xmlns:a16="http://schemas.microsoft.com/office/drawing/2014/main" id="{E0F9475F-454C-1548-AD3D-50112A833460}"/>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7064095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8</a:t>
            </a:fld>
            <a:endParaRPr lang="en-US"/>
          </a:p>
        </p:txBody>
      </p:sp>
      <p:sp>
        <p:nvSpPr>
          <p:cNvPr id="5" name="Footer Placeholder 4">
            <a:extLst>
              <a:ext uri="{FF2B5EF4-FFF2-40B4-BE49-F238E27FC236}">
                <a16:creationId xmlns:a16="http://schemas.microsoft.com/office/drawing/2014/main" id="{0C823CBE-12EB-A341-851F-FF9C28CD8830}"/>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7727104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9</a:t>
            </a:fld>
            <a:endParaRPr lang="en-US"/>
          </a:p>
        </p:txBody>
      </p:sp>
      <p:sp>
        <p:nvSpPr>
          <p:cNvPr id="5" name="Footer Placeholder 4">
            <a:extLst>
              <a:ext uri="{FF2B5EF4-FFF2-40B4-BE49-F238E27FC236}">
                <a16:creationId xmlns:a16="http://schemas.microsoft.com/office/drawing/2014/main" id="{BE982DD1-00BE-9642-AC00-86F4109AA806}"/>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6090671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10</a:t>
            </a:fld>
            <a:endParaRPr lang="en-US"/>
          </a:p>
        </p:txBody>
      </p:sp>
      <p:sp>
        <p:nvSpPr>
          <p:cNvPr id="5" name="Footer Placeholder 4">
            <a:extLst>
              <a:ext uri="{FF2B5EF4-FFF2-40B4-BE49-F238E27FC236}">
                <a16:creationId xmlns:a16="http://schemas.microsoft.com/office/drawing/2014/main" id="{814503A5-80EE-3D43-B22D-228464B54B29}"/>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7396874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11</a:t>
            </a:fld>
            <a:endParaRPr lang="en-US"/>
          </a:p>
        </p:txBody>
      </p:sp>
      <p:sp>
        <p:nvSpPr>
          <p:cNvPr id="5" name="Footer Placeholder 4">
            <a:extLst>
              <a:ext uri="{FF2B5EF4-FFF2-40B4-BE49-F238E27FC236}">
                <a16:creationId xmlns:a16="http://schemas.microsoft.com/office/drawing/2014/main" id="{D376F71C-1384-1545-AE3A-BD93AA54242A}"/>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5995276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12</a:t>
            </a:fld>
            <a:endParaRPr lang="en-US"/>
          </a:p>
        </p:txBody>
      </p:sp>
      <p:sp>
        <p:nvSpPr>
          <p:cNvPr id="5" name="Footer Placeholder 4">
            <a:extLst>
              <a:ext uri="{FF2B5EF4-FFF2-40B4-BE49-F238E27FC236}">
                <a16:creationId xmlns:a16="http://schemas.microsoft.com/office/drawing/2014/main" id="{181BC10A-817A-D847-9030-B75E4765370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8829843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13</a:t>
            </a:fld>
            <a:endParaRPr lang="en-US"/>
          </a:p>
        </p:txBody>
      </p:sp>
      <p:sp>
        <p:nvSpPr>
          <p:cNvPr id="5" name="Footer Placeholder 4">
            <a:extLst>
              <a:ext uri="{FF2B5EF4-FFF2-40B4-BE49-F238E27FC236}">
                <a16:creationId xmlns:a16="http://schemas.microsoft.com/office/drawing/2014/main" id="{6D48430D-A091-6947-A97B-4669A522F4F6}"/>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7227589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14</a:t>
            </a:fld>
            <a:endParaRPr lang="en-US"/>
          </a:p>
        </p:txBody>
      </p:sp>
      <p:sp>
        <p:nvSpPr>
          <p:cNvPr id="5" name="Footer Placeholder 4">
            <a:extLst>
              <a:ext uri="{FF2B5EF4-FFF2-40B4-BE49-F238E27FC236}">
                <a16:creationId xmlns:a16="http://schemas.microsoft.com/office/drawing/2014/main" id="{45CC098C-A496-584E-A618-06B934CA6765}"/>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6280337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15</a:t>
            </a:fld>
            <a:endParaRPr lang="en-US"/>
          </a:p>
        </p:txBody>
      </p:sp>
      <p:sp>
        <p:nvSpPr>
          <p:cNvPr id="5" name="Footer Placeholder 4">
            <a:extLst>
              <a:ext uri="{FF2B5EF4-FFF2-40B4-BE49-F238E27FC236}">
                <a16:creationId xmlns:a16="http://schemas.microsoft.com/office/drawing/2014/main" id="{ACE5CB67-4899-5341-A937-1B6F8A6115A4}"/>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423110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16</a:t>
            </a:fld>
            <a:endParaRPr lang="en-US"/>
          </a:p>
        </p:txBody>
      </p:sp>
      <p:sp>
        <p:nvSpPr>
          <p:cNvPr id="5" name="Footer Placeholder 4">
            <a:extLst>
              <a:ext uri="{FF2B5EF4-FFF2-40B4-BE49-F238E27FC236}">
                <a16:creationId xmlns:a16="http://schemas.microsoft.com/office/drawing/2014/main" id="{BF884BD3-81C4-FE46-BE8B-D50C11F7E3C1}"/>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8020052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17</a:t>
            </a:fld>
            <a:endParaRPr lang="en-US"/>
          </a:p>
        </p:txBody>
      </p:sp>
      <p:sp>
        <p:nvSpPr>
          <p:cNvPr id="5" name="Footer Placeholder 4">
            <a:extLst>
              <a:ext uri="{FF2B5EF4-FFF2-40B4-BE49-F238E27FC236}">
                <a16:creationId xmlns:a16="http://schemas.microsoft.com/office/drawing/2014/main" id="{2EC9FCB8-7A0A-0346-94CA-9D731745BC05}"/>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0105401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18</a:t>
            </a:fld>
            <a:endParaRPr lang="en-US"/>
          </a:p>
        </p:txBody>
      </p:sp>
      <p:sp>
        <p:nvSpPr>
          <p:cNvPr id="5" name="Footer Placeholder 4">
            <a:extLst>
              <a:ext uri="{FF2B5EF4-FFF2-40B4-BE49-F238E27FC236}">
                <a16:creationId xmlns:a16="http://schemas.microsoft.com/office/drawing/2014/main" id="{FFB3706A-322D-F843-AA86-A06B3084682F}"/>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0497759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19</a:t>
            </a:fld>
            <a:endParaRPr lang="en-US"/>
          </a:p>
        </p:txBody>
      </p:sp>
      <p:sp>
        <p:nvSpPr>
          <p:cNvPr id="5" name="Footer Placeholder 4">
            <a:extLst>
              <a:ext uri="{FF2B5EF4-FFF2-40B4-BE49-F238E27FC236}">
                <a16:creationId xmlns:a16="http://schemas.microsoft.com/office/drawing/2014/main" id="{FDB4F38B-D5E5-0D40-A1D2-8FF46F69514D}"/>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6730410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20</a:t>
            </a:fld>
            <a:endParaRPr lang="en-US"/>
          </a:p>
        </p:txBody>
      </p:sp>
      <p:sp>
        <p:nvSpPr>
          <p:cNvPr id="5" name="Footer Placeholder 4">
            <a:extLst>
              <a:ext uri="{FF2B5EF4-FFF2-40B4-BE49-F238E27FC236}">
                <a16:creationId xmlns:a16="http://schemas.microsoft.com/office/drawing/2014/main" id="{87688809-7B23-EB45-8514-63D94917460A}"/>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1378496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21</a:t>
            </a:fld>
            <a:endParaRPr lang="en-US"/>
          </a:p>
        </p:txBody>
      </p:sp>
      <p:sp>
        <p:nvSpPr>
          <p:cNvPr id="5" name="Footer Placeholder 4">
            <a:extLst>
              <a:ext uri="{FF2B5EF4-FFF2-40B4-BE49-F238E27FC236}">
                <a16:creationId xmlns:a16="http://schemas.microsoft.com/office/drawing/2014/main" id="{B07A2045-7CA1-0D41-B38E-25691E7EE62F}"/>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7637303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22</a:t>
            </a:fld>
            <a:endParaRPr lang="en-US"/>
          </a:p>
        </p:txBody>
      </p:sp>
      <p:sp>
        <p:nvSpPr>
          <p:cNvPr id="5" name="Footer Placeholder 4">
            <a:extLst>
              <a:ext uri="{FF2B5EF4-FFF2-40B4-BE49-F238E27FC236}">
                <a16:creationId xmlns:a16="http://schemas.microsoft.com/office/drawing/2014/main" id="{8784CB37-4879-5F45-9B3D-4AC9C4BEF350}"/>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6412710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23</a:t>
            </a:fld>
            <a:endParaRPr lang="en-US"/>
          </a:p>
        </p:txBody>
      </p:sp>
      <p:sp>
        <p:nvSpPr>
          <p:cNvPr id="5" name="Footer Placeholder 4">
            <a:extLst>
              <a:ext uri="{FF2B5EF4-FFF2-40B4-BE49-F238E27FC236}">
                <a16:creationId xmlns:a16="http://schemas.microsoft.com/office/drawing/2014/main" id="{5860F4B7-7761-E842-B100-1B185F82D8BF}"/>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1792036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24</a:t>
            </a:fld>
            <a:endParaRPr lang="en-US"/>
          </a:p>
        </p:txBody>
      </p:sp>
      <p:sp>
        <p:nvSpPr>
          <p:cNvPr id="5" name="Footer Placeholder 4">
            <a:extLst>
              <a:ext uri="{FF2B5EF4-FFF2-40B4-BE49-F238E27FC236}">
                <a16:creationId xmlns:a16="http://schemas.microsoft.com/office/drawing/2014/main" id="{AAD805FE-C687-B14B-AD2B-2159BFB870F2}"/>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6855092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25</a:t>
            </a:fld>
            <a:endParaRPr lang="en-US"/>
          </a:p>
        </p:txBody>
      </p:sp>
      <p:sp>
        <p:nvSpPr>
          <p:cNvPr id="5" name="Footer Placeholder 4">
            <a:extLst>
              <a:ext uri="{FF2B5EF4-FFF2-40B4-BE49-F238E27FC236}">
                <a16:creationId xmlns:a16="http://schemas.microsoft.com/office/drawing/2014/main" id="{2AE3968B-65C6-CD41-8100-8C214771FB92}"/>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5607624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26</a:t>
            </a:fld>
            <a:endParaRPr lang="en-US"/>
          </a:p>
        </p:txBody>
      </p:sp>
      <p:sp>
        <p:nvSpPr>
          <p:cNvPr id="5" name="Footer Placeholder 4">
            <a:extLst>
              <a:ext uri="{FF2B5EF4-FFF2-40B4-BE49-F238E27FC236}">
                <a16:creationId xmlns:a16="http://schemas.microsoft.com/office/drawing/2014/main" id="{F17DF065-10E0-684A-96A9-F3E0444F663E}"/>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7224802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27</a:t>
            </a:fld>
            <a:endParaRPr lang="en-US"/>
          </a:p>
        </p:txBody>
      </p:sp>
      <p:sp>
        <p:nvSpPr>
          <p:cNvPr id="5" name="Footer Placeholder 4">
            <a:extLst>
              <a:ext uri="{FF2B5EF4-FFF2-40B4-BE49-F238E27FC236}">
                <a16:creationId xmlns:a16="http://schemas.microsoft.com/office/drawing/2014/main" id="{FAB804F6-8699-014F-9A6D-6078CC48D3B3}"/>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6399613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28</a:t>
            </a:fld>
            <a:endParaRPr lang="en-US"/>
          </a:p>
        </p:txBody>
      </p:sp>
      <p:sp>
        <p:nvSpPr>
          <p:cNvPr id="5" name="Footer Placeholder 4">
            <a:extLst>
              <a:ext uri="{FF2B5EF4-FFF2-40B4-BE49-F238E27FC236}">
                <a16:creationId xmlns:a16="http://schemas.microsoft.com/office/drawing/2014/main" id="{B643BB49-047D-9E47-9192-0EA2F4CC4162}"/>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4338554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29</a:t>
            </a:fld>
            <a:endParaRPr lang="en-US"/>
          </a:p>
        </p:txBody>
      </p:sp>
      <p:sp>
        <p:nvSpPr>
          <p:cNvPr id="5" name="Footer Placeholder 4">
            <a:extLst>
              <a:ext uri="{FF2B5EF4-FFF2-40B4-BE49-F238E27FC236}">
                <a16:creationId xmlns:a16="http://schemas.microsoft.com/office/drawing/2014/main" id="{B5DA6065-6541-4044-B251-32EC739ADC98}"/>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2523586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30</a:t>
            </a:fld>
            <a:endParaRPr lang="en-US"/>
          </a:p>
        </p:txBody>
      </p:sp>
      <p:sp>
        <p:nvSpPr>
          <p:cNvPr id="5" name="Footer Placeholder 4">
            <a:extLst>
              <a:ext uri="{FF2B5EF4-FFF2-40B4-BE49-F238E27FC236}">
                <a16:creationId xmlns:a16="http://schemas.microsoft.com/office/drawing/2014/main" id="{E7A46F2B-E7DD-C446-AAE5-5B7E29037074}"/>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447745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31</a:t>
            </a:fld>
            <a:endParaRPr lang="en-US"/>
          </a:p>
        </p:txBody>
      </p:sp>
      <p:sp>
        <p:nvSpPr>
          <p:cNvPr id="5" name="Footer Placeholder 4">
            <a:extLst>
              <a:ext uri="{FF2B5EF4-FFF2-40B4-BE49-F238E27FC236}">
                <a16:creationId xmlns:a16="http://schemas.microsoft.com/office/drawing/2014/main" id="{B03E6F15-0CEB-8E45-9261-AC9662E8B4CD}"/>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4155130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32</a:t>
            </a:fld>
            <a:endParaRPr lang="en-US"/>
          </a:p>
        </p:txBody>
      </p:sp>
      <p:sp>
        <p:nvSpPr>
          <p:cNvPr id="5" name="Footer Placeholder 4">
            <a:extLst>
              <a:ext uri="{FF2B5EF4-FFF2-40B4-BE49-F238E27FC236}">
                <a16:creationId xmlns:a16="http://schemas.microsoft.com/office/drawing/2014/main" id="{F1DF7D42-A027-624A-A151-95EBD34B881E}"/>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4734231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33</a:t>
            </a:fld>
            <a:endParaRPr lang="en-US"/>
          </a:p>
        </p:txBody>
      </p:sp>
      <p:sp>
        <p:nvSpPr>
          <p:cNvPr id="5" name="Footer Placeholder 4">
            <a:extLst>
              <a:ext uri="{FF2B5EF4-FFF2-40B4-BE49-F238E27FC236}">
                <a16:creationId xmlns:a16="http://schemas.microsoft.com/office/drawing/2014/main" id="{9A0ECE2A-ED2A-4A46-9086-C541EC193979}"/>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2615175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34</a:t>
            </a:fld>
            <a:endParaRPr lang="en-US"/>
          </a:p>
        </p:txBody>
      </p:sp>
      <p:sp>
        <p:nvSpPr>
          <p:cNvPr id="5" name="Footer Placeholder 4">
            <a:extLst>
              <a:ext uri="{FF2B5EF4-FFF2-40B4-BE49-F238E27FC236}">
                <a16:creationId xmlns:a16="http://schemas.microsoft.com/office/drawing/2014/main" id="{CDBB28E1-EF79-9646-939E-A601618E6DAB}"/>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806915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35</a:t>
            </a:fld>
            <a:endParaRPr lang="en-US"/>
          </a:p>
        </p:txBody>
      </p:sp>
      <p:sp>
        <p:nvSpPr>
          <p:cNvPr id="5" name="Footer Placeholder 4">
            <a:extLst>
              <a:ext uri="{FF2B5EF4-FFF2-40B4-BE49-F238E27FC236}">
                <a16:creationId xmlns:a16="http://schemas.microsoft.com/office/drawing/2014/main" id="{CDBB28E1-EF79-9646-939E-A601618E6DAB}"/>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7129252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6488F-FADE-4545-EBC0-8F6A964A8A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24F3BF-D56D-7FE8-171D-B244624737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F39979-C079-39B0-AC32-0CACAEA4E1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7D92A2-E35F-ECD8-2A52-3EE90B31A5F3}"/>
              </a:ext>
            </a:extLst>
          </p:cNvPr>
          <p:cNvSpPr>
            <a:spLocks noGrp="1"/>
          </p:cNvSpPr>
          <p:nvPr>
            <p:ph type="sldNum" sz="quarter" idx="5"/>
          </p:nvPr>
        </p:nvSpPr>
        <p:spPr/>
        <p:txBody>
          <a:bodyPr/>
          <a:lstStyle/>
          <a:p>
            <a:fld id="{9DA979E6-713B-4271-BC29-AFAD243A2AFB}" type="slidenum">
              <a:rPr lang="en-US" smtClean="0"/>
              <a:t>36</a:t>
            </a:fld>
            <a:endParaRPr lang="en-US"/>
          </a:p>
        </p:txBody>
      </p:sp>
      <p:sp>
        <p:nvSpPr>
          <p:cNvPr id="5" name="Footer Placeholder 4">
            <a:extLst>
              <a:ext uri="{FF2B5EF4-FFF2-40B4-BE49-F238E27FC236}">
                <a16:creationId xmlns:a16="http://schemas.microsoft.com/office/drawing/2014/main" id="{4F6B7AF7-9FDA-E355-C53B-647FB5810CE0}"/>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4816732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46FD3-C57D-E932-E9D5-8CDAECEEA1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8E64AE-4D9E-A80E-30C4-AA60C40F2C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CF99C8-4991-EE1B-A2A8-06CC733C29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9C1331-DC9A-808B-03F3-9F5D1EBCD3BD}"/>
              </a:ext>
            </a:extLst>
          </p:cNvPr>
          <p:cNvSpPr>
            <a:spLocks noGrp="1"/>
          </p:cNvSpPr>
          <p:nvPr>
            <p:ph type="sldNum" sz="quarter" idx="5"/>
          </p:nvPr>
        </p:nvSpPr>
        <p:spPr/>
        <p:txBody>
          <a:bodyPr/>
          <a:lstStyle/>
          <a:p>
            <a:fld id="{9DA979E6-713B-4271-BC29-AFAD243A2AFB}" type="slidenum">
              <a:rPr lang="en-US" smtClean="0"/>
              <a:t>37</a:t>
            </a:fld>
            <a:endParaRPr lang="en-US"/>
          </a:p>
        </p:txBody>
      </p:sp>
      <p:sp>
        <p:nvSpPr>
          <p:cNvPr id="5" name="Footer Placeholder 4">
            <a:extLst>
              <a:ext uri="{FF2B5EF4-FFF2-40B4-BE49-F238E27FC236}">
                <a16:creationId xmlns:a16="http://schemas.microsoft.com/office/drawing/2014/main" id="{1D244075-0B30-8FA0-E7A9-9588296AFE5B}"/>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1258091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38</a:t>
            </a:fld>
            <a:endParaRPr lang="en-US"/>
          </a:p>
        </p:txBody>
      </p:sp>
      <p:sp>
        <p:nvSpPr>
          <p:cNvPr id="5" name="Footer Placeholder 4">
            <a:extLst>
              <a:ext uri="{FF2B5EF4-FFF2-40B4-BE49-F238E27FC236}">
                <a16:creationId xmlns:a16="http://schemas.microsoft.com/office/drawing/2014/main" id="{D7A36475-51C7-FB40-B3DB-7CE2A9A6D554}"/>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5237248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39</a:t>
            </a:fld>
            <a:endParaRPr lang="en-US"/>
          </a:p>
        </p:txBody>
      </p:sp>
      <p:sp>
        <p:nvSpPr>
          <p:cNvPr id="5" name="Footer Placeholder 4">
            <a:extLst>
              <a:ext uri="{FF2B5EF4-FFF2-40B4-BE49-F238E27FC236}">
                <a16:creationId xmlns:a16="http://schemas.microsoft.com/office/drawing/2014/main" id="{37616217-298F-FE44-8115-81F9257CC09C}"/>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36732066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40</a:t>
            </a:fld>
            <a:endParaRPr lang="en-US"/>
          </a:p>
        </p:txBody>
      </p:sp>
      <p:sp>
        <p:nvSpPr>
          <p:cNvPr id="5" name="Footer Placeholder 4">
            <a:extLst>
              <a:ext uri="{FF2B5EF4-FFF2-40B4-BE49-F238E27FC236}">
                <a16:creationId xmlns:a16="http://schemas.microsoft.com/office/drawing/2014/main" id="{E0F3737E-380C-4745-A056-CFDE78FD5031}"/>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8522713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42</a:t>
            </a:fld>
            <a:endParaRPr lang="en-US"/>
          </a:p>
        </p:txBody>
      </p:sp>
      <p:sp>
        <p:nvSpPr>
          <p:cNvPr id="5" name="Footer Placeholder 4">
            <a:extLst>
              <a:ext uri="{FF2B5EF4-FFF2-40B4-BE49-F238E27FC236}">
                <a16:creationId xmlns:a16="http://schemas.microsoft.com/office/drawing/2014/main" id="{DD979D30-D2D4-774C-97E4-2DF60A24ED43}"/>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6265334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43</a:t>
            </a:fld>
            <a:endParaRPr lang="en-US"/>
          </a:p>
        </p:txBody>
      </p:sp>
      <p:sp>
        <p:nvSpPr>
          <p:cNvPr id="5" name="Footer Placeholder 4">
            <a:extLst>
              <a:ext uri="{FF2B5EF4-FFF2-40B4-BE49-F238E27FC236}">
                <a16:creationId xmlns:a16="http://schemas.microsoft.com/office/drawing/2014/main" id="{52FCB28B-1F96-C54A-B87E-4AB07091825F}"/>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45515897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44</a:t>
            </a:fld>
            <a:endParaRPr lang="en-US"/>
          </a:p>
        </p:txBody>
      </p:sp>
      <p:sp>
        <p:nvSpPr>
          <p:cNvPr id="5" name="Footer Placeholder 4">
            <a:extLst>
              <a:ext uri="{FF2B5EF4-FFF2-40B4-BE49-F238E27FC236}">
                <a16:creationId xmlns:a16="http://schemas.microsoft.com/office/drawing/2014/main" id="{B561105E-E11D-E642-A776-DB5149171C33}"/>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6000024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45</a:t>
            </a:fld>
            <a:endParaRPr lang="en-US"/>
          </a:p>
        </p:txBody>
      </p:sp>
      <p:sp>
        <p:nvSpPr>
          <p:cNvPr id="5" name="Footer Placeholder 4">
            <a:extLst>
              <a:ext uri="{FF2B5EF4-FFF2-40B4-BE49-F238E27FC236}">
                <a16:creationId xmlns:a16="http://schemas.microsoft.com/office/drawing/2014/main" id="{55A606A3-74BE-3747-8424-F8ED371BD199}"/>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1651208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46</a:t>
            </a:fld>
            <a:endParaRPr lang="en-US"/>
          </a:p>
        </p:txBody>
      </p:sp>
      <p:sp>
        <p:nvSpPr>
          <p:cNvPr id="5" name="Footer Placeholder 4">
            <a:extLst>
              <a:ext uri="{FF2B5EF4-FFF2-40B4-BE49-F238E27FC236}">
                <a16:creationId xmlns:a16="http://schemas.microsoft.com/office/drawing/2014/main" id="{53AB6579-FF0F-764E-90C4-BDF1AE0954D9}"/>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36222285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47</a:t>
            </a:fld>
            <a:endParaRPr lang="en-US"/>
          </a:p>
        </p:txBody>
      </p:sp>
      <p:sp>
        <p:nvSpPr>
          <p:cNvPr id="5" name="Footer Placeholder 4">
            <a:extLst>
              <a:ext uri="{FF2B5EF4-FFF2-40B4-BE49-F238E27FC236}">
                <a16:creationId xmlns:a16="http://schemas.microsoft.com/office/drawing/2014/main" id="{3BACA57A-551C-A646-9A2F-37263EDA5DE0}"/>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32619573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48</a:t>
            </a:fld>
            <a:endParaRPr lang="en-US"/>
          </a:p>
        </p:txBody>
      </p:sp>
      <p:sp>
        <p:nvSpPr>
          <p:cNvPr id="5" name="Footer Placeholder 4">
            <a:extLst>
              <a:ext uri="{FF2B5EF4-FFF2-40B4-BE49-F238E27FC236}">
                <a16:creationId xmlns:a16="http://schemas.microsoft.com/office/drawing/2014/main" id="{3BACA57A-551C-A646-9A2F-37263EDA5DE0}"/>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92023624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50</a:t>
            </a:fld>
            <a:endParaRPr lang="en-US"/>
          </a:p>
        </p:txBody>
      </p:sp>
      <p:sp>
        <p:nvSpPr>
          <p:cNvPr id="5" name="Footer Placeholder 4">
            <a:extLst>
              <a:ext uri="{FF2B5EF4-FFF2-40B4-BE49-F238E27FC236}">
                <a16:creationId xmlns:a16="http://schemas.microsoft.com/office/drawing/2014/main" id="{706C2282-D948-D040-8CD9-0B28119FD9F2}"/>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65546048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51</a:t>
            </a:fld>
            <a:endParaRPr lang="en-US"/>
          </a:p>
        </p:txBody>
      </p:sp>
      <p:sp>
        <p:nvSpPr>
          <p:cNvPr id="5" name="Footer Placeholder 4">
            <a:extLst>
              <a:ext uri="{FF2B5EF4-FFF2-40B4-BE49-F238E27FC236}">
                <a16:creationId xmlns:a16="http://schemas.microsoft.com/office/drawing/2014/main" id="{A29818DD-3662-824C-BBFE-E660FB16DA62}"/>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01520062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52</a:t>
            </a:fld>
            <a:endParaRPr lang="en-US"/>
          </a:p>
        </p:txBody>
      </p:sp>
      <p:sp>
        <p:nvSpPr>
          <p:cNvPr id="5" name="Footer Placeholder 4">
            <a:extLst>
              <a:ext uri="{FF2B5EF4-FFF2-40B4-BE49-F238E27FC236}">
                <a16:creationId xmlns:a16="http://schemas.microsoft.com/office/drawing/2014/main" id="{1AF3056F-7EF0-8E4A-8D34-E1275C306A44}"/>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42900356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53</a:t>
            </a:fld>
            <a:endParaRPr lang="en-US"/>
          </a:p>
        </p:txBody>
      </p:sp>
      <p:sp>
        <p:nvSpPr>
          <p:cNvPr id="5" name="Footer Placeholder 4">
            <a:extLst>
              <a:ext uri="{FF2B5EF4-FFF2-40B4-BE49-F238E27FC236}">
                <a16:creationId xmlns:a16="http://schemas.microsoft.com/office/drawing/2014/main" id="{346937FF-1424-A749-9B56-A0719BDD31FA}"/>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411101775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54</a:t>
            </a:fld>
            <a:endParaRPr lang="en-US"/>
          </a:p>
        </p:txBody>
      </p:sp>
      <p:sp>
        <p:nvSpPr>
          <p:cNvPr id="5" name="Footer Placeholder 4">
            <a:extLst>
              <a:ext uri="{FF2B5EF4-FFF2-40B4-BE49-F238E27FC236}">
                <a16:creationId xmlns:a16="http://schemas.microsoft.com/office/drawing/2014/main" id="{91BE906E-1E80-BE4B-9DA2-C540B519419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67828129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56</a:t>
            </a:fld>
            <a:endParaRPr lang="en-US"/>
          </a:p>
        </p:txBody>
      </p:sp>
      <p:sp>
        <p:nvSpPr>
          <p:cNvPr id="5" name="Footer Placeholder 4">
            <a:extLst>
              <a:ext uri="{FF2B5EF4-FFF2-40B4-BE49-F238E27FC236}">
                <a16:creationId xmlns:a16="http://schemas.microsoft.com/office/drawing/2014/main" id="{A04300E1-DD82-FE44-9346-B9595105BAAC}"/>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29545356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57</a:t>
            </a:fld>
            <a:endParaRPr lang="en-US"/>
          </a:p>
        </p:txBody>
      </p:sp>
      <p:sp>
        <p:nvSpPr>
          <p:cNvPr id="5" name="Footer Placeholder 4">
            <a:extLst>
              <a:ext uri="{FF2B5EF4-FFF2-40B4-BE49-F238E27FC236}">
                <a16:creationId xmlns:a16="http://schemas.microsoft.com/office/drawing/2014/main" id="{57B640C0-470E-3546-88DD-1A5DEA1DB2B3}"/>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414019791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58</a:t>
            </a:fld>
            <a:endParaRPr lang="en-US"/>
          </a:p>
        </p:txBody>
      </p:sp>
      <p:sp>
        <p:nvSpPr>
          <p:cNvPr id="5" name="Footer Placeholder 4">
            <a:extLst>
              <a:ext uri="{FF2B5EF4-FFF2-40B4-BE49-F238E27FC236}">
                <a16:creationId xmlns:a16="http://schemas.microsoft.com/office/drawing/2014/main" id="{D14779AD-D944-2E4B-B04C-10D52063C96B}"/>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8209565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59</a:t>
            </a:fld>
            <a:endParaRPr lang="en-US"/>
          </a:p>
        </p:txBody>
      </p:sp>
      <p:sp>
        <p:nvSpPr>
          <p:cNvPr id="5" name="Footer Placeholder 4">
            <a:extLst>
              <a:ext uri="{FF2B5EF4-FFF2-40B4-BE49-F238E27FC236}">
                <a16:creationId xmlns:a16="http://schemas.microsoft.com/office/drawing/2014/main" id="{029F4571-8F11-FE46-B4EF-CCCE2FA521D0}"/>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11818673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60</a:t>
            </a:fld>
            <a:endParaRPr lang="en-US"/>
          </a:p>
        </p:txBody>
      </p:sp>
      <p:sp>
        <p:nvSpPr>
          <p:cNvPr id="5" name="Footer Placeholder 4">
            <a:extLst>
              <a:ext uri="{FF2B5EF4-FFF2-40B4-BE49-F238E27FC236}">
                <a16:creationId xmlns:a16="http://schemas.microsoft.com/office/drawing/2014/main" id="{25407F0A-424D-DD43-AF48-9DD8A9E6C4ED}"/>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11896597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62</a:t>
            </a:fld>
            <a:endParaRPr lang="en-US"/>
          </a:p>
        </p:txBody>
      </p:sp>
      <p:sp>
        <p:nvSpPr>
          <p:cNvPr id="5" name="Footer Placeholder 4">
            <a:extLst>
              <a:ext uri="{FF2B5EF4-FFF2-40B4-BE49-F238E27FC236}">
                <a16:creationId xmlns:a16="http://schemas.microsoft.com/office/drawing/2014/main" id="{1B6AB058-3B8D-F645-9495-3C2460ABB5DC}"/>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65262943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66</a:t>
            </a:fld>
            <a:endParaRPr lang="en-US"/>
          </a:p>
        </p:txBody>
      </p:sp>
      <p:sp>
        <p:nvSpPr>
          <p:cNvPr id="5" name="Footer Placeholder 4">
            <a:extLst>
              <a:ext uri="{FF2B5EF4-FFF2-40B4-BE49-F238E27FC236}">
                <a16:creationId xmlns:a16="http://schemas.microsoft.com/office/drawing/2014/main" id="{8B0A1320-44C6-7543-8D18-F903A0484EAE}"/>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85739494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67</a:t>
            </a:fld>
            <a:endParaRPr lang="en-US"/>
          </a:p>
        </p:txBody>
      </p:sp>
      <p:sp>
        <p:nvSpPr>
          <p:cNvPr id="5" name="Footer Placeholder 4">
            <a:extLst>
              <a:ext uri="{FF2B5EF4-FFF2-40B4-BE49-F238E27FC236}">
                <a16:creationId xmlns:a16="http://schemas.microsoft.com/office/drawing/2014/main" id="{CF9A188F-DF30-BE41-B148-636C8803F993}"/>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2359812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68</a:t>
            </a:fld>
            <a:endParaRPr lang="en-US"/>
          </a:p>
        </p:txBody>
      </p:sp>
      <p:sp>
        <p:nvSpPr>
          <p:cNvPr id="5" name="Footer Placeholder 4">
            <a:extLst>
              <a:ext uri="{FF2B5EF4-FFF2-40B4-BE49-F238E27FC236}">
                <a16:creationId xmlns:a16="http://schemas.microsoft.com/office/drawing/2014/main" id="{74481154-676C-5943-84E6-954A5DC122D1}"/>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63696102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69</a:t>
            </a:fld>
            <a:endParaRPr lang="en-US"/>
          </a:p>
        </p:txBody>
      </p:sp>
      <p:sp>
        <p:nvSpPr>
          <p:cNvPr id="5" name="Footer Placeholder 4">
            <a:extLst>
              <a:ext uri="{FF2B5EF4-FFF2-40B4-BE49-F238E27FC236}">
                <a16:creationId xmlns:a16="http://schemas.microsoft.com/office/drawing/2014/main" id="{63EFF978-1AF8-A84A-901B-A4252BD5CF3A}"/>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51014631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70</a:t>
            </a:fld>
            <a:endParaRPr lang="en-US"/>
          </a:p>
        </p:txBody>
      </p:sp>
      <p:sp>
        <p:nvSpPr>
          <p:cNvPr id="5" name="Footer Placeholder 4">
            <a:extLst>
              <a:ext uri="{FF2B5EF4-FFF2-40B4-BE49-F238E27FC236}">
                <a16:creationId xmlns:a16="http://schemas.microsoft.com/office/drawing/2014/main" id="{51828B7E-7F24-4E48-BC9E-632CE9B652A8}"/>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78786398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71</a:t>
            </a:fld>
            <a:endParaRPr lang="en-US"/>
          </a:p>
        </p:txBody>
      </p:sp>
      <p:sp>
        <p:nvSpPr>
          <p:cNvPr id="5" name="Footer Placeholder 4">
            <a:extLst>
              <a:ext uri="{FF2B5EF4-FFF2-40B4-BE49-F238E27FC236}">
                <a16:creationId xmlns:a16="http://schemas.microsoft.com/office/drawing/2014/main" id="{692ABA48-2EB6-484B-B3DD-0902522822AC}"/>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35606067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72</a:t>
            </a:fld>
            <a:endParaRPr lang="en-US"/>
          </a:p>
        </p:txBody>
      </p:sp>
      <p:sp>
        <p:nvSpPr>
          <p:cNvPr id="5" name="Footer Placeholder 4">
            <a:extLst>
              <a:ext uri="{FF2B5EF4-FFF2-40B4-BE49-F238E27FC236}">
                <a16:creationId xmlns:a16="http://schemas.microsoft.com/office/drawing/2014/main" id="{E4FC6395-58D9-A24D-B99B-54D67CC4F0C0}"/>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33789709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73</a:t>
            </a:fld>
            <a:endParaRPr lang="en-US"/>
          </a:p>
        </p:txBody>
      </p:sp>
      <p:sp>
        <p:nvSpPr>
          <p:cNvPr id="5" name="Footer Placeholder 4">
            <a:extLst>
              <a:ext uri="{FF2B5EF4-FFF2-40B4-BE49-F238E27FC236}">
                <a16:creationId xmlns:a16="http://schemas.microsoft.com/office/drawing/2014/main" id="{1AEB84CD-9058-3F48-B75B-E8F2DF389621}"/>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79863990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latin typeface="Arial" pitchFamily="34" charset="0"/>
              </a:rPr>
              <a:t>Donner claims that a test of heterogeneity of the effect of intervention across the matched pairs cannot be constructed. (I think this is incorrect); how are matched pairs analyzed?</a:t>
            </a:r>
          </a:p>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74</a:t>
            </a:fld>
            <a:endParaRPr lang="en-US"/>
          </a:p>
        </p:txBody>
      </p:sp>
      <p:sp>
        <p:nvSpPr>
          <p:cNvPr id="5" name="Footer Placeholder 4">
            <a:extLst>
              <a:ext uri="{FF2B5EF4-FFF2-40B4-BE49-F238E27FC236}">
                <a16:creationId xmlns:a16="http://schemas.microsoft.com/office/drawing/2014/main" id="{D05805F7-F849-EF43-9A07-239C9E71DECC}"/>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50163584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75</a:t>
            </a:fld>
            <a:endParaRPr lang="en-US"/>
          </a:p>
        </p:txBody>
      </p:sp>
      <p:sp>
        <p:nvSpPr>
          <p:cNvPr id="5" name="Footer Placeholder 4">
            <a:extLst>
              <a:ext uri="{FF2B5EF4-FFF2-40B4-BE49-F238E27FC236}">
                <a16:creationId xmlns:a16="http://schemas.microsoft.com/office/drawing/2014/main" id="{31BB477F-E0A0-5B46-9231-4612B6450632}"/>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36289121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76</a:t>
            </a:fld>
            <a:endParaRPr lang="en-US"/>
          </a:p>
        </p:txBody>
      </p:sp>
      <p:sp>
        <p:nvSpPr>
          <p:cNvPr id="5" name="Footer Placeholder 4">
            <a:extLst>
              <a:ext uri="{FF2B5EF4-FFF2-40B4-BE49-F238E27FC236}">
                <a16:creationId xmlns:a16="http://schemas.microsoft.com/office/drawing/2014/main" id="{E9A147D5-79E3-F345-BA62-C9EE28EDF4CB}"/>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83581455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77</a:t>
            </a:fld>
            <a:endParaRPr lang="en-US"/>
          </a:p>
        </p:txBody>
      </p:sp>
      <p:sp>
        <p:nvSpPr>
          <p:cNvPr id="5" name="Footer Placeholder 4">
            <a:extLst>
              <a:ext uri="{FF2B5EF4-FFF2-40B4-BE49-F238E27FC236}">
                <a16:creationId xmlns:a16="http://schemas.microsoft.com/office/drawing/2014/main" id="{BC44DDD6-CC23-5E4A-8093-3DD4A3F1D8E2}"/>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26640459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78</a:t>
            </a:fld>
            <a:endParaRPr lang="en-US"/>
          </a:p>
        </p:txBody>
      </p:sp>
      <p:sp>
        <p:nvSpPr>
          <p:cNvPr id="5" name="Footer Placeholder 4">
            <a:extLst>
              <a:ext uri="{FF2B5EF4-FFF2-40B4-BE49-F238E27FC236}">
                <a16:creationId xmlns:a16="http://schemas.microsoft.com/office/drawing/2014/main" id="{69279586-DFA5-0E48-82C3-A42FEEBA8A93}"/>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88133696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Should  elaborate on the second point – illustrate with an example</a:t>
            </a:r>
          </a:p>
        </p:txBody>
      </p:sp>
      <p:sp>
        <p:nvSpPr>
          <p:cNvPr id="4" name="Slide Number Placeholder 3"/>
          <p:cNvSpPr>
            <a:spLocks noGrp="1"/>
          </p:cNvSpPr>
          <p:nvPr>
            <p:ph type="sldNum" sz="quarter" idx="5"/>
          </p:nvPr>
        </p:nvSpPr>
        <p:spPr/>
        <p:txBody>
          <a:bodyPr/>
          <a:lstStyle/>
          <a:p>
            <a:fld id="{9DA979E6-713B-4271-BC29-AFAD243A2AFB}" type="slidenum">
              <a:rPr lang="en-US" smtClean="0"/>
              <a:t>79</a:t>
            </a:fld>
            <a:endParaRPr lang="en-US"/>
          </a:p>
        </p:txBody>
      </p:sp>
      <p:sp>
        <p:nvSpPr>
          <p:cNvPr id="5" name="Footer Placeholder 4">
            <a:extLst>
              <a:ext uri="{FF2B5EF4-FFF2-40B4-BE49-F238E27FC236}">
                <a16:creationId xmlns:a16="http://schemas.microsoft.com/office/drawing/2014/main" id="{C938793A-4395-3D46-B2A5-C36F50DC1DDC}"/>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66746436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80</a:t>
            </a:fld>
            <a:endParaRPr lang="en-US"/>
          </a:p>
        </p:txBody>
      </p:sp>
      <p:sp>
        <p:nvSpPr>
          <p:cNvPr id="5" name="Footer Placeholder 4">
            <a:extLst>
              <a:ext uri="{FF2B5EF4-FFF2-40B4-BE49-F238E27FC236}">
                <a16:creationId xmlns:a16="http://schemas.microsoft.com/office/drawing/2014/main" id="{EE729D2E-1EB7-444C-9D0D-4FFD6AD484DA}"/>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05439741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81</a:t>
            </a:fld>
            <a:endParaRPr lang="en-US"/>
          </a:p>
        </p:txBody>
      </p:sp>
      <p:sp>
        <p:nvSpPr>
          <p:cNvPr id="5" name="Footer Placeholder 4">
            <a:extLst>
              <a:ext uri="{FF2B5EF4-FFF2-40B4-BE49-F238E27FC236}">
                <a16:creationId xmlns:a16="http://schemas.microsoft.com/office/drawing/2014/main" id="{13627919-B8C5-9A49-9163-03D9B04DF2D1}"/>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11710984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DA979E6-713B-4271-BC29-AFAD243A2AFB}" type="slidenum">
              <a:rPr lang="en-US" smtClean="0"/>
              <a:t>83</a:t>
            </a:fld>
            <a:endParaRPr lang="en-US"/>
          </a:p>
        </p:txBody>
      </p:sp>
    </p:spTree>
    <p:extLst>
      <p:ext uri="{BB962C8B-B14F-4D97-AF65-F5344CB8AC3E}">
        <p14:creationId xmlns:p14="http://schemas.microsoft.com/office/powerpoint/2010/main" val="305777236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87</a:t>
            </a:fld>
            <a:endParaRPr lang="en-US"/>
          </a:p>
        </p:txBody>
      </p:sp>
      <p:sp>
        <p:nvSpPr>
          <p:cNvPr id="5" name="Footer Placeholder 4">
            <a:extLst>
              <a:ext uri="{FF2B5EF4-FFF2-40B4-BE49-F238E27FC236}">
                <a16:creationId xmlns:a16="http://schemas.microsoft.com/office/drawing/2014/main" id="{4044A4DA-F791-324B-9C77-5D47FDB900BA}"/>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16896273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88</a:t>
            </a:fld>
            <a:endParaRPr lang="en-US"/>
          </a:p>
        </p:txBody>
      </p:sp>
      <p:sp>
        <p:nvSpPr>
          <p:cNvPr id="5" name="Footer Placeholder 4">
            <a:extLst>
              <a:ext uri="{FF2B5EF4-FFF2-40B4-BE49-F238E27FC236}">
                <a16:creationId xmlns:a16="http://schemas.microsoft.com/office/drawing/2014/main" id="{3FDD7C7A-79EE-2145-8AE2-AC85E7700571}"/>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49536173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89</a:t>
            </a:fld>
            <a:endParaRPr lang="en-US"/>
          </a:p>
        </p:txBody>
      </p:sp>
      <p:sp>
        <p:nvSpPr>
          <p:cNvPr id="5" name="Footer Placeholder 4">
            <a:extLst>
              <a:ext uri="{FF2B5EF4-FFF2-40B4-BE49-F238E27FC236}">
                <a16:creationId xmlns:a16="http://schemas.microsoft.com/office/drawing/2014/main" id="{3B956536-A403-0348-9513-029C95B4D91E}"/>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05330977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90</a:t>
            </a:fld>
            <a:endParaRPr lang="en-US"/>
          </a:p>
        </p:txBody>
      </p:sp>
      <p:sp>
        <p:nvSpPr>
          <p:cNvPr id="5" name="Footer Placeholder 4">
            <a:extLst>
              <a:ext uri="{FF2B5EF4-FFF2-40B4-BE49-F238E27FC236}">
                <a16:creationId xmlns:a16="http://schemas.microsoft.com/office/drawing/2014/main" id="{BF205CF0-B12B-1546-82B0-AC6ABA1077A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421069685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91</a:t>
            </a:fld>
            <a:endParaRPr lang="en-US"/>
          </a:p>
        </p:txBody>
      </p:sp>
      <p:sp>
        <p:nvSpPr>
          <p:cNvPr id="5" name="Footer Placeholder 4">
            <a:extLst>
              <a:ext uri="{FF2B5EF4-FFF2-40B4-BE49-F238E27FC236}">
                <a16:creationId xmlns:a16="http://schemas.microsoft.com/office/drawing/2014/main" id="{02DD6A47-9982-E14C-B020-D716D4FBEC14}"/>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98327846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92</a:t>
            </a:fld>
            <a:endParaRPr lang="en-US"/>
          </a:p>
        </p:txBody>
      </p:sp>
      <p:sp>
        <p:nvSpPr>
          <p:cNvPr id="5" name="Footer Placeholder 4">
            <a:extLst>
              <a:ext uri="{FF2B5EF4-FFF2-40B4-BE49-F238E27FC236}">
                <a16:creationId xmlns:a16="http://schemas.microsoft.com/office/drawing/2014/main" id="{41E8A96E-DE45-B840-87B0-EBFC36572921}"/>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98553695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93</a:t>
            </a:fld>
            <a:endParaRPr lang="en-US"/>
          </a:p>
        </p:txBody>
      </p:sp>
      <p:sp>
        <p:nvSpPr>
          <p:cNvPr id="5" name="Footer Placeholder 4">
            <a:extLst>
              <a:ext uri="{FF2B5EF4-FFF2-40B4-BE49-F238E27FC236}">
                <a16:creationId xmlns:a16="http://schemas.microsoft.com/office/drawing/2014/main" id="{35ACD5E7-31CB-6E48-B481-769E34FFAFDD}"/>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5745426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94</a:t>
            </a:fld>
            <a:endParaRPr lang="en-US"/>
          </a:p>
        </p:txBody>
      </p:sp>
      <p:sp>
        <p:nvSpPr>
          <p:cNvPr id="5" name="Footer Placeholder 4">
            <a:extLst>
              <a:ext uri="{FF2B5EF4-FFF2-40B4-BE49-F238E27FC236}">
                <a16:creationId xmlns:a16="http://schemas.microsoft.com/office/drawing/2014/main" id="{D3B6A9EE-DB24-0445-814B-E93AD3A4D29D}"/>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14612074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95</a:t>
            </a:fld>
            <a:endParaRPr lang="en-US"/>
          </a:p>
        </p:txBody>
      </p:sp>
      <p:sp>
        <p:nvSpPr>
          <p:cNvPr id="5" name="Footer Placeholder 4">
            <a:extLst>
              <a:ext uri="{FF2B5EF4-FFF2-40B4-BE49-F238E27FC236}">
                <a16:creationId xmlns:a16="http://schemas.microsoft.com/office/drawing/2014/main" id="{47B275F1-374C-8948-94C4-208D1969FBF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421196931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96</a:t>
            </a:fld>
            <a:endParaRPr lang="en-US"/>
          </a:p>
        </p:txBody>
      </p:sp>
      <p:sp>
        <p:nvSpPr>
          <p:cNvPr id="5" name="Footer Placeholder 4">
            <a:extLst>
              <a:ext uri="{FF2B5EF4-FFF2-40B4-BE49-F238E27FC236}">
                <a16:creationId xmlns:a16="http://schemas.microsoft.com/office/drawing/2014/main" id="{22538703-9B8B-5B43-A8D2-546DE9CF273F}"/>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54933230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97</a:t>
            </a:fld>
            <a:endParaRPr lang="en-US"/>
          </a:p>
        </p:txBody>
      </p:sp>
      <p:sp>
        <p:nvSpPr>
          <p:cNvPr id="5" name="Footer Placeholder 4">
            <a:extLst>
              <a:ext uri="{FF2B5EF4-FFF2-40B4-BE49-F238E27FC236}">
                <a16:creationId xmlns:a16="http://schemas.microsoft.com/office/drawing/2014/main" id="{E0F157A1-2253-C246-B095-156D7CACDF05}"/>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95743326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98</a:t>
            </a:fld>
            <a:endParaRPr lang="en-US"/>
          </a:p>
        </p:txBody>
      </p:sp>
      <p:sp>
        <p:nvSpPr>
          <p:cNvPr id="5" name="Footer Placeholder 4">
            <a:extLst>
              <a:ext uri="{FF2B5EF4-FFF2-40B4-BE49-F238E27FC236}">
                <a16:creationId xmlns:a16="http://schemas.microsoft.com/office/drawing/2014/main" id="{E20B9458-8825-2545-AFF7-828C1F32C79D}"/>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95507745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DA979E6-713B-4271-BC29-AFAD243A2AFB}" type="slidenum">
              <a:rPr lang="en-US" smtClean="0"/>
              <a:t>102</a:t>
            </a:fld>
            <a:endParaRPr lang="en-US"/>
          </a:p>
        </p:txBody>
      </p:sp>
    </p:spTree>
    <p:extLst>
      <p:ext uri="{BB962C8B-B14F-4D97-AF65-F5344CB8AC3E}">
        <p14:creationId xmlns:p14="http://schemas.microsoft.com/office/powerpoint/2010/main" val="107617083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DA979E6-713B-4271-BC29-AFAD243A2AFB}" type="slidenum">
              <a:rPr lang="en-US" smtClean="0"/>
              <a:t>104</a:t>
            </a:fld>
            <a:endParaRPr lang="en-US"/>
          </a:p>
        </p:txBody>
      </p:sp>
    </p:spTree>
    <p:extLst>
      <p:ext uri="{BB962C8B-B14F-4D97-AF65-F5344CB8AC3E}">
        <p14:creationId xmlns:p14="http://schemas.microsoft.com/office/powerpoint/2010/main" val="3952754142"/>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DA979E6-713B-4271-BC29-AFAD243A2AFB}" type="slidenum">
              <a:rPr lang="en-US" smtClean="0"/>
              <a:t>106</a:t>
            </a:fld>
            <a:endParaRPr lang="en-US"/>
          </a:p>
        </p:txBody>
      </p:sp>
    </p:spTree>
    <p:extLst>
      <p:ext uri="{BB962C8B-B14F-4D97-AF65-F5344CB8AC3E}">
        <p14:creationId xmlns:p14="http://schemas.microsoft.com/office/powerpoint/2010/main" val="163528394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108</a:t>
            </a:fld>
            <a:endParaRPr lang="en-US"/>
          </a:p>
        </p:txBody>
      </p:sp>
      <p:sp>
        <p:nvSpPr>
          <p:cNvPr id="5" name="Footer Placeholder 4">
            <a:extLst>
              <a:ext uri="{FF2B5EF4-FFF2-40B4-BE49-F238E27FC236}">
                <a16:creationId xmlns:a16="http://schemas.microsoft.com/office/drawing/2014/main" id="{F4ED2A01-99F8-3541-81EC-85E676DF29C4}"/>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70865706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109</a:t>
            </a:fld>
            <a:endParaRPr lang="en-US"/>
          </a:p>
        </p:txBody>
      </p:sp>
      <p:sp>
        <p:nvSpPr>
          <p:cNvPr id="5" name="Footer Placeholder 4">
            <a:extLst>
              <a:ext uri="{FF2B5EF4-FFF2-40B4-BE49-F238E27FC236}">
                <a16:creationId xmlns:a16="http://schemas.microsoft.com/office/drawing/2014/main" id="{2F828514-4105-5349-9F06-719E71529D0D}"/>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84303919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C0D69-538C-F7D3-B835-6A4CE3911C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CD547E-AA50-9BBF-8B71-6D2A014829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92A138-076D-262E-7E6D-9FC125A27C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FF1197-16E6-CD4C-8A53-97FF37773BEA}"/>
              </a:ext>
            </a:extLst>
          </p:cNvPr>
          <p:cNvSpPr>
            <a:spLocks noGrp="1"/>
          </p:cNvSpPr>
          <p:nvPr>
            <p:ph type="sldNum" sz="quarter" idx="5"/>
          </p:nvPr>
        </p:nvSpPr>
        <p:spPr/>
        <p:txBody>
          <a:bodyPr/>
          <a:lstStyle/>
          <a:p>
            <a:fld id="{9DA979E6-713B-4271-BC29-AFAD243A2AFB}" type="slidenum">
              <a:rPr lang="en-US" smtClean="0"/>
              <a:t>110</a:t>
            </a:fld>
            <a:endParaRPr lang="en-US"/>
          </a:p>
        </p:txBody>
      </p:sp>
      <p:sp>
        <p:nvSpPr>
          <p:cNvPr id="5" name="Footer Placeholder 4">
            <a:extLst>
              <a:ext uri="{FF2B5EF4-FFF2-40B4-BE49-F238E27FC236}">
                <a16:creationId xmlns:a16="http://schemas.microsoft.com/office/drawing/2014/main" id="{3E4F5988-75DD-8C02-73FF-AD6FE1D7F548}"/>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94776521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111</a:t>
            </a:fld>
            <a:endParaRPr lang="en-US"/>
          </a:p>
        </p:txBody>
      </p:sp>
      <p:sp>
        <p:nvSpPr>
          <p:cNvPr id="5" name="Footer Placeholder 4">
            <a:extLst>
              <a:ext uri="{FF2B5EF4-FFF2-40B4-BE49-F238E27FC236}">
                <a16:creationId xmlns:a16="http://schemas.microsoft.com/office/drawing/2014/main" id="{AD4C128B-D73E-C34B-9904-CABE94E10A8F}"/>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45447415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112</a:t>
            </a:fld>
            <a:endParaRPr lang="en-US"/>
          </a:p>
        </p:txBody>
      </p:sp>
      <p:sp>
        <p:nvSpPr>
          <p:cNvPr id="5" name="Footer Placeholder 4">
            <a:extLst>
              <a:ext uri="{FF2B5EF4-FFF2-40B4-BE49-F238E27FC236}">
                <a16:creationId xmlns:a16="http://schemas.microsoft.com/office/drawing/2014/main" id="{4C52C43C-E6C2-8344-BD80-130522D9147C}"/>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60414115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113</a:t>
            </a:fld>
            <a:endParaRPr lang="en-US"/>
          </a:p>
        </p:txBody>
      </p:sp>
      <p:sp>
        <p:nvSpPr>
          <p:cNvPr id="5" name="Footer Placeholder 4">
            <a:extLst>
              <a:ext uri="{FF2B5EF4-FFF2-40B4-BE49-F238E27FC236}">
                <a16:creationId xmlns:a16="http://schemas.microsoft.com/office/drawing/2014/main" id="{2477A57E-2D43-8647-B094-32B15D8CE4D6}"/>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80837157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114</a:t>
            </a:fld>
            <a:endParaRPr lang="en-US"/>
          </a:p>
        </p:txBody>
      </p:sp>
      <p:sp>
        <p:nvSpPr>
          <p:cNvPr id="5" name="Footer Placeholder 4">
            <a:extLst>
              <a:ext uri="{FF2B5EF4-FFF2-40B4-BE49-F238E27FC236}">
                <a16:creationId xmlns:a16="http://schemas.microsoft.com/office/drawing/2014/main" id="{B138F514-9064-EE40-BC99-32726490B46F}"/>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895844123"/>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115</a:t>
            </a:fld>
            <a:endParaRPr lang="en-US"/>
          </a:p>
        </p:txBody>
      </p:sp>
      <p:sp>
        <p:nvSpPr>
          <p:cNvPr id="5" name="Footer Placeholder 4">
            <a:extLst>
              <a:ext uri="{FF2B5EF4-FFF2-40B4-BE49-F238E27FC236}">
                <a16:creationId xmlns:a16="http://schemas.microsoft.com/office/drawing/2014/main" id="{960EDF10-5E94-284A-9F65-EA3F7387E8E9}"/>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317566740"/>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116</a:t>
            </a:fld>
            <a:endParaRPr lang="en-US"/>
          </a:p>
        </p:txBody>
      </p:sp>
      <p:sp>
        <p:nvSpPr>
          <p:cNvPr id="5" name="Footer Placeholder 4">
            <a:extLst>
              <a:ext uri="{FF2B5EF4-FFF2-40B4-BE49-F238E27FC236}">
                <a16:creationId xmlns:a16="http://schemas.microsoft.com/office/drawing/2014/main" id="{5A00C5D8-4E46-0E42-8B6D-841256ECA018}"/>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6454950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117</a:t>
            </a:fld>
            <a:endParaRPr lang="en-US"/>
          </a:p>
        </p:txBody>
      </p:sp>
      <p:sp>
        <p:nvSpPr>
          <p:cNvPr id="5" name="Footer Placeholder 4">
            <a:extLst>
              <a:ext uri="{FF2B5EF4-FFF2-40B4-BE49-F238E27FC236}">
                <a16:creationId xmlns:a16="http://schemas.microsoft.com/office/drawing/2014/main" id="{A9B41AFC-BFA6-4E4F-983E-B4F2F011C691}"/>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342861213"/>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118</a:t>
            </a:fld>
            <a:endParaRPr lang="en-US"/>
          </a:p>
        </p:txBody>
      </p:sp>
      <p:sp>
        <p:nvSpPr>
          <p:cNvPr id="5" name="Footer Placeholder 4">
            <a:extLst>
              <a:ext uri="{FF2B5EF4-FFF2-40B4-BE49-F238E27FC236}">
                <a16:creationId xmlns:a16="http://schemas.microsoft.com/office/drawing/2014/main" id="{84BD3C5F-F15A-0640-998F-AA679AB86FB2}"/>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4269067949"/>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119</a:t>
            </a:fld>
            <a:endParaRPr lang="en-US"/>
          </a:p>
        </p:txBody>
      </p:sp>
      <p:sp>
        <p:nvSpPr>
          <p:cNvPr id="5" name="Footer Placeholder 4">
            <a:extLst>
              <a:ext uri="{FF2B5EF4-FFF2-40B4-BE49-F238E27FC236}">
                <a16:creationId xmlns:a16="http://schemas.microsoft.com/office/drawing/2014/main" id="{C672E197-4992-FE4D-8B57-87C0EFF21395}"/>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65753481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120</a:t>
            </a:fld>
            <a:endParaRPr lang="en-US"/>
          </a:p>
        </p:txBody>
      </p:sp>
      <p:sp>
        <p:nvSpPr>
          <p:cNvPr id="5" name="Footer Placeholder 4">
            <a:extLst>
              <a:ext uri="{FF2B5EF4-FFF2-40B4-BE49-F238E27FC236}">
                <a16:creationId xmlns:a16="http://schemas.microsoft.com/office/drawing/2014/main" id="{E8E2543C-47E0-5A41-8745-A1BCFCD58953}"/>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971984933"/>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121</a:t>
            </a:fld>
            <a:endParaRPr lang="en-US"/>
          </a:p>
        </p:txBody>
      </p:sp>
      <p:sp>
        <p:nvSpPr>
          <p:cNvPr id="5" name="Footer Placeholder 4">
            <a:extLst>
              <a:ext uri="{FF2B5EF4-FFF2-40B4-BE49-F238E27FC236}">
                <a16:creationId xmlns:a16="http://schemas.microsoft.com/office/drawing/2014/main" id="{39FDB3D8-36EA-8A4D-920C-D904B8E47FAD}"/>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761156809"/>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122</a:t>
            </a:fld>
            <a:endParaRPr lang="en-US"/>
          </a:p>
        </p:txBody>
      </p:sp>
      <p:sp>
        <p:nvSpPr>
          <p:cNvPr id="5" name="Footer Placeholder 4">
            <a:extLst>
              <a:ext uri="{FF2B5EF4-FFF2-40B4-BE49-F238E27FC236}">
                <a16:creationId xmlns:a16="http://schemas.microsoft.com/office/drawing/2014/main" id="{06C3AEF5-4E8E-DE46-9FCD-E62ED51E33AA}"/>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416523772"/>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123</a:t>
            </a:fld>
            <a:endParaRPr lang="en-US"/>
          </a:p>
        </p:txBody>
      </p:sp>
      <p:sp>
        <p:nvSpPr>
          <p:cNvPr id="5" name="Footer Placeholder 4">
            <a:extLst>
              <a:ext uri="{FF2B5EF4-FFF2-40B4-BE49-F238E27FC236}">
                <a16:creationId xmlns:a16="http://schemas.microsoft.com/office/drawing/2014/main" id="{EC6BB858-23B1-8C40-BC6A-0F414EB3945E}"/>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116670044"/>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124</a:t>
            </a:fld>
            <a:endParaRPr lang="en-US"/>
          </a:p>
        </p:txBody>
      </p:sp>
      <p:sp>
        <p:nvSpPr>
          <p:cNvPr id="5" name="Footer Placeholder 4">
            <a:extLst>
              <a:ext uri="{FF2B5EF4-FFF2-40B4-BE49-F238E27FC236}">
                <a16:creationId xmlns:a16="http://schemas.microsoft.com/office/drawing/2014/main" id="{E477E27C-B8AC-D149-B0DE-6B49A72855DC}"/>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547749987"/>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125</a:t>
            </a:fld>
            <a:endParaRPr lang="en-US"/>
          </a:p>
        </p:txBody>
      </p:sp>
      <p:sp>
        <p:nvSpPr>
          <p:cNvPr id="5" name="Footer Placeholder 4">
            <a:extLst>
              <a:ext uri="{FF2B5EF4-FFF2-40B4-BE49-F238E27FC236}">
                <a16:creationId xmlns:a16="http://schemas.microsoft.com/office/drawing/2014/main" id="{D8E3B6E9-B0C3-5D42-AB42-3E6F91F67E13}"/>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4120404409"/>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126</a:t>
            </a:fld>
            <a:endParaRPr lang="en-US"/>
          </a:p>
        </p:txBody>
      </p:sp>
      <p:sp>
        <p:nvSpPr>
          <p:cNvPr id="5" name="Footer Placeholder 4">
            <a:extLst>
              <a:ext uri="{FF2B5EF4-FFF2-40B4-BE49-F238E27FC236}">
                <a16:creationId xmlns:a16="http://schemas.microsoft.com/office/drawing/2014/main" id="{9D5A0C53-E5B8-D244-8943-D8568544EC5C}"/>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526949024"/>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127</a:t>
            </a:fld>
            <a:endParaRPr lang="en-US"/>
          </a:p>
        </p:txBody>
      </p:sp>
      <p:sp>
        <p:nvSpPr>
          <p:cNvPr id="5" name="Footer Placeholder 4">
            <a:extLst>
              <a:ext uri="{FF2B5EF4-FFF2-40B4-BE49-F238E27FC236}">
                <a16:creationId xmlns:a16="http://schemas.microsoft.com/office/drawing/2014/main" id="{34D34DF0-29F6-DF49-B575-666EA1BAC4D0}"/>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6854443"/>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128</a:t>
            </a:fld>
            <a:endParaRPr lang="en-US"/>
          </a:p>
        </p:txBody>
      </p:sp>
      <p:sp>
        <p:nvSpPr>
          <p:cNvPr id="5" name="Footer Placeholder 4">
            <a:extLst>
              <a:ext uri="{FF2B5EF4-FFF2-40B4-BE49-F238E27FC236}">
                <a16:creationId xmlns:a16="http://schemas.microsoft.com/office/drawing/2014/main" id="{2C300047-8090-534C-9682-EF161271C44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184620934"/>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129</a:t>
            </a:fld>
            <a:endParaRPr lang="en-US"/>
          </a:p>
        </p:txBody>
      </p:sp>
      <p:sp>
        <p:nvSpPr>
          <p:cNvPr id="5" name="Footer Placeholder 4">
            <a:extLst>
              <a:ext uri="{FF2B5EF4-FFF2-40B4-BE49-F238E27FC236}">
                <a16:creationId xmlns:a16="http://schemas.microsoft.com/office/drawing/2014/main" id="{54F82A1D-79EF-C947-9A30-C9811013766C}"/>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699203725"/>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130</a:t>
            </a:fld>
            <a:endParaRPr lang="en-US"/>
          </a:p>
        </p:txBody>
      </p:sp>
      <p:sp>
        <p:nvSpPr>
          <p:cNvPr id="5" name="Footer Placeholder 4">
            <a:extLst>
              <a:ext uri="{FF2B5EF4-FFF2-40B4-BE49-F238E27FC236}">
                <a16:creationId xmlns:a16="http://schemas.microsoft.com/office/drawing/2014/main" id="{ECC34A44-FB47-B640-A9AF-CE5A39823E03}"/>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812721117"/>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131</a:t>
            </a:fld>
            <a:endParaRPr lang="en-US"/>
          </a:p>
        </p:txBody>
      </p:sp>
      <p:sp>
        <p:nvSpPr>
          <p:cNvPr id="5" name="Footer Placeholder 4">
            <a:extLst>
              <a:ext uri="{FF2B5EF4-FFF2-40B4-BE49-F238E27FC236}">
                <a16:creationId xmlns:a16="http://schemas.microsoft.com/office/drawing/2014/main" id="{1A6615FB-E878-C346-BB36-95B5D799C8E6}"/>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948665090"/>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132</a:t>
            </a:fld>
            <a:endParaRPr lang="en-US"/>
          </a:p>
        </p:txBody>
      </p:sp>
      <p:sp>
        <p:nvSpPr>
          <p:cNvPr id="5" name="Footer Placeholder 4">
            <a:extLst>
              <a:ext uri="{FF2B5EF4-FFF2-40B4-BE49-F238E27FC236}">
                <a16:creationId xmlns:a16="http://schemas.microsoft.com/office/drawing/2014/main" id="{55B554EC-0366-494C-9076-677DD1E57AF2}"/>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652605200"/>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133</a:t>
            </a:fld>
            <a:endParaRPr lang="en-US"/>
          </a:p>
        </p:txBody>
      </p:sp>
      <p:sp>
        <p:nvSpPr>
          <p:cNvPr id="5" name="Footer Placeholder 4">
            <a:extLst>
              <a:ext uri="{FF2B5EF4-FFF2-40B4-BE49-F238E27FC236}">
                <a16:creationId xmlns:a16="http://schemas.microsoft.com/office/drawing/2014/main" id="{E288FA27-52F5-A743-B937-7D4EE58FE63D}"/>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307108792"/>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134</a:t>
            </a:fld>
            <a:endParaRPr lang="en-US"/>
          </a:p>
        </p:txBody>
      </p:sp>
      <p:sp>
        <p:nvSpPr>
          <p:cNvPr id="5" name="Footer Placeholder 4">
            <a:extLst>
              <a:ext uri="{FF2B5EF4-FFF2-40B4-BE49-F238E27FC236}">
                <a16:creationId xmlns:a16="http://schemas.microsoft.com/office/drawing/2014/main" id="{F5056D5C-FE99-8944-A716-7AEC61CF8ADC}"/>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8411900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B390F-7375-4D11-A900-DC1D9BCE94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B750E59-C29E-4C9C-BD3C-EE313218A5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C180BA-5004-4926-A1C7-D23D867BCD29}"/>
              </a:ext>
            </a:extLst>
          </p:cNvPr>
          <p:cNvSpPr>
            <a:spLocks noGrp="1"/>
          </p:cNvSpPr>
          <p:nvPr>
            <p:ph type="dt" sz="half" idx="10"/>
          </p:nvPr>
        </p:nvSpPr>
        <p:spPr/>
        <p:txBody>
          <a:bodyPr/>
          <a:lstStyle/>
          <a:p>
            <a:fld id="{76D0F185-BB32-4BFE-9D9B-76625669CA81}" type="datetime1">
              <a:rPr lang="en-US" smtClean="0"/>
              <a:t>8/28/2026</a:t>
            </a:fld>
            <a:endParaRPr lang="en-US"/>
          </a:p>
        </p:txBody>
      </p:sp>
      <p:sp>
        <p:nvSpPr>
          <p:cNvPr id="5" name="Footer Placeholder 4">
            <a:extLst>
              <a:ext uri="{FF2B5EF4-FFF2-40B4-BE49-F238E27FC236}">
                <a16:creationId xmlns:a16="http://schemas.microsoft.com/office/drawing/2014/main" id="{D5A26C45-9255-460D-AE90-06D499BDE9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8C05A5-958B-4603-9986-518380882EFA}"/>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2275879861"/>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364EB-7E63-473C-B315-AD80003571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5040DC-893E-44C1-AF04-554D276672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81C378-1502-4072-ADE1-424C8C876591}"/>
              </a:ext>
            </a:extLst>
          </p:cNvPr>
          <p:cNvSpPr>
            <a:spLocks noGrp="1"/>
          </p:cNvSpPr>
          <p:nvPr>
            <p:ph type="dt" sz="half" idx="10"/>
          </p:nvPr>
        </p:nvSpPr>
        <p:spPr/>
        <p:txBody>
          <a:bodyPr/>
          <a:lstStyle/>
          <a:p>
            <a:fld id="{FCA130BB-FDA0-4CEE-90B6-156F5EE2FCCE}" type="datetime1">
              <a:rPr lang="en-US" smtClean="0"/>
              <a:t>8/28/2026</a:t>
            </a:fld>
            <a:endParaRPr lang="en-US"/>
          </a:p>
        </p:txBody>
      </p:sp>
      <p:sp>
        <p:nvSpPr>
          <p:cNvPr id="5" name="Footer Placeholder 4">
            <a:extLst>
              <a:ext uri="{FF2B5EF4-FFF2-40B4-BE49-F238E27FC236}">
                <a16:creationId xmlns:a16="http://schemas.microsoft.com/office/drawing/2014/main" id="{C2D98BFC-EB9D-4DD2-B30A-3E7346A8AD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966824-E9A4-4E00-B0FF-80ECB5841BB9}"/>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288564351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00871-BF56-4D04-AC1A-B440CD7602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F3C5AAA-C527-49DE-A6FE-0E989DE6D2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BD50D2C-1717-494F-9F97-1E81FDB4AA1D}"/>
              </a:ext>
            </a:extLst>
          </p:cNvPr>
          <p:cNvSpPr>
            <a:spLocks noGrp="1"/>
          </p:cNvSpPr>
          <p:nvPr>
            <p:ph type="dt" sz="half" idx="10"/>
          </p:nvPr>
        </p:nvSpPr>
        <p:spPr/>
        <p:txBody>
          <a:bodyPr/>
          <a:lstStyle/>
          <a:p>
            <a:fld id="{F5A14DC8-8929-468A-BF51-CCDEB693A65E}" type="datetime1">
              <a:rPr lang="en-US" smtClean="0"/>
              <a:t>8/28/2026</a:t>
            </a:fld>
            <a:endParaRPr lang="en-US"/>
          </a:p>
        </p:txBody>
      </p:sp>
      <p:sp>
        <p:nvSpPr>
          <p:cNvPr id="5" name="Footer Placeholder 4">
            <a:extLst>
              <a:ext uri="{FF2B5EF4-FFF2-40B4-BE49-F238E27FC236}">
                <a16:creationId xmlns:a16="http://schemas.microsoft.com/office/drawing/2014/main" id="{9712261E-94A4-4247-A9F8-F8BAF3FB9A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555E4F-2A6D-46AB-88AF-7656BC6F0EA1}"/>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643716084"/>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D9B2F-EBFC-4EE7-8C89-AEFA4FE1B8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330E8C-F77F-4E2F-9574-D5279BB294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3BCC3EE-E2C8-4933-BBC6-4401083E20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74762B-48FC-44B1-B4C2-EA59EEFCC572}"/>
              </a:ext>
            </a:extLst>
          </p:cNvPr>
          <p:cNvSpPr>
            <a:spLocks noGrp="1"/>
          </p:cNvSpPr>
          <p:nvPr>
            <p:ph type="dt" sz="half" idx="10"/>
          </p:nvPr>
        </p:nvSpPr>
        <p:spPr/>
        <p:txBody>
          <a:bodyPr/>
          <a:lstStyle/>
          <a:p>
            <a:fld id="{BF722D52-8AA6-4CD7-AEB1-B84418039E06}" type="datetime1">
              <a:rPr lang="en-US" smtClean="0"/>
              <a:t>8/28/2026</a:t>
            </a:fld>
            <a:endParaRPr lang="en-US"/>
          </a:p>
        </p:txBody>
      </p:sp>
      <p:sp>
        <p:nvSpPr>
          <p:cNvPr id="6" name="Footer Placeholder 5">
            <a:extLst>
              <a:ext uri="{FF2B5EF4-FFF2-40B4-BE49-F238E27FC236}">
                <a16:creationId xmlns:a16="http://schemas.microsoft.com/office/drawing/2014/main" id="{694207A1-7CD6-4264-954A-65141B41C1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44253F-DB39-473F-97F1-06D141139898}"/>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301846311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AD868-7CEB-4E58-B75C-0CA096FF23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BCC0253-C9DD-4DA7-8FB8-7E73F5E918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AA8AA4-0156-47AF-8717-9333DF3FDC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FC021F-B2D8-4499-8A7E-A9ABF7518D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5F49FF-C852-4DAA-84C6-5A597FCDB4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68E3AB3-0C25-49AA-A733-333C2690A0B1}"/>
              </a:ext>
            </a:extLst>
          </p:cNvPr>
          <p:cNvSpPr>
            <a:spLocks noGrp="1"/>
          </p:cNvSpPr>
          <p:nvPr>
            <p:ph type="dt" sz="half" idx="10"/>
          </p:nvPr>
        </p:nvSpPr>
        <p:spPr/>
        <p:txBody>
          <a:bodyPr/>
          <a:lstStyle/>
          <a:p>
            <a:fld id="{0CDB3543-2331-46BF-ADAC-FFF58B0F3CFB}" type="datetime1">
              <a:rPr lang="en-US" smtClean="0"/>
              <a:t>8/28/2026</a:t>
            </a:fld>
            <a:endParaRPr lang="en-US"/>
          </a:p>
        </p:txBody>
      </p:sp>
      <p:sp>
        <p:nvSpPr>
          <p:cNvPr id="8" name="Footer Placeholder 7">
            <a:extLst>
              <a:ext uri="{FF2B5EF4-FFF2-40B4-BE49-F238E27FC236}">
                <a16:creationId xmlns:a16="http://schemas.microsoft.com/office/drawing/2014/main" id="{FECA58F5-F4F2-4704-94BF-4A77C650CFF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F4D043-509F-47E0-BDE2-B3A9141A6598}"/>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343644149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E03AD-E118-45E8-801E-BF317BC203E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47E8423-C3DE-48C3-A7D2-F5A05DED7D66}"/>
              </a:ext>
            </a:extLst>
          </p:cNvPr>
          <p:cNvSpPr>
            <a:spLocks noGrp="1"/>
          </p:cNvSpPr>
          <p:nvPr>
            <p:ph type="dt" sz="half" idx="10"/>
          </p:nvPr>
        </p:nvSpPr>
        <p:spPr/>
        <p:txBody>
          <a:bodyPr/>
          <a:lstStyle/>
          <a:p>
            <a:fld id="{BA3C5074-4FF3-44A6-BE54-FEFFB573E606}" type="datetime1">
              <a:rPr lang="en-US" smtClean="0"/>
              <a:t>8/28/2026</a:t>
            </a:fld>
            <a:endParaRPr lang="en-US"/>
          </a:p>
        </p:txBody>
      </p:sp>
      <p:sp>
        <p:nvSpPr>
          <p:cNvPr id="4" name="Footer Placeholder 3">
            <a:extLst>
              <a:ext uri="{FF2B5EF4-FFF2-40B4-BE49-F238E27FC236}">
                <a16:creationId xmlns:a16="http://schemas.microsoft.com/office/drawing/2014/main" id="{6D2DB88A-6AE2-40E5-AD9D-8C79B73433A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40500F5-37B2-4418-8211-C6AF88D8E580}"/>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267192813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A2A8F2-E152-41CD-9354-A5911067D4E2}"/>
              </a:ext>
            </a:extLst>
          </p:cNvPr>
          <p:cNvSpPr>
            <a:spLocks noGrp="1"/>
          </p:cNvSpPr>
          <p:nvPr>
            <p:ph type="dt" sz="half" idx="10"/>
          </p:nvPr>
        </p:nvSpPr>
        <p:spPr/>
        <p:txBody>
          <a:bodyPr/>
          <a:lstStyle/>
          <a:p>
            <a:fld id="{1FE72BD2-2F8B-4A2F-B3CA-D34CE517163E}" type="datetime1">
              <a:rPr lang="en-US" smtClean="0"/>
              <a:t>8/28/2026</a:t>
            </a:fld>
            <a:endParaRPr lang="en-US"/>
          </a:p>
        </p:txBody>
      </p:sp>
      <p:sp>
        <p:nvSpPr>
          <p:cNvPr id="3" name="Footer Placeholder 2">
            <a:extLst>
              <a:ext uri="{FF2B5EF4-FFF2-40B4-BE49-F238E27FC236}">
                <a16:creationId xmlns:a16="http://schemas.microsoft.com/office/drawing/2014/main" id="{ED5B03D1-2C4D-424E-9EED-955BD5C6AE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C2D8D30-01FF-44E6-8B25-66D9F619FF39}"/>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426670504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969F3-3DCD-4C00-9662-86DA9CCD91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E87364-1E26-4ED8-B2C3-F13DD1A65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E1137A8-2791-4530-A641-F3C54AABA4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8AD5E3-85CA-4846-AFCD-AEC2BFD6CBE1}"/>
              </a:ext>
            </a:extLst>
          </p:cNvPr>
          <p:cNvSpPr>
            <a:spLocks noGrp="1"/>
          </p:cNvSpPr>
          <p:nvPr>
            <p:ph type="dt" sz="half" idx="10"/>
          </p:nvPr>
        </p:nvSpPr>
        <p:spPr/>
        <p:txBody>
          <a:bodyPr/>
          <a:lstStyle/>
          <a:p>
            <a:fld id="{0880BEFE-9149-4856-9A8B-5424712D9CAD}" type="datetime1">
              <a:rPr lang="en-US" smtClean="0"/>
              <a:t>8/28/2026</a:t>
            </a:fld>
            <a:endParaRPr lang="en-US"/>
          </a:p>
        </p:txBody>
      </p:sp>
      <p:sp>
        <p:nvSpPr>
          <p:cNvPr id="6" name="Footer Placeholder 5">
            <a:extLst>
              <a:ext uri="{FF2B5EF4-FFF2-40B4-BE49-F238E27FC236}">
                <a16:creationId xmlns:a16="http://schemas.microsoft.com/office/drawing/2014/main" id="{4C7725B6-B8F9-4A73-ADB3-1EF56D2C77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E8EEFC-9C7D-435C-811E-EEA5F268038C}"/>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392498482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C91D0-3771-41D9-9B30-B8727A8FCB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526BD8-7E70-4236-9EF8-EAD10B2BBC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A62F87C-1004-430B-9A66-68B9711031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F3D52D-46C2-4195-8974-00AE032428EF}"/>
              </a:ext>
            </a:extLst>
          </p:cNvPr>
          <p:cNvSpPr>
            <a:spLocks noGrp="1"/>
          </p:cNvSpPr>
          <p:nvPr>
            <p:ph type="dt" sz="half" idx="10"/>
          </p:nvPr>
        </p:nvSpPr>
        <p:spPr/>
        <p:txBody>
          <a:bodyPr/>
          <a:lstStyle/>
          <a:p>
            <a:fld id="{410CCB68-9ABD-4BDB-8A22-69473BFD3478}" type="datetime1">
              <a:rPr lang="en-US" smtClean="0"/>
              <a:t>8/28/2026</a:t>
            </a:fld>
            <a:endParaRPr lang="en-US"/>
          </a:p>
        </p:txBody>
      </p:sp>
      <p:sp>
        <p:nvSpPr>
          <p:cNvPr id="6" name="Footer Placeholder 5">
            <a:extLst>
              <a:ext uri="{FF2B5EF4-FFF2-40B4-BE49-F238E27FC236}">
                <a16:creationId xmlns:a16="http://schemas.microsoft.com/office/drawing/2014/main" id="{B7D599FE-14BB-48C0-843E-87FEE76DD2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DC4590-E198-429C-891A-F5E7BB5BD621}"/>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372441224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4CD5F-E468-4E80-9DD8-A7681A90B2D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53021AF-EDEB-4F60-87C8-60059273BA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EFD96A-56E3-4FCC-A6C4-86B4DC88BD1C}"/>
              </a:ext>
            </a:extLst>
          </p:cNvPr>
          <p:cNvSpPr>
            <a:spLocks noGrp="1"/>
          </p:cNvSpPr>
          <p:nvPr>
            <p:ph type="dt" sz="half" idx="10"/>
          </p:nvPr>
        </p:nvSpPr>
        <p:spPr/>
        <p:txBody>
          <a:bodyPr/>
          <a:lstStyle/>
          <a:p>
            <a:fld id="{DAD2961C-678F-453B-AB7E-F21E521BFE6C}" type="datetime1">
              <a:rPr lang="en-US" smtClean="0"/>
              <a:t>8/28/2026</a:t>
            </a:fld>
            <a:endParaRPr lang="en-US"/>
          </a:p>
        </p:txBody>
      </p:sp>
      <p:sp>
        <p:nvSpPr>
          <p:cNvPr id="5" name="Footer Placeholder 4">
            <a:extLst>
              <a:ext uri="{FF2B5EF4-FFF2-40B4-BE49-F238E27FC236}">
                <a16:creationId xmlns:a16="http://schemas.microsoft.com/office/drawing/2014/main" id="{2EFB2FBB-AFB6-472A-A354-3F9C695414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156B55-69A0-4B5C-87D5-B030C39B7DAE}"/>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133716895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35B826-AD48-49EE-B803-D1C9317693D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81AC291-B977-4329-B2F5-56C9197894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CB3F06-4C15-49C3-934B-85755AE5EE06}"/>
              </a:ext>
            </a:extLst>
          </p:cNvPr>
          <p:cNvSpPr>
            <a:spLocks noGrp="1"/>
          </p:cNvSpPr>
          <p:nvPr>
            <p:ph type="dt" sz="half" idx="10"/>
          </p:nvPr>
        </p:nvSpPr>
        <p:spPr/>
        <p:txBody>
          <a:bodyPr/>
          <a:lstStyle/>
          <a:p>
            <a:fld id="{77D381C5-24C9-4B1F-8C1D-2F1A9E076AE4}" type="datetime1">
              <a:rPr lang="en-US" smtClean="0"/>
              <a:t>8/28/2026</a:t>
            </a:fld>
            <a:endParaRPr lang="en-US"/>
          </a:p>
        </p:txBody>
      </p:sp>
      <p:sp>
        <p:nvSpPr>
          <p:cNvPr id="5" name="Footer Placeholder 4">
            <a:extLst>
              <a:ext uri="{FF2B5EF4-FFF2-40B4-BE49-F238E27FC236}">
                <a16:creationId xmlns:a16="http://schemas.microsoft.com/office/drawing/2014/main" id="{C63A5FBC-3AD8-4A63-88F1-2676646425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E75695-BD15-4871-87DF-19831FE32A16}"/>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2805836154"/>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ED4325-E09E-4DBD-8177-855BF179F0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BC71BB2-FD5E-4388-ADD8-8BD025EAD0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E9B4CF-BDAB-4F63-B0E1-65AA0CC54C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4ED09A-7DE8-4601-BA71-BD2049AE58D0}" type="datetime1">
              <a:rPr lang="en-US" smtClean="0"/>
              <a:t>8/28/2026</a:t>
            </a:fld>
            <a:endParaRPr lang="en-US"/>
          </a:p>
        </p:txBody>
      </p:sp>
      <p:sp>
        <p:nvSpPr>
          <p:cNvPr id="5" name="Footer Placeholder 4">
            <a:extLst>
              <a:ext uri="{FF2B5EF4-FFF2-40B4-BE49-F238E27FC236}">
                <a16:creationId xmlns:a16="http://schemas.microsoft.com/office/drawing/2014/main" id="{84318F85-7548-4FD7-9256-3B34BF0A20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EC97F7E-A5BF-4464-A70F-BBC657E4AD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C6A7FE-225D-49F1-B302-AA37EA92BB49}" type="slidenum">
              <a:rPr lang="en-US" smtClean="0"/>
              <a:t>‹#›</a:t>
            </a:fld>
            <a:endParaRPr lang="en-US"/>
          </a:p>
        </p:txBody>
      </p:sp>
    </p:spTree>
    <p:extLst>
      <p:ext uri="{BB962C8B-B14F-4D97-AF65-F5344CB8AC3E}">
        <p14:creationId xmlns:p14="http://schemas.microsoft.com/office/powerpoint/2010/main" val="24224562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12250"/>
    </mc:Choice>
    <mc:Fallback xmlns="">
      <p:transition spd="slow"/>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emf"/><Relationship Id="rId4" Type="http://schemas.openxmlformats.org/officeDocument/2006/relationships/hyperlink" Target="https://ysph.yale.edu/cmips/"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emf"/><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customXml" Target="../ink/ink5.xml"/><Relationship Id="rId3" Type="http://schemas.openxmlformats.org/officeDocument/2006/relationships/image" Target="../media/image3.emf"/><Relationship Id="rId7" Type="http://schemas.openxmlformats.org/officeDocument/2006/relationships/customXml" Target="../ink/ink2.xml"/><Relationship Id="rId12" Type="http://schemas.openxmlformats.org/officeDocument/2006/relationships/image" Target="../media/image12.png"/><Relationship Id="rId2" Type="http://schemas.openxmlformats.org/officeDocument/2006/relationships/notesSlide" Target="../notesSlides/notesSlide14.xml"/><Relationship Id="rId16"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customXml" Target="../ink/ink4.xml"/><Relationship Id="rId5" Type="http://schemas.openxmlformats.org/officeDocument/2006/relationships/customXml" Target="../ink/ink1.xml"/><Relationship Id="rId15" Type="http://schemas.openxmlformats.org/officeDocument/2006/relationships/customXml" Target="../ink/ink6.xml"/><Relationship Id="rId10" Type="http://schemas.openxmlformats.org/officeDocument/2006/relationships/image" Target="../media/image11.png"/><Relationship Id="rId4" Type="http://schemas.openxmlformats.org/officeDocument/2006/relationships/image" Target="../media/image8.png"/><Relationship Id="rId9" Type="http://schemas.openxmlformats.org/officeDocument/2006/relationships/customXml" Target="../ink/ink3.xml"/><Relationship Id="rId1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oleObject" Target="../embeddings/oleObject1.bin"/></Relationships>
</file>

<file path=ppt/slides/_rels/slide1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2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3.emf"/></Relationships>
</file>

<file path=ppt/slides/_rels/slide2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60.png"/><Relationship Id="rId7" Type="http://schemas.openxmlformats.org/officeDocument/2006/relationships/image" Target="../media/image18.png"/><Relationship Id="rId12"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110.png"/><Relationship Id="rId5" Type="http://schemas.openxmlformats.org/officeDocument/2006/relationships/image" Target="../media/image25.png"/><Relationship Id="rId10" Type="http://schemas.openxmlformats.org/officeDocument/2006/relationships/image" Target="../media/image270.png"/><Relationship Id="rId4" Type="http://schemas.openxmlformats.org/officeDocument/2006/relationships/image" Target="../media/image3.emf"/><Relationship Id="rId9"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6.png"/><Relationship Id="rId3" Type="http://schemas.openxmlformats.org/officeDocument/2006/relationships/image" Target="../media/image3.emf"/><Relationship Id="rId7" Type="http://schemas.openxmlformats.org/officeDocument/2006/relationships/image" Target="../media/image22.png"/><Relationship Id="rId12" Type="http://schemas.openxmlformats.org/officeDocument/2006/relationships/image" Target="../media/image24.png"/><Relationship Id="rId2" Type="http://schemas.openxmlformats.org/officeDocument/2006/relationships/notesSlide" Target="../notesSlides/notesSlide27.xml"/><Relationship Id="rId16"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31.png"/><Relationship Id="rId5" Type="http://schemas.openxmlformats.org/officeDocument/2006/relationships/image" Target="../media/image130.png"/><Relationship Id="rId15" Type="http://schemas.openxmlformats.org/officeDocument/2006/relationships/image" Target="../media/image230.png"/><Relationship Id="rId10" Type="http://schemas.openxmlformats.org/officeDocument/2006/relationships/image" Target="../media/image180.png"/><Relationship Id="rId4" Type="http://schemas.openxmlformats.org/officeDocument/2006/relationships/image" Target="../media/image120.png"/><Relationship Id="rId9" Type="http://schemas.openxmlformats.org/officeDocument/2006/relationships/image" Target="../media/image221.png"/><Relationship Id="rId14" Type="http://schemas.openxmlformats.org/officeDocument/2006/relationships/image" Target="../media/image220.png"/></Relationships>
</file>

<file path=ppt/slides/_rels/slide2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61.png"/></Relationships>
</file>

<file path=ppt/slides/_rels/slide2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60.png"/></Relationships>
</file>

<file path=ppt/slides/_rels/slide3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271.png"/><Relationship Id="rId5" Type="http://schemas.openxmlformats.org/officeDocument/2006/relationships/image" Target="../media/image29.png"/><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21.png"/></Relationships>
</file>

<file path=ppt/slides/_rels/slide3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comments" Target="../comments/comment1.xml"/><Relationship Id="rId5" Type="http://schemas.openxmlformats.org/officeDocument/2006/relationships/hyperlink" Target="https://doi.org/10.1002/1521-4036(200102)43:1%3C75::AID-BIMJ75%3E3.0.CO;2-N" TargetMode="External"/><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comments" Target="../comments/comment2.xml"/><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image" Target="../media/image3.emf"/></Relationships>
</file>

<file path=ppt/slides/_rels/slide39.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37.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360.png"/><Relationship Id="rId5" Type="http://schemas.openxmlformats.org/officeDocument/2006/relationships/image" Target="../media/image350.png"/><Relationship Id="rId4" Type="http://schemas.openxmlformats.org/officeDocument/2006/relationships/image" Target="../media/image330.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400.png"/></Relationships>
</file>

<file path=ppt/slides/_rels/slide4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4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421.png"/></Relationships>
</file>

<file path=ppt/slides/_rels/slide4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420.png"/></Relationships>
</file>

<file path=ppt/slides/_rels/slide4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4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45.png"/><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50.xml.rels><?xml version="1.0" encoding="UTF-8" standalone="yes"?>
<Relationships xmlns="http://schemas.openxmlformats.org/package/2006/relationships"><Relationship Id="rId8" Type="http://schemas.openxmlformats.org/officeDocument/2006/relationships/customXml" Target="../ink/ink9.xml"/><Relationship Id="rId3" Type="http://schemas.openxmlformats.org/officeDocument/2006/relationships/image" Target="../media/image3.emf"/><Relationship Id="rId7" Type="http://schemas.openxmlformats.org/officeDocument/2006/relationships/image" Target="../media/image51.png"/><Relationship Id="rId12" Type="http://schemas.openxmlformats.org/officeDocument/2006/relationships/customXml" Target="../ink/ink13.xml"/><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customXml" Target="../ink/ink8.xml"/><Relationship Id="rId11" Type="http://schemas.openxmlformats.org/officeDocument/2006/relationships/customXml" Target="../ink/ink12.xml"/><Relationship Id="rId5" Type="http://schemas.openxmlformats.org/officeDocument/2006/relationships/image" Target="../media/image470.png"/><Relationship Id="rId10" Type="http://schemas.openxmlformats.org/officeDocument/2006/relationships/customXml" Target="../ink/ink11.xml"/><Relationship Id="rId4" Type="http://schemas.openxmlformats.org/officeDocument/2006/relationships/image" Target="../media/image46.png"/><Relationship Id="rId9" Type="http://schemas.openxmlformats.org/officeDocument/2006/relationships/customXml" Target="../ink/ink10.xml"/></Relationships>
</file>

<file path=ppt/slides/_rels/slide5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510.png"/><Relationship Id="rId5" Type="http://schemas.openxmlformats.org/officeDocument/2006/relationships/customXml" Target="../ink/ink14.xml"/><Relationship Id="rId4" Type="http://schemas.openxmlformats.org/officeDocument/2006/relationships/image" Target="../media/image47.png"/></Relationships>
</file>

<file path=ppt/slides/_rels/slide5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481.png"/></Relationships>
</file>

<file path=ppt/slides/_rels/slide5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480.png"/></Relationships>
</file>

<file path=ppt/slides/_rels/slide55.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image" Target="../media/image50.png"/><Relationship Id="rId1" Type="http://schemas.openxmlformats.org/officeDocument/2006/relationships/slideLayout" Target="../slideLayouts/slideLayout7.xml"/><Relationship Id="rId4" Type="http://schemas.openxmlformats.org/officeDocument/2006/relationships/image" Target="../media/image55.png"/></Relationships>
</file>

<file path=ppt/slides/_rels/slide5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57.xml.rels><?xml version="1.0" encoding="UTF-8" standalone="yes"?>
<Relationships xmlns="http://schemas.openxmlformats.org/package/2006/relationships"><Relationship Id="rId8" Type="http://schemas.openxmlformats.org/officeDocument/2006/relationships/image" Target="../media/image571.png"/><Relationship Id="rId3" Type="http://schemas.openxmlformats.org/officeDocument/2006/relationships/image" Target="../media/image3.emf"/><Relationship Id="rId7" Type="http://schemas.openxmlformats.org/officeDocument/2006/relationships/customXml" Target="../ink/ink17.xml"/><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561.png"/><Relationship Id="rId5" Type="http://schemas.openxmlformats.org/officeDocument/2006/relationships/customXml" Target="../ink/ink16.xml"/><Relationship Id="rId4" Type="http://schemas.openxmlformats.org/officeDocument/2006/relationships/image" Target="../media/image53.png"/></Relationships>
</file>

<file path=ppt/slides/_rels/slide5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3.emf"/></Relationships>
</file>

<file path=ppt/slides/_rels/slide6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7.xml"/><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90.png"/></Relationships>
</file>

<file path=ppt/slides/_rels/slide6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610.png"/><Relationship Id="rId5" Type="http://schemas.openxmlformats.org/officeDocument/2006/relationships/customXml" Target="../ink/ink18.xml"/><Relationship Id="rId4" Type="http://schemas.openxmlformats.org/officeDocument/2006/relationships/image" Target="../media/image61.png"/></Relationships>
</file>

<file path=ppt/slides/_rels/slide6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5" Type="http://schemas.openxmlformats.org/officeDocument/2006/relationships/image" Target="../media/image630.png"/><Relationship Id="rId4" Type="http://schemas.openxmlformats.org/officeDocument/2006/relationships/customXml" Target="../ink/ink19.xml"/></Relationships>
</file>

<file path=ppt/slides/_rels/slide6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111.png"/><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6.png"/><Relationship Id="rId4" Type="http://schemas.openxmlformats.org/officeDocument/2006/relationships/customXml" Target="../ink/ink20.xml"/></Relationships>
</file>

<file path=ppt/slides/_rels/slide6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63.xml"/><Relationship Id="rId1" Type="http://schemas.openxmlformats.org/officeDocument/2006/relationships/slideLayout" Target="../slideLayouts/slideLayout2.xml"/><Relationship Id="rId5" Type="http://schemas.openxmlformats.org/officeDocument/2006/relationships/image" Target="../media/image69.png"/><Relationship Id="rId4" Type="http://schemas.openxmlformats.org/officeDocument/2006/relationships/image" Target="../media/image68.png"/></Relationships>
</file>

<file path=ppt/slides/_rels/slide7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560.png"/></Relationships>
</file>

<file path=ppt/slides/_rels/slide7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200.png"/></Relationships>
</file>

<file path=ppt/slides/_rels/slide7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7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67.xml"/><Relationship Id="rId1" Type="http://schemas.openxmlformats.org/officeDocument/2006/relationships/slideLayout" Target="../slideLayouts/slideLayout2.xml"/><Relationship Id="rId5" Type="http://schemas.openxmlformats.org/officeDocument/2006/relationships/image" Target="../media/image71.png"/><Relationship Id="rId4" Type="http://schemas.openxmlformats.org/officeDocument/2006/relationships/image" Target="../media/image4.png"/></Relationships>
</file>

<file path=ppt/slides/_rels/slide7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69.xml"/><Relationship Id="rId1" Type="http://schemas.openxmlformats.org/officeDocument/2006/relationships/slideLayout" Target="../slideLayouts/slideLayout2.xml"/><Relationship Id="rId5" Type="http://schemas.openxmlformats.org/officeDocument/2006/relationships/image" Target="../media/image72.png"/><Relationship Id="rId4" Type="http://schemas.openxmlformats.org/officeDocument/2006/relationships/image" Target="../media/image4.png"/></Relationships>
</file>

<file path=ppt/slides/_rels/slide7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72.xml"/><Relationship Id="rId1" Type="http://schemas.openxmlformats.org/officeDocument/2006/relationships/slideLayout" Target="../slideLayouts/slideLayout2.xml"/><Relationship Id="rId5" Type="http://schemas.openxmlformats.org/officeDocument/2006/relationships/image" Target="../media/image340.png"/><Relationship Id="rId4" Type="http://schemas.openxmlformats.org/officeDocument/2006/relationships/image" Target="../media/image4.png"/></Relationships>
</file>

<file path=ppt/slides/_rels/slide8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75.xml"/><Relationship Id="rId1" Type="http://schemas.openxmlformats.org/officeDocument/2006/relationships/slideLayout" Target="../slideLayouts/slideLayout2.xml"/><Relationship Id="rId5" Type="http://schemas.openxmlformats.org/officeDocument/2006/relationships/comments" Target="../comments/comment3.xml"/><Relationship Id="rId4" Type="http://schemas.openxmlformats.org/officeDocument/2006/relationships/image" Target="../media/image75.png"/></Relationships>
</file>

<file path=ppt/slides/_rels/slide8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76.xml"/><Relationship Id="rId1" Type="http://schemas.openxmlformats.org/officeDocument/2006/relationships/slideLayout" Target="../slideLayouts/slideLayout2.xml"/><Relationship Id="rId5" Type="http://schemas.openxmlformats.org/officeDocument/2006/relationships/image" Target="../media/image79.png"/><Relationship Id="rId4" Type="http://schemas.openxmlformats.org/officeDocument/2006/relationships/image" Target="../media/image4.png"/></Relationships>
</file>

<file path=ppt/slides/_rels/slide8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77.xml"/><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image" Target="../media/image4.png"/></Relationships>
</file>

<file path=ppt/slides/_rels/slide8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79.xml"/><Relationship Id="rId1" Type="http://schemas.openxmlformats.org/officeDocument/2006/relationships/slideLayout" Target="../slideLayouts/slideLayout2.xml"/><Relationship Id="rId5" Type="http://schemas.openxmlformats.org/officeDocument/2006/relationships/image" Target="../media/image81.png"/><Relationship Id="rId4" Type="http://schemas.openxmlformats.org/officeDocument/2006/relationships/image" Target="../media/image4.png"/></Relationships>
</file>

<file path=ppt/slides/_rels/slide9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80.xml"/><Relationship Id="rId1" Type="http://schemas.openxmlformats.org/officeDocument/2006/relationships/slideLayout" Target="../slideLayouts/slideLayout2.xml"/><Relationship Id="rId6" Type="http://schemas.openxmlformats.org/officeDocument/2006/relationships/comments" Target="../comments/comment4.xml"/><Relationship Id="rId5" Type="http://schemas.openxmlformats.org/officeDocument/2006/relationships/image" Target="../media/image82.png"/><Relationship Id="rId4" Type="http://schemas.openxmlformats.org/officeDocument/2006/relationships/image" Target="../media/image4.png"/></Relationships>
</file>

<file path=ppt/slides/_rels/slide9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81.xml"/><Relationship Id="rId1" Type="http://schemas.openxmlformats.org/officeDocument/2006/relationships/slideLayout" Target="../slideLayouts/slideLayout2.xml"/><Relationship Id="rId5" Type="http://schemas.openxmlformats.org/officeDocument/2006/relationships/image" Target="../media/image802.png"/><Relationship Id="rId4" Type="http://schemas.openxmlformats.org/officeDocument/2006/relationships/image" Target="../media/image4.png"/></Relationships>
</file>

<file path=ppt/slides/_rels/slide9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82.xml"/><Relationship Id="rId1" Type="http://schemas.openxmlformats.org/officeDocument/2006/relationships/slideLayout" Target="../slideLayouts/slideLayout2.xml"/><Relationship Id="rId5" Type="http://schemas.openxmlformats.org/officeDocument/2006/relationships/image" Target="../media/image83.png"/><Relationship Id="rId4" Type="http://schemas.openxmlformats.org/officeDocument/2006/relationships/image" Target="../media/image4.png"/></Relationships>
</file>

<file path=ppt/slides/_rels/slide9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83.xml"/><Relationship Id="rId1" Type="http://schemas.openxmlformats.org/officeDocument/2006/relationships/slideLayout" Target="../slideLayouts/slideLayout2.xml"/><Relationship Id="rId5" Type="http://schemas.openxmlformats.org/officeDocument/2006/relationships/comments" Target="../comments/comment5.xml"/><Relationship Id="rId4" Type="http://schemas.openxmlformats.org/officeDocument/2006/relationships/image" Target="../media/image4.png"/></Relationships>
</file>

<file path=ppt/slides/_rels/slide9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84.xml"/><Relationship Id="rId1" Type="http://schemas.openxmlformats.org/officeDocument/2006/relationships/slideLayout" Target="../slideLayouts/slideLayout2.xml"/><Relationship Id="rId5" Type="http://schemas.openxmlformats.org/officeDocument/2006/relationships/image" Target="../media/image821.png"/><Relationship Id="rId4" Type="http://schemas.openxmlformats.org/officeDocument/2006/relationships/image" Target="../media/image4.png"/></Relationships>
</file>

<file path=ppt/slides/_rels/slide9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8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8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9.xml.rels><?xml version="1.0" encoding="UTF-8" standalone="yes"?>
<Relationships xmlns="http://schemas.openxmlformats.org/package/2006/relationships"><Relationship Id="rId2" Type="http://schemas.openxmlformats.org/officeDocument/2006/relationships/image" Target="../media/image830.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782.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781.png"/><Relationship Id="rId2" Type="http://schemas.openxmlformats.org/officeDocument/2006/relationships/notesSlide" Target="../notesSlides/notesSlide88.xml"/><Relationship Id="rId1" Type="http://schemas.openxmlformats.org/officeDocument/2006/relationships/slideLayout" Target="../slideLayouts/slideLayout2.xml"/><Relationship Id="rId4" Type="http://schemas.openxmlformats.org/officeDocument/2006/relationships/comments" Target="../comments/comment6.xml"/></Relationships>
</file>

<file path=ppt/slides/_rels/slide103.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801.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90.xml"/><Relationship Id="rId1" Type="http://schemas.openxmlformats.org/officeDocument/2006/relationships/slideLayout" Target="../slideLayouts/slideLayout2.xml"/><Relationship Id="rId4" Type="http://schemas.openxmlformats.org/officeDocument/2006/relationships/image" Target="../media/image820.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9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92.xml"/><Relationship Id="rId1" Type="http://schemas.openxmlformats.org/officeDocument/2006/relationships/slideLayout" Target="../slideLayouts/slideLayout2.xml"/><Relationship Id="rId5" Type="http://schemas.openxmlformats.org/officeDocument/2006/relationships/comments" Target="../comments/comment7.xml"/><Relationship Id="rId4" Type="http://schemas.openxmlformats.org/officeDocument/2006/relationships/image" Target="../media/image4.png"/></Relationships>
</file>

<file path=ppt/slides/_rels/slide1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93.xml"/><Relationship Id="rId1" Type="http://schemas.openxmlformats.org/officeDocument/2006/relationships/slideLayout" Target="../slideLayouts/slideLayout2.xml"/><Relationship Id="rId5" Type="http://schemas.openxmlformats.org/officeDocument/2006/relationships/image" Target="../media/image86.png"/><Relationship Id="rId4" Type="http://schemas.openxmlformats.org/officeDocument/2006/relationships/image" Target="../media/image4.png"/></Relationships>
</file>

<file path=ppt/slides/_rels/slide1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94.xml"/><Relationship Id="rId1" Type="http://schemas.openxmlformats.org/officeDocument/2006/relationships/slideLayout" Target="../slideLayouts/slideLayout2.xml"/><Relationship Id="rId4" Type="http://schemas.openxmlformats.org/officeDocument/2006/relationships/comments" Target="../comments/comment8.xml"/></Relationships>
</file>

<file path=ppt/slides/_rels/slide1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9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9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9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9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9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00.xml"/><Relationship Id="rId1" Type="http://schemas.openxmlformats.org/officeDocument/2006/relationships/slideLayout" Target="../slideLayouts/slideLayout2.xml"/><Relationship Id="rId4" Type="http://schemas.openxmlformats.org/officeDocument/2006/relationships/hyperlink" Target="https://www.bmj.com/highwire/markup/620256/expansion?width=1000&amp;height=500&amp;iframe=true&amp;postprocessors=highwire_figures,highwire_math#fn-1" TargetMode="External"/></Relationships>
</file>

<file path=ppt/slides/_rels/slide11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01.xml"/><Relationship Id="rId1" Type="http://schemas.openxmlformats.org/officeDocument/2006/relationships/slideLayout" Target="../slideLayouts/slideLayout2.xml"/><Relationship Id="rId4" Type="http://schemas.openxmlformats.org/officeDocument/2006/relationships/hyperlink" Target="https://www.bmj.com/highwire/markup/620256/expansion?width=1000&amp;height=500&amp;iframe=true&amp;postprocessors=highwire_figures,highwire_math#fn-1" TargetMode="External"/></Relationships>
</file>

<file path=ppt/slides/_rels/slide11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02.xml"/><Relationship Id="rId1" Type="http://schemas.openxmlformats.org/officeDocument/2006/relationships/slideLayout" Target="../slideLayouts/slideLayout2.xml"/><Relationship Id="rId4" Type="http://schemas.openxmlformats.org/officeDocument/2006/relationships/hyperlink" Target="https://www.bmj.com/highwire/markup/620256/expansion?width=1000&amp;height=500&amp;iframe=true&amp;postprocessors=highwire_figures,highwire_math#fn-1" TargetMode="External"/></Relationships>
</file>

<file path=ppt/slides/_rels/slide12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BF401C9-957A-4103-A278-02BA7594E5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838460"/>
            <a:ext cx="12192000" cy="1019540"/>
          </a:xfrm>
          <a:prstGeom prst="rect">
            <a:avLst/>
          </a:prstGeom>
        </p:spPr>
      </p:pic>
      <p:sp>
        <p:nvSpPr>
          <p:cNvPr id="6" name="Rectangle 5">
            <a:extLst>
              <a:ext uri="{FF2B5EF4-FFF2-40B4-BE49-F238E27FC236}">
                <a16:creationId xmlns:a16="http://schemas.microsoft.com/office/drawing/2014/main" id="{EA3ABC59-4759-4855-86E5-E2B22244AD05}"/>
              </a:ext>
            </a:extLst>
          </p:cNvPr>
          <p:cNvSpPr/>
          <p:nvPr/>
        </p:nvSpPr>
        <p:spPr>
          <a:xfrm>
            <a:off x="0" y="32790"/>
            <a:ext cx="12192000" cy="243840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9">
            <a:extLst>
              <a:ext uri="{FF2B5EF4-FFF2-40B4-BE49-F238E27FC236}">
                <a16:creationId xmlns:a16="http://schemas.microsoft.com/office/drawing/2014/main" id="{AB13BC08-9428-4075-9A4F-C496192AB7EE}"/>
              </a:ext>
            </a:extLst>
          </p:cNvPr>
          <p:cNvSpPr txBox="1">
            <a:spLocks/>
          </p:cNvSpPr>
          <p:nvPr/>
        </p:nvSpPr>
        <p:spPr>
          <a:xfrm>
            <a:off x="104861" y="651234"/>
            <a:ext cx="11982278" cy="1605826"/>
          </a:xfrm>
          <a:prstGeom prst="rect">
            <a:avLst/>
          </a:prstGeom>
        </p:spPr>
        <p:txBody>
          <a:bodyPr anchor="ct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r>
              <a:rPr lang="en-US" sz="2600" dirty="0"/>
              <a:t>BIS629 Advanced Methods In Implementation Science</a:t>
            </a:r>
          </a:p>
          <a:p>
            <a:pPr algn="ctr"/>
            <a:r>
              <a:rPr lang="en-US" sz="2600" dirty="0"/>
              <a:t>Lecture 3: Design and Analysis of Cluster Randomized Trials in Implementation and Prevention Science</a:t>
            </a:r>
          </a:p>
        </p:txBody>
      </p:sp>
      <p:sp>
        <p:nvSpPr>
          <p:cNvPr id="8" name="Title 9">
            <a:extLst>
              <a:ext uri="{FF2B5EF4-FFF2-40B4-BE49-F238E27FC236}">
                <a16:creationId xmlns:a16="http://schemas.microsoft.com/office/drawing/2014/main" id="{E2439DA3-280F-44BF-8B15-41456EFC3B5C}"/>
              </a:ext>
            </a:extLst>
          </p:cNvPr>
          <p:cNvSpPr txBox="1">
            <a:spLocks/>
          </p:cNvSpPr>
          <p:nvPr/>
        </p:nvSpPr>
        <p:spPr>
          <a:xfrm>
            <a:off x="-104861" y="2561860"/>
            <a:ext cx="12191999" cy="3095259"/>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r>
              <a:rPr lang="en-US" sz="4000" b="1" dirty="0">
                <a:solidFill>
                  <a:schemeClr val="tx1"/>
                </a:solidFill>
              </a:rPr>
              <a:t>Donna Spiegelman, Sc.D.</a:t>
            </a:r>
          </a:p>
          <a:p>
            <a:pPr algn="ctr"/>
            <a:r>
              <a:rPr lang="en-US" sz="4000" b="1" dirty="0">
                <a:solidFill>
                  <a:schemeClr val="tx1"/>
                </a:solidFill>
              </a:rPr>
              <a:t>Susan Dwight Bliss Professor of Biostatistics and</a:t>
            </a:r>
          </a:p>
          <a:p>
            <a:pPr algn="ctr"/>
            <a:r>
              <a:rPr lang="en-US" sz="4000" dirty="0">
                <a:solidFill>
                  <a:schemeClr val="tx1"/>
                </a:solidFill>
              </a:rPr>
              <a:t>Inaugural Director, Center for Methods in Implementation and Prevention Science</a:t>
            </a:r>
          </a:p>
          <a:p>
            <a:pPr algn="ctr"/>
            <a:r>
              <a:rPr lang="en-US" sz="4000" dirty="0">
                <a:solidFill>
                  <a:schemeClr val="tx1"/>
                </a:solidFill>
                <a:hlinkClick r:id="rId4"/>
              </a:rPr>
              <a:t>https://ysph.yale.edu/cmips/</a:t>
            </a:r>
            <a:endParaRPr lang="en-US" sz="4000" dirty="0">
              <a:solidFill>
                <a:schemeClr val="tx1"/>
              </a:solidFill>
            </a:endParaRPr>
          </a:p>
          <a:p>
            <a:pPr algn="ctr"/>
            <a:endParaRPr lang="en-US" sz="4000" dirty="0">
              <a:solidFill>
                <a:schemeClr val="tx1"/>
              </a:solidFill>
            </a:endParaRPr>
          </a:p>
          <a:p>
            <a:pPr algn="ctr"/>
            <a:endParaRPr lang="en-US" sz="4000" dirty="0">
              <a:solidFill>
                <a:schemeClr val="tx1"/>
              </a:solidFill>
            </a:endParaRPr>
          </a:p>
          <a:p>
            <a:pPr algn="ctr"/>
            <a:endParaRPr lang="en-US" sz="2800" dirty="0">
              <a:solidFill>
                <a:schemeClr val="tx1"/>
              </a:solidFill>
            </a:endParaRPr>
          </a:p>
        </p:txBody>
      </p:sp>
      <p:pic>
        <p:nvPicPr>
          <p:cNvPr id="9" name="Picture 8">
            <a:extLst>
              <a:ext uri="{FF2B5EF4-FFF2-40B4-BE49-F238E27FC236}">
                <a16:creationId xmlns:a16="http://schemas.microsoft.com/office/drawing/2014/main" id="{867186EF-8D32-458F-A4BA-4849C7A9D0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6982" y="149131"/>
            <a:ext cx="4140639" cy="260670"/>
          </a:xfrm>
          <a:prstGeom prst="rect">
            <a:avLst/>
          </a:prstGeom>
        </p:spPr>
      </p:pic>
      <p:sp>
        <p:nvSpPr>
          <p:cNvPr id="2" name="Footer Placeholder 1">
            <a:extLst>
              <a:ext uri="{FF2B5EF4-FFF2-40B4-BE49-F238E27FC236}">
                <a16:creationId xmlns:a16="http://schemas.microsoft.com/office/drawing/2014/main" id="{F1529C49-0929-1545-A178-E4CFD238CF2A}"/>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EDF56351-58CC-6C33-90A6-F140DDD3586C}"/>
              </a:ext>
            </a:extLst>
          </p:cNvPr>
          <p:cNvSpPr>
            <a:spLocks noGrp="1"/>
          </p:cNvSpPr>
          <p:nvPr>
            <p:ph type="sldNum" sz="quarter" idx="12"/>
          </p:nvPr>
        </p:nvSpPr>
        <p:spPr/>
        <p:txBody>
          <a:bodyPr/>
          <a:lstStyle/>
          <a:p>
            <a:fld id="{77C6A7FE-225D-49F1-B302-AA37EA92BB49}" type="slidenum">
              <a:rPr lang="en-US" smtClean="0"/>
              <a:t>1</a:t>
            </a:fld>
            <a:endParaRPr lang="en-US"/>
          </a:p>
        </p:txBody>
      </p:sp>
    </p:spTree>
    <p:extLst>
      <p:ext uri="{BB962C8B-B14F-4D97-AF65-F5344CB8AC3E}">
        <p14:creationId xmlns:p14="http://schemas.microsoft.com/office/powerpoint/2010/main" val="365667495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NOTES BASED IN PART ON:</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5" name="TextBox 4">
            <a:extLst>
              <a:ext uri="{FF2B5EF4-FFF2-40B4-BE49-F238E27FC236}">
                <a16:creationId xmlns:a16="http://schemas.microsoft.com/office/drawing/2014/main" id="{57344D5F-86B4-4D09-AF1F-FDAEB8E63423}"/>
              </a:ext>
            </a:extLst>
          </p:cNvPr>
          <p:cNvSpPr txBox="1"/>
          <p:nvPr/>
        </p:nvSpPr>
        <p:spPr>
          <a:xfrm>
            <a:off x="681169" y="2191096"/>
            <a:ext cx="9721360" cy="2462725"/>
          </a:xfrm>
          <a:prstGeom prst="rect">
            <a:avLst/>
          </a:prstGeom>
          <a:noFill/>
        </p:spPr>
        <p:txBody>
          <a:bodyPr wrap="square">
            <a:spAutoFit/>
          </a:bodyPr>
          <a:lstStyle/>
          <a:p>
            <a:pPr marL="0" indent="0" eaLnBrk="1" hangingPunct="1">
              <a:lnSpc>
                <a:spcPct val="80000"/>
              </a:lnSpc>
              <a:buFont typeface="Wingdings" pitchFamily="2" charset="2"/>
              <a:buNone/>
              <a:tabLst>
                <a:tab pos="465138" algn="l"/>
              </a:tabLst>
              <a:defRPr/>
            </a:pPr>
            <a:r>
              <a:rPr lang="en-US" sz="3200" dirty="0">
                <a:latin typeface="Arial" pitchFamily="34" charset="0"/>
              </a:rPr>
              <a:t>Donner A. and </a:t>
            </a:r>
            <a:r>
              <a:rPr lang="en-US" sz="3200" dirty="0" err="1">
                <a:latin typeface="Arial" pitchFamily="34" charset="0"/>
              </a:rPr>
              <a:t>Klar</a:t>
            </a:r>
            <a:r>
              <a:rPr lang="en-US" sz="3200" dirty="0">
                <a:latin typeface="Arial" pitchFamily="34" charset="0"/>
              </a:rPr>
              <a:t> N. </a:t>
            </a:r>
          </a:p>
          <a:p>
            <a:pPr marL="1588" indent="-1588" eaLnBrk="1" hangingPunct="1">
              <a:lnSpc>
                <a:spcPct val="80000"/>
              </a:lnSpc>
              <a:buFont typeface="Wingdings" pitchFamily="2" charset="2"/>
              <a:buNone/>
              <a:tabLst>
                <a:tab pos="465138" algn="l"/>
              </a:tabLst>
              <a:defRPr/>
            </a:pPr>
            <a:r>
              <a:rPr lang="en-US" sz="3200" i="1" dirty="0">
                <a:latin typeface="Arial" pitchFamily="34" charset="0"/>
              </a:rPr>
              <a:t>		Design and Analysis of Cluster Randomization 		Trials in Health Research</a:t>
            </a:r>
            <a:r>
              <a:rPr lang="en-US" sz="3200" dirty="0">
                <a:latin typeface="Arial" pitchFamily="34" charset="0"/>
              </a:rPr>
              <a:t>.  </a:t>
            </a:r>
            <a:r>
              <a:rPr lang="en-GB" sz="3200" dirty="0">
                <a:latin typeface="Arial" pitchFamily="34" charset="0"/>
              </a:rPr>
              <a:t>Wiley, 2000</a:t>
            </a:r>
          </a:p>
          <a:p>
            <a:pPr marL="1588" indent="-1588" eaLnBrk="1" hangingPunct="1">
              <a:lnSpc>
                <a:spcPct val="80000"/>
              </a:lnSpc>
              <a:buFont typeface="Wingdings" pitchFamily="2" charset="2"/>
              <a:buNone/>
              <a:tabLst>
                <a:tab pos="465138" algn="l"/>
              </a:tabLst>
              <a:defRPr/>
            </a:pPr>
            <a:endParaRPr lang="en-GB" sz="3200" dirty="0">
              <a:latin typeface="Arial" pitchFamily="34" charset="0"/>
            </a:endParaRPr>
          </a:p>
          <a:p>
            <a:pPr marL="1588" indent="-1588" eaLnBrk="1" hangingPunct="1">
              <a:lnSpc>
                <a:spcPct val="80000"/>
              </a:lnSpc>
              <a:buFont typeface="Wingdings" pitchFamily="2" charset="2"/>
              <a:buNone/>
              <a:tabLst>
                <a:tab pos="465138" algn="l"/>
              </a:tabLst>
              <a:defRPr/>
            </a:pPr>
            <a:r>
              <a:rPr lang="en-GB" sz="3200" dirty="0">
                <a:latin typeface="Arial" pitchFamily="34" charset="0"/>
              </a:rPr>
              <a:t>Hayes, R. and Moulton, L.H.</a:t>
            </a:r>
          </a:p>
          <a:p>
            <a:pPr marL="401638" lvl="1" indent="-1588" eaLnBrk="1" hangingPunct="1">
              <a:lnSpc>
                <a:spcPct val="80000"/>
              </a:lnSpc>
              <a:buFont typeface="Wingdings" pitchFamily="2" charset="2"/>
              <a:buNone/>
              <a:tabLst>
                <a:tab pos="465138" algn="l"/>
              </a:tabLst>
              <a:defRPr/>
            </a:pPr>
            <a:r>
              <a:rPr lang="en-GB" sz="3200" i="1" dirty="0">
                <a:latin typeface="Arial" pitchFamily="34" charset="0"/>
              </a:rPr>
              <a:t>Cluster Randomised Trials. </a:t>
            </a:r>
            <a:r>
              <a:rPr lang="en-GB" sz="3200" dirty="0">
                <a:latin typeface="Arial" pitchFamily="34" charset="0"/>
              </a:rPr>
              <a:t>Chapman &amp; Hall, 2009</a:t>
            </a:r>
            <a:endParaRPr lang="en-US" sz="3200" dirty="0"/>
          </a:p>
        </p:txBody>
      </p:sp>
      <p:sp>
        <p:nvSpPr>
          <p:cNvPr id="2" name="Footer Placeholder 1">
            <a:extLst>
              <a:ext uri="{FF2B5EF4-FFF2-40B4-BE49-F238E27FC236}">
                <a16:creationId xmlns:a16="http://schemas.microsoft.com/office/drawing/2014/main" id="{8FBA62F5-A54C-0C41-A20F-E2A882401BB7}"/>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12493350-B9A1-DB27-B167-1F2195975D45}"/>
              </a:ext>
            </a:extLst>
          </p:cNvPr>
          <p:cNvSpPr>
            <a:spLocks noGrp="1"/>
          </p:cNvSpPr>
          <p:nvPr>
            <p:ph type="sldNum" sz="quarter" idx="12"/>
          </p:nvPr>
        </p:nvSpPr>
        <p:spPr/>
        <p:txBody>
          <a:bodyPr/>
          <a:lstStyle/>
          <a:p>
            <a:fld id="{77C6A7FE-225D-49F1-B302-AA37EA92BB49}" type="slidenum">
              <a:rPr lang="en-US" smtClean="0"/>
              <a:t>2</a:t>
            </a:fld>
            <a:endParaRPr lang="en-US"/>
          </a:p>
        </p:txBody>
      </p:sp>
    </p:spTree>
    <p:extLst>
      <p:ext uri="{BB962C8B-B14F-4D97-AF65-F5344CB8AC3E}">
        <p14:creationId xmlns:p14="http://schemas.microsoft.com/office/powerpoint/2010/main" val="416241540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What Are Cluster Randomized Trials?</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5" name="TextBox 4">
            <a:extLst>
              <a:ext uri="{FF2B5EF4-FFF2-40B4-BE49-F238E27FC236}">
                <a16:creationId xmlns:a16="http://schemas.microsoft.com/office/drawing/2014/main" id="{9098BAEA-6113-4EA5-B21E-C909F5E4CAF6}"/>
              </a:ext>
            </a:extLst>
          </p:cNvPr>
          <p:cNvSpPr txBox="1"/>
          <p:nvPr/>
        </p:nvSpPr>
        <p:spPr>
          <a:xfrm>
            <a:off x="875070" y="1843857"/>
            <a:ext cx="9242323" cy="2062103"/>
          </a:xfrm>
          <a:prstGeom prst="rect">
            <a:avLst/>
          </a:prstGeom>
          <a:noFill/>
        </p:spPr>
        <p:txBody>
          <a:bodyPr wrap="square">
            <a:spAutoFit/>
          </a:bodyPr>
          <a:lstStyle/>
          <a:p>
            <a:pPr>
              <a:tabLst>
                <a:tab pos="465138" algn="l"/>
                <a:tab pos="796925" algn="l"/>
              </a:tabLst>
            </a:pPr>
            <a:r>
              <a:rPr lang="en-US" altLang="en-US" sz="3200" dirty="0">
                <a:latin typeface="Arial" panose="020B0604020202020204" pitchFamily="34" charset="0"/>
                <a:cs typeface="Arial" panose="020B0604020202020204" pitchFamily="34" charset="0"/>
              </a:rPr>
              <a:t>Cluster randomized trials are experiments in which social units or clusters of individuals rather than independent individuals are randomly allocated to intervention groups.</a:t>
            </a:r>
          </a:p>
        </p:txBody>
      </p:sp>
      <p:sp>
        <p:nvSpPr>
          <p:cNvPr id="2" name="Footer Placeholder 1">
            <a:extLst>
              <a:ext uri="{FF2B5EF4-FFF2-40B4-BE49-F238E27FC236}">
                <a16:creationId xmlns:a16="http://schemas.microsoft.com/office/drawing/2014/main" id="{452B9015-5263-9643-8DA1-1A84B7A01B68}"/>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BC1AC6D0-9C6D-80C7-332E-94085F38525E}"/>
              </a:ext>
            </a:extLst>
          </p:cNvPr>
          <p:cNvSpPr>
            <a:spLocks noGrp="1"/>
          </p:cNvSpPr>
          <p:nvPr>
            <p:ph type="sldNum" sz="quarter" idx="12"/>
          </p:nvPr>
        </p:nvSpPr>
        <p:spPr/>
        <p:txBody>
          <a:bodyPr/>
          <a:lstStyle/>
          <a:p>
            <a:fld id="{77C6A7FE-225D-49F1-B302-AA37EA92BB49}" type="slidenum">
              <a:rPr lang="en-US" smtClean="0"/>
              <a:t>3</a:t>
            </a:fld>
            <a:endParaRPr lang="en-US"/>
          </a:p>
        </p:txBody>
      </p:sp>
    </p:spTree>
    <p:extLst>
      <p:ext uri="{BB962C8B-B14F-4D97-AF65-F5344CB8AC3E}">
        <p14:creationId xmlns:p14="http://schemas.microsoft.com/office/powerpoint/2010/main" val="414683970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Synonyms</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5" name="TextBox 4">
            <a:extLst>
              <a:ext uri="{FF2B5EF4-FFF2-40B4-BE49-F238E27FC236}">
                <a16:creationId xmlns:a16="http://schemas.microsoft.com/office/drawing/2014/main" id="{59ACCB00-1D5F-466E-BF22-5104E9558D01}"/>
              </a:ext>
            </a:extLst>
          </p:cNvPr>
          <p:cNvSpPr txBox="1"/>
          <p:nvPr/>
        </p:nvSpPr>
        <p:spPr>
          <a:xfrm>
            <a:off x="681169" y="1551471"/>
            <a:ext cx="10367585" cy="1569660"/>
          </a:xfrm>
          <a:prstGeom prst="rect">
            <a:avLst/>
          </a:prstGeom>
          <a:noFill/>
        </p:spPr>
        <p:txBody>
          <a:bodyPr wrap="square">
            <a:spAutoFit/>
          </a:bodyPr>
          <a:lstStyle/>
          <a:p>
            <a:pPr>
              <a:spcBef>
                <a:spcPct val="50000"/>
              </a:spcBef>
              <a:tabLst>
                <a:tab pos="509588" algn="l"/>
              </a:tabLst>
            </a:pPr>
            <a:r>
              <a:rPr lang="en-US" altLang="en-US" sz="3200" dirty="0"/>
              <a:t>Cluster randomized trials have been adopted by health researchers in a wide range of settings,  resulting in a number of essentially synonymous terms:</a:t>
            </a:r>
            <a:endParaRPr lang="en-CA" altLang="en-US" sz="3200" dirty="0"/>
          </a:p>
        </p:txBody>
      </p:sp>
      <p:sp>
        <p:nvSpPr>
          <p:cNvPr id="7" name="Text Box 4">
            <a:extLst>
              <a:ext uri="{FF2B5EF4-FFF2-40B4-BE49-F238E27FC236}">
                <a16:creationId xmlns:a16="http://schemas.microsoft.com/office/drawing/2014/main" id="{4612A8D6-B19F-4F76-9FED-524F78CB2463}"/>
              </a:ext>
            </a:extLst>
          </p:cNvPr>
          <p:cNvSpPr txBox="1">
            <a:spLocks noChangeArrowheads="1"/>
          </p:cNvSpPr>
          <p:nvPr/>
        </p:nvSpPr>
        <p:spPr bwMode="auto">
          <a:xfrm>
            <a:off x="3276600" y="3105741"/>
            <a:ext cx="5638800" cy="3170099"/>
          </a:xfrm>
          <a:prstGeom prst="rect">
            <a:avLst/>
          </a:prstGeom>
          <a:noFill/>
          <a:ln w="9525">
            <a:noFill/>
            <a:miter lim="800000"/>
            <a:headEnd/>
            <a:tailEnd/>
          </a:ln>
        </p:spPr>
        <p:txBody>
          <a:bodyPr>
            <a:spAutoFit/>
          </a:bodyPr>
          <a:lstStyle/>
          <a:p>
            <a:pPr>
              <a:spcAft>
                <a:spcPts val="1200"/>
              </a:spcAft>
              <a:buFontTx/>
              <a:buBlip>
                <a:blip r:embed="rId4"/>
              </a:buBlip>
              <a:tabLst>
                <a:tab pos="465138" algn="l"/>
              </a:tabLst>
            </a:pPr>
            <a:r>
              <a:rPr lang="en-US" altLang="en-US" sz="3200" dirty="0"/>
              <a:t> 	group randomized trials</a:t>
            </a:r>
          </a:p>
          <a:p>
            <a:pPr>
              <a:spcAft>
                <a:spcPts val="1200"/>
              </a:spcAft>
              <a:buFontTx/>
              <a:buBlip>
                <a:blip r:embed="rId4"/>
              </a:buBlip>
              <a:tabLst>
                <a:tab pos="465138" algn="l"/>
              </a:tabLst>
            </a:pPr>
            <a:r>
              <a:rPr lang="en-US" altLang="en-US" sz="3200" dirty="0"/>
              <a:t> 	place randomized trials </a:t>
            </a:r>
          </a:p>
          <a:p>
            <a:pPr>
              <a:spcAft>
                <a:spcPts val="1200"/>
              </a:spcAft>
              <a:buFontTx/>
              <a:buBlip>
                <a:blip r:embed="rId4"/>
              </a:buBlip>
              <a:tabLst>
                <a:tab pos="465138" algn="l"/>
              </a:tabLst>
            </a:pPr>
            <a:r>
              <a:rPr lang="en-US" altLang="en-US" sz="3200" dirty="0"/>
              <a:t> 	community intervention trials</a:t>
            </a:r>
          </a:p>
          <a:p>
            <a:pPr>
              <a:spcAft>
                <a:spcPts val="1200"/>
              </a:spcAft>
              <a:buFontTx/>
              <a:buBlip>
                <a:blip r:embed="rId4"/>
              </a:buBlip>
              <a:tabLst>
                <a:tab pos="465138" algn="l"/>
              </a:tabLst>
            </a:pPr>
            <a:r>
              <a:rPr lang="en-US" altLang="en-US" sz="3200" dirty="0"/>
              <a:t> 	macro experiments</a:t>
            </a:r>
          </a:p>
          <a:p>
            <a:pPr>
              <a:spcAft>
                <a:spcPts val="1200"/>
              </a:spcAft>
              <a:buFontTx/>
              <a:buBlip>
                <a:blip r:embed="rId4"/>
              </a:buBlip>
              <a:tabLst>
                <a:tab pos="465138" algn="l"/>
              </a:tabLst>
            </a:pPr>
            <a:r>
              <a:rPr lang="en-US" altLang="en-US" sz="3200" dirty="0"/>
              <a:t> 	field or social experiments</a:t>
            </a:r>
            <a:endParaRPr lang="en-CA" altLang="en-US" sz="3200" dirty="0"/>
          </a:p>
        </p:txBody>
      </p:sp>
      <p:sp>
        <p:nvSpPr>
          <p:cNvPr id="2" name="Footer Placeholder 1">
            <a:extLst>
              <a:ext uri="{FF2B5EF4-FFF2-40B4-BE49-F238E27FC236}">
                <a16:creationId xmlns:a16="http://schemas.microsoft.com/office/drawing/2014/main" id="{33F42DB0-096A-4841-9BB9-2AE39AB0D468}"/>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BEEBFC0A-70A2-05E9-6F22-E776B6783BF4}"/>
              </a:ext>
            </a:extLst>
          </p:cNvPr>
          <p:cNvSpPr>
            <a:spLocks noGrp="1"/>
          </p:cNvSpPr>
          <p:nvPr>
            <p:ph type="sldNum" sz="quarter" idx="12"/>
          </p:nvPr>
        </p:nvSpPr>
        <p:spPr/>
        <p:txBody>
          <a:bodyPr/>
          <a:lstStyle/>
          <a:p>
            <a:fld id="{77C6A7FE-225D-49F1-B302-AA37EA92BB49}" type="slidenum">
              <a:rPr lang="en-US" smtClean="0"/>
              <a:t>4</a:t>
            </a:fld>
            <a:endParaRPr lang="en-US"/>
          </a:p>
        </p:txBody>
      </p:sp>
    </p:spTree>
    <p:extLst>
      <p:ext uri="{BB962C8B-B14F-4D97-AF65-F5344CB8AC3E}">
        <p14:creationId xmlns:p14="http://schemas.microsoft.com/office/powerpoint/2010/main" val="47725335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30"/>
            <a:ext cx="12192000" cy="1709177"/>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Case Study:</a:t>
            </a:r>
          </a:p>
          <a:p>
            <a:pPr algn="ctr"/>
            <a:r>
              <a:rPr lang="en-US" sz="4400" dirty="0">
                <a:solidFill>
                  <a:schemeClr val="bg1"/>
                </a:solidFill>
                <a:latin typeface="Arial" panose="020B0604020202020204" pitchFamily="34" charset="0"/>
                <a:cs typeface="Arial" panose="020B0604020202020204" pitchFamily="34" charset="0"/>
              </a:rPr>
              <a:t>The Familia Salama Study</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5" name="TextBox 4">
            <a:extLst>
              <a:ext uri="{FF2B5EF4-FFF2-40B4-BE49-F238E27FC236}">
                <a16:creationId xmlns:a16="http://schemas.microsoft.com/office/drawing/2014/main" id="{B526D2B7-DF73-48A2-88BC-7A3909DF4858}"/>
              </a:ext>
            </a:extLst>
          </p:cNvPr>
          <p:cNvSpPr txBox="1"/>
          <p:nvPr/>
        </p:nvSpPr>
        <p:spPr>
          <a:xfrm>
            <a:off x="2428568" y="2492796"/>
            <a:ext cx="6096000" cy="687945"/>
          </a:xfrm>
          <a:prstGeom prst="rect">
            <a:avLst/>
          </a:prstGeom>
          <a:noFill/>
        </p:spPr>
        <p:txBody>
          <a:bodyPr wrap="square">
            <a:spAutoFit/>
          </a:bodyPr>
          <a:lstStyle/>
          <a:p>
            <a:pPr algn="ctr">
              <a:lnSpc>
                <a:spcPct val="114000"/>
              </a:lnSpc>
              <a:spcAft>
                <a:spcPts val="300"/>
              </a:spcAft>
              <a:defRPr/>
            </a:pPr>
            <a:r>
              <a:rPr lang="en-US" sz="3600" dirty="0">
                <a:latin typeface="+mn-lt"/>
              </a:rPr>
              <a:t>Dar es Salaam, Tanzania</a:t>
            </a:r>
          </a:p>
        </p:txBody>
      </p:sp>
      <p:pic>
        <p:nvPicPr>
          <p:cNvPr id="7" name="Picture 2">
            <a:extLst>
              <a:ext uri="{FF2B5EF4-FFF2-40B4-BE49-F238E27FC236}">
                <a16:creationId xmlns:a16="http://schemas.microsoft.com/office/drawing/2014/main" id="{82F91EE6-6F85-4370-B37F-455112979857}"/>
              </a:ext>
            </a:extLst>
          </p:cNvPr>
          <p:cNvPicPr>
            <a:picLocks noChangeAspect="1"/>
          </p:cNvPicPr>
          <p:nvPr/>
        </p:nvPicPr>
        <p:blipFill>
          <a:blip r:embed="rId4" cstate="print"/>
          <a:srcRect/>
          <a:stretch>
            <a:fillRect/>
          </a:stretch>
        </p:blipFill>
        <p:spPr bwMode="auto">
          <a:xfrm>
            <a:off x="1480164" y="4049987"/>
            <a:ext cx="2730500" cy="1016000"/>
          </a:xfrm>
          <a:prstGeom prst="rect">
            <a:avLst/>
          </a:prstGeom>
          <a:noFill/>
          <a:ln w="9525">
            <a:noFill/>
            <a:miter lim="800000"/>
            <a:headEnd/>
            <a:tailEnd/>
          </a:ln>
        </p:spPr>
      </p:pic>
      <p:pic>
        <p:nvPicPr>
          <p:cNvPr id="8" name="Picture 2">
            <a:extLst>
              <a:ext uri="{FF2B5EF4-FFF2-40B4-BE49-F238E27FC236}">
                <a16:creationId xmlns:a16="http://schemas.microsoft.com/office/drawing/2014/main" id="{C00FB006-0682-42D5-A10E-F11757A35D12}"/>
              </a:ext>
            </a:extLst>
          </p:cNvPr>
          <p:cNvPicPr>
            <a:picLocks noChangeAspect="1" noChangeArrowheads="1"/>
          </p:cNvPicPr>
          <p:nvPr/>
        </p:nvPicPr>
        <p:blipFill>
          <a:blip r:embed="rId5" cstate="print"/>
          <a:srcRect r="45284"/>
          <a:stretch>
            <a:fillRect/>
          </a:stretch>
        </p:blipFill>
        <p:spPr bwMode="auto">
          <a:xfrm>
            <a:off x="6948949" y="3982390"/>
            <a:ext cx="3898900" cy="1028700"/>
          </a:xfrm>
          <a:prstGeom prst="rect">
            <a:avLst/>
          </a:prstGeom>
          <a:noFill/>
          <a:ln w="9525">
            <a:noFill/>
            <a:miter lim="800000"/>
            <a:headEnd/>
            <a:tailEnd/>
          </a:ln>
        </p:spPr>
      </p:pic>
      <p:sp>
        <p:nvSpPr>
          <p:cNvPr id="2" name="Footer Placeholder 1">
            <a:extLst>
              <a:ext uri="{FF2B5EF4-FFF2-40B4-BE49-F238E27FC236}">
                <a16:creationId xmlns:a16="http://schemas.microsoft.com/office/drawing/2014/main" id="{F5E378DA-6D95-A14B-903F-F81D82C77E2C}"/>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566C9372-E90D-5E20-DA07-77E0D4EA6D46}"/>
              </a:ext>
            </a:extLst>
          </p:cNvPr>
          <p:cNvSpPr>
            <a:spLocks noGrp="1"/>
          </p:cNvSpPr>
          <p:nvPr>
            <p:ph type="sldNum" sz="quarter" idx="12"/>
          </p:nvPr>
        </p:nvSpPr>
        <p:spPr/>
        <p:txBody>
          <a:bodyPr/>
          <a:lstStyle/>
          <a:p>
            <a:fld id="{77C6A7FE-225D-49F1-B302-AA37EA92BB49}" type="slidenum">
              <a:rPr lang="en-US" smtClean="0"/>
              <a:t>5</a:t>
            </a:fld>
            <a:endParaRPr lang="en-US"/>
          </a:p>
        </p:txBody>
      </p:sp>
    </p:spTree>
    <p:extLst>
      <p:ext uri="{BB962C8B-B14F-4D97-AF65-F5344CB8AC3E}">
        <p14:creationId xmlns:p14="http://schemas.microsoft.com/office/powerpoint/2010/main" val="406096446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247061"/>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Familia Salama Study</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5" name="TextBox 4">
            <a:extLst>
              <a:ext uri="{FF2B5EF4-FFF2-40B4-BE49-F238E27FC236}">
                <a16:creationId xmlns:a16="http://schemas.microsoft.com/office/drawing/2014/main" id="{7B85555E-CCE8-4743-A390-FC378AA5E2EB}"/>
              </a:ext>
            </a:extLst>
          </p:cNvPr>
          <p:cNvSpPr txBox="1"/>
          <p:nvPr/>
        </p:nvSpPr>
        <p:spPr>
          <a:xfrm>
            <a:off x="304800" y="1405060"/>
            <a:ext cx="11582400" cy="4893647"/>
          </a:xfrm>
          <a:prstGeom prst="rect">
            <a:avLst/>
          </a:prstGeom>
          <a:noFill/>
        </p:spPr>
        <p:txBody>
          <a:bodyPr wrap="square">
            <a:spAutoFit/>
          </a:bodyPr>
          <a:lstStyle/>
          <a:p>
            <a:pPr>
              <a:defRPr/>
            </a:pPr>
            <a:r>
              <a:rPr lang="en-US" sz="2400" b="1" dirty="0">
                <a:solidFill>
                  <a:srgbClr val="0070C0"/>
                </a:solidFill>
              </a:rPr>
              <a:t>The efficacy and safety of the WHO PMTCT options are well-established and deemed to be equal</a:t>
            </a:r>
          </a:p>
          <a:p>
            <a:pPr lvl="1">
              <a:defRPr/>
            </a:pPr>
            <a:r>
              <a:rPr lang="en-US" sz="2400" i="1" dirty="0"/>
              <a:t>“The currently available scientific and programmatic data do not demonstrate that one strategy is more efficacious than the other” (WHO 2010)</a:t>
            </a:r>
          </a:p>
          <a:p>
            <a:pPr>
              <a:defRPr/>
            </a:pPr>
            <a:r>
              <a:rPr lang="en-US" sz="2400" b="1" dirty="0">
                <a:solidFill>
                  <a:srgbClr val="0070C0"/>
                </a:solidFill>
              </a:rPr>
              <a:t>So, policy makers should choose an option based on local circumstances … </a:t>
            </a:r>
          </a:p>
          <a:p>
            <a:pPr lvl="1">
              <a:defRPr/>
            </a:pPr>
            <a:r>
              <a:rPr lang="en-US" sz="2400" i="1" dirty="0"/>
              <a:t>“At a national and programmatic level, the decision for one option should be made according to local circumstances, weighing feasibility, acceptability, values and cost” (WHO 2010) </a:t>
            </a:r>
          </a:p>
          <a:p>
            <a:pPr>
              <a:defRPr/>
            </a:pPr>
            <a:r>
              <a:rPr lang="en-US" sz="2400" b="1" dirty="0">
                <a:solidFill>
                  <a:srgbClr val="0070C0"/>
                </a:solidFill>
              </a:rPr>
              <a:t>…. which is difficult in the face of sparse local evidence on feasibility, acceptability, effectiveness and costs</a:t>
            </a:r>
          </a:p>
          <a:p>
            <a:pPr lvl="1">
              <a:defRPr/>
            </a:pPr>
            <a:r>
              <a:rPr lang="en-US" sz="2400" i="1" dirty="0"/>
              <a:t>“It should be noted that the recommendations were not based on cost. Although current cost of drugs was considered, no formal cost-effectiveness analysis was performed” (WHO 2010). </a:t>
            </a:r>
          </a:p>
        </p:txBody>
      </p:sp>
      <p:sp>
        <p:nvSpPr>
          <p:cNvPr id="2" name="Footer Placeholder 1">
            <a:extLst>
              <a:ext uri="{FF2B5EF4-FFF2-40B4-BE49-F238E27FC236}">
                <a16:creationId xmlns:a16="http://schemas.microsoft.com/office/drawing/2014/main" id="{B0B96D73-4109-5740-9CCD-41EEDCFCC83F}"/>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C6EF9156-B0C7-6070-1131-623150BE2CE2}"/>
              </a:ext>
            </a:extLst>
          </p:cNvPr>
          <p:cNvSpPr>
            <a:spLocks noGrp="1"/>
          </p:cNvSpPr>
          <p:nvPr>
            <p:ph type="sldNum" sz="quarter" idx="12"/>
          </p:nvPr>
        </p:nvSpPr>
        <p:spPr/>
        <p:txBody>
          <a:bodyPr/>
          <a:lstStyle/>
          <a:p>
            <a:fld id="{77C6A7FE-225D-49F1-B302-AA37EA92BB49}" type="slidenum">
              <a:rPr lang="en-US" smtClean="0"/>
              <a:t>6</a:t>
            </a:fld>
            <a:endParaRPr lang="en-US"/>
          </a:p>
        </p:txBody>
      </p:sp>
    </p:spTree>
    <p:extLst>
      <p:ext uri="{BB962C8B-B14F-4D97-AF65-F5344CB8AC3E}">
        <p14:creationId xmlns:p14="http://schemas.microsoft.com/office/powerpoint/2010/main" val="154201389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247061"/>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Familia Salama Study</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5" name="TextBox 4">
            <a:extLst>
              <a:ext uri="{FF2B5EF4-FFF2-40B4-BE49-F238E27FC236}">
                <a16:creationId xmlns:a16="http://schemas.microsoft.com/office/drawing/2014/main" id="{7B85555E-CCE8-4743-A390-FC378AA5E2EB}"/>
              </a:ext>
            </a:extLst>
          </p:cNvPr>
          <p:cNvSpPr txBox="1"/>
          <p:nvPr/>
        </p:nvSpPr>
        <p:spPr>
          <a:xfrm>
            <a:off x="304800" y="1405060"/>
            <a:ext cx="11582400" cy="4870564"/>
          </a:xfrm>
          <a:prstGeom prst="rect">
            <a:avLst/>
          </a:prstGeom>
          <a:noFill/>
        </p:spPr>
        <p:txBody>
          <a:bodyPr wrap="square">
            <a:spAutoFit/>
          </a:bodyPr>
          <a:lstStyle/>
          <a:p>
            <a:pPr marL="342900" indent="-342900">
              <a:spcAft>
                <a:spcPts val="900"/>
              </a:spcAft>
              <a:buFont typeface="Arial" panose="020B0604020202020204" pitchFamily="34" charset="0"/>
              <a:buChar char="•"/>
              <a:defRPr/>
            </a:pPr>
            <a:r>
              <a:rPr lang="en-US" sz="2400" dirty="0"/>
              <a:t>Specific aim 1: To determine the </a:t>
            </a:r>
            <a:r>
              <a:rPr lang="en-US" sz="2400" dirty="0">
                <a:highlight>
                  <a:srgbClr val="FFFF00"/>
                </a:highlight>
              </a:rPr>
              <a:t>effectiveness  </a:t>
            </a:r>
            <a:r>
              <a:rPr lang="en-US" sz="2400" dirty="0"/>
              <a:t>and</a:t>
            </a:r>
            <a:r>
              <a:rPr lang="en-US" sz="2400" dirty="0">
                <a:highlight>
                  <a:srgbClr val="FFFF00"/>
                </a:highlight>
              </a:rPr>
              <a:t> cost-effectiveness </a:t>
            </a:r>
            <a:r>
              <a:rPr lang="en-US" sz="2400" dirty="0"/>
              <a:t>of an enhanced community-based strategy to increase access and utilization of Maternal and Child health (MNCH) services, including PMTCT, as compared to the current standard of care (impact and economic evaluation)</a:t>
            </a:r>
          </a:p>
          <a:p>
            <a:pPr marL="342900" indent="-342900">
              <a:spcAft>
                <a:spcPts val="900"/>
              </a:spcAft>
              <a:buFont typeface="Arial" panose="020B0604020202020204" pitchFamily="34" charset="0"/>
              <a:buChar char="•"/>
              <a:defRPr/>
            </a:pPr>
            <a:r>
              <a:rPr lang="en-US" sz="2400" dirty="0"/>
              <a:t>Specific aim 2: To establish the </a:t>
            </a:r>
            <a:r>
              <a:rPr lang="en-US" sz="2400" dirty="0">
                <a:highlight>
                  <a:srgbClr val="FFFF00"/>
                </a:highlight>
              </a:rPr>
              <a:t>feasibility</a:t>
            </a:r>
            <a:r>
              <a:rPr lang="en-US" sz="2400" dirty="0"/>
              <a:t> and </a:t>
            </a:r>
            <a:r>
              <a:rPr lang="en-US" sz="2400" dirty="0">
                <a:highlight>
                  <a:srgbClr val="FFFF00"/>
                </a:highlight>
              </a:rPr>
              <a:t>acceptability </a:t>
            </a:r>
            <a:r>
              <a:rPr lang="en-US" sz="2400" dirty="0"/>
              <a:t>of an enhanced community-based strategy to increase access and utilization of MNCH including PMTCT as compared to the current standard of care (process evaluation)</a:t>
            </a:r>
          </a:p>
          <a:p>
            <a:pPr marL="342900" indent="-342900">
              <a:spcAft>
                <a:spcPts val="900"/>
              </a:spcAft>
              <a:buFont typeface="Arial" panose="020B0604020202020204" pitchFamily="34" charset="0"/>
              <a:buChar char="•"/>
              <a:defRPr/>
            </a:pPr>
            <a:r>
              <a:rPr lang="en-US" sz="2400" dirty="0"/>
              <a:t>Specific aim 3: To determine </a:t>
            </a:r>
            <a:r>
              <a:rPr lang="en-US" sz="2400" dirty="0">
                <a:highlight>
                  <a:srgbClr val="FFFF00"/>
                </a:highlight>
              </a:rPr>
              <a:t>effectiveness </a:t>
            </a:r>
            <a:r>
              <a:rPr lang="en-US" sz="2400" dirty="0"/>
              <a:t>and </a:t>
            </a:r>
            <a:r>
              <a:rPr lang="en-US" sz="2400" dirty="0">
                <a:highlight>
                  <a:srgbClr val="FFFF00"/>
                </a:highlight>
              </a:rPr>
              <a:t>cost-effectiveness </a:t>
            </a:r>
            <a:r>
              <a:rPr lang="en-US" sz="2400" dirty="0"/>
              <a:t>in PMTCT of providing option B compared to option A to pregnant and breastfeeding HIV-infected women (impact and economic evaluation)</a:t>
            </a:r>
          </a:p>
          <a:p>
            <a:pPr marL="342900" indent="-342900">
              <a:spcAft>
                <a:spcPts val="900"/>
              </a:spcAft>
              <a:buFont typeface="Arial" panose="020B0604020202020204" pitchFamily="34" charset="0"/>
              <a:buChar char="•"/>
              <a:defRPr/>
            </a:pPr>
            <a:r>
              <a:rPr lang="en-US" sz="2400" dirty="0"/>
              <a:t>Specific aim 4: To establish the </a:t>
            </a:r>
            <a:r>
              <a:rPr lang="en-US" sz="2400" dirty="0">
                <a:highlight>
                  <a:srgbClr val="FFFF00"/>
                </a:highlight>
              </a:rPr>
              <a:t>feasibility</a:t>
            </a:r>
            <a:r>
              <a:rPr lang="en-US" sz="2400" dirty="0"/>
              <a:t> and </a:t>
            </a:r>
            <a:r>
              <a:rPr lang="en-US" sz="2400" dirty="0">
                <a:highlight>
                  <a:srgbClr val="FFFF00"/>
                </a:highlight>
              </a:rPr>
              <a:t>acceptability</a:t>
            </a:r>
            <a:r>
              <a:rPr lang="en-US" sz="2400" dirty="0"/>
              <a:t> of implementing Option B versus option A for PMTCT (process evaluation)</a:t>
            </a:r>
          </a:p>
        </p:txBody>
      </p:sp>
      <p:sp>
        <p:nvSpPr>
          <p:cNvPr id="2" name="Footer Placeholder 1">
            <a:extLst>
              <a:ext uri="{FF2B5EF4-FFF2-40B4-BE49-F238E27FC236}">
                <a16:creationId xmlns:a16="http://schemas.microsoft.com/office/drawing/2014/main" id="{3C83DF32-05BD-5145-93D3-DC291C78329C}"/>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5B30ABE9-BA83-7EBE-88DE-50C9678E5139}"/>
              </a:ext>
            </a:extLst>
          </p:cNvPr>
          <p:cNvSpPr>
            <a:spLocks noGrp="1"/>
          </p:cNvSpPr>
          <p:nvPr>
            <p:ph type="sldNum" sz="quarter" idx="12"/>
          </p:nvPr>
        </p:nvSpPr>
        <p:spPr/>
        <p:txBody>
          <a:bodyPr/>
          <a:lstStyle/>
          <a:p>
            <a:fld id="{77C6A7FE-225D-49F1-B302-AA37EA92BB49}" type="slidenum">
              <a:rPr lang="en-US" smtClean="0"/>
              <a:t>7</a:t>
            </a:fld>
            <a:endParaRPr lang="en-US"/>
          </a:p>
        </p:txBody>
      </p:sp>
    </p:spTree>
    <p:extLst>
      <p:ext uri="{BB962C8B-B14F-4D97-AF65-F5344CB8AC3E}">
        <p14:creationId xmlns:p14="http://schemas.microsoft.com/office/powerpoint/2010/main" val="315218928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247061"/>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The study took place in urban Tanzania</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5" name="TextBox 4">
            <a:extLst>
              <a:ext uri="{FF2B5EF4-FFF2-40B4-BE49-F238E27FC236}">
                <a16:creationId xmlns:a16="http://schemas.microsoft.com/office/drawing/2014/main" id="{7B85555E-CCE8-4743-A390-FC378AA5E2EB}"/>
              </a:ext>
            </a:extLst>
          </p:cNvPr>
          <p:cNvSpPr txBox="1"/>
          <p:nvPr/>
        </p:nvSpPr>
        <p:spPr>
          <a:xfrm>
            <a:off x="304800" y="1588187"/>
            <a:ext cx="11582400" cy="4527393"/>
          </a:xfrm>
          <a:prstGeom prst="rect">
            <a:avLst/>
          </a:prstGeom>
          <a:noFill/>
        </p:spPr>
        <p:txBody>
          <a:bodyPr wrap="square">
            <a:spAutoFit/>
          </a:bodyPr>
          <a:lstStyle/>
          <a:p>
            <a:pPr marL="171450" indent="-171450">
              <a:buFont typeface="Arial"/>
              <a:buChar char="•"/>
              <a:defRPr/>
            </a:pPr>
            <a:r>
              <a:rPr lang="en-US" sz="2400" i="1" dirty="0"/>
              <a:t>Study setting: </a:t>
            </a:r>
            <a:r>
              <a:rPr lang="en-US" sz="2400" dirty="0"/>
              <a:t>Ilala and Kinondoni district in Dar es Salaam (DSM)</a:t>
            </a:r>
          </a:p>
          <a:p>
            <a:pPr marL="445770" lvl="1" indent="-171450">
              <a:buFont typeface="Arial"/>
              <a:buChar char="•"/>
              <a:defRPr/>
            </a:pPr>
            <a:r>
              <a:rPr lang="en-US" sz="2400" dirty="0"/>
              <a:t>Total population: &gt;2,258,000</a:t>
            </a:r>
          </a:p>
          <a:p>
            <a:pPr marL="445770" lvl="1" indent="-171450">
              <a:buFont typeface="Arial"/>
              <a:buChar char="•"/>
              <a:defRPr/>
            </a:pPr>
            <a:r>
              <a:rPr lang="en-US" sz="2400" dirty="0"/>
              <a:t>HIV prevalence in DSM Region: </a:t>
            </a:r>
            <a:r>
              <a:rPr lang="en-US" sz="2400" dirty="0">
                <a:highlight>
                  <a:srgbClr val="FFFF00"/>
                </a:highlight>
              </a:rPr>
              <a:t>9.3% </a:t>
            </a:r>
            <a:r>
              <a:rPr lang="en-US" sz="2400" dirty="0"/>
              <a:t>among 15-49 year </a:t>
            </a:r>
            <a:r>
              <a:rPr lang="en-US" sz="2400" dirty="0" err="1"/>
              <a:t>olds</a:t>
            </a:r>
            <a:r>
              <a:rPr lang="en-US" sz="2400" dirty="0"/>
              <a:t>   (2</a:t>
            </a:r>
            <a:r>
              <a:rPr lang="en-US" sz="2400" baseline="30000" dirty="0"/>
              <a:t>nd</a:t>
            </a:r>
            <a:r>
              <a:rPr lang="en-US" sz="2400" dirty="0"/>
              <a:t> highest of any region in Tanzania)</a:t>
            </a:r>
          </a:p>
          <a:p>
            <a:pPr marL="845820" lvl="2" indent="-171450">
              <a:buFont typeface="Arial"/>
              <a:buChar char="•"/>
              <a:defRPr/>
            </a:pPr>
            <a:r>
              <a:rPr lang="en-US" sz="2400" dirty="0"/>
              <a:t>(actual: </a:t>
            </a:r>
            <a:r>
              <a:rPr lang="en-US" sz="2400" dirty="0">
                <a:highlight>
                  <a:srgbClr val="FFFF00"/>
                </a:highlight>
              </a:rPr>
              <a:t>5.1%</a:t>
            </a:r>
            <a:r>
              <a:rPr lang="en-US" sz="2400" dirty="0"/>
              <a:t> at delivery, 6.0% at the first ANC visit, 6.9% at ANC according to national data 2010)</a:t>
            </a:r>
          </a:p>
          <a:p>
            <a:pPr marL="445770" lvl="1" indent="-171450">
              <a:buFont typeface="Arial"/>
              <a:buChar char="•"/>
              <a:defRPr/>
            </a:pPr>
            <a:endParaRPr lang="en-US" sz="2400" dirty="0"/>
          </a:p>
          <a:p>
            <a:pPr marL="171450" indent="-171450">
              <a:buFont typeface="Arial"/>
              <a:buChar char="•"/>
              <a:defRPr/>
            </a:pPr>
            <a:r>
              <a:rPr lang="en-US" sz="2400" i="1" dirty="0"/>
              <a:t>Planned study duration:</a:t>
            </a:r>
            <a:r>
              <a:rPr lang="en-US" sz="2400" dirty="0"/>
              <a:t> 18 months (actual 22 months)</a:t>
            </a:r>
          </a:p>
          <a:p>
            <a:pPr marL="171450" indent="-171450">
              <a:buFont typeface="Arial"/>
              <a:buChar char="•"/>
              <a:defRPr/>
            </a:pPr>
            <a:endParaRPr lang="en-US" sz="2400" dirty="0"/>
          </a:p>
          <a:p>
            <a:pPr marL="171450" indent="-171450">
              <a:buFont typeface="Arial"/>
              <a:buChar char="•"/>
              <a:defRPr/>
            </a:pPr>
            <a:r>
              <a:rPr lang="en-US" sz="2400" i="1" dirty="0"/>
              <a:t>Sample size:</a:t>
            </a:r>
          </a:p>
          <a:p>
            <a:pPr lvl="1">
              <a:lnSpc>
                <a:spcPct val="90000"/>
              </a:lnSpc>
              <a:spcAft>
                <a:spcPts val="600"/>
              </a:spcAft>
              <a:buFont typeface="Arial" pitchFamily="34" charset="0"/>
              <a:buChar char="−"/>
              <a:defRPr/>
            </a:pPr>
            <a:r>
              <a:rPr lang="en-US" sz="2400" dirty="0"/>
              <a:t>150,000 pregnancies expected (168,079 observed)</a:t>
            </a:r>
          </a:p>
          <a:p>
            <a:pPr lvl="1">
              <a:lnSpc>
                <a:spcPct val="90000"/>
              </a:lnSpc>
              <a:spcAft>
                <a:spcPts val="600"/>
              </a:spcAft>
              <a:buFont typeface="Arial" pitchFamily="34" charset="0"/>
              <a:buChar char="−"/>
              <a:defRPr/>
            </a:pPr>
            <a:r>
              <a:rPr lang="en-US" sz="2400" dirty="0"/>
              <a:t>10,500 pregnancies among HIV-positive women expected (10,135 observed)</a:t>
            </a:r>
          </a:p>
        </p:txBody>
      </p:sp>
      <p:sp>
        <p:nvSpPr>
          <p:cNvPr id="2" name="Footer Placeholder 1">
            <a:extLst>
              <a:ext uri="{FF2B5EF4-FFF2-40B4-BE49-F238E27FC236}">
                <a16:creationId xmlns:a16="http://schemas.microsoft.com/office/drawing/2014/main" id="{A8667422-FAA8-384A-9939-4B8BCCF57A5E}"/>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30A21F0C-0E80-B66F-D517-850F9C303882}"/>
              </a:ext>
            </a:extLst>
          </p:cNvPr>
          <p:cNvSpPr>
            <a:spLocks noGrp="1"/>
          </p:cNvSpPr>
          <p:nvPr>
            <p:ph type="sldNum" sz="quarter" idx="12"/>
          </p:nvPr>
        </p:nvSpPr>
        <p:spPr/>
        <p:txBody>
          <a:bodyPr/>
          <a:lstStyle/>
          <a:p>
            <a:fld id="{77C6A7FE-225D-49F1-B302-AA37EA92BB49}" type="slidenum">
              <a:rPr lang="en-US" smtClean="0"/>
              <a:t>8</a:t>
            </a:fld>
            <a:endParaRPr lang="en-US"/>
          </a:p>
        </p:txBody>
      </p:sp>
    </p:spTree>
    <p:extLst>
      <p:ext uri="{BB962C8B-B14F-4D97-AF65-F5344CB8AC3E}">
        <p14:creationId xmlns:p14="http://schemas.microsoft.com/office/powerpoint/2010/main" val="96818727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000" dirty="0">
                <a:solidFill>
                  <a:schemeClr val="bg1"/>
                </a:solidFill>
                <a:latin typeface="Arial" panose="020B0604020202020204" pitchFamily="34" charset="0"/>
                <a:cs typeface="Arial" panose="020B0604020202020204" pitchFamily="34" charset="0"/>
              </a:rPr>
              <a:t>Wards were randomized to one of four arms in this cluster-randomized 2x2 factorial implementation trial</a:t>
            </a:r>
            <a:endParaRPr lang="en-US" sz="24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grpSp>
        <p:nvGrpSpPr>
          <p:cNvPr id="5" name="Group 24">
            <a:extLst>
              <a:ext uri="{FF2B5EF4-FFF2-40B4-BE49-F238E27FC236}">
                <a16:creationId xmlns:a16="http://schemas.microsoft.com/office/drawing/2014/main" id="{7478BBA2-2792-4D63-8001-368212ADBEE3}"/>
              </a:ext>
            </a:extLst>
          </p:cNvPr>
          <p:cNvGrpSpPr>
            <a:grpSpLocks noChangeAspect="1"/>
          </p:cNvGrpSpPr>
          <p:nvPr/>
        </p:nvGrpSpPr>
        <p:grpSpPr bwMode="auto">
          <a:xfrm>
            <a:off x="767100" y="1366248"/>
            <a:ext cx="10983729" cy="2804377"/>
            <a:chOff x="1102" y="3972"/>
            <a:chExt cx="8564" cy="1544"/>
          </a:xfrm>
        </p:grpSpPr>
        <p:sp>
          <p:nvSpPr>
            <p:cNvPr id="7" name="Text Box 37">
              <a:extLst>
                <a:ext uri="{FF2B5EF4-FFF2-40B4-BE49-F238E27FC236}">
                  <a16:creationId xmlns:a16="http://schemas.microsoft.com/office/drawing/2014/main" id="{A6801E2E-7296-423A-AB33-C4F31B0E7409}"/>
                </a:ext>
              </a:extLst>
            </p:cNvPr>
            <p:cNvSpPr txBox="1">
              <a:spLocks noChangeArrowheads="1"/>
            </p:cNvSpPr>
            <p:nvPr/>
          </p:nvSpPr>
          <p:spPr bwMode="auto">
            <a:xfrm>
              <a:off x="4424" y="3972"/>
              <a:ext cx="1986" cy="271"/>
            </a:xfrm>
            <a:prstGeom prst="rect">
              <a:avLst/>
            </a:prstGeom>
            <a:solidFill>
              <a:srgbClr val="FFC000"/>
            </a:solidFill>
            <a:ln w="9525">
              <a:solidFill>
                <a:srgbClr val="000000"/>
              </a:solidFill>
              <a:miter lim="800000"/>
              <a:headEnd/>
              <a:tailEnd/>
            </a:ln>
          </p:spPr>
          <p:txBody>
            <a:bodyPr/>
            <a:lstStyle>
              <a:lvl1pPr eaLnBrk="0" hangingPunct="0">
                <a:defRPr sz="2400">
                  <a:solidFill>
                    <a:schemeClr val="tx1"/>
                  </a:solidFill>
                  <a:latin typeface="Book Antiqua" charset="0"/>
                  <a:ea typeface="ＭＳ Ｐゴシック" charset="0"/>
                  <a:cs typeface="ＭＳ Ｐゴシック" charset="0"/>
                </a:defRPr>
              </a:lvl1pPr>
              <a:lvl2pPr marL="742950" indent="-285750" eaLnBrk="0" hangingPunct="0">
                <a:defRPr sz="2400">
                  <a:solidFill>
                    <a:schemeClr val="tx1"/>
                  </a:solidFill>
                  <a:latin typeface="Book Antiqua" charset="0"/>
                  <a:ea typeface="ＭＳ Ｐゴシック" charset="0"/>
                </a:defRPr>
              </a:lvl2pPr>
              <a:lvl3pPr marL="1143000" indent="-228600" eaLnBrk="0" hangingPunct="0">
                <a:defRPr sz="2400">
                  <a:solidFill>
                    <a:schemeClr val="tx1"/>
                  </a:solidFill>
                  <a:latin typeface="Book Antiqua" charset="0"/>
                  <a:ea typeface="ＭＳ Ｐゴシック" charset="0"/>
                </a:defRPr>
              </a:lvl3pPr>
              <a:lvl4pPr marL="1600200" indent="-228600" eaLnBrk="0" hangingPunct="0">
                <a:defRPr sz="2400">
                  <a:solidFill>
                    <a:schemeClr val="tx1"/>
                  </a:solidFill>
                  <a:latin typeface="Book Antiqua" charset="0"/>
                  <a:ea typeface="ＭＳ Ｐゴシック" charset="0"/>
                </a:defRPr>
              </a:lvl4pPr>
              <a:lvl5pPr marL="2057400" indent="-228600" eaLnBrk="0" hangingPunct="0">
                <a:defRPr sz="2400">
                  <a:solidFill>
                    <a:schemeClr val="tx1"/>
                  </a:solidFill>
                  <a:latin typeface="Book Antiqua" charset="0"/>
                  <a:ea typeface="ＭＳ Ｐゴシック" charset="0"/>
                </a:defRPr>
              </a:lvl5pPr>
              <a:lvl6pPr marL="2514600" indent="-228600" eaLnBrk="0" fontAlgn="base" hangingPunct="0">
                <a:spcBef>
                  <a:spcPct val="0"/>
                </a:spcBef>
                <a:spcAft>
                  <a:spcPct val="0"/>
                </a:spcAft>
                <a:defRPr sz="2400">
                  <a:solidFill>
                    <a:schemeClr val="tx1"/>
                  </a:solidFill>
                  <a:latin typeface="Book Antiqua" charset="0"/>
                  <a:ea typeface="ＭＳ Ｐゴシック" charset="0"/>
                </a:defRPr>
              </a:lvl6pPr>
              <a:lvl7pPr marL="2971800" indent="-228600" eaLnBrk="0" fontAlgn="base" hangingPunct="0">
                <a:spcBef>
                  <a:spcPct val="0"/>
                </a:spcBef>
                <a:spcAft>
                  <a:spcPct val="0"/>
                </a:spcAft>
                <a:defRPr sz="2400">
                  <a:solidFill>
                    <a:schemeClr val="tx1"/>
                  </a:solidFill>
                  <a:latin typeface="Book Antiqua" charset="0"/>
                  <a:ea typeface="ＭＳ Ｐゴシック" charset="0"/>
                </a:defRPr>
              </a:lvl7pPr>
              <a:lvl8pPr marL="3429000" indent="-228600" eaLnBrk="0" fontAlgn="base" hangingPunct="0">
                <a:spcBef>
                  <a:spcPct val="0"/>
                </a:spcBef>
                <a:spcAft>
                  <a:spcPct val="0"/>
                </a:spcAft>
                <a:defRPr sz="2400">
                  <a:solidFill>
                    <a:schemeClr val="tx1"/>
                  </a:solidFill>
                  <a:latin typeface="Book Antiqua" charset="0"/>
                  <a:ea typeface="ＭＳ Ｐゴシック" charset="0"/>
                </a:defRPr>
              </a:lvl8pPr>
              <a:lvl9pPr marL="3886200" indent="-228600" eaLnBrk="0" fontAlgn="base" hangingPunct="0">
                <a:spcBef>
                  <a:spcPct val="0"/>
                </a:spcBef>
                <a:spcAft>
                  <a:spcPct val="0"/>
                </a:spcAft>
                <a:defRPr sz="2400">
                  <a:solidFill>
                    <a:schemeClr val="tx1"/>
                  </a:solidFill>
                  <a:latin typeface="Book Antiqua" charset="0"/>
                  <a:ea typeface="ＭＳ Ｐゴシック" charset="0"/>
                </a:defRPr>
              </a:lvl9pPr>
            </a:lstStyle>
            <a:p>
              <a:pPr algn="ctr" eaLnBrk="1" hangingPunct="1">
                <a:defRPr/>
              </a:pPr>
              <a:r>
                <a:rPr lang="en-US" sz="1600" b="1" dirty="0">
                  <a:latin typeface="+mn-lt"/>
                  <a:cs typeface="Times New Roman" charset="0"/>
                </a:rPr>
                <a:t>60 wards</a:t>
              </a:r>
              <a:endParaRPr lang="en-US" sz="1600" dirty="0">
                <a:latin typeface="+mn-lt"/>
              </a:endParaRPr>
            </a:p>
          </p:txBody>
        </p:sp>
        <p:sp>
          <p:nvSpPr>
            <p:cNvPr id="8" name="Text Box 36">
              <a:extLst>
                <a:ext uri="{FF2B5EF4-FFF2-40B4-BE49-F238E27FC236}">
                  <a16:creationId xmlns:a16="http://schemas.microsoft.com/office/drawing/2014/main" id="{7BA26958-9CAA-4FE2-A78F-5F049A2738E0}"/>
                </a:ext>
              </a:extLst>
            </p:cNvPr>
            <p:cNvSpPr txBox="1">
              <a:spLocks noChangeArrowheads="1"/>
            </p:cNvSpPr>
            <p:nvPr/>
          </p:nvSpPr>
          <p:spPr bwMode="auto">
            <a:xfrm>
              <a:off x="2508" y="4530"/>
              <a:ext cx="2565" cy="337"/>
            </a:xfrm>
            <a:prstGeom prst="rect">
              <a:avLst/>
            </a:prstGeom>
            <a:solidFill>
              <a:schemeClr val="bg1">
                <a:lumMod val="65000"/>
              </a:schemeClr>
            </a:solidFill>
            <a:ln w="9525">
              <a:solidFill>
                <a:srgbClr val="000000"/>
              </a:solidFill>
              <a:miter lim="800000"/>
              <a:headEnd/>
              <a:tailEnd/>
            </a:ln>
          </p:spPr>
          <p:txBody>
            <a:bodyPr/>
            <a:lstStyle/>
            <a:p>
              <a:pPr>
                <a:defRPr/>
              </a:pPr>
              <a:r>
                <a:rPr lang="en-US" sz="1600" dirty="0">
                  <a:ea typeface="Times New Roman" pitchFamily="18" charset="0"/>
                  <a:cs typeface="Arial" charset="0"/>
                </a:rPr>
                <a:t>Community intervention:</a:t>
              </a:r>
              <a:endParaRPr lang="en-US" sz="1600" dirty="0">
                <a:cs typeface="Arial" charset="0"/>
              </a:endParaRPr>
            </a:p>
            <a:p>
              <a:pPr eaLnBrk="0" hangingPunct="0">
                <a:defRPr/>
              </a:pPr>
              <a:r>
                <a:rPr lang="en-US" sz="1600" b="1" dirty="0">
                  <a:ea typeface="Times New Roman" pitchFamily="18" charset="0"/>
                  <a:cs typeface="Arial" charset="0"/>
                </a:rPr>
                <a:t>36 wards</a:t>
              </a:r>
              <a:endParaRPr lang="en-US" sz="1600" dirty="0">
                <a:cs typeface="Arial" charset="0"/>
              </a:endParaRPr>
            </a:p>
          </p:txBody>
        </p:sp>
        <p:sp>
          <p:nvSpPr>
            <p:cNvPr id="9" name="Text Box 35">
              <a:extLst>
                <a:ext uri="{FF2B5EF4-FFF2-40B4-BE49-F238E27FC236}">
                  <a16:creationId xmlns:a16="http://schemas.microsoft.com/office/drawing/2014/main" id="{55A4F7FD-6DA1-402F-ADBE-D30E4AE150F8}"/>
                </a:ext>
              </a:extLst>
            </p:cNvPr>
            <p:cNvSpPr txBox="1">
              <a:spLocks noChangeArrowheads="1"/>
            </p:cNvSpPr>
            <p:nvPr/>
          </p:nvSpPr>
          <p:spPr bwMode="auto">
            <a:xfrm>
              <a:off x="5924" y="4498"/>
              <a:ext cx="2875" cy="369"/>
            </a:xfrm>
            <a:prstGeom prst="rect">
              <a:avLst/>
            </a:prstGeom>
            <a:solidFill>
              <a:schemeClr val="accent4"/>
            </a:solidFill>
            <a:ln w="9525">
              <a:solidFill>
                <a:srgbClr val="000000"/>
              </a:solidFill>
              <a:miter lim="800000"/>
              <a:headEnd/>
              <a:tailEnd/>
            </a:ln>
          </p:spPr>
          <p:txBody>
            <a:bodyPr/>
            <a:lstStyle/>
            <a:p>
              <a:pPr>
                <a:defRPr/>
              </a:pPr>
              <a:r>
                <a:rPr lang="en-US" sz="1600" dirty="0">
                  <a:ea typeface="Times New Roman" pitchFamily="18" charset="0"/>
                  <a:cs typeface="Arial" charset="0"/>
                </a:rPr>
                <a:t>No community intervention</a:t>
              </a:r>
              <a:r>
                <a:rPr lang="en-US" sz="1600" dirty="0">
                  <a:cs typeface="Arial" charset="0"/>
                </a:rPr>
                <a:t>:</a:t>
              </a:r>
            </a:p>
            <a:p>
              <a:pPr>
                <a:defRPr/>
              </a:pPr>
              <a:r>
                <a:rPr lang="en-US" sz="1600" dirty="0">
                  <a:cs typeface="Arial" charset="0"/>
                </a:rPr>
                <a:t> </a:t>
              </a:r>
              <a:r>
                <a:rPr lang="en-US" sz="1600" b="1" dirty="0">
                  <a:ea typeface="Times New Roman" pitchFamily="18" charset="0"/>
                  <a:cs typeface="Arial" charset="0"/>
                </a:rPr>
                <a:t>24 wards</a:t>
              </a:r>
              <a:endParaRPr lang="en-US" sz="1600" dirty="0">
                <a:cs typeface="Arial" charset="0"/>
              </a:endParaRPr>
            </a:p>
          </p:txBody>
        </p:sp>
        <p:sp>
          <p:nvSpPr>
            <p:cNvPr id="10" name="Text Box 34">
              <a:extLst>
                <a:ext uri="{FF2B5EF4-FFF2-40B4-BE49-F238E27FC236}">
                  <a16:creationId xmlns:a16="http://schemas.microsoft.com/office/drawing/2014/main" id="{8ACFB77E-DBB3-4A7C-AF26-7C082C0790C0}"/>
                </a:ext>
              </a:extLst>
            </p:cNvPr>
            <p:cNvSpPr txBox="1">
              <a:spLocks noChangeArrowheads="1"/>
            </p:cNvSpPr>
            <p:nvPr/>
          </p:nvSpPr>
          <p:spPr bwMode="auto">
            <a:xfrm>
              <a:off x="1102" y="5171"/>
              <a:ext cx="1946" cy="337"/>
            </a:xfrm>
            <a:prstGeom prst="rect">
              <a:avLst/>
            </a:prstGeom>
            <a:solidFill>
              <a:schemeClr val="bg2">
                <a:lumMod val="75000"/>
              </a:schemeClr>
            </a:solidFill>
            <a:ln w="9525">
              <a:solidFill>
                <a:srgbClr val="000000"/>
              </a:solidFill>
              <a:miter lim="800000"/>
              <a:headEnd/>
              <a:tailEnd/>
            </a:ln>
          </p:spPr>
          <p:txBody>
            <a:bodyPr lIns="18288" tIns="18288" rIns="18288" bIns="18288"/>
            <a:lstStyle/>
            <a:p>
              <a:pPr>
                <a:defRPr/>
              </a:pPr>
              <a:r>
                <a:rPr lang="en-US" sz="1600" dirty="0">
                  <a:ea typeface="Times New Roman" pitchFamily="18" charset="0"/>
                  <a:cs typeface="Arial" charset="0"/>
                </a:rPr>
                <a:t>Option B: </a:t>
              </a:r>
              <a:r>
                <a:rPr lang="en-US" sz="1600" b="1" dirty="0">
                  <a:ea typeface="Times New Roman" pitchFamily="18" charset="0"/>
                  <a:cs typeface="Arial" charset="0"/>
                </a:rPr>
                <a:t>22 wards </a:t>
              </a:r>
            </a:p>
            <a:p>
              <a:pPr>
                <a:defRPr/>
              </a:pPr>
              <a:r>
                <a:rPr lang="en-US" sz="1600" dirty="0">
                  <a:ea typeface="Times New Roman" pitchFamily="18" charset="0"/>
                  <a:cs typeface="Arial" charset="0"/>
                </a:rPr>
                <a:t>(36,540 pregnancies)</a:t>
              </a:r>
              <a:endParaRPr lang="en-US" sz="1600" dirty="0">
                <a:cs typeface="Arial" charset="0"/>
              </a:endParaRPr>
            </a:p>
            <a:p>
              <a:pPr eaLnBrk="0" hangingPunct="0">
                <a:defRPr/>
              </a:pPr>
              <a:endParaRPr lang="en-US" sz="1600" dirty="0">
                <a:cs typeface="Arial" charset="0"/>
              </a:endParaRPr>
            </a:p>
          </p:txBody>
        </p:sp>
        <p:sp>
          <p:nvSpPr>
            <p:cNvPr id="11" name="Text Box 33">
              <a:extLst>
                <a:ext uri="{FF2B5EF4-FFF2-40B4-BE49-F238E27FC236}">
                  <a16:creationId xmlns:a16="http://schemas.microsoft.com/office/drawing/2014/main" id="{641E854C-0D3A-4BF6-BFF0-90627A102CD1}"/>
                </a:ext>
              </a:extLst>
            </p:cNvPr>
            <p:cNvSpPr txBox="1">
              <a:spLocks noChangeArrowheads="1"/>
            </p:cNvSpPr>
            <p:nvPr/>
          </p:nvSpPr>
          <p:spPr bwMode="auto">
            <a:xfrm>
              <a:off x="3333" y="5180"/>
              <a:ext cx="1986" cy="336"/>
            </a:xfrm>
            <a:prstGeom prst="rect">
              <a:avLst/>
            </a:prstGeom>
            <a:solidFill>
              <a:schemeClr val="accent6">
                <a:lumMod val="40000"/>
                <a:lumOff val="60000"/>
              </a:schemeClr>
            </a:solidFill>
            <a:ln w="9525">
              <a:solidFill>
                <a:srgbClr val="000000"/>
              </a:solidFill>
              <a:miter lim="800000"/>
              <a:headEnd/>
              <a:tailEnd/>
            </a:ln>
          </p:spPr>
          <p:txBody>
            <a:bodyPr lIns="18288" tIns="18288" rIns="18288" bIns="18288"/>
            <a:lstStyle/>
            <a:p>
              <a:pPr>
                <a:defRPr/>
              </a:pPr>
              <a:r>
                <a:rPr lang="en-US" sz="1600" dirty="0">
                  <a:ea typeface="Times New Roman" pitchFamily="18" charset="0"/>
                  <a:cs typeface="Arial" charset="0"/>
                </a:rPr>
                <a:t>Option A:</a:t>
              </a:r>
              <a:r>
                <a:rPr lang="en-US" sz="1600" b="1" dirty="0">
                  <a:ea typeface="Times New Roman" pitchFamily="18" charset="0"/>
                  <a:cs typeface="Arial" charset="0"/>
                </a:rPr>
                <a:t> 14 wards </a:t>
              </a:r>
            </a:p>
            <a:p>
              <a:pPr>
                <a:defRPr/>
              </a:pPr>
              <a:r>
                <a:rPr lang="en-US" sz="1600" dirty="0">
                  <a:ea typeface="Times New Roman" pitchFamily="18" charset="0"/>
                  <a:cs typeface="Arial" charset="0"/>
                </a:rPr>
                <a:t>(35,622 pregnancies)</a:t>
              </a:r>
              <a:endParaRPr lang="en-US" sz="1600" dirty="0">
                <a:cs typeface="Arial" charset="0"/>
              </a:endParaRPr>
            </a:p>
            <a:p>
              <a:pPr eaLnBrk="0" hangingPunct="0">
                <a:defRPr/>
              </a:pPr>
              <a:endParaRPr lang="en-US" sz="1600" dirty="0">
                <a:cs typeface="Arial" charset="0"/>
              </a:endParaRPr>
            </a:p>
          </p:txBody>
        </p:sp>
        <p:sp>
          <p:nvSpPr>
            <p:cNvPr id="12" name="Text Box 32">
              <a:extLst>
                <a:ext uri="{FF2B5EF4-FFF2-40B4-BE49-F238E27FC236}">
                  <a16:creationId xmlns:a16="http://schemas.microsoft.com/office/drawing/2014/main" id="{DB96394F-9C66-48C0-86DE-7E7AF151FA1B}"/>
                </a:ext>
              </a:extLst>
            </p:cNvPr>
            <p:cNvSpPr txBox="1">
              <a:spLocks noChangeArrowheads="1"/>
            </p:cNvSpPr>
            <p:nvPr/>
          </p:nvSpPr>
          <p:spPr bwMode="auto">
            <a:xfrm>
              <a:off x="5556" y="5180"/>
              <a:ext cx="1986" cy="336"/>
            </a:xfrm>
            <a:prstGeom prst="rect">
              <a:avLst/>
            </a:prstGeom>
            <a:solidFill>
              <a:schemeClr val="bg2">
                <a:lumMod val="75000"/>
              </a:schemeClr>
            </a:solidFill>
            <a:ln w="9525">
              <a:solidFill>
                <a:srgbClr val="000000"/>
              </a:solidFill>
              <a:miter lim="800000"/>
              <a:headEnd/>
              <a:tailEnd/>
            </a:ln>
          </p:spPr>
          <p:txBody>
            <a:bodyPr lIns="18288" tIns="18288" rIns="18288" bIns="18288"/>
            <a:lstStyle/>
            <a:p>
              <a:pPr>
                <a:defRPr/>
              </a:pPr>
              <a:r>
                <a:rPr lang="en-US" sz="1600" dirty="0">
                  <a:ea typeface="Times New Roman" pitchFamily="18" charset="0"/>
                  <a:cs typeface="Arial" charset="0"/>
                </a:rPr>
                <a:t>Option B: </a:t>
              </a:r>
              <a:r>
                <a:rPr lang="en-US" sz="1600" b="1" dirty="0">
                  <a:ea typeface="Times New Roman" pitchFamily="18" charset="0"/>
                  <a:cs typeface="Arial" charset="0"/>
                </a:rPr>
                <a:t>10 wards</a:t>
              </a:r>
              <a:r>
                <a:rPr lang="en-US" sz="1600" dirty="0">
                  <a:ea typeface="Times New Roman" pitchFamily="18" charset="0"/>
                  <a:cs typeface="Arial" charset="0"/>
                </a:rPr>
                <a:t> </a:t>
              </a:r>
            </a:p>
            <a:p>
              <a:pPr>
                <a:defRPr/>
              </a:pPr>
              <a:r>
                <a:rPr lang="en-US" sz="1600" dirty="0">
                  <a:ea typeface="Times New Roman" pitchFamily="18" charset="0"/>
                  <a:cs typeface="Arial" charset="0"/>
                </a:rPr>
                <a:t>(44,424 pregnancies)</a:t>
              </a:r>
              <a:endParaRPr lang="en-US" sz="1600" dirty="0">
                <a:cs typeface="Arial" charset="0"/>
              </a:endParaRPr>
            </a:p>
          </p:txBody>
        </p:sp>
        <p:sp>
          <p:nvSpPr>
            <p:cNvPr id="13" name="Text Box 31">
              <a:extLst>
                <a:ext uri="{FF2B5EF4-FFF2-40B4-BE49-F238E27FC236}">
                  <a16:creationId xmlns:a16="http://schemas.microsoft.com/office/drawing/2014/main" id="{88082F7A-8CBE-4423-B16A-0EF926F9FB5D}"/>
                </a:ext>
              </a:extLst>
            </p:cNvPr>
            <p:cNvSpPr txBox="1">
              <a:spLocks noChangeArrowheads="1"/>
            </p:cNvSpPr>
            <p:nvPr/>
          </p:nvSpPr>
          <p:spPr bwMode="auto">
            <a:xfrm>
              <a:off x="7690" y="5180"/>
              <a:ext cx="1976" cy="334"/>
            </a:xfrm>
            <a:prstGeom prst="rect">
              <a:avLst/>
            </a:prstGeom>
            <a:solidFill>
              <a:schemeClr val="accent6">
                <a:lumMod val="40000"/>
                <a:lumOff val="60000"/>
              </a:schemeClr>
            </a:solidFill>
            <a:ln w="9525">
              <a:solidFill>
                <a:srgbClr val="000000"/>
              </a:solidFill>
              <a:miter lim="800000"/>
              <a:headEnd/>
              <a:tailEnd/>
            </a:ln>
          </p:spPr>
          <p:txBody>
            <a:bodyPr lIns="18288" tIns="18288" rIns="18288" bIns="18288"/>
            <a:lstStyle/>
            <a:p>
              <a:pPr>
                <a:defRPr/>
              </a:pPr>
              <a:r>
                <a:rPr lang="en-US" sz="1600" dirty="0">
                  <a:ea typeface="Times New Roman" pitchFamily="18" charset="0"/>
                  <a:cs typeface="Arial" charset="0"/>
                </a:rPr>
                <a:t>Option A: </a:t>
              </a:r>
              <a:r>
                <a:rPr lang="en-US" sz="1600" b="1" dirty="0">
                  <a:ea typeface="Times New Roman" pitchFamily="18" charset="0"/>
                  <a:cs typeface="Arial" charset="0"/>
                </a:rPr>
                <a:t>14 wards</a:t>
              </a:r>
              <a:r>
                <a:rPr lang="en-US" sz="1600" dirty="0">
                  <a:ea typeface="Times New Roman" pitchFamily="18" charset="0"/>
                  <a:cs typeface="Arial" charset="0"/>
                </a:rPr>
                <a:t> </a:t>
              </a:r>
            </a:p>
            <a:p>
              <a:pPr>
                <a:defRPr/>
              </a:pPr>
              <a:r>
                <a:rPr lang="en-US" sz="1600" dirty="0">
                  <a:ea typeface="Times New Roman" pitchFamily="18" charset="0"/>
                  <a:cs typeface="Arial" charset="0"/>
                </a:rPr>
                <a:t>(37,098</a:t>
              </a:r>
              <a:r>
                <a:rPr lang="en-US" sz="1600" b="1" dirty="0">
                  <a:ea typeface="Times New Roman" pitchFamily="18" charset="0"/>
                  <a:cs typeface="Arial" charset="0"/>
                </a:rPr>
                <a:t> </a:t>
              </a:r>
              <a:r>
                <a:rPr lang="en-US" sz="1600" dirty="0">
                  <a:ea typeface="Times New Roman" pitchFamily="18" charset="0"/>
                  <a:cs typeface="Arial" charset="0"/>
                </a:rPr>
                <a:t>pregnancies)</a:t>
              </a:r>
              <a:endParaRPr lang="en-US" sz="1600" dirty="0">
                <a:cs typeface="Arial" charset="0"/>
              </a:endParaRPr>
            </a:p>
          </p:txBody>
        </p:sp>
        <p:cxnSp>
          <p:nvCxnSpPr>
            <p:cNvPr id="14" name="AutoShape 30">
              <a:extLst>
                <a:ext uri="{FF2B5EF4-FFF2-40B4-BE49-F238E27FC236}">
                  <a16:creationId xmlns:a16="http://schemas.microsoft.com/office/drawing/2014/main" id="{9EF0938E-5BC0-4916-9110-62BAB9A68A4A}"/>
                </a:ext>
              </a:extLst>
            </p:cNvPr>
            <p:cNvCxnSpPr>
              <a:cxnSpLocks noChangeShapeType="1"/>
            </p:cNvCxnSpPr>
            <p:nvPr/>
          </p:nvCxnSpPr>
          <p:spPr bwMode="auto">
            <a:xfrm flipH="1">
              <a:off x="3551" y="4246"/>
              <a:ext cx="1535" cy="257"/>
            </a:xfrm>
            <a:prstGeom prst="straightConnector1">
              <a:avLst/>
            </a:prstGeom>
            <a:noFill/>
            <a:ln w="9525">
              <a:solidFill>
                <a:srgbClr val="000000"/>
              </a:solidFill>
              <a:round/>
              <a:headEnd/>
              <a:tailEnd type="triangle" w="med" len="med"/>
            </a:ln>
          </p:spPr>
        </p:cxnSp>
        <p:cxnSp>
          <p:nvCxnSpPr>
            <p:cNvPr id="15" name="AutoShape 29">
              <a:extLst>
                <a:ext uri="{FF2B5EF4-FFF2-40B4-BE49-F238E27FC236}">
                  <a16:creationId xmlns:a16="http://schemas.microsoft.com/office/drawing/2014/main" id="{4978974F-662B-40C6-8229-6930B58B084D}"/>
                </a:ext>
              </a:extLst>
            </p:cNvPr>
            <p:cNvCxnSpPr>
              <a:cxnSpLocks noChangeShapeType="1"/>
              <a:stCxn id="7" idx="2"/>
            </p:cNvCxnSpPr>
            <p:nvPr/>
          </p:nvCxnSpPr>
          <p:spPr bwMode="auto">
            <a:xfrm>
              <a:off x="5417" y="4243"/>
              <a:ext cx="1475" cy="255"/>
            </a:xfrm>
            <a:prstGeom prst="straightConnector1">
              <a:avLst/>
            </a:prstGeom>
            <a:noFill/>
            <a:ln w="9525">
              <a:solidFill>
                <a:srgbClr val="000000"/>
              </a:solidFill>
              <a:round/>
              <a:headEnd/>
              <a:tailEnd type="triangle" w="med" len="med"/>
            </a:ln>
          </p:spPr>
        </p:cxnSp>
        <p:cxnSp>
          <p:nvCxnSpPr>
            <p:cNvPr id="16" name="AutoShape 28">
              <a:extLst>
                <a:ext uri="{FF2B5EF4-FFF2-40B4-BE49-F238E27FC236}">
                  <a16:creationId xmlns:a16="http://schemas.microsoft.com/office/drawing/2014/main" id="{11985E94-F5B5-486A-B5F3-59B0F5AE99E6}"/>
                </a:ext>
              </a:extLst>
            </p:cNvPr>
            <p:cNvCxnSpPr>
              <a:cxnSpLocks noChangeShapeType="1"/>
            </p:cNvCxnSpPr>
            <p:nvPr/>
          </p:nvCxnSpPr>
          <p:spPr bwMode="auto">
            <a:xfrm flipH="1">
              <a:off x="2635" y="4867"/>
              <a:ext cx="826" cy="278"/>
            </a:xfrm>
            <a:prstGeom prst="straightConnector1">
              <a:avLst/>
            </a:prstGeom>
            <a:noFill/>
            <a:ln w="9525">
              <a:solidFill>
                <a:srgbClr val="000000"/>
              </a:solidFill>
              <a:round/>
              <a:headEnd/>
              <a:tailEnd type="triangle" w="med" len="med"/>
            </a:ln>
          </p:spPr>
        </p:cxnSp>
        <p:cxnSp>
          <p:nvCxnSpPr>
            <p:cNvPr id="17" name="AutoShape 27">
              <a:extLst>
                <a:ext uri="{FF2B5EF4-FFF2-40B4-BE49-F238E27FC236}">
                  <a16:creationId xmlns:a16="http://schemas.microsoft.com/office/drawing/2014/main" id="{3D9F101A-8188-4DE0-A345-D4F40189CAC5}"/>
                </a:ext>
              </a:extLst>
            </p:cNvPr>
            <p:cNvCxnSpPr>
              <a:cxnSpLocks noChangeShapeType="1"/>
            </p:cNvCxnSpPr>
            <p:nvPr/>
          </p:nvCxnSpPr>
          <p:spPr bwMode="auto">
            <a:xfrm>
              <a:off x="3819" y="4867"/>
              <a:ext cx="620" cy="278"/>
            </a:xfrm>
            <a:prstGeom prst="straightConnector1">
              <a:avLst/>
            </a:prstGeom>
            <a:noFill/>
            <a:ln w="9525">
              <a:solidFill>
                <a:srgbClr val="000000"/>
              </a:solidFill>
              <a:round/>
              <a:headEnd/>
              <a:tailEnd type="triangle" w="med" len="med"/>
            </a:ln>
          </p:spPr>
        </p:cxnSp>
        <p:cxnSp>
          <p:nvCxnSpPr>
            <p:cNvPr id="18" name="AutoShape 26">
              <a:extLst>
                <a:ext uri="{FF2B5EF4-FFF2-40B4-BE49-F238E27FC236}">
                  <a16:creationId xmlns:a16="http://schemas.microsoft.com/office/drawing/2014/main" id="{80A42BFD-A3F6-42BE-B5A5-4016FD863879}"/>
                </a:ext>
              </a:extLst>
            </p:cNvPr>
            <p:cNvCxnSpPr>
              <a:cxnSpLocks noChangeShapeType="1"/>
              <a:stCxn id="9" idx="2"/>
            </p:cNvCxnSpPr>
            <p:nvPr/>
          </p:nvCxnSpPr>
          <p:spPr bwMode="auto">
            <a:xfrm flipH="1">
              <a:off x="6712" y="4867"/>
              <a:ext cx="650" cy="271"/>
            </a:xfrm>
            <a:prstGeom prst="straightConnector1">
              <a:avLst/>
            </a:prstGeom>
            <a:noFill/>
            <a:ln w="9525">
              <a:solidFill>
                <a:srgbClr val="000000"/>
              </a:solidFill>
              <a:round/>
              <a:headEnd/>
              <a:tailEnd type="triangle" w="med" len="med"/>
            </a:ln>
          </p:spPr>
        </p:cxnSp>
        <p:cxnSp>
          <p:nvCxnSpPr>
            <p:cNvPr id="19" name="AutoShape 25">
              <a:extLst>
                <a:ext uri="{FF2B5EF4-FFF2-40B4-BE49-F238E27FC236}">
                  <a16:creationId xmlns:a16="http://schemas.microsoft.com/office/drawing/2014/main" id="{0BACCF19-529D-4122-BC9D-9D3CBBDCBE0A}"/>
                </a:ext>
              </a:extLst>
            </p:cNvPr>
            <p:cNvCxnSpPr>
              <a:cxnSpLocks noChangeShapeType="1"/>
            </p:cNvCxnSpPr>
            <p:nvPr/>
          </p:nvCxnSpPr>
          <p:spPr bwMode="auto">
            <a:xfrm>
              <a:off x="7690" y="4867"/>
              <a:ext cx="625" cy="278"/>
            </a:xfrm>
            <a:prstGeom prst="straightConnector1">
              <a:avLst/>
            </a:prstGeom>
            <a:noFill/>
            <a:ln w="9525">
              <a:solidFill>
                <a:srgbClr val="000000"/>
              </a:solidFill>
              <a:round/>
              <a:headEnd/>
              <a:tailEnd type="triangle" w="med" len="med"/>
            </a:ln>
          </p:spPr>
        </p:cxnSp>
      </p:grpSp>
      <p:sp>
        <p:nvSpPr>
          <p:cNvPr id="24" name="TextBox 23">
            <a:extLst>
              <a:ext uri="{FF2B5EF4-FFF2-40B4-BE49-F238E27FC236}">
                <a16:creationId xmlns:a16="http://schemas.microsoft.com/office/drawing/2014/main" id="{5932AC1D-9B86-4589-84C1-513B42DA5573}"/>
              </a:ext>
            </a:extLst>
          </p:cNvPr>
          <p:cNvSpPr txBox="1"/>
          <p:nvPr/>
        </p:nvSpPr>
        <p:spPr>
          <a:xfrm>
            <a:off x="3628461" y="4424236"/>
            <a:ext cx="6184490" cy="1938992"/>
          </a:xfrm>
          <a:prstGeom prst="rect">
            <a:avLst/>
          </a:prstGeom>
          <a:noFill/>
        </p:spPr>
        <p:txBody>
          <a:bodyPr wrap="square">
            <a:spAutoFit/>
          </a:bodyPr>
          <a:lstStyle/>
          <a:p>
            <a:r>
              <a:rPr lang="en-US" sz="2400" dirty="0"/>
              <a:t>Expected: 80,964 B vs. 77,720 A</a:t>
            </a:r>
          </a:p>
          <a:p>
            <a:r>
              <a:rPr lang="en-US" sz="2400" dirty="0"/>
              <a:t>Observed: 89,014 B vs. 98,419 A</a:t>
            </a:r>
          </a:p>
          <a:p>
            <a:endParaRPr lang="en-US" sz="2400" dirty="0"/>
          </a:p>
          <a:p>
            <a:r>
              <a:rPr lang="en-US" sz="2400" dirty="0"/>
              <a:t>Expected: 72,162 CHW vs. 81,522 SOC</a:t>
            </a:r>
          </a:p>
          <a:p>
            <a:r>
              <a:rPr lang="en-US" sz="2400" dirty="0"/>
              <a:t>Observed: 103,628 CHW vs. 83,805 SOC</a:t>
            </a:r>
          </a:p>
        </p:txBody>
      </p:sp>
      <p:sp>
        <p:nvSpPr>
          <p:cNvPr id="3" name="Slide Number Placeholder 2">
            <a:extLst>
              <a:ext uri="{FF2B5EF4-FFF2-40B4-BE49-F238E27FC236}">
                <a16:creationId xmlns:a16="http://schemas.microsoft.com/office/drawing/2014/main" id="{5ACB41A5-0824-2B6D-4F55-3CAB43130E8A}"/>
              </a:ext>
            </a:extLst>
          </p:cNvPr>
          <p:cNvSpPr>
            <a:spLocks noGrp="1"/>
          </p:cNvSpPr>
          <p:nvPr>
            <p:ph type="sldNum" sz="quarter" idx="12"/>
          </p:nvPr>
        </p:nvSpPr>
        <p:spPr/>
        <p:txBody>
          <a:bodyPr/>
          <a:lstStyle/>
          <a:p>
            <a:fld id="{77C6A7FE-225D-49F1-B302-AA37EA92BB49}" type="slidenum">
              <a:rPr lang="en-US" smtClean="0"/>
              <a:t>9</a:t>
            </a:fld>
            <a:endParaRPr lang="en-US"/>
          </a:p>
        </p:txBody>
      </p:sp>
    </p:spTree>
    <p:extLst>
      <p:ext uri="{BB962C8B-B14F-4D97-AF65-F5344CB8AC3E}">
        <p14:creationId xmlns:p14="http://schemas.microsoft.com/office/powerpoint/2010/main" val="259059704"/>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Methodologic challenges in Familia Salama</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5" name="TextBox 4">
            <a:extLst>
              <a:ext uri="{FF2B5EF4-FFF2-40B4-BE49-F238E27FC236}">
                <a16:creationId xmlns:a16="http://schemas.microsoft.com/office/drawing/2014/main" id="{C2DCE616-1A8D-4F65-A683-EF3D73C8D90C}"/>
              </a:ext>
            </a:extLst>
          </p:cNvPr>
          <p:cNvSpPr txBox="1"/>
          <p:nvPr/>
        </p:nvSpPr>
        <p:spPr>
          <a:xfrm>
            <a:off x="855408" y="1944712"/>
            <a:ext cx="9891250" cy="3046988"/>
          </a:xfrm>
          <a:prstGeom prst="rect">
            <a:avLst/>
          </a:prstGeom>
          <a:noFill/>
        </p:spPr>
        <p:txBody>
          <a:bodyPr wrap="square">
            <a:spAutoFit/>
          </a:bodyPr>
          <a:lstStyle/>
          <a:p>
            <a:pPr marL="0" indent="0">
              <a:buFont typeface="Wingdings" pitchFamily="2" charset="2"/>
              <a:buNone/>
            </a:pPr>
            <a:r>
              <a:rPr lang="en-US" altLang="en-US" sz="2400" dirty="0">
                <a:latin typeface="Arial" panose="020B0604020202020204" pitchFamily="34" charset="0"/>
                <a:cs typeface="Arial" panose="020B0604020202020204" pitchFamily="34" charset="0"/>
              </a:rPr>
              <a:t>Challenge I:</a:t>
            </a:r>
          </a:p>
          <a:p>
            <a:pPr marL="0" indent="0">
              <a:buFont typeface="Wingdings" pitchFamily="2" charset="2"/>
              <a:buNone/>
            </a:pPr>
            <a:endParaRPr lang="en-US" altLang="en-US" sz="2400" dirty="0">
              <a:latin typeface="Arial" panose="020B0604020202020204" pitchFamily="34" charset="0"/>
              <a:cs typeface="Arial" panose="020B0604020202020204" pitchFamily="34" charset="0"/>
            </a:endParaRPr>
          </a:p>
          <a:p>
            <a:pPr marL="0" indent="0">
              <a:buFont typeface="Wingdings" pitchFamily="2" charset="2"/>
              <a:buNone/>
            </a:pPr>
            <a:r>
              <a:rPr lang="en-US" altLang="en-US" sz="2400" dirty="0">
                <a:latin typeface="Arial" panose="020B0604020202020204" pitchFamily="34" charset="0"/>
                <a:cs typeface="Arial" panose="020B0604020202020204" pitchFamily="34" charset="0"/>
              </a:rPr>
              <a:t>Valid and efficient clustered randomization, stratified or not, when the number of observations, here pregnancies, within cluster, here ward, varies by two orders of magnitude</a:t>
            </a:r>
          </a:p>
          <a:p>
            <a:pPr marL="0" indent="0">
              <a:buFont typeface="Wingdings" pitchFamily="2" charset="2"/>
              <a:buNone/>
            </a:pPr>
            <a:endParaRPr lang="en-US" altLang="en-US" sz="2400" dirty="0">
              <a:latin typeface="Arial" panose="020B0604020202020204" pitchFamily="34" charset="0"/>
              <a:cs typeface="Arial" panose="020B0604020202020204" pitchFamily="34" charset="0"/>
            </a:endParaRPr>
          </a:p>
          <a:p>
            <a:pPr marL="400050" lvl="1" indent="0">
              <a:buFontTx/>
              <a:buNone/>
            </a:pPr>
            <a:r>
              <a:rPr lang="en-US" altLang="en-US" sz="2400" dirty="0">
                <a:latin typeface="Arial" panose="020B0604020202020204" pitchFamily="34" charset="0"/>
                <a:cs typeface="Arial" panose="020B0604020202020204" pitchFamily="34" charset="0"/>
              </a:rPr>
              <a:t>Three strata: Wards with 1 or more military hospitals / If not, 1 or more high level facilities / Otherwise, Standard facilities</a:t>
            </a:r>
          </a:p>
        </p:txBody>
      </p:sp>
      <p:sp>
        <p:nvSpPr>
          <p:cNvPr id="2" name="Footer Placeholder 1">
            <a:extLst>
              <a:ext uri="{FF2B5EF4-FFF2-40B4-BE49-F238E27FC236}">
                <a16:creationId xmlns:a16="http://schemas.microsoft.com/office/drawing/2014/main" id="{C300CE8E-AB10-9F47-9B48-838A64BEFDE9}"/>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72A8E9C9-E90C-33F5-1D22-B89722E4231E}"/>
              </a:ext>
            </a:extLst>
          </p:cNvPr>
          <p:cNvSpPr>
            <a:spLocks noGrp="1"/>
          </p:cNvSpPr>
          <p:nvPr>
            <p:ph type="sldNum" sz="quarter" idx="12"/>
          </p:nvPr>
        </p:nvSpPr>
        <p:spPr/>
        <p:txBody>
          <a:bodyPr/>
          <a:lstStyle/>
          <a:p>
            <a:fld id="{77C6A7FE-225D-49F1-B302-AA37EA92BB49}" type="slidenum">
              <a:rPr lang="en-US" smtClean="0"/>
              <a:t>10</a:t>
            </a:fld>
            <a:endParaRPr lang="en-US"/>
          </a:p>
        </p:txBody>
      </p:sp>
    </p:spTree>
    <p:extLst>
      <p:ext uri="{BB962C8B-B14F-4D97-AF65-F5344CB8AC3E}">
        <p14:creationId xmlns:p14="http://schemas.microsoft.com/office/powerpoint/2010/main" val="2216478644"/>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11924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Familia Salama variation in cluster size</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graphicFrame>
        <p:nvGraphicFramePr>
          <p:cNvPr id="7" name="Table 6">
            <a:extLst>
              <a:ext uri="{FF2B5EF4-FFF2-40B4-BE49-F238E27FC236}">
                <a16:creationId xmlns:a16="http://schemas.microsoft.com/office/drawing/2014/main" id="{B5B9F70E-756F-4E0D-AFDF-0329A525E9FE}"/>
              </a:ext>
            </a:extLst>
          </p:cNvPr>
          <p:cNvGraphicFramePr>
            <a:graphicFrameLocks noGrp="1"/>
          </p:cNvGraphicFramePr>
          <p:nvPr>
            <p:extLst>
              <p:ext uri="{D42A27DB-BD31-4B8C-83A1-F6EECF244321}">
                <p14:modId xmlns:p14="http://schemas.microsoft.com/office/powerpoint/2010/main" val="1961837206"/>
              </p:ext>
            </p:extLst>
          </p:nvPr>
        </p:nvGraphicFramePr>
        <p:xfrm>
          <a:off x="8254321" y="1253325"/>
          <a:ext cx="3846835" cy="4302750"/>
        </p:xfrm>
        <a:graphic>
          <a:graphicData uri="http://schemas.openxmlformats.org/drawingml/2006/table">
            <a:tbl>
              <a:tblPr>
                <a:tableStyleId>{5C22544A-7EE6-4342-B048-85BDC9FD1C3A}</a:tableStyleId>
              </a:tblPr>
              <a:tblGrid>
                <a:gridCol w="1040537">
                  <a:extLst>
                    <a:ext uri="{9D8B030D-6E8A-4147-A177-3AD203B41FA5}">
                      <a16:colId xmlns:a16="http://schemas.microsoft.com/office/drawing/2014/main" val="3539176533"/>
                    </a:ext>
                  </a:extLst>
                </a:gridCol>
                <a:gridCol w="1166663">
                  <a:extLst>
                    <a:ext uri="{9D8B030D-6E8A-4147-A177-3AD203B41FA5}">
                      <a16:colId xmlns:a16="http://schemas.microsoft.com/office/drawing/2014/main" val="2602704495"/>
                    </a:ext>
                  </a:extLst>
                </a:gridCol>
                <a:gridCol w="567566">
                  <a:extLst>
                    <a:ext uri="{9D8B030D-6E8A-4147-A177-3AD203B41FA5}">
                      <a16:colId xmlns:a16="http://schemas.microsoft.com/office/drawing/2014/main" val="2410436494"/>
                    </a:ext>
                  </a:extLst>
                </a:gridCol>
                <a:gridCol w="599097">
                  <a:extLst>
                    <a:ext uri="{9D8B030D-6E8A-4147-A177-3AD203B41FA5}">
                      <a16:colId xmlns:a16="http://schemas.microsoft.com/office/drawing/2014/main" val="4277509210"/>
                    </a:ext>
                  </a:extLst>
                </a:gridCol>
                <a:gridCol w="472972">
                  <a:extLst>
                    <a:ext uri="{9D8B030D-6E8A-4147-A177-3AD203B41FA5}">
                      <a16:colId xmlns:a16="http://schemas.microsoft.com/office/drawing/2014/main" val="844500173"/>
                    </a:ext>
                  </a:extLst>
                </a:gridCol>
              </a:tblGrid>
              <a:tr h="137825">
                <a:tc>
                  <a:txBody>
                    <a:bodyPr/>
                    <a:lstStyle/>
                    <a:p>
                      <a:pPr marL="0" marR="0">
                        <a:lnSpc>
                          <a:spcPct val="107000"/>
                        </a:lnSpc>
                        <a:spcBef>
                          <a:spcPts val="0"/>
                        </a:spcBef>
                        <a:spcAft>
                          <a:spcPts val="800"/>
                        </a:spcAft>
                      </a:pPr>
                      <a:r>
                        <a:rPr lang="en-US" sz="900" b="1" dirty="0">
                          <a:effectLst/>
                        </a:rPr>
                        <a:t>DISTRICT</a:t>
                      </a:r>
                      <a:endParaRPr lang="en-US" sz="900" b="1" dirty="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b="1">
                          <a:effectLst/>
                        </a:rPr>
                        <a:t>WARD</a:t>
                      </a:r>
                      <a:endParaRPr lang="en-US" sz="900" b="1">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b="1">
                          <a:effectLst/>
                        </a:rPr>
                        <a:t>pmtct</a:t>
                      </a:r>
                      <a:endParaRPr lang="en-US" sz="900" b="1">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b="1">
                          <a:effectLst/>
                        </a:rPr>
                        <a:t>chw</a:t>
                      </a:r>
                      <a:endParaRPr lang="en-US" sz="900" b="1">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b="1" dirty="0">
                          <a:effectLst/>
                        </a:rPr>
                        <a:t>NPREG</a:t>
                      </a:r>
                      <a:endParaRPr lang="en-US" sz="900" b="1" dirty="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462529031"/>
                  </a:ext>
                </a:extLst>
              </a:tr>
              <a:tr h="137825">
                <a:tc>
                  <a:txBody>
                    <a:bodyPr/>
                    <a:lstStyle/>
                    <a:p>
                      <a:pPr marL="0" marR="0">
                        <a:lnSpc>
                          <a:spcPct val="107000"/>
                        </a:lnSpc>
                        <a:spcBef>
                          <a:spcPts val="0"/>
                        </a:spcBef>
                        <a:spcAft>
                          <a:spcPts val="800"/>
                        </a:spcAft>
                      </a:pPr>
                      <a:r>
                        <a:rPr lang="en-US" sz="900" dirty="0">
                          <a:effectLst/>
                        </a:rPr>
                        <a:t>ILALA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BUGURUNI</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SoC</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398</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2546946315"/>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CHANIKA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B</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CHW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98</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412096554"/>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GEREZANI</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B</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SoC</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37</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234452646"/>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GONGO LA MBOTO</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B</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CHW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165</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4191651729"/>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CHW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220</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3370663296"/>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JANGWANI</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B</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CHW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39</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2578617150"/>
                  </a:ext>
                </a:extLst>
              </a:tr>
              <a:tr h="137825">
                <a:tc>
                  <a:txBody>
                    <a:bodyPr/>
                    <a:lstStyle/>
                    <a:p>
                      <a:pPr marL="0" marR="0">
                        <a:lnSpc>
                          <a:spcPct val="107000"/>
                        </a:lnSpc>
                        <a:spcBef>
                          <a:spcPts val="0"/>
                        </a:spcBef>
                        <a:spcAft>
                          <a:spcPts val="800"/>
                        </a:spcAft>
                      </a:pPr>
                      <a:r>
                        <a:rPr lang="en-US" sz="900" dirty="0">
                          <a:effectLst/>
                        </a:rPr>
                        <a:t>ILALA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KARIAKOO</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CHW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7</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545950798"/>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KIMANGA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B</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SoC</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79</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3038779598"/>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KINYEREZI</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SoC</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50</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410349174"/>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KIPAWA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CHW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105</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3420991234"/>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KISUTU</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B</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CHW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75</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556064498"/>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KITUNDA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B</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CHW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140</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3127985027"/>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KIVUKONI</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B</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CHW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154</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2773319236"/>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KIVULE</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CHW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94</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1564189127"/>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KIWALANI</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B</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SoC</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397</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2039522067"/>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MAJOHE</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B</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CHW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118</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641071762"/>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MCHAFUKOGE</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SoC</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527</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3385430529"/>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MCHIKICHINI</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SoC</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0</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155263536"/>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MSONGOLA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B</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SoC</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77</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842488116"/>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PUGU</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B</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CHW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72</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1872425229"/>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dirty="0">
                          <a:effectLst/>
                        </a:rPr>
                        <a:t>SEGEREA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B</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SoC</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137</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2866986349"/>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TABATA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CHW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247</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2876352576"/>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UKONGA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SoC</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275</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502342262"/>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UPANGA EAST</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CHW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40</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2676088897"/>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UPANGA WEST</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B</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SoC</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498</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1733421945"/>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VINGUNGUTI</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B</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CHW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164</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2980405161"/>
                  </a:ext>
                </a:extLst>
              </a:tr>
              <a:tr h="137825">
                <a:tc>
                  <a:txBody>
                    <a:bodyPr/>
                    <a:lstStyle/>
                    <a:p>
                      <a:pPr>
                        <a:lnSpc>
                          <a:spcPct val="107000"/>
                        </a:lnSpc>
                      </a:pPr>
                      <a:endParaRPr lang="en-US" sz="900">
                        <a:effectLst/>
                        <a:latin typeface="Calibri" panose="020F0502020204030204" pitchFamily="34" charset="0"/>
                        <a:cs typeface="Times New Roman" panose="02020603050405020304" pitchFamily="18" charset="0"/>
                      </a:endParaRPr>
                    </a:p>
                  </a:txBody>
                  <a:tcPr marL="3153" marR="3153" marT="3153" marB="0" anchor="b"/>
                </a:tc>
                <a:tc>
                  <a:txBody>
                    <a:bodyPr/>
                    <a:lstStyle/>
                    <a:p>
                      <a:pPr>
                        <a:lnSpc>
                          <a:spcPct val="107000"/>
                        </a:lnSpc>
                      </a:pPr>
                      <a:endParaRPr lang="en-US" sz="900">
                        <a:effectLst/>
                        <a:latin typeface="Calibri" panose="020F0502020204030204" pitchFamily="34" charset="0"/>
                        <a:cs typeface="Times New Roman" panose="02020603050405020304" pitchFamily="18" charset="0"/>
                      </a:endParaRPr>
                    </a:p>
                  </a:txBody>
                  <a:tcPr marL="3153" marR="3153" marT="3153" marB="0" anchor="b"/>
                </a:tc>
                <a:tc>
                  <a:txBody>
                    <a:bodyPr/>
                    <a:lstStyle/>
                    <a:p>
                      <a:pPr>
                        <a:lnSpc>
                          <a:spcPct val="107000"/>
                        </a:lnSpc>
                      </a:pPr>
                      <a:endParaRPr lang="en-US" sz="900">
                        <a:effectLst/>
                        <a:latin typeface="Calibri" panose="020F0502020204030204" pitchFamily="34" charset="0"/>
                        <a:cs typeface="Times New Roman" panose="02020603050405020304" pitchFamily="18" charset="0"/>
                      </a:endParaRPr>
                    </a:p>
                  </a:txBody>
                  <a:tcPr marL="3153" marR="3153" marT="3153" marB="0" anchor="b"/>
                </a:tc>
                <a:tc>
                  <a:txBody>
                    <a:bodyPr/>
                    <a:lstStyle/>
                    <a:p>
                      <a:pPr>
                        <a:lnSpc>
                          <a:spcPct val="107000"/>
                        </a:lnSpc>
                      </a:pPr>
                      <a:endParaRPr lang="en-US" sz="900">
                        <a:effectLst/>
                        <a:latin typeface="Calibri" panose="020F0502020204030204" pitchFamily="34" charset="0"/>
                        <a:cs typeface="Times New Roman" panose="02020603050405020304" pitchFamily="18" charset="0"/>
                      </a:endParaRPr>
                    </a:p>
                  </a:txBody>
                  <a:tcPr marL="3153" marR="3153" marT="3153" marB="0" anchor="b"/>
                </a:tc>
                <a:tc>
                  <a:txBody>
                    <a:bodyPr/>
                    <a:lstStyle/>
                    <a:p>
                      <a:pPr>
                        <a:lnSpc>
                          <a:spcPct val="107000"/>
                        </a:lnSpc>
                      </a:pPr>
                      <a:endParaRPr lang="en-US" sz="900">
                        <a:effectLst/>
                        <a:latin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4077336848"/>
                  </a:ext>
                </a:extLst>
              </a:tr>
              <a:tr h="137825">
                <a:tc>
                  <a:txBody>
                    <a:bodyPr/>
                    <a:lstStyle/>
                    <a:p>
                      <a:pPr>
                        <a:lnSpc>
                          <a:spcPct val="107000"/>
                        </a:lnSpc>
                      </a:pPr>
                      <a:endParaRPr lang="en-US" sz="900">
                        <a:effectLst/>
                        <a:latin typeface="Calibri" panose="020F0502020204030204" pitchFamily="34" charset="0"/>
                        <a:cs typeface="Times New Roman" panose="02020603050405020304" pitchFamily="18" charset="0"/>
                      </a:endParaRPr>
                    </a:p>
                  </a:txBody>
                  <a:tcPr marL="3153" marR="3153" marT="3153" marB="0" anchor="b"/>
                </a:tc>
                <a:tc>
                  <a:txBody>
                    <a:bodyPr/>
                    <a:lstStyle/>
                    <a:p>
                      <a:pPr>
                        <a:lnSpc>
                          <a:spcPct val="107000"/>
                        </a:lnSpc>
                      </a:pPr>
                      <a:endParaRPr lang="en-US" sz="900">
                        <a:effectLst/>
                        <a:latin typeface="Calibri" panose="020F0502020204030204" pitchFamily="34" charset="0"/>
                        <a:cs typeface="Times New Roman" panose="02020603050405020304" pitchFamily="18" charset="0"/>
                      </a:endParaRPr>
                    </a:p>
                  </a:txBody>
                  <a:tcPr marL="3153" marR="3153" marT="3153" marB="0" anchor="b"/>
                </a:tc>
                <a:tc>
                  <a:txBody>
                    <a:bodyPr/>
                    <a:lstStyle/>
                    <a:p>
                      <a:pPr>
                        <a:lnSpc>
                          <a:spcPct val="107000"/>
                        </a:lnSpc>
                      </a:pPr>
                      <a:endParaRPr lang="en-US" sz="900">
                        <a:effectLst/>
                        <a:latin typeface="Calibri" panose="020F0502020204030204" pitchFamily="34" charset="0"/>
                        <a:cs typeface="Times New Roman" panose="02020603050405020304" pitchFamily="18" charset="0"/>
                      </a:endParaRPr>
                    </a:p>
                  </a:txBody>
                  <a:tcPr marL="3153" marR="3153" marT="3153" marB="0" anchor="b"/>
                </a:tc>
                <a:tc>
                  <a:txBody>
                    <a:bodyPr/>
                    <a:lstStyle/>
                    <a:p>
                      <a:pPr>
                        <a:lnSpc>
                          <a:spcPct val="107000"/>
                        </a:lnSpc>
                      </a:pPr>
                      <a:endParaRPr lang="en-US" sz="900">
                        <a:effectLst/>
                        <a:latin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137.7097</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73765246"/>
                  </a:ext>
                </a:extLst>
              </a:tr>
              <a:tr h="137825">
                <a:tc>
                  <a:txBody>
                    <a:bodyPr/>
                    <a:lstStyle/>
                    <a:p>
                      <a:pPr>
                        <a:lnSpc>
                          <a:spcPct val="107000"/>
                        </a:lnSpc>
                      </a:pPr>
                      <a:endParaRPr lang="en-US" sz="900">
                        <a:effectLst/>
                        <a:latin typeface="Calibri" panose="020F0502020204030204" pitchFamily="34" charset="0"/>
                        <a:cs typeface="Times New Roman" panose="02020603050405020304" pitchFamily="18" charset="0"/>
                      </a:endParaRPr>
                    </a:p>
                  </a:txBody>
                  <a:tcPr marL="3153" marR="3153" marT="3153" marB="0" anchor="b"/>
                </a:tc>
                <a:tc>
                  <a:txBody>
                    <a:bodyPr/>
                    <a:lstStyle/>
                    <a:p>
                      <a:pPr>
                        <a:lnSpc>
                          <a:spcPct val="107000"/>
                        </a:lnSpc>
                      </a:pPr>
                      <a:endParaRPr lang="en-US" sz="900">
                        <a:effectLst/>
                        <a:latin typeface="Calibri" panose="020F0502020204030204" pitchFamily="34" charset="0"/>
                        <a:cs typeface="Times New Roman" panose="02020603050405020304" pitchFamily="18" charset="0"/>
                      </a:endParaRPr>
                    </a:p>
                  </a:txBody>
                  <a:tcPr marL="3153" marR="3153" marT="3153" marB="0" anchor="b"/>
                </a:tc>
                <a:tc>
                  <a:txBody>
                    <a:bodyPr/>
                    <a:lstStyle/>
                    <a:p>
                      <a:pPr>
                        <a:lnSpc>
                          <a:spcPct val="107000"/>
                        </a:lnSpc>
                      </a:pPr>
                      <a:endParaRPr lang="en-US" sz="900">
                        <a:effectLst/>
                        <a:latin typeface="Calibri" panose="020F0502020204030204" pitchFamily="34" charset="0"/>
                        <a:cs typeface="Times New Roman" panose="02020603050405020304" pitchFamily="18" charset="0"/>
                      </a:endParaRPr>
                    </a:p>
                  </a:txBody>
                  <a:tcPr marL="3153" marR="3153" marT="3153" marB="0" anchor="b"/>
                </a:tc>
                <a:tc>
                  <a:txBody>
                    <a:bodyPr/>
                    <a:lstStyle/>
                    <a:p>
                      <a:pPr>
                        <a:lnSpc>
                          <a:spcPct val="107000"/>
                        </a:lnSpc>
                      </a:pPr>
                      <a:endParaRPr lang="en-US" sz="900">
                        <a:effectLst/>
                        <a:latin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dirty="0">
                          <a:effectLst/>
                        </a:rPr>
                        <a:t>131.4348</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3065808297"/>
                  </a:ext>
                </a:extLst>
              </a:tr>
            </a:tbl>
          </a:graphicData>
        </a:graphic>
      </p:graphicFrame>
      <p:graphicFrame>
        <p:nvGraphicFramePr>
          <p:cNvPr id="8" name="Table 7">
            <a:extLst>
              <a:ext uri="{FF2B5EF4-FFF2-40B4-BE49-F238E27FC236}">
                <a16:creationId xmlns:a16="http://schemas.microsoft.com/office/drawing/2014/main" id="{DED4902F-1743-4F52-9CC3-8EE77A1EFDA7}"/>
              </a:ext>
            </a:extLst>
          </p:cNvPr>
          <p:cNvGraphicFramePr>
            <a:graphicFrameLocks noGrp="1"/>
          </p:cNvGraphicFramePr>
          <p:nvPr>
            <p:extLst>
              <p:ext uri="{D42A27DB-BD31-4B8C-83A1-F6EECF244321}">
                <p14:modId xmlns:p14="http://schemas.microsoft.com/office/powerpoint/2010/main" val="243785565"/>
              </p:ext>
            </p:extLst>
          </p:nvPr>
        </p:nvGraphicFramePr>
        <p:xfrm>
          <a:off x="4045153" y="1169465"/>
          <a:ext cx="3692834" cy="5507228"/>
        </p:xfrm>
        <a:graphic>
          <a:graphicData uri="http://schemas.openxmlformats.org/drawingml/2006/table">
            <a:tbl>
              <a:tblPr>
                <a:tableStyleId>{5C22544A-7EE6-4342-B048-85BDC9FD1C3A}</a:tableStyleId>
              </a:tblPr>
              <a:tblGrid>
                <a:gridCol w="998881">
                  <a:extLst>
                    <a:ext uri="{9D8B030D-6E8A-4147-A177-3AD203B41FA5}">
                      <a16:colId xmlns:a16="http://schemas.microsoft.com/office/drawing/2014/main" val="2461388110"/>
                    </a:ext>
                  </a:extLst>
                </a:gridCol>
                <a:gridCol w="1119958">
                  <a:extLst>
                    <a:ext uri="{9D8B030D-6E8A-4147-A177-3AD203B41FA5}">
                      <a16:colId xmlns:a16="http://schemas.microsoft.com/office/drawing/2014/main" val="3018915107"/>
                    </a:ext>
                  </a:extLst>
                </a:gridCol>
                <a:gridCol w="544844">
                  <a:extLst>
                    <a:ext uri="{9D8B030D-6E8A-4147-A177-3AD203B41FA5}">
                      <a16:colId xmlns:a16="http://schemas.microsoft.com/office/drawing/2014/main" val="1504623973"/>
                    </a:ext>
                  </a:extLst>
                </a:gridCol>
                <a:gridCol w="575114">
                  <a:extLst>
                    <a:ext uri="{9D8B030D-6E8A-4147-A177-3AD203B41FA5}">
                      <a16:colId xmlns:a16="http://schemas.microsoft.com/office/drawing/2014/main" val="2055096607"/>
                    </a:ext>
                  </a:extLst>
                </a:gridCol>
                <a:gridCol w="454037">
                  <a:extLst>
                    <a:ext uri="{9D8B030D-6E8A-4147-A177-3AD203B41FA5}">
                      <a16:colId xmlns:a16="http://schemas.microsoft.com/office/drawing/2014/main" val="2675139326"/>
                    </a:ext>
                  </a:extLst>
                </a:gridCol>
              </a:tblGrid>
              <a:tr h="148844">
                <a:tc>
                  <a:txBody>
                    <a:bodyPr/>
                    <a:lstStyle/>
                    <a:p>
                      <a:pPr marL="0" marR="0">
                        <a:lnSpc>
                          <a:spcPct val="107000"/>
                        </a:lnSpc>
                        <a:spcBef>
                          <a:spcPts val="0"/>
                        </a:spcBef>
                        <a:spcAft>
                          <a:spcPts val="800"/>
                        </a:spcAft>
                      </a:pPr>
                      <a:r>
                        <a:rPr lang="en-US" sz="700" b="1" dirty="0">
                          <a:effectLst/>
                        </a:rPr>
                        <a:t>DISTRICT</a:t>
                      </a:r>
                      <a:endParaRPr lang="en-US" sz="700" b="1" dirty="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b="1">
                          <a:effectLst/>
                        </a:rPr>
                        <a:t>WARD</a:t>
                      </a:r>
                      <a:endParaRPr lang="en-US" sz="700" b="1">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b="1">
                          <a:effectLst/>
                        </a:rPr>
                        <a:t>pmtct</a:t>
                      </a:r>
                      <a:endParaRPr lang="en-US" sz="700" b="1">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b="1">
                          <a:effectLst/>
                        </a:rPr>
                        <a:t>chw</a:t>
                      </a:r>
                      <a:endParaRPr lang="en-US" sz="700" b="1">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b="1" dirty="0">
                          <a:effectLst/>
                        </a:rPr>
                        <a:t>NPREG</a:t>
                      </a:r>
                      <a:endParaRPr lang="en-US" sz="700" b="1" dirty="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345312646"/>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BUNJU</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131</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3921885314"/>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GOBA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50</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2850559006"/>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HANANASIF</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56</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3918758983"/>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KAWE</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168</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1813895705"/>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KIBAMBA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229</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4101685865"/>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KIGOGO</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SoC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144</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4156875178"/>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KIJITONYAMA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SoC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153</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3598320056"/>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KIMARA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SoC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18</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1395352796"/>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SoC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20</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2226584070"/>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KUNDUCHI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SoC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310</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1951985712"/>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KWEMBE</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SoC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42</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3685188148"/>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KWEZI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0</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1299438541"/>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MABIBO</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49</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1349741169"/>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MABWEPANDE</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SoC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27</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1550337555"/>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MAKONGO</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SoC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10</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3746912857"/>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MAKONGO JUU</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SoC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272</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2219197627"/>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MAKUBURI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93</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1020850720"/>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MAKUMBUSHO</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SoC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39</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739832420"/>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MAKURUMLA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212</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159932786"/>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dirty="0">
                          <a:effectLst/>
                        </a:rPr>
                        <a:t>MANZESE</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SoC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57</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1286720101"/>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MAVURUNZA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SoC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28</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547228973"/>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MBEZI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207</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1095592551"/>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MBEZI JUU</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SoC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125</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31198532"/>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dirty="0">
                          <a:effectLst/>
                        </a:rPr>
                        <a:t>MBURAHATI</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8</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3907068110"/>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MBWENI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50</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2101464344"/>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MIKOCHENI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86</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3196540747"/>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MSASANI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166</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1355897027"/>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MSIGANI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SoC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0</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3704496123"/>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MWANANYAMALA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62</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4104940333"/>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MZIMUNI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30</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4155346217"/>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NDUGUMBI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SoC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360</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2515124496"/>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SALANGA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247</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2333637005"/>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SINZA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SoC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540</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3110912642"/>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TANDALE</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193</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760134302"/>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UBUNGO</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81</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3960392252"/>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WAZO</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dirty="0">
                          <a:effectLst/>
                        </a:rPr>
                        <a:t>62</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4056154352"/>
                  </a:ext>
                </a:extLst>
              </a:tr>
            </a:tbl>
          </a:graphicData>
        </a:graphic>
      </p:graphicFrame>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EF87BA4-3F40-4695-82B8-39588A61CF29}"/>
                  </a:ext>
                </a:extLst>
              </p:cNvPr>
              <p:cNvSpPr txBox="1"/>
              <p:nvPr/>
            </p:nvSpPr>
            <p:spPr>
              <a:xfrm>
                <a:off x="90844" y="1465456"/>
                <a:ext cx="3411794" cy="1720727"/>
              </a:xfrm>
              <a:prstGeom prst="rect">
                <a:avLst/>
              </a:prstGeom>
              <a:noFill/>
            </p:spPr>
            <p:txBody>
              <a:bodyPr wrap="square">
                <a:spAutoFit/>
              </a:bodyPr>
              <a:lstStyle/>
              <a:p>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a:rPr>
                          <m:t>𝑚</m:t>
                        </m:r>
                      </m:e>
                    </m:acc>
                    <m:r>
                      <a:rPr lang="en-US" b="0" i="1" smtClean="0">
                        <a:latin typeface="Cambria Math"/>
                      </a:rPr>
                      <m:t>=137</m:t>
                    </m:r>
                  </m:oMath>
                </a14:m>
                <a:r>
                  <a:rPr lang="en-US" b="0" dirty="0"/>
                  <a:t>, average cluster size, pregnancies/month</a:t>
                </a:r>
              </a:p>
              <a:p>
                <a:endParaRPr lang="en-US" b="0" dirty="0"/>
              </a:p>
              <a:p>
                <a14:m>
                  <m:oMath xmlns:m="http://schemas.openxmlformats.org/officeDocument/2006/math">
                    <m:r>
                      <a:rPr lang="en-US" b="0" i="1" smtClean="0">
                        <a:latin typeface="Cambria Math"/>
                      </a:rPr>
                      <m:t>𝑆𝐷</m:t>
                    </m:r>
                    <m:r>
                      <a:rPr lang="en-US" b="0" i="1" smtClean="0">
                        <a:latin typeface="Cambria Math"/>
                      </a:rPr>
                      <m:t>=131</m:t>
                    </m:r>
                  </m:oMath>
                </a14:m>
                <a:r>
                  <a:rPr lang="en-US" b="0" dirty="0"/>
                  <a:t> of the cluster sizes</a:t>
                </a:r>
              </a:p>
              <a:p>
                <a:pPr/>
                <a14:m>
                  <m:oMathPara xmlns:m="http://schemas.openxmlformats.org/officeDocument/2006/math">
                    <m:oMathParaPr>
                      <m:jc m:val="centerGroup"/>
                    </m:oMathParaPr>
                    <m:oMath xmlns:m="http://schemas.openxmlformats.org/officeDocument/2006/math">
                      <m:r>
                        <a:rPr lang="en-US" b="0" i="1" smtClean="0">
                          <a:latin typeface="Cambria Math"/>
                        </a:rPr>
                        <m:t>𝐶𝑉</m:t>
                      </m:r>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𝑆𝐷</m:t>
                          </m:r>
                        </m:num>
                        <m:den>
                          <m:acc>
                            <m:accPr>
                              <m:chr m:val="̅"/>
                              <m:ctrlPr>
                                <a:rPr lang="en-US" i="1">
                                  <a:latin typeface="Cambria Math" panose="02040503050406030204" pitchFamily="18" charset="0"/>
                                </a:rPr>
                              </m:ctrlPr>
                            </m:accPr>
                            <m:e>
                              <m:r>
                                <a:rPr lang="en-US" i="1">
                                  <a:latin typeface="Cambria Math"/>
                                </a:rPr>
                                <m:t>𝑚</m:t>
                              </m:r>
                            </m:e>
                          </m:acc>
                        </m:den>
                      </m:f>
                      <m:r>
                        <a:rPr lang="en-US" b="0" i="1" smtClean="0">
                          <a:latin typeface="Cambria Math" panose="02040503050406030204" pitchFamily="18" charset="0"/>
                        </a:rPr>
                        <m:t>=</m:t>
                      </m:r>
                      <m:r>
                        <a:rPr lang="en-US" b="0" i="1" smtClean="0">
                          <a:latin typeface="Cambria Math"/>
                        </a:rPr>
                        <m:t>0.96</m:t>
                      </m:r>
                    </m:oMath>
                  </m:oMathPara>
                </a14:m>
                <a:endParaRPr lang="en-US" b="0" dirty="0"/>
              </a:p>
            </p:txBody>
          </p:sp>
        </mc:Choice>
        <mc:Fallback xmlns="">
          <p:sp>
            <p:nvSpPr>
              <p:cNvPr id="10" name="TextBox 9">
                <a:extLst>
                  <a:ext uri="{FF2B5EF4-FFF2-40B4-BE49-F238E27FC236}">
                    <a16:creationId xmlns:a16="http://schemas.microsoft.com/office/drawing/2014/main" id="{BEF87BA4-3F40-4695-82B8-39588A61CF29}"/>
                  </a:ext>
                </a:extLst>
              </p:cNvPr>
              <p:cNvSpPr txBox="1">
                <a:spLocks noRot="1" noChangeAspect="1" noMove="1" noResize="1" noEditPoints="1" noAdjustHandles="1" noChangeArrowheads="1" noChangeShapeType="1" noTextEdit="1"/>
              </p:cNvSpPr>
              <p:nvPr/>
            </p:nvSpPr>
            <p:spPr>
              <a:xfrm>
                <a:off x="90844" y="1465456"/>
                <a:ext cx="3411794" cy="1720727"/>
              </a:xfrm>
              <a:prstGeom prst="rect">
                <a:avLst/>
              </a:prstGeom>
              <a:blipFill>
                <a:blip r:embed="rId4"/>
                <a:stretch>
                  <a:fillRect l="-1607" t="-1767"/>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04AC5783-6A74-9559-6E28-E17442B1D42D}"/>
              </a:ext>
            </a:extLst>
          </p:cNvPr>
          <p:cNvSpPr>
            <a:spLocks noGrp="1"/>
          </p:cNvSpPr>
          <p:nvPr>
            <p:ph type="sldNum" sz="quarter" idx="12"/>
          </p:nvPr>
        </p:nvSpPr>
        <p:spPr/>
        <p:txBody>
          <a:bodyPr/>
          <a:lstStyle/>
          <a:p>
            <a:fld id="{77C6A7FE-225D-49F1-B302-AA37EA92BB49}" type="slidenum">
              <a:rPr lang="en-US" smtClean="0"/>
              <a:t>11</a:t>
            </a:fld>
            <a:endParaRPr lang="en-US"/>
          </a:p>
        </p:txBody>
      </p:sp>
    </p:spTree>
    <p:extLst>
      <p:ext uri="{BB962C8B-B14F-4D97-AF65-F5344CB8AC3E}">
        <p14:creationId xmlns:p14="http://schemas.microsoft.com/office/powerpoint/2010/main" val="3547781256"/>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30"/>
            <a:ext cx="12192000" cy="1620687"/>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Methodologic challenge 2: estimation and inference for causal effects of treatment</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5" name="TextBox 4">
            <a:extLst>
              <a:ext uri="{FF2B5EF4-FFF2-40B4-BE49-F238E27FC236}">
                <a16:creationId xmlns:a16="http://schemas.microsoft.com/office/drawing/2014/main" id="{9596946E-C851-49A9-B5BC-A62BFC2D8EDE}"/>
              </a:ext>
            </a:extLst>
          </p:cNvPr>
          <p:cNvSpPr txBox="1"/>
          <p:nvPr/>
        </p:nvSpPr>
        <p:spPr>
          <a:xfrm>
            <a:off x="875070" y="2037923"/>
            <a:ext cx="9603743" cy="2408352"/>
          </a:xfrm>
          <a:prstGeom prst="rect">
            <a:avLst/>
          </a:prstGeom>
          <a:noFill/>
        </p:spPr>
        <p:txBody>
          <a:bodyPr wrap="square">
            <a:spAutoFit/>
          </a:bodyPr>
          <a:lstStyle/>
          <a:p>
            <a:pPr marL="342900" indent="-342900">
              <a:spcAft>
                <a:spcPts val="900"/>
              </a:spcAft>
              <a:buFont typeface="Arial" panose="020B0604020202020204" pitchFamily="34" charset="0"/>
              <a:buChar char="•"/>
            </a:pPr>
            <a:r>
              <a:rPr lang="en-US" altLang="en-US" sz="3200" dirty="0"/>
              <a:t>Contamination of intervention status between wards</a:t>
            </a:r>
          </a:p>
          <a:p>
            <a:pPr marL="342900" indent="-342900">
              <a:spcAft>
                <a:spcPts val="900"/>
              </a:spcAft>
              <a:buFont typeface="Arial" panose="020B0604020202020204" pitchFamily="34" charset="0"/>
              <a:buChar char="•"/>
            </a:pPr>
            <a:r>
              <a:rPr lang="en-US" altLang="en-US" sz="3200" dirty="0"/>
              <a:t>Non-compliance on the individual and ward level</a:t>
            </a:r>
          </a:p>
          <a:p>
            <a:pPr marL="342900" indent="-342900">
              <a:spcAft>
                <a:spcPts val="900"/>
              </a:spcAft>
              <a:buFont typeface="Arial" panose="020B0604020202020204" pitchFamily="34" charset="0"/>
              <a:buChar char="•"/>
            </a:pPr>
            <a:r>
              <a:rPr lang="en-US" altLang="en-US" sz="3200" dirty="0"/>
              <a:t>Possibly non-random loss to follow-up</a:t>
            </a:r>
          </a:p>
          <a:p>
            <a:pPr marL="342900" indent="-342900">
              <a:spcAft>
                <a:spcPts val="900"/>
              </a:spcAft>
              <a:buFont typeface="Arial" panose="020B0604020202020204" pitchFamily="34" charset="0"/>
              <a:buChar char="•"/>
            </a:pPr>
            <a:r>
              <a:rPr lang="en-US" altLang="en-US" sz="3200" dirty="0"/>
              <a:t>Risk factor imbalances by treatment arms</a:t>
            </a:r>
          </a:p>
        </p:txBody>
      </p:sp>
      <p:sp>
        <p:nvSpPr>
          <p:cNvPr id="2" name="Footer Placeholder 1">
            <a:extLst>
              <a:ext uri="{FF2B5EF4-FFF2-40B4-BE49-F238E27FC236}">
                <a16:creationId xmlns:a16="http://schemas.microsoft.com/office/drawing/2014/main" id="{916E57E4-CEDB-024F-9596-91C5D56175F1}"/>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F5A27F77-32D7-B788-BFCE-D6E6F65C5877}"/>
              </a:ext>
            </a:extLst>
          </p:cNvPr>
          <p:cNvSpPr>
            <a:spLocks noGrp="1"/>
          </p:cNvSpPr>
          <p:nvPr>
            <p:ph type="sldNum" sz="quarter" idx="12"/>
          </p:nvPr>
        </p:nvSpPr>
        <p:spPr/>
        <p:txBody>
          <a:bodyPr/>
          <a:lstStyle/>
          <a:p>
            <a:fld id="{77C6A7FE-225D-49F1-B302-AA37EA92BB49}" type="slidenum">
              <a:rPr lang="en-US" smtClean="0"/>
              <a:t>12</a:t>
            </a:fld>
            <a:endParaRPr lang="en-US"/>
          </a:p>
        </p:txBody>
      </p:sp>
    </p:spTree>
    <p:extLst>
      <p:ext uri="{BB962C8B-B14F-4D97-AF65-F5344CB8AC3E}">
        <p14:creationId xmlns:p14="http://schemas.microsoft.com/office/powerpoint/2010/main" val="1620465117"/>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Illustration of why randomization does not guarantee unbiasedness in CRTs  </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7" name="TextBox 6">
            <a:extLst>
              <a:ext uri="{FF2B5EF4-FFF2-40B4-BE49-F238E27FC236}">
                <a16:creationId xmlns:a16="http://schemas.microsoft.com/office/drawing/2014/main" id="{5E44A512-A921-4482-BC77-01460624A38C}"/>
              </a:ext>
            </a:extLst>
          </p:cNvPr>
          <p:cNvSpPr txBox="1"/>
          <p:nvPr/>
        </p:nvSpPr>
        <p:spPr>
          <a:xfrm>
            <a:off x="432618" y="1578186"/>
            <a:ext cx="11287433" cy="5324535"/>
          </a:xfrm>
          <a:prstGeom prst="rect">
            <a:avLst/>
          </a:prstGeom>
          <a:noFill/>
        </p:spPr>
        <p:txBody>
          <a:bodyPr wrap="square">
            <a:spAutoFit/>
          </a:bodyPr>
          <a:lstStyle/>
          <a:p>
            <a:pPr marL="342900" indent="-342900">
              <a:buFont typeface="Arial" panose="020B0604020202020204" pitchFamily="34" charset="0"/>
              <a:buChar char="•"/>
            </a:pPr>
            <a:r>
              <a:rPr lang="en-US" sz="2000" dirty="0"/>
              <a:t>Mwanza Trial of Sexually Transmitted Disease Treatment for HIV Prevention, discussed in Hayes and Moulton’s book on cluster randomized trials [1]. </a:t>
            </a:r>
          </a:p>
          <a:p>
            <a:pPr marL="342900" indent="-342900">
              <a:buFont typeface="Arial" panose="020B0604020202020204" pitchFamily="34" charset="0"/>
              <a:buChar char="•"/>
            </a:pPr>
            <a:r>
              <a:rPr lang="en-US" sz="2000" dirty="0"/>
              <a:t>This study cluster-randomized 12 rural Tanzanian communities to a sexually transmitted disease prevention intervention or standard of care, matching the communities by expected HIV prevalence rates ranging from 1.6% to 8.6%. </a:t>
            </a:r>
          </a:p>
          <a:p>
            <a:pPr marL="342900" indent="-342900">
              <a:buFont typeface="Arial" panose="020B0604020202020204" pitchFamily="34" charset="0"/>
              <a:buChar char="•"/>
            </a:pPr>
            <a:r>
              <a:rPr lang="en-US" sz="2000" dirty="0"/>
              <a:t>There are 12 choose 6, equal to 924 unique ways to assign 6 of 12 communities to the intervention and 6 to control, and these can be enumerated  through combinatorial analysis. </a:t>
            </a:r>
          </a:p>
          <a:p>
            <a:r>
              <a:rPr lang="en-US" sz="2000" dirty="0"/>
              <a:t>1 2 3 4 5 6 </a:t>
            </a:r>
          </a:p>
          <a:p>
            <a:r>
              <a:rPr lang="en-US" sz="2000" dirty="0"/>
              <a:t>1 2 3 4 5 7</a:t>
            </a:r>
          </a:p>
          <a:p>
            <a:r>
              <a:rPr lang="en-US" sz="2000" dirty="0"/>
              <a:t>1 2 3 4 5 8 </a:t>
            </a:r>
          </a:p>
          <a:p>
            <a:r>
              <a:rPr lang="en-US" sz="2000" dirty="0"/>
              <a:t>...</a:t>
            </a:r>
          </a:p>
          <a:p>
            <a:r>
              <a:rPr lang="en-US" sz="2000" dirty="0"/>
              <a:t>6 7 8 10 11 12</a:t>
            </a:r>
          </a:p>
          <a:p>
            <a:r>
              <a:rPr lang="en-US" sz="2000" dirty="0"/>
              <a:t>6 7 9 10 11 12 </a:t>
            </a:r>
          </a:p>
          <a:p>
            <a:r>
              <a:rPr lang="en-US" sz="2000" dirty="0"/>
              <a:t>6 8 9 10 11 12 </a:t>
            </a:r>
          </a:p>
          <a:p>
            <a:r>
              <a:rPr lang="en-US" sz="2000" dirty="0"/>
              <a:t>7 8 9 10 11 12</a:t>
            </a:r>
          </a:p>
          <a:p>
            <a:r>
              <a:rPr lang="en-US" sz="1600" dirty="0"/>
              <a:t>				[1] Hayes, R. and Moulton, L.H. Cluster </a:t>
            </a:r>
            <a:r>
              <a:rPr lang="en-US" sz="1600" dirty="0" err="1"/>
              <a:t>Randomised</a:t>
            </a:r>
            <a:r>
              <a:rPr lang="en-US" sz="1600" dirty="0"/>
              <a:t> Trials. Chapman &amp; Hall, 2009</a:t>
            </a:r>
          </a:p>
          <a:p>
            <a:pPr marL="342900" indent="-342900">
              <a:buFont typeface="Arial" panose="020B0604020202020204" pitchFamily="34" charset="0"/>
              <a:buChar char="•"/>
            </a:pPr>
            <a:endParaRPr lang="en-US" sz="2400" dirty="0"/>
          </a:p>
        </p:txBody>
      </p:sp>
      <p:sp>
        <p:nvSpPr>
          <p:cNvPr id="2" name="Footer Placeholder 1">
            <a:extLst>
              <a:ext uri="{FF2B5EF4-FFF2-40B4-BE49-F238E27FC236}">
                <a16:creationId xmlns:a16="http://schemas.microsoft.com/office/drawing/2014/main" id="{CC18FD9F-9D6B-2542-913C-81D437276422}"/>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1A22E4B7-4CC8-2253-B0D9-F6BE69E1AAA4}"/>
              </a:ext>
            </a:extLst>
          </p:cNvPr>
          <p:cNvSpPr>
            <a:spLocks noGrp="1"/>
          </p:cNvSpPr>
          <p:nvPr>
            <p:ph type="sldNum" sz="quarter" idx="12"/>
          </p:nvPr>
        </p:nvSpPr>
        <p:spPr/>
        <p:txBody>
          <a:bodyPr/>
          <a:lstStyle/>
          <a:p>
            <a:fld id="{77C6A7FE-225D-49F1-B302-AA37EA92BB49}" type="slidenum">
              <a:rPr lang="en-US" smtClean="0"/>
              <a:t>13</a:t>
            </a:fld>
            <a:endParaRPr lang="en-US"/>
          </a:p>
        </p:txBody>
      </p:sp>
    </p:spTree>
    <p:extLst>
      <p:ext uri="{BB962C8B-B14F-4D97-AF65-F5344CB8AC3E}">
        <p14:creationId xmlns:p14="http://schemas.microsoft.com/office/powerpoint/2010/main" val="90383507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Illustration of why randomization does not guarantee unbiasedness in CRTs  </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7" name="TextBox 6">
            <a:extLst>
              <a:ext uri="{FF2B5EF4-FFF2-40B4-BE49-F238E27FC236}">
                <a16:creationId xmlns:a16="http://schemas.microsoft.com/office/drawing/2014/main" id="{5E44A512-A921-4482-BC77-01460624A38C}"/>
              </a:ext>
            </a:extLst>
          </p:cNvPr>
          <p:cNvSpPr txBox="1"/>
          <p:nvPr/>
        </p:nvSpPr>
        <p:spPr>
          <a:xfrm>
            <a:off x="432618" y="1578186"/>
            <a:ext cx="11287433" cy="3785652"/>
          </a:xfrm>
          <a:prstGeom prst="rect">
            <a:avLst/>
          </a:prstGeom>
          <a:noFill/>
        </p:spPr>
        <p:txBody>
          <a:bodyPr wrap="square">
            <a:spAutoFit/>
          </a:bodyPr>
          <a:lstStyle/>
          <a:p>
            <a:pPr marL="342900" indent="-342900">
              <a:buFont typeface="Arial" panose="020B0604020202020204" pitchFamily="34" charset="0"/>
              <a:buChar char="•"/>
            </a:pPr>
            <a:r>
              <a:rPr lang="en-US" sz="2000" dirty="0"/>
              <a:t>Assuming the range of  baseline HIV rates observed in these study communities, ‘bad luck’ randomizations leading  to an observed relative risk of 1.1 or greater, or 0.9 or less, would occur, on average, 73% of the time, and ‘bad luck’ randomizations leading to a relative risk of 1.2 or greater or 0.8 or less would occur 50.5% of the time. </a:t>
            </a:r>
          </a:p>
          <a:p>
            <a:pPr marL="342900" indent="-342900">
              <a:buFont typeface="Arial" panose="020B0604020202020204" pitchFamily="34" charset="0"/>
              <a:buChar char="•"/>
            </a:pPr>
            <a:r>
              <a:rPr lang="en-US" sz="2000" dirty="0"/>
              <a:t>For example, with probability 1/924 ≈ 0.1%, the communities with the 6 highest HIV prevalence rates would be randomly assigned to the control and the communities with the 6 lowest to the intervention.</a:t>
            </a:r>
          </a:p>
          <a:p>
            <a:pPr marL="342900" indent="-342900">
              <a:buFont typeface="Arial" panose="020B0604020202020204" pitchFamily="34" charset="0"/>
              <a:buChar char="•"/>
            </a:pPr>
            <a:r>
              <a:rPr lang="en-US" sz="2000" dirty="0"/>
              <a:t>In this case, given the observed rates </a:t>
            </a:r>
          </a:p>
          <a:p>
            <a:r>
              <a:rPr lang="en-US" sz="2000" dirty="0"/>
              <a:t>     (Table 5.1 in [1]), the effect estimate </a:t>
            </a:r>
          </a:p>
          <a:p>
            <a:r>
              <a:rPr lang="en-US" sz="2000" dirty="0"/>
              <a:t>     would be 0.5 on the relative risk </a:t>
            </a:r>
          </a:p>
          <a:p>
            <a:r>
              <a:rPr lang="en-US" sz="2000" dirty="0"/>
              <a:t>     scale, suggesting a strongly beneficial </a:t>
            </a:r>
          </a:p>
          <a:p>
            <a:r>
              <a:rPr lang="en-US" sz="2000" dirty="0"/>
              <a:t>     intervention when there may not be </a:t>
            </a:r>
          </a:p>
          <a:p>
            <a:r>
              <a:rPr lang="en-US" sz="2000" dirty="0"/>
              <a:t>     one at all. </a:t>
            </a:r>
          </a:p>
        </p:txBody>
      </p:sp>
      <p:pic>
        <p:nvPicPr>
          <p:cNvPr id="5" name="Picture 4">
            <a:extLst>
              <a:ext uri="{FF2B5EF4-FFF2-40B4-BE49-F238E27FC236}">
                <a16:creationId xmlns:a16="http://schemas.microsoft.com/office/drawing/2014/main" id="{C6D1620F-06B1-4750-91B3-58BCFE02FFE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90519" y="3408403"/>
            <a:ext cx="6395373" cy="2930280"/>
          </a:xfrm>
          <a:prstGeom prst="rect">
            <a:avLst/>
          </a:prstGeom>
        </p:spPr>
      </p:pic>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41AC9790-1939-87EC-D904-42C42CFED75E}"/>
                  </a:ext>
                </a:extLst>
              </p14:cNvPr>
              <p14:cNvContentPartPr/>
              <p14:nvPr/>
            </p14:nvContentPartPr>
            <p14:xfrm>
              <a:off x="9296160" y="5161905"/>
              <a:ext cx="198360" cy="29160"/>
            </p14:xfrm>
          </p:contentPart>
        </mc:Choice>
        <mc:Fallback xmlns="">
          <p:pic>
            <p:nvPicPr>
              <p:cNvPr id="3" name="Ink 2">
                <a:extLst>
                  <a:ext uri="{FF2B5EF4-FFF2-40B4-BE49-F238E27FC236}">
                    <a16:creationId xmlns:a16="http://schemas.microsoft.com/office/drawing/2014/main" id="{41AC9790-1939-87EC-D904-42C42CFED75E}"/>
                  </a:ext>
                </a:extLst>
              </p:cNvPr>
              <p:cNvPicPr/>
              <p:nvPr/>
            </p:nvPicPr>
            <p:blipFill>
              <a:blip r:embed="rId6"/>
              <a:stretch>
                <a:fillRect/>
              </a:stretch>
            </p:blipFill>
            <p:spPr>
              <a:xfrm>
                <a:off x="9242160" y="5053905"/>
                <a:ext cx="306000" cy="2448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9E48AA4D-235F-B3DE-97CE-1222718DBD17}"/>
                  </a:ext>
                </a:extLst>
              </p14:cNvPr>
              <p14:cNvContentPartPr/>
              <p14:nvPr/>
            </p14:nvContentPartPr>
            <p14:xfrm>
              <a:off x="7819800" y="5266665"/>
              <a:ext cx="121680" cy="10440"/>
            </p14:xfrm>
          </p:contentPart>
        </mc:Choice>
        <mc:Fallback xmlns="">
          <p:pic>
            <p:nvPicPr>
              <p:cNvPr id="8" name="Ink 7">
                <a:extLst>
                  <a:ext uri="{FF2B5EF4-FFF2-40B4-BE49-F238E27FC236}">
                    <a16:creationId xmlns:a16="http://schemas.microsoft.com/office/drawing/2014/main" id="{9E48AA4D-235F-B3DE-97CE-1222718DBD17}"/>
                  </a:ext>
                </a:extLst>
              </p:cNvPr>
              <p:cNvPicPr/>
              <p:nvPr/>
            </p:nvPicPr>
            <p:blipFill>
              <a:blip r:embed="rId8"/>
              <a:stretch>
                <a:fillRect/>
              </a:stretch>
            </p:blipFill>
            <p:spPr>
              <a:xfrm>
                <a:off x="7765800" y="5158665"/>
                <a:ext cx="22932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B82520C6-5F80-E496-8209-27E5BCCB1D71}"/>
                  </a:ext>
                </a:extLst>
              </p14:cNvPr>
              <p14:cNvContentPartPr/>
              <p14:nvPr/>
            </p14:nvContentPartPr>
            <p14:xfrm>
              <a:off x="7838520" y="5476185"/>
              <a:ext cx="144720" cy="28800"/>
            </p14:xfrm>
          </p:contentPart>
        </mc:Choice>
        <mc:Fallback xmlns="">
          <p:pic>
            <p:nvPicPr>
              <p:cNvPr id="9" name="Ink 8">
                <a:extLst>
                  <a:ext uri="{FF2B5EF4-FFF2-40B4-BE49-F238E27FC236}">
                    <a16:creationId xmlns:a16="http://schemas.microsoft.com/office/drawing/2014/main" id="{B82520C6-5F80-E496-8209-27E5BCCB1D71}"/>
                  </a:ext>
                </a:extLst>
              </p:cNvPr>
              <p:cNvPicPr/>
              <p:nvPr/>
            </p:nvPicPr>
            <p:blipFill>
              <a:blip r:embed="rId10"/>
              <a:stretch>
                <a:fillRect/>
              </a:stretch>
            </p:blipFill>
            <p:spPr>
              <a:xfrm>
                <a:off x="7784880" y="5368545"/>
                <a:ext cx="252360" cy="2444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A594C5F8-66BD-4D2C-8C70-7C2A1F03D16F}"/>
                  </a:ext>
                </a:extLst>
              </p14:cNvPr>
              <p14:cNvContentPartPr/>
              <p14:nvPr/>
            </p14:nvContentPartPr>
            <p14:xfrm>
              <a:off x="9324600" y="5590665"/>
              <a:ext cx="178200" cy="27360"/>
            </p14:xfrm>
          </p:contentPart>
        </mc:Choice>
        <mc:Fallback xmlns="">
          <p:pic>
            <p:nvPicPr>
              <p:cNvPr id="10" name="Ink 9">
                <a:extLst>
                  <a:ext uri="{FF2B5EF4-FFF2-40B4-BE49-F238E27FC236}">
                    <a16:creationId xmlns:a16="http://schemas.microsoft.com/office/drawing/2014/main" id="{A594C5F8-66BD-4D2C-8C70-7C2A1F03D16F}"/>
                  </a:ext>
                </a:extLst>
              </p:cNvPr>
              <p:cNvPicPr/>
              <p:nvPr/>
            </p:nvPicPr>
            <p:blipFill>
              <a:blip r:embed="rId12"/>
              <a:stretch>
                <a:fillRect/>
              </a:stretch>
            </p:blipFill>
            <p:spPr>
              <a:xfrm>
                <a:off x="9270960" y="5483025"/>
                <a:ext cx="28584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id="{4131C92C-09F8-5A81-5D21-4DF19A8D9EB6}"/>
                  </a:ext>
                </a:extLst>
              </p14:cNvPr>
              <p14:cNvContentPartPr/>
              <p14:nvPr/>
            </p14:nvContentPartPr>
            <p14:xfrm>
              <a:off x="9343680" y="5799105"/>
              <a:ext cx="126360" cy="30240"/>
            </p14:xfrm>
          </p:contentPart>
        </mc:Choice>
        <mc:Fallback xmlns="">
          <p:pic>
            <p:nvPicPr>
              <p:cNvPr id="11" name="Ink 10">
                <a:extLst>
                  <a:ext uri="{FF2B5EF4-FFF2-40B4-BE49-F238E27FC236}">
                    <a16:creationId xmlns:a16="http://schemas.microsoft.com/office/drawing/2014/main" id="{4131C92C-09F8-5A81-5D21-4DF19A8D9EB6}"/>
                  </a:ext>
                </a:extLst>
              </p:cNvPr>
              <p:cNvPicPr/>
              <p:nvPr/>
            </p:nvPicPr>
            <p:blipFill>
              <a:blip r:embed="rId14"/>
              <a:stretch>
                <a:fillRect/>
              </a:stretch>
            </p:blipFill>
            <p:spPr>
              <a:xfrm>
                <a:off x="9289680" y="5691105"/>
                <a:ext cx="234000" cy="2458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7E0020C4-9480-27B1-C83B-42BD777837A7}"/>
                  </a:ext>
                </a:extLst>
              </p14:cNvPr>
              <p14:cNvContentPartPr/>
              <p14:nvPr/>
            </p14:nvContentPartPr>
            <p14:xfrm>
              <a:off x="9248640" y="5356305"/>
              <a:ext cx="181080" cy="25200"/>
            </p14:xfrm>
          </p:contentPart>
        </mc:Choice>
        <mc:Fallback xmlns="">
          <p:pic>
            <p:nvPicPr>
              <p:cNvPr id="12" name="Ink 11">
                <a:extLst>
                  <a:ext uri="{FF2B5EF4-FFF2-40B4-BE49-F238E27FC236}">
                    <a16:creationId xmlns:a16="http://schemas.microsoft.com/office/drawing/2014/main" id="{7E0020C4-9480-27B1-C83B-42BD777837A7}"/>
                  </a:ext>
                </a:extLst>
              </p:cNvPr>
              <p:cNvPicPr/>
              <p:nvPr/>
            </p:nvPicPr>
            <p:blipFill>
              <a:blip r:embed="rId16"/>
              <a:stretch>
                <a:fillRect/>
              </a:stretch>
            </p:blipFill>
            <p:spPr>
              <a:xfrm>
                <a:off x="9194640" y="5248665"/>
                <a:ext cx="288720" cy="240840"/>
              </a:xfrm>
              <a:prstGeom prst="rect">
                <a:avLst/>
              </a:prstGeom>
            </p:spPr>
          </p:pic>
        </mc:Fallback>
      </mc:AlternateContent>
      <p:sp>
        <p:nvSpPr>
          <p:cNvPr id="13" name="Slide Number Placeholder 12">
            <a:extLst>
              <a:ext uri="{FF2B5EF4-FFF2-40B4-BE49-F238E27FC236}">
                <a16:creationId xmlns:a16="http://schemas.microsoft.com/office/drawing/2014/main" id="{E568FBB6-1004-C989-2508-100D99445622}"/>
              </a:ext>
            </a:extLst>
          </p:cNvPr>
          <p:cNvSpPr>
            <a:spLocks noGrp="1"/>
          </p:cNvSpPr>
          <p:nvPr>
            <p:ph type="sldNum" sz="quarter" idx="12"/>
          </p:nvPr>
        </p:nvSpPr>
        <p:spPr/>
        <p:txBody>
          <a:bodyPr/>
          <a:lstStyle/>
          <a:p>
            <a:fld id="{77C6A7FE-225D-49F1-B302-AA37EA92BB49}" type="slidenum">
              <a:rPr lang="en-US" smtClean="0"/>
              <a:t>14</a:t>
            </a:fld>
            <a:endParaRPr lang="en-US"/>
          </a:p>
        </p:txBody>
      </p:sp>
    </p:spTree>
    <p:extLst>
      <p:ext uri="{BB962C8B-B14F-4D97-AF65-F5344CB8AC3E}">
        <p14:creationId xmlns:p14="http://schemas.microsoft.com/office/powerpoint/2010/main" val="2745039155"/>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rPr>
              <a:t>Additional Examples of CRTs (Cluster Randomized Trials):</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5" name="TextBox 4">
            <a:extLst>
              <a:ext uri="{FF2B5EF4-FFF2-40B4-BE49-F238E27FC236}">
                <a16:creationId xmlns:a16="http://schemas.microsoft.com/office/drawing/2014/main" id="{D8ECC9C9-7B64-45F9-AA78-FBD95A895548}"/>
              </a:ext>
            </a:extLst>
          </p:cNvPr>
          <p:cNvSpPr txBox="1"/>
          <p:nvPr/>
        </p:nvSpPr>
        <p:spPr>
          <a:xfrm>
            <a:off x="681169" y="1851965"/>
            <a:ext cx="9878676" cy="4401205"/>
          </a:xfrm>
          <a:prstGeom prst="rect">
            <a:avLst/>
          </a:prstGeom>
          <a:noFill/>
        </p:spPr>
        <p:txBody>
          <a:bodyPr wrap="square">
            <a:spAutoFit/>
          </a:bodyPr>
          <a:lstStyle/>
          <a:p>
            <a:pPr>
              <a:buFontTx/>
              <a:buBlip>
                <a:blip r:embed="rId4"/>
              </a:buBlip>
              <a:tabLst>
                <a:tab pos="465138" algn="l"/>
              </a:tabLst>
            </a:pPr>
            <a:r>
              <a:rPr lang="en-US" altLang="en-US" sz="2800" b="1" dirty="0"/>
              <a:t>	</a:t>
            </a:r>
            <a:r>
              <a:rPr lang="en-US" altLang="en-US" sz="2800" dirty="0"/>
              <a:t>Medical practices selected as the randomization unit in trials evaluating the efficacy of disease screening programs</a:t>
            </a:r>
          </a:p>
          <a:p>
            <a:pPr>
              <a:buFontTx/>
              <a:buBlip>
                <a:blip r:embed="rId4"/>
              </a:buBlip>
              <a:tabLst>
                <a:tab pos="465138" algn="l"/>
              </a:tabLst>
            </a:pPr>
            <a:endParaRPr lang="en-US" altLang="en-US" sz="2800" dirty="0"/>
          </a:p>
          <a:p>
            <a:pPr>
              <a:buFontTx/>
              <a:buBlip>
                <a:blip r:embed="rId4"/>
              </a:buBlip>
              <a:tabLst>
                <a:tab pos="465138" algn="l"/>
              </a:tabLst>
            </a:pPr>
            <a:r>
              <a:rPr lang="en-US" altLang="en-US" sz="2800" dirty="0"/>
              <a:t>   Communities or villages selected as the randomization unit in trials evaluating the effectiveness of new vaccines in developing countries</a:t>
            </a:r>
          </a:p>
          <a:p>
            <a:pPr>
              <a:tabLst>
                <a:tab pos="465138" algn="l"/>
              </a:tabLst>
            </a:pPr>
            <a:endParaRPr lang="en-US" altLang="en-US" sz="2800" b="1" dirty="0"/>
          </a:p>
          <a:p>
            <a:pPr>
              <a:buFontTx/>
              <a:buBlip>
                <a:blip r:embed="rId4"/>
              </a:buBlip>
              <a:tabLst>
                <a:tab pos="465138" algn="l"/>
              </a:tabLst>
            </a:pPr>
            <a:r>
              <a:rPr lang="en-US" altLang="en-US" sz="2800" b="1" dirty="0"/>
              <a:t> 	</a:t>
            </a:r>
            <a:r>
              <a:rPr lang="en-US" altLang="en-US" sz="2800" dirty="0"/>
              <a:t>Hospitals selected as the randomization unit in trials evaluating the impact of educational guidelines directed at physicians and/or administrators </a:t>
            </a:r>
            <a:endParaRPr lang="en-CA" altLang="en-US" sz="2800" dirty="0"/>
          </a:p>
        </p:txBody>
      </p:sp>
      <p:sp>
        <p:nvSpPr>
          <p:cNvPr id="2" name="Footer Placeholder 1">
            <a:extLst>
              <a:ext uri="{FF2B5EF4-FFF2-40B4-BE49-F238E27FC236}">
                <a16:creationId xmlns:a16="http://schemas.microsoft.com/office/drawing/2014/main" id="{F98DC2DB-3323-9745-8918-3F72E7E22DBB}"/>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963ED77C-D7F3-CE25-0C94-DDFF99ADCD00}"/>
              </a:ext>
            </a:extLst>
          </p:cNvPr>
          <p:cNvSpPr>
            <a:spLocks noGrp="1"/>
          </p:cNvSpPr>
          <p:nvPr>
            <p:ph type="sldNum" sz="quarter" idx="12"/>
          </p:nvPr>
        </p:nvSpPr>
        <p:spPr/>
        <p:txBody>
          <a:bodyPr/>
          <a:lstStyle/>
          <a:p>
            <a:fld id="{77C6A7FE-225D-49F1-B302-AA37EA92BB49}" type="slidenum">
              <a:rPr lang="en-US" smtClean="0"/>
              <a:t>15</a:t>
            </a:fld>
            <a:endParaRPr lang="en-US"/>
          </a:p>
        </p:txBody>
      </p:sp>
    </p:spTree>
    <p:extLst>
      <p:ext uri="{BB962C8B-B14F-4D97-AF65-F5344CB8AC3E}">
        <p14:creationId xmlns:p14="http://schemas.microsoft.com/office/powerpoint/2010/main" val="60068065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Reasons for Adopting Cluster Randomization</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2" name="TextBox 1">
            <a:extLst>
              <a:ext uri="{FF2B5EF4-FFF2-40B4-BE49-F238E27FC236}">
                <a16:creationId xmlns:a16="http://schemas.microsoft.com/office/drawing/2014/main" id="{BBC3C323-D2C0-4E51-934A-C66315604A6D}"/>
              </a:ext>
            </a:extLst>
          </p:cNvPr>
          <p:cNvSpPr txBox="1"/>
          <p:nvPr/>
        </p:nvSpPr>
        <p:spPr>
          <a:xfrm>
            <a:off x="1150373" y="2192593"/>
            <a:ext cx="9537291" cy="2708434"/>
          </a:xfrm>
          <a:prstGeom prst="rect">
            <a:avLst/>
          </a:prstGeom>
          <a:noFill/>
        </p:spPr>
        <p:txBody>
          <a:bodyPr wrap="square" rtlCol="0">
            <a:spAutoFit/>
          </a:bodyPr>
          <a:lstStyle/>
          <a:p>
            <a:pPr marL="285750" indent="-285750">
              <a:spcAft>
                <a:spcPts val="900"/>
              </a:spcAft>
              <a:buFont typeface="Arial" panose="020B0604020202020204" pitchFamily="34" charset="0"/>
              <a:buChar char="•"/>
              <a:tabLst>
                <a:tab pos="465138" algn="l"/>
              </a:tabLst>
            </a:pPr>
            <a:r>
              <a:rPr lang="en-US" altLang="en-US" sz="2800" dirty="0"/>
              <a:t>Administrative convenience</a:t>
            </a:r>
          </a:p>
          <a:p>
            <a:pPr marL="285750" indent="-285750">
              <a:spcAft>
                <a:spcPts val="900"/>
              </a:spcAft>
              <a:buFont typeface="Arial" panose="020B0604020202020204" pitchFamily="34" charset="0"/>
              <a:buChar char="•"/>
              <a:tabLst>
                <a:tab pos="465138" algn="l"/>
              </a:tabLst>
            </a:pPr>
            <a:r>
              <a:rPr lang="en-US" altLang="en-US" sz="2800" dirty="0"/>
              <a:t>Intervention naturally applied at the cluster level</a:t>
            </a:r>
            <a:endParaRPr lang="en-CA" altLang="en-US" sz="2800" b="1" dirty="0"/>
          </a:p>
          <a:p>
            <a:pPr marL="285750" indent="-285750">
              <a:spcAft>
                <a:spcPts val="900"/>
              </a:spcAft>
              <a:buFont typeface="Arial" panose="020B0604020202020204" pitchFamily="34" charset="0"/>
              <a:buChar char="•"/>
              <a:tabLst>
                <a:tab pos="465138" algn="l"/>
              </a:tabLst>
            </a:pPr>
            <a:r>
              <a:rPr lang="en-US" altLang="en-US" sz="2800" dirty="0"/>
              <a:t>To obtain cooperation of investigators</a:t>
            </a:r>
          </a:p>
          <a:p>
            <a:pPr marL="285750" indent="-285750">
              <a:spcAft>
                <a:spcPts val="900"/>
              </a:spcAft>
              <a:buFont typeface="Arial" panose="020B0604020202020204" pitchFamily="34" charset="0"/>
              <a:buChar char="•"/>
              <a:tabLst>
                <a:tab pos="465138" algn="l"/>
              </a:tabLst>
            </a:pPr>
            <a:r>
              <a:rPr lang="en-US" altLang="en-US" sz="2800" dirty="0"/>
              <a:t>To enhance participant compliance</a:t>
            </a:r>
          </a:p>
          <a:p>
            <a:pPr marL="285750" indent="-285750">
              <a:spcAft>
                <a:spcPts val="900"/>
              </a:spcAft>
              <a:buFont typeface="Arial" panose="020B0604020202020204" pitchFamily="34" charset="0"/>
              <a:buChar char="•"/>
              <a:tabLst>
                <a:tab pos="465138" algn="l"/>
              </a:tabLst>
            </a:pPr>
            <a:r>
              <a:rPr lang="en-US" altLang="en-US" sz="2800" dirty="0"/>
              <a:t>To avoid treatment group contamination</a:t>
            </a:r>
          </a:p>
        </p:txBody>
      </p:sp>
      <p:sp>
        <p:nvSpPr>
          <p:cNvPr id="3" name="Footer Placeholder 2">
            <a:extLst>
              <a:ext uri="{FF2B5EF4-FFF2-40B4-BE49-F238E27FC236}">
                <a16:creationId xmlns:a16="http://schemas.microsoft.com/office/drawing/2014/main" id="{0BADBCF9-A470-1542-8599-24A37F5F630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D0171C2-006C-E344-3CAE-3BAB4513D283}"/>
              </a:ext>
            </a:extLst>
          </p:cNvPr>
          <p:cNvSpPr>
            <a:spLocks noGrp="1"/>
          </p:cNvSpPr>
          <p:nvPr>
            <p:ph type="sldNum" sz="quarter" idx="12"/>
          </p:nvPr>
        </p:nvSpPr>
        <p:spPr/>
        <p:txBody>
          <a:bodyPr/>
          <a:lstStyle/>
          <a:p>
            <a:fld id="{77C6A7FE-225D-49F1-B302-AA37EA92BB49}" type="slidenum">
              <a:rPr lang="en-US" smtClean="0"/>
              <a:t>16</a:t>
            </a:fld>
            <a:endParaRPr lang="en-US"/>
          </a:p>
        </p:txBody>
      </p:sp>
    </p:spTree>
    <p:extLst>
      <p:ext uri="{BB962C8B-B14F-4D97-AF65-F5344CB8AC3E}">
        <p14:creationId xmlns:p14="http://schemas.microsoft.com/office/powerpoint/2010/main" val="424751227"/>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30"/>
            <a:ext cx="12192000" cy="1561695"/>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CLUSTER RANDOMIZED TRIALS </a:t>
            </a:r>
          </a:p>
          <a:p>
            <a:pPr algn="ctr"/>
            <a:r>
              <a:rPr lang="en-US" altLang="en-US" sz="4400" dirty="0">
                <a:solidFill>
                  <a:schemeClr val="bg1"/>
                </a:solidFill>
                <a:latin typeface="Arial" panose="020B0604020202020204" pitchFamily="34" charset="0"/>
                <a:cs typeface="Arial" panose="020B0604020202020204" pitchFamily="34" charset="0"/>
              </a:rPr>
              <a:t>PUBLISHED 1981-2003 (Bland, 2004)</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graphicFrame>
        <p:nvGraphicFramePr>
          <p:cNvPr id="5" name="Object 3">
            <a:extLst>
              <a:ext uri="{FF2B5EF4-FFF2-40B4-BE49-F238E27FC236}">
                <a16:creationId xmlns:a16="http://schemas.microsoft.com/office/drawing/2014/main" id="{194251B8-D809-40F2-B708-172340BE72C6}"/>
              </a:ext>
            </a:extLst>
          </p:cNvPr>
          <p:cNvGraphicFramePr>
            <a:graphicFrameLocks noChangeAspect="1"/>
          </p:cNvGraphicFramePr>
          <p:nvPr>
            <p:extLst>
              <p:ext uri="{D42A27DB-BD31-4B8C-83A1-F6EECF244321}">
                <p14:modId xmlns:p14="http://schemas.microsoft.com/office/powerpoint/2010/main" val="1437038747"/>
              </p:ext>
            </p:extLst>
          </p:nvPr>
        </p:nvGraphicFramePr>
        <p:xfrm>
          <a:off x="2387600" y="1543665"/>
          <a:ext cx="7416800" cy="4024094"/>
        </p:xfrm>
        <a:graphic>
          <a:graphicData uri="http://schemas.openxmlformats.org/presentationml/2006/ole">
            <mc:AlternateContent xmlns:mc="http://schemas.openxmlformats.org/markup-compatibility/2006">
              <mc:Choice xmlns:v="urn:schemas-microsoft-com:vml" Requires="v">
                <p:oleObj name="Photo Editor Photo" r:id="rId4" imgW="5458587" imgH="3457143" progId="MSPhotoEd.3">
                  <p:embed/>
                </p:oleObj>
              </mc:Choice>
              <mc:Fallback>
                <p:oleObj name="Photo Editor Photo" r:id="rId4" imgW="5458587" imgH="3457143" progId="MSPhotoEd.3">
                  <p:embed/>
                  <p:pic>
                    <p:nvPicPr>
                      <p:cNvPr id="5" name="Object 3">
                        <a:extLst>
                          <a:ext uri="{FF2B5EF4-FFF2-40B4-BE49-F238E27FC236}">
                            <a16:creationId xmlns:a16="http://schemas.microsoft.com/office/drawing/2014/main" id="{194251B8-D809-40F2-B708-172340BE72C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87600" y="1543665"/>
                        <a:ext cx="7416800" cy="40240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a:extLst>
              <a:ext uri="{FF2B5EF4-FFF2-40B4-BE49-F238E27FC236}">
                <a16:creationId xmlns:a16="http://schemas.microsoft.com/office/drawing/2014/main" id="{7FDFD770-9603-47E3-B90E-57E35039122C}"/>
              </a:ext>
            </a:extLst>
          </p:cNvPr>
          <p:cNvSpPr txBox="1"/>
          <p:nvPr/>
        </p:nvSpPr>
        <p:spPr>
          <a:xfrm>
            <a:off x="4188542" y="5567759"/>
            <a:ext cx="6096000" cy="646331"/>
          </a:xfrm>
          <a:prstGeom prst="rect">
            <a:avLst/>
          </a:prstGeom>
          <a:noFill/>
        </p:spPr>
        <p:txBody>
          <a:bodyPr wrap="square">
            <a:spAutoFit/>
          </a:bodyPr>
          <a:lstStyle/>
          <a:p>
            <a:r>
              <a:rPr lang="en-US" altLang="en-US" dirty="0"/>
              <a:t>Between 2000-2007, a MEDLINE search  identified 162 CRTs (</a:t>
            </a:r>
            <a:r>
              <a:rPr lang="en-US" altLang="en-US" dirty="0" err="1"/>
              <a:t>Taljaard</a:t>
            </a:r>
            <a:r>
              <a:rPr lang="en-US" altLang="en-US" dirty="0"/>
              <a:t> et al., BMC Medical Res Meth, 2010)</a:t>
            </a:r>
          </a:p>
        </p:txBody>
      </p:sp>
      <p:sp>
        <p:nvSpPr>
          <p:cNvPr id="3" name="Slide Number Placeholder 2">
            <a:extLst>
              <a:ext uri="{FF2B5EF4-FFF2-40B4-BE49-F238E27FC236}">
                <a16:creationId xmlns:a16="http://schemas.microsoft.com/office/drawing/2014/main" id="{1DFED966-3086-8F72-9E25-8FDB15D5BADC}"/>
              </a:ext>
            </a:extLst>
          </p:cNvPr>
          <p:cNvSpPr>
            <a:spLocks noGrp="1"/>
          </p:cNvSpPr>
          <p:nvPr>
            <p:ph type="sldNum" sz="quarter" idx="12"/>
          </p:nvPr>
        </p:nvSpPr>
        <p:spPr/>
        <p:txBody>
          <a:bodyPr/>
          <a:lstStyle/>
          <a:p>
            <a:fld id="{77C6A7FE-225D-49F1-B302-AA37EA92BB49}" type="slidenum">
              <a:rPr lang="en-US" smtClean="0"/>
              <a:t>17</a:t>
            </a:fld>
            <a:endParaRPr lang="en-US"/>
          </a:p>
        </p:txBody>
      </p:sp>
    </p:spTree>
    <p:extLst>
      <p:ext uri="{BB962C8B-B14F-4D97-AF65-F5344CB8AC3E}">
        <p14:creationId xmlns:p14="http://schemas.microsoft.com/office/powerpoint/2010/main" val="32253430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2" name="TextBox 1">
            <a:extLst>
              <a:ext uri="{FF2B5EF4-FFF2-40B4-BE49-F238E27FC236}">
                <a16:creationId xmlns:a16="http://schemas.microsoft.com/office/drawing/2014/main" id="{F3C6E0B0-F7DC-4C99-87F2-661B85A787AE}"/>
              </a:ext>
            </a:extLst>
          </p:cNvPr>
          <p:cNvSpPr txBox="1"/>
          <p:nvPr/>
        </p:nvSpPr>
        <p:spPr>
          <a:xfrm>
            <a:off x="1209368" y="1750142"/>
            <a:ext cx="10382864" cy="3693319"/>
          </a:xfrm>
          <a:prstGeom prst="rect">
            <a:avLst/>
          </a:prstGeom>
          <a:noFill/>
        </p:spPr>
        <p:txBody>
          <a:bodyPr wrap="square" rtlCol="0">
            <a:spAutoFit/>
          </a:bodyPr>
          <a:lstStyle/>
          <a:p>
            <a:pPr marL="660400" indent="-660400" eaLnBrk="1" hangingPunct="1">
              <a:lnSpc>
                <a:spcPct val="90000"/>
              </a:lnSpc>
              <a:buClr>
                <a:schemeClr val="hlink"/>
              </a:buClr>
              <a:buFont typeface="Wingdings" pitchFamily="2" charset="2"/>
              <a:buNone/>
            </a:pPr>
            <a:r>
              <a:rPr lang="en-US" altLang="en-US" sz="2400" dirty="0">
                <a:latin typeface="Arial" pitchFamily="34" charset="0"/>
              </a:rPr>
              <a:t>Reviews by  Donner et al. [1990], Simpson et al. [1995], Smith et al. [1997], Varnell et al [2004], Eldridge et al [2004], Murray [2008] show improper design and analysis</a:t>
            </a:r>
          </a:p>
          <a:p>
            <a:pPr marL="660400" indent="-660400" eaLnBrk="1" hangingPunct="1">
              <a:lnSpc>
                <a:spcPct val="90000"/>
              </a:lnSpc>
              <a:buClr>
                <a:schemeClr val="hlink"/>
              </a:buClr>
              <a:buFont typeface="Wingdings" pitchFamily="2" charset="2"/>
              <a:buNone/>
            </a:pPr>
            <a:endParaRPr lang="en-US" altLang="en-US" sz="2400" dirty="0">
              <a:latin typeface="Arial" pitchFamily="34" charset="0"/>
            </a:endParaRPr>
          </a:p>
          <a:p>
            <a:pPr marL="660400" indent="-660400" eaLnBrk="1" hangingPunct="1">
              <a:lnSpc>
                <a:spcPct val="90000"/>
              </a:lnSpc>
              <a:buClr>
                <a:schemeClr val="hlink"/>
              </a:buClr>
              <a:buFontTx/>
              <a:buChar char="-"/>
            </a:pPr>
            <a:r>
              <a:rPr lang="en-US" altLang="en-US" sz="2400" dirty="0">
                <a:latin typeface="Arial" pitchFamily="34" charset="0"/>
              </a:rPr>
              <a:t>Only 25% of studies accounted for between-cluster variation when determining trial power.</a:t>
            </a:r>
          </a:p>
          <a:p>
            <a:pPr marL="660400" indent="-660400" eaLnBrk="1" hangingPunct="1">
              <a:lnSpc>
                <a:spcPct val="90000"/>
              </a:lnSpc>
              <a:buClr>
                <a:schemeClr val="hlink"/>
              </a:buClr>
              <a:buFontTx/>
              <a:buChar char="-"/>
            </a:pPr>
            <a:endParaRPr lang="en-US" altLang="en-US" sz="2400" dirty="0">
              <a:latin typeface="Arial" pitchFamily="34" charset="0"/>
            </a:endParaRPr>
          </a:p>
          <a:p>
            <a:pPr marL="660400" indent="-660400" eaLnBrk="1" hangingPunct="1">
              <a:lnSpc>
                <a:spcPct val="90000"/>
              </a:lnSpc>
              <a:buClr>
                <a:schemeClr val="hlink"/>
              </a:buClr>
              <a:buFontTx/>
              <a:buChar char="-"/>
            </a:pPr>
            <a:r>
              <a:rPr lang="en-US" altLang="en-US" sz="2400" dirty="0">
                <a:latin typeface="Arial" pitchFamily="34" charset="0"/>
              </a:rPr>
              <a:t>Only 50% of studies accounted for between-cluster variation in the statistical analysis.</a:t>
            </a:r>
            <a:endParaRPr lang="en-CA" altLang="en-US" sz="2400" dirty="0">
              <a:latin typeface="Arial" pitchFamily="34" charset="0"/>
            </a:endParaRPr>
          </a:p>
          <a:p>
            <a:pPr marL="660400" indent="-660400" eaLnBrk="1" hangingPunct="1">
              <a:lnSpc>
                <a:spcPct val="90000"/>
              </a:lnSpc>
            </a:pPr>
            <a:endParaRPr lang="en-US" altLang="en-US" sz="2400" dirty="0">
              <a:latin typeface="Arial" pitchFamily="34" charset="0"/>
            </a:endParaRPr>
          </a:p>
          <a:p>
            <a:endParaRPr lang="en-US" dirty="0"/>
          </a:p>
        </p:txBody>
      </p:sp>
      <p:sp>
        <p:nvSpPr>
          <p:cNvPr id="3" name="Footer Placeholder 2">
            <a:extLst>
              <a:ext uri="{FF2B5EF4-FFF2-40B4-BE49-F238E27FC236}">
                <a16:creationId xmlns:a16="http://schemas.microsoft.com/office/drawing/2014/main" id="{BC5CD1BE-2BCC-AB40-A127-F309EC7E4F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45BA12D-E44A-1EE9-6230-89B095E048D3}"/>
              </a:ext>
            </a:extLst>
          </p:cNvPr>
          <p:cNvSpPr>
            <a:spLocks noGrp="1"/>
          </p:cNvSpPr>
          <p:nvPr>
            <p:ph type="sldNum" sz="quarter" idx="12"/>
          </p:nvPr>
        </p:nvSpPr>
        <p:spPr/>
        <p:txBody>
          <a:bodyPr/>
          <a:lstStyle/>
          <a:p>
            <a:fld id="{77C6A7FE-225D-49F1-B302-AA37EA92BB49}" type="slidenum">
              <a:rPr lang="en-US" smtClean="0"/>
              <a:t>18</a:t>
            </a:fld>
            <a:endParaRPr lang="en-US"/>
          </a:p>
        </p:txBody>
      </p:sp>
    </p:spTree>
    <p:extLst>
      <p:ext uri="{BB962C8B-B14F-4D97-AF65-F5344CB8AC3E}">
        <p14:creationId xmlns:p14="http://schemas.microsoft.com/office/powerpoint/2010/main" val="80429867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Implications of </a:t>
            </a:r>
            <a:r>
              <a:rPr lang="en-US" altLang="en-US" sz="4400" dirty="0" err="1">
                <a:solidFill>
                  <a:schemeClr val="bg1"/>
                </a:solidFill>
                <a:latin typeface="Arial" panose="020B0604020202020204" pitchFamily="34" charset="0"/>
                <a:cs typeface="Arial" panose="020B0604020202020204" pitchFamily="34" charset="0"/>
              </a:rPr>
              <a:t>Intracluster</a:t>
            </a:r>
            <a:r>
              <a:rPr lang="en-US" altLang="en-US" sz="4400" dirty="0">
                <a:solidFill>
                  <a:schemeClr val="bg1"/>
                </a:solidFill>
                <a:latin typeface="Arial" panose="020B0604020202020204" pitchFamily="34" charset="0"/>
                <a:cs typeface="Arial" panose="020B0604020202020204" pitchFamily="34" charset="0"/>
              </a:rPr>
              <a:t> Correlation (ICC)</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5375FA3-A8AB-49B3-9F4B-B7CBD37C15D1}"/>
                  </a:ext>
                </a:extLst>
              </p:cNvPr>
              <p:cNvSpPr txBox="1"/>
              <p:nvPr/>
            </p:nvSpPr>
            <p:spPr>
              <a:xfrm>
                <a:off x="875071" y="2105880"/>
                <a:ext cx="9144000" cy="2400657"/>
              </a:xfrm>
              <a:prstGeom prst="rect">
                <a:avLst/>
              </a:prstGeom>
              <a:noFill/>
            </p:spPr>
            <p:txBody>
              <a:bodyPr wrap="square">
                <a:spAutoFit/>
              </a:bodyPr>
              <a:lstStyle/>
              <a:p>
                <a:pPr marL="66675" indent="-66675" eaLnBrk="1" hangingPunct="1">
                  <a:spcAft>
                    <a:spcPts val="1200"/>
                  </a:spcAft>
                  <a:buFont typeface="Wingdings" pitchFamily="2" charset="2"/>
                  <a:buNone/>
                  <a:defRPr/>
                </a:pPr>
                <a:r>
                  <a:rPr lang="en-CA" sz="2800" dirty="0">
                    <a:latin typeface="Arial" pitchFamily="34" charset="0"/>
                  </a:rPr>
                  <a:t>Reduction in effective sample size (ESS):</a:t>
                </a:r>
              </a:p>
              <a:p>
                <a:pPr marL="457200" indent="-457200">
                  <a:spcAft>
                    <a:spcPts val="1200"/>
                  </a:spcAft>
                  <a:buFont typeface="Arial" panose="020B0604020202020204" pitchFamily="34" charset="0"/>
                  <a:buChar char="•"/>
                  <a:defRPr/>
                </a:pPr>
                <a:r>
                  <a:rPr lang="en-CA" sz="2800" dirty="0">
                    <a:latin typeface="Arial" pitchFamily="34" charset="0"/>
                  </a:rPr>
                  <a:t>Extent depends on size of the </a:t>
                </a:r>
                <a:r>
                  <a:rPr lang="en-CA" sz="2800" dirty="0" err="1">
                    <a:latin typeface="Arial" pitchFamily="34" charset="0"/>
                  </a:rPr>
                  <a:t>intracluster</a:t>
                </a:r>
                <a:r>
                  <a:rPr lang="en-US" sz="2800" dirty="0">
                    <a:latin typeface="Arial" pitchFamily="34" charset="0"/>
                  </a:rPr>
                  <a:t> c</a:t>
                </a:r>
                <a:r>
                  <a:rPr lang="en-CA" sz="2800" dirty="0" err="1">
                    <a:latin typeface="Arial" pitchFamily="34" charset="0"/>
                  </a:rPr>
                  <a:t>orrelation</a:t>
                </a:r>
                <a:r>
                  <a:rPr lang="en-CA" sz="2800" dirty="0">
                    <a:latin typeface="Arial" pitchFamily="34" charset="0"/>
                  </a:rPr>
                  <a:t> coefficient, </a:t>
                </a:r>
                <a14:m>
                  <m:oMath xmlns:m="http://schemas.openxmlformats.org/officeDocument/2006/math">
                    <m:r>
                      <a:rPr lang="en-US" sz="2800" i="1" smtClean="0">
                        <a:solidFill>
                          <a:srgbClr val="000000"/>
                        </a:solidFill>
                        <a:latin typeface="Cambria Math" panose="02040503050406030204" pitchFamily="18" charset="0"/>
                      </a:rPr>
                      <m:t>𝜌</m:t>
                    </m:r>
                    <m:r>
                      <a:rPr lang="en-US" sz="2800" i="1" smtClean="0">
                        <a:solidFill>
                          <a:srgbClr val="000000"/>
                        </a:solidFill>
                        <a:latin typeface="Cambria Math" panose="02040503050406030204" pitchFamily="18" charset="0"/>
                      </a:rPr>
                      <m:t>,</m:t>
                    </m:r>
                  </m:oMath>
                </a14:m>
                <a:r>
                  <a:rPr lang="en-CA" sz="2800" dirty="0">
                    <a:latin typeface="Arial" pitchFamily="34" charset="0"/>
                  </a:rPr>
                  <a:t> that is, how much variation in baseline outcome rates there are between clusters, and on average cluster size</a:t>
                </a:r>
              </a:p>
            </p:txBody>
          </p:sp>
        </mc:Choice>
        <mc:Fallback xmlns="">
          <p:sp>
            <p:nvSpPr>
              <p:cNvPr id="5" name="TextBox 4">
                <a:extLst>
                  <a:ext uri="{FF2B5EF4-FFF2-40B4-BE49-F238E27FC236}">
                    <a16:creationId xmlns:a16="http://schemas.microsoft.com/office/drawing/2014/main" id="{65375FA3-A8AB-49B3-9F4B-B7CBD37C15D1}"/>
                  </a:ext>
                </a:extLst>
              </p:cNvPr>
              <p:cNvSpPr txBox="1">
                <a:spLocks noRot="1" noChangeAspect="1" noMove="1" noResize="1" noEditPoints="1" noAdjustHandles="1" noChangeArrowheads="1" noChangeShapeType="1" noTextEdit="1"/>
              </p:cNvSpPr>
              <p:nvPr/>
            </p:nvSpPr>
            <p:spPr>
              <a:xfrm>
                <a:off x="875071" y="2105880"/>
                <a:ext cx="9144000" cy="2400657"/>
              </a:xfrm>
              <a:prstGeom prst="rect">
                <a:avLst/>
              </a:prstGeom>
              <a:blipFill>
                <a:blip r:embed="rId4"/>
                <a:stretch>
                  <a:fillRect l="-1400" t="-2538" b="-6091"/>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4AF13250-27B5-C647-9A65-95B9759B3CCD}"/>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BED55AF0-437F-8609-284F-A3BDCBCE902C}"/>
              </a:ext>
            </a:extLst>
          </p:cNvPr>
          <p:cNvSpPr>
            <a:spLocks noGrp="1"/>
          </p:cNvSpPr>
          <p:nvPr>
            <p:ph type="sldNum" sz="quarter" idx="12"/>
          </p:nvPr>
        </p:nvSpPr>
        <p:spPr/>
        <p:txBody>
          <a:bodyPr/>
          <a:lstStyle/>
          <a:p>
            <a:fld id="{77C6A7FE-225D-49F1-B302-AA37EA92BB49}" type="slidenum">
              <a:rPr lang="en-US" smtClean="0"/>
              <a:t>19</a:t>
            </a:fld>
            <a:endParaRPr lang="en-US"/>
          </a:p>
        </p:txBody>
      </p:sp>
    </p:spTree>
    <p:extLst>
      <p:ext uri="{BB962C8B-B14F-4D97-AF65-F5344CB8AC3E}">
        <p14:creationId xmlns:p14="http://schemas.microsoft.com/office/powerpoint/2010/main" val="158097643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5" name="TextBox 4">
            <a:extLst>
              <a:ext uri="{FF2B5EF4-FFF2-40B4-BE49-F238E27FC236}">
                <a16:creationId xmlns:a16="http://schemas.microsoft.com/office/drawing/2014/main" id="{67D54EC9-1115-4D54-94B7-668DD7CF4A5C}"/>
              </a:ext>
            </a:extLst>
          </p:cNvPr>
          <p:cNvSpPr txBox="1"/>
          <p:nvPr/>
        </p:nvSpPr>
        <p:spPr>
          <a:xfrm>
            <a:off x="511277" y="2033710"/>
            <a:ext cx="11169445" cy="2332946"/>
          </a:xfrm>
          <a:prstGeom prst="rect">
            <a:avLst/>
          </a:prstGeom>
          <a:noFill/>
        </p:spPr>
        <p:txBody>
          <a:bodyPr wrap="square">
            <a:spAutoFit/>
          </a:bodyPr>
          <a:lstStyle/>
          <a:p>
            <a:pPr marL="1255713" lvl="2" indent="-352425">
              <a:spcBef>
                <a:spcPct val="20000"/>
              </a:spcBef>
              <a:buFontTx/>
              <a:buBlip>
                <a:blip r:embed="rId4"/>
              </a:buBlip>
              <a:defRPr/>
            </a:pPr>
            <a:r>
              <a:rPr lang="en-CA" sz="2800" dirty="0">
                <a:cs typeface="Times New Roman" pitchFamily="18" charset="0"/>
              </a:rPr>
              <a:t>Application of standard sample size approaches leads to an underpowered study </a:t>
            </a:r>
          </a:p>
          <a:p>
            <a:pPr marL="1255713" lvl="2" indent="-352425">
              <a:spcBef>
                <a:spcPct val="20000"/>
              </a:spcBef>
              <a:buFontTx/>
              <a:buBlip>
                <a:blip r:embed="rId4"/>
              </a:buBlip>
              <a:defRPr/>
            </a:pPr>
            <a:r>
              <a:rPr lang="en-US" sz="2800" dirty="0">
                <a:cs typeface="Times New Roman" pitchFamily="18" charset="0"/>
              </a:rPr>
              <a:t>Application of standard statistical methods generally tends to bias p-values downwards, i.e., could lead to spurious statistical significance (increased Type I error -&gt; false positives)</a:t>
            </a:r>
            <a:endParaRPr lang="en-CA" sz="2800" dirty="0">
              <a:cs typeface="Times New Roman" pitchFamily="18" charset="0"/>
            </a:endParaRPr>
          </a:p>
        </p:txBody>
      </p:sp>
      <p:sp>
        <p:nvSpPr>
          <p:cNvPr id="2" name="Footer Placeholder 1">
            <a:extLst>
              <a:ext uri="{FF2B5EF4-FFF2-40B4-BE49-F238E27FC236}">
                <a16:creationId xmlns:a16="http://schemas.microsoft.com/office/drawing/2014/main" id="{ED9CAC33-E949-3A4E-A60B-6BDB56DA5979}"/>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597B5132-011B-72AA-D697-4B5BCEDCEEA5}"/>
              </a:ext>
            </a:extLst>
          </p:cNvPr>
          <p:cNvSpPr>
            <a:spLocks noGrp="1"/>
          </p:cNvSpPr>
          <p:nvPr>
            <p:ph type="sldNum" sz="quarter" idx="12"/>
          </p:nvPr>
        </p:nvSpPr>
        <p:spPr/>
        <p:txBody>
          <a:bodyPr/>
          <a:lstStyle/>
          <a:p>
            <a:fld id="{77C6A7FE-225D-49F1-B302-AA37EA92BB49}" type="slidenum">
              <a:rPr lang="en-US" smtClean="0"/>
              <a:t>20</a:t>
            </a:fld>
            <a:endParaRPr lang="en-US"/>
          </a:p>
        </p:txBody>
      </p:sp>
    </p:spTree>
    <p:extLst>
      <p:ext uri="{BB962C8B-B14F-4D97-AF65-F5344CB8AC3E}">
        <p14:creationId xmlns:p14="http://schemas.microsoft.com/office/powerpoint/2010/main" val="256280007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 Possible Sources of </a:t>
            </a:r>
            <a:r>
              <a:rPr lang="en-US" altLang="en-US" sz="4400" dirty="0" err="1">
                <a:solidFill>
                  <a:schemeClr val="bg1"/>
                </a:solidFill>
                <a:latin typeface="Arial" panose="020B0604020202020204" pitchFamily="34" charset="0"/>
                <a:cs typeface="Arial" panose="020B0604020202020204" pitchFamily="34" charset="0"/>
              </a:rPr>
              <a:t>Intracluster</a:t>
            </a:r>
            <a:r>
              <a:rPr lang="en-US" altLang="en-US" sz="4400" dirty="0">
                <a:solidFill>
                  <a:schemeClr val="bg1"/>
                </a:solidFill>
                <a:latin typeface="Arial" panose="020B0604020202020204" pitchFamily="34" charset="0"/>
                <a:cs typeface="Arial" panose="020B0604020202020204" pitchFamily="34" charset="0"/>
              </a:rPr>
              <a:t> Correlation</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5" name="TextBox 4">
            <a:extLst>
              <a:ext uri="{FF2B5EF4-FFF2-40B4-BE49-F238E27FC236}">
                <a16:creationId xmlns:a16="http://schemas.microsoft.com/office/drawing/2014/main" id="{A5B167BA-4EE0-4991-A5DD-412F93491221}"/>
              </a:ext>
            </a:extLst>
          </p:cNvPr>
          <p:cNvSpPr txBox="1"/>
          <p:nvPr/>
        </p:nvSpPr>
        <p:spPr>
          <a:xfrm>
            <a:off x="825909" y="1937911"/>
            <a:ext cx="10225550" cy="3570208"/>
          </a:xfrm>
          <a:prstGeom prst="rect">
            <a:avLst/>
          </a:prstGeom>
          <a:noFill/>
        </p:spPr>
        <p:txBody>
          <a:bodyPr wrap="square">
            <a:spAutoFit/>
          </a:bodyPr>
          <a:lstStyle/>
          <a:p>
            <a:pPr marL="687388" indent="-687388" eaLnBrk="1" hangingPunct="1">
              <a:spcAft>
                <a:spcPts val="1200"/>
              </a:spcAft>
              <a:buFontTx/>
              <a:buNone/>
              <a:tabLst>
                <a:tab pos="863600" algn="l"/>
                <a:tab pos="1595438" algn="l"/>
              </a:tabLst>
            </a:pPr>
            <a:r>
              <a:rPr lang="en-US" altLang="en-US" sz="2400" dirty="0">
                <a:latin typeface="Arial" pitchFamily="34" charset="0"/>
              </a:rPr>
              <a:t>1.	</a:t>
            </a:r>
            <a:r>
              <a:rPr lang="en-CA" altLang="en-US" sz="2400" dirty="0">
                <a:latin typeface="Arial" pitchFamily="34" charset="0"/>
              </a:rPr>
              <a:t>Participants (we don’t like the word ‘participants’) frequently select the clusters to which they belong,</a:t>
            </a:r>
            <a:r>
              <a:rPr lang="en-US" altLang="en-US" sz="2400" dirty="0">
                <a:latin typeface="Arial" pitchFamily="34" charset="0"/>
              </a:rPr>
              <a:t> </a:t>
            </a:r>
            <a:r>
              <a:rPr lang="en-CA" altLang="en-US" sz="2400" dirty="0">
                <a:latin typeface="Arial" pitchFamily="34" charset="0"/>
              </a:rPr>
              <a:t>e.g., when physician is the cluster, </a:t>
            </a:r>
            <a:r>
              <a:rPr lang="en-US" altLang="en-US" sz="2400" dirty="0">
                <a:latin typeface="Arial" pitchFamily="34" charset="0"/>
              </a:rPr>
              <a:t>p</a:t>
            </a:r>
            <a:r>
              <a:rPr lang="en-CA" altLang="en-US" sz="2400" dirty="0" err="1">
                <a:latin typeface="Arial" pitchFamily="34" charset="0"/>
              </a:rPr>
              <a:t>atient</a:t>
            </a:r>
            <a:r>
              <a:rPr lang="en-CA" altLang="en-US" sz="2400" dirty="0">
                <a:latin typeface="Arial" pitchFamily="34" charset="0"/>
              </a:rPr>
              <a:t> characteristics that determine endpoint rates could be related to age or sex differences among physicians --- older physicians may be more likely to have older patients, who in turn may have higher event rates</a:t>
            </a:r>
          </a:p>
          <a:p>
            <a:pPr marL="687388" indent="-687388" eaLnBrk="1" hangingPunct="1">
              <a:spcAft>
                <a:spcPts val="1200"/>
              </a:spcAft>
              <a:buFont typeface="Wingdings" pitchFamily="2" charset="2"/>
              <a:buNone/>
              <a:tabLst>
                <a:tab pos="863600" algn="l"/>
                <a:tab pos="1595438" algn="l"/>
              </a:tabLst>
            </a:pPr>
            <a:r>
              <a:rPr lang="en-US" altLang="en-US" sz="2400" dirty="0">
                <a:latin typeface="Arial" pitchFamily="34" charset="0"/>
              </a:rPr>
              <a:t>2.	</a:t>
            </a:r>
            <a:r>
              <a:rPr lang="en-CA" altLang="en-US" sz="2400" dirty="0">
                <a:latin typeface="Arial" pitchFamily="34" charset="0"/>
              </a:rPr>
              <a:t>Important determinants of endpoint rates that vary by cluster affect all individuals within the cluster in the same manner</a:t>
            </a:r>
            <a:r>
              <a:rPr lang="en-US" altLang="en-US" sz="2400" dirty="0">
                <a:latin typeface="Arial" pitchFamily="34" charset="0"/>
              </a:rPr>
              <a:t>, </a:t>
            </a:r>
            <a:r>
              <a:rPr lang="en-CA" altLang="en-US" sz="2400" dirty="0">
                <a:latin typeface="Arial" pitchFamily="34" charset="0"/>
              </a:rPr>
              <a:t>e.g., </a:t>
            </a:r>
            <a:r>
              <a:rPr lang="en-US" altLang="en-US" sz="2400" dirty="0">
                <a:latin typeface="Arial" pitchFamily="34" charset="0"/>
              </a:rPr>
              <a:t>d</a:t>
            </a:r>
            <a:r>
              <a:rPr lang="en-CA" altLang="en-US" sz="2400" dirty="0" err="1">
                <a:latin typeface="Arial" pitchFamily="34" charset="0"/>
              </a:rPr>
              <a:t>ifferences</a:t>
            </a:r>
            <a:r>
              <a:rPr lang="en-CA" altLang="en-US" sz="2400" dirty="0">
                <a:latin typeface="Arial" pitchFamily="34" charset="0"/>
              </a:rPr>
              <a:t> in temperature between </a:t>
            </a:r>
            <a:r>
              <a:rPr lang="en-US" altLang="en-US" sz="2400" dirty="0">
                <a:latin typeface="Arial" pitchFamily="34" charset="0"/>
              </a:rPr>
              <a:t>	</a:t>
            </a:r>
            <a:r>
              <a:rPr lang="en-CA" altLang="en-US" sz="2400" dirty="0">
                <a:latin typeface="Arial" pitchFamily="34" charset="0"/>
              </a:rPr>
              <a:t>nurseries may be related to infection </a:t>
            </a:r>
            <a:r>
              <a:rPr lang="en-US" altLang="en-US" sz="2400" dirty="0">
                <a:latin typeface="Arial" pitchFamily="34" charset="0"/>
              </a:rPr>
              <a:t>r</a:t>
            </a:r>
            <a:r>
              <a:rPr lang="en-CA" altLang="en-US" sz="2400" dirty="0" err="1">
                <a:latin typeface="Arial" pitchFamily="34" charset="0"/>
              </a:rPr>
              <a:t>ates</a:t>
            </a:r>
            <a:r>
              <a:rPr lang="en-CA" altLang="en-US" sz="2400" dirty="0">
                <a:latin typeface="Arial" pitchFamily="34" charset="0"/>
              </a:rPr>
              <a:t>. </a:t>
            </a:r>
          </a:p>
        </p:txBody>
      </p:sp>
      <p:sp>
        <p:nvSpPr>
          <p:cNvPr id="2" name="Footer Placeholder 1">
            <a:extLst>
              <a:ext uri="{FF2B5EF4-FFF2-40B4-BE49-F238E27FC236}">
                <a16:creationId xmlns:a16="http://schemas.microsoft.com/office/drawing/2014/main" id="{12788B2B-A66C-9749-BC67-33A06CA7A319}"/>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76667A20-86FB-C5AC-B311-A556D2018C1B}"/>
              </a:ext>
            </a:extLst>
          </p:cNvPr>
          <p:cNvSpPr>
            <a:spLocks noGrp="1"/>
          </p:cNvSpPr>
          <p:nvPr>
            <p:ph type="sldNum" sz="quarter" idx="12"/>
          </p:nvPr>
        </p:nvSpPr>
        <p:spPr/>
        <p:txBody>
          <a:bodyPr/>
          <a:lstStyle/>
          <a:p>
            <a:fld id="{77C6A7FE-225D-49F1-B302-AA37EA92BB49}" type="slidenum">
              <a:rPr lang="en-US" smtClean="0"/>
              <a:t>21</a:t>
            </a:fld>
            <a:endParaRPr lang="en-US"/>
          </a:p>
        </p:txBody>
      </p:sp>
    </p:spTree>
    <p:extLst>
      <p:ext uri="{BB962C8B-B14F-4D97-AF65-F5344CB8AC3E}">
        <p14:creationId xmlns:p14="http://schemas.microsoft.com/office/powerpoint/2010/main" val="1240487847"/>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64035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 Possible sources of </a:t>
            </a:r>
            <a:r>
              <a:rPr lang="en-US" altLang="en-US" sz="4400" dirty="0" err="1">
                <a:solidFill>
                  <a:schemeClr val="bg1"/>
                </a:solidFill>
                <a:latin typeface="Arial" panose="020B0604020202020204" pitchFamily="34" charset="0"/>
                <a:cs typeface="Arial" panose="020B0604020202020204" pitchFamily="34" charset="0"/>
              </a:rPr>
              <a:t>Intracluster</a:t>
            </a:r>
            <a:r>
              <a:rPr lang="en-US" altLang="en-US" sz="4400" dirty="0">
                <a:solidFill>
                  <a:schemeClr val="bg1"/>
                </a:solidFill>
                <a:latin typeface="Arial" panose="020B0604020202020204" pitchFamily="34" charset="0"/>
                <a:cs typeface="Arial" panose="020B0604020202020204" pitchFamily="34" charset="0"/>
              </a:rPr>
              <a:t> Correlation (cont.)</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5" name="TextBox 4">
            <a:extLst>
              <a:ext uri="{FF2B5EF4-FFF2-40B4-BE49-F238E27FC236}">
                <a16:creationId xmlns:a16="http://schemas.microsoft.com/office/drawing/2014/main" id="{A5B167BA-4EE0-4991-A5DD-412F93491221}"/>
              </a:ext>
            </a:extLst>
          </p:cNvPr>
          <p:cNvSpPr txBox="1"/>
          <p:nvPr/>
        </p:nvSpPr>
        <p:spPr>
          <a:xfrm>
            <a:off x="825909" y="1937911"/>
            <a:ext cx="10225550" cy="3877985"/>
          </a:xfrm>
          <a:prstGeom prst="rect">
            <a:avLst/>
          </a:prstGeom>
          <a:noFill/>
        </p:spPr>
        <p:txBody>
          <a:bodyPr wrap="square">
            <a:spAutoFit/>
          </a:bodyPr>
          <a:lstStyle/>
          <a:p>
            <a:pPr marL="687388" indent="-687388" eaLnBrk="1" hangingPunct="1">
              <a:spcAft>
                <a:spcPts val="1200"/>
              </a:spcAft>
              <a:buFontTx/>
              <a:buNone/>
              <a:tabLst>
                <a:tab pos="863600" algn="l"/>
                <a:tab pos="1595438" algn="l"/>
              </a:tabLst>
            </a:pPr>
            <a:r>
              <a:rPr lang="en-US" altLang="en-US" sz="2400" dirty="0">
                <a:latin typeface="Arial" pitchFamily="34" charset="0"/>
              </a:rPr>
              <a:t>3. Individuals within clusters frequently interact and, as a result, may tend to have more similar endpoint rates, independent of the intervention</a:t>
            </a:r>
          </a:p>
          <a:p>
            <a:pPr marL="687388" indent="-687388" eaLnBrk="1" hangingPunct="1">
              <a:spcAft>
                <a:spcPts val="1200"/>
              </a:spcAft>
              <a:buFontTx/>
              <a:buNone/>
              <a:tabLst>
                <a:tab pos="863600" algn="l"/>
                <a:tab pos="1595438" algn="l"/>
              </a:tabLst>
            </a:pPr>
            <a:r>
              <a:rPr lang="en-US" altLang="en-US" sz="2400" dirty="0">
                <a:latin typeface="Arial" pitchFamily="34" charset="0"/>
              </a:rPr>
              <a:t>	e.g., other educational strategies or therapies may be provided in a group setting</a:t>
            </a:r>
          </a:p>
          <a:p>
            <a:pPr marL="687388" indent="-687388" eaLnBrk="1" hangingPunct="1">
              <a:spcAft>
                <a:spcPts val="1200"/>
              </a:spcAft>
              <a:buFontTx/>
              <a:buNone/>
              <a:tabLst>
                <a:tab pos="863600" algn="l"/>
                <a:tab pos="1595438" algn="l"/>
              </a:tabLst>
            </a:pPr>
            <a:r>
              <a:rPr lang="en-US" altLang="en-US" sz="2400" dirty="0">
                <a:latin typeface="Arial" pitchFamily="34" charset="0"/>
              </a:rPr>
              <a:t>	Note: the study of ‘interference/spillover/contamination’ within cluster is of great interest and a potential asset for enhancing a scalable intervention</a:t>
            </a:r>
          </a:p>
          <a:p>
            <a:pPr marL="687388" indent="-687388" eaLnBrk="1" hangingPunct="1">
              <a:spcAft>
                <a:spcPts val="1200"/>
              </a:spcAft>
              <a:buFontTx/>
              <a:buNone/>
              <a:tabLst>
                <a:tab pos="863600" algn="l"/>
                <a:tab pos="1595438" algn="l"/>
              </a:tabLst>
            </a:pPr>
            <a:r>
              <a:rPr lang="en-US" altLang="en-US" sz="2400" dirty="0">
                <a:latin typeface="Arial" pitchFamily="34" charset="0"/>
              </a:rPr>
              <a:t>4. Tendency of infectious diseases to spread more rapidly within than among families or hospital wards.</a:t>
            </a:r>
          </a:p>
        </p:txBody>
      </p:sp>
      <p:sp>
        <p:nvSpPr>
          <p:cNvPr id="2" name="Footer Placeholder 1">
            <a:extLst>
              <a:ext uri="{FF2B5EF4-FFF2-40B4-BE49-F238E27FC236}">
                <a16:creationId xmlns:a16="http://schemas.microsoft.com/office/drawing/2014/main" id="{0E7A43A8-1319-3C44-A026-3A0A8DD16F7E}"/>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C1DF2C34-E42F-7BAE-0C8A-4E694244386C}"/>
              </a:ext>
            </a:extLst>
          </p:cNvPr>
          <p:cNvSpPr>
            <a:spLocks noGrp="1"/>
          </p:cNvSpPr>
          <p:nvPr>
            <p:ph type="sldNum" sz="quarter" idx="12"/>
          </p:nvPr>
        </p:nvSpPr>
        <p:spPr/>
        <p:txBody>
          <a:bodyPr/>
          <a:lstStyle/>
          <a:p>
            <a:fld id="{77C6A7FE-225D-49F1-B302-AA37EA92BB49}" type="slidenum">
              <a:rPr lang="en-US" smtClean="0"/>
              <a:t>22</a:t>
            </a:fld>
            <a:endParaRPr lang="en-US"/>
          </a:p>
        </p:txBody>
      </p:sp>
    </p:spTree>
    <p:extLst>
      <p:ext uri="{BB962C8B-B14F-4D97-AF65-F5344CB8AC3E}">
        <p14:creationId xmlns:p14="http://schemas.microsoft.com/office/powerpoint/2010/main" val="409918581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5400" dirty="0"/>
              <a:t>Familia Salama (FS)</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5" name="TextBox 4">
            <a:extLst>
              <a:ext uri="{FF2B5EF4-FFF2-40B4-BE49-F238E27FC236}">
                <a16:creationId xmlns:a16="http://schemas.microsoft.com/office/drawing/2014/main" id="{B6081182-693D-4C18-8FE4-1D435AE4EAFA}"/>
              </a:ext>
            </a:extLst>
          </p:cNvPr>
          <p:cNvSpPr txBox="1"/>
          <p:nvPr/>
        </p:nvSpPr>
        <p:spPr>
          <a:xfrm>
            <a:off x="393290" y="1789997"/>
            <a:ext cx="11798710" cy="4662815"/>
          </a:xfrm>
          <a:prstGeom prst="rect">
            <a:avLst/>
          </a:prstGeom>
          <a:noFill/>
        </p:spPr>
        <p:txBody>
          <a:bodyPr wrap="square">
            <a:spAutoFit/>
          </a:bodyPr>
          <a:lstStyle/>
          <a:p>
            <a:pPr marL="342900" indent="-342900">
              <a:spcAft>
                <a:spcPts val="1800"/>
              </a:spcAft>
              <a:buFont typeface="Arial" panose="020B0604020202020204" pitchFamily="34" charset="0"/>
              <a:buChar char="•"/>
              <a:defRPr/>
            </a:pPr>
            <a:r>
              <a:rPr lang="en-US" sz="2800" dirty="0"/>
              <a:t>In FS, wards may have similar ANC uptake rates due to closer proximity to clinics, or to higher average educational levels in some neighborhoods vs. others</a:t>
            </a:r>
          </a:p>
          <a:p>
            <a:pPr marL="800100" lvl="1" indent="-342900">
              <a:spcAft>
                <a:spcPts val="1800"/>
              </a:spcAft>
              <a:buFont typeface="Arial" panose="020B0604020202020204" pitchFamily="34" charset="0"/>
              <a:buChar char="•"/>
              <a:defRPr/>
            </a:pPr>
            <a:r>
              <a:rPr lang="en-US" sz="2800" dirty="0">
                <a:effectLst/>
                <a:latin typeface="Times New Roman" panose="02020603050405020304" pitchFamily="18" charset="0"/>
                <a:ea typeface="Times New Roman" panose="02020603050405020304" pitchFamily="18" charset="0"/>
              </a:rPr>
              <a:t>The intraclass correlation coefficient (ICC) for  4 or more ANC visits during pregnancy was 0.05 (95% CI: 0.03, 0.07)</a:t>
            </a:r>
            <a:endParaRPr lang="en-US" sz="2800" dirty="0"/>
          </a:p>
          <a:p>
            <a:pPr marL="342900" indent="-342900">
              <a:spcAft>
                <a:spcPts val="1800"/>
              </a:spcAft>
              <a:buFont typeface="Arial" panose="020B0604020202020204" pitchFamily="34" charset="0"/>
              <a:buChar char="•"/>
              <a:defRPr/>
            </a:pPr>
            <a:r>
              <a:rPr lang="en-US" sz="2800" dirty="0"/>
              <a:t>In FS, some wards may have lower background PMTCT rates due to the higher quality clinics located there, or to better adherence of the mothers due to higher educational levels</a:t>
            </a:r>
          </a:p>
          <a:p>
            <a:pPr marL="342900" indent="-342900">
              <a:spcAft>
                <a:spcPts val="1800"/>
              </a:spcAft>
              <a:buFont typeface="Arial" panose="020B0604020202020204" pitchFamily="34" charset="0"/>
              <a:buChar char="•"/>
              <a:defRPr/>
            </a:pPr>
            <a:r>
              <a:rPr lang="en-US" sz="2800" dirty="0"/>
              <a:t>Other reasons for intra-ward correlations?</a:t>
            </a:r>
          </a:p>
        </p:txBody>
      </p:sp>
      <p:sp>
        <p:nvSpPr>
          <p:cNvPr id="2" name="Footer Placeholder 1">
            <a:extLst>
              <a:ext uri="{FF2B5EF4-FFF2-40B4-BE49-F238E27FC236}">
                <a16:creationId xmlns:a16="http://schemas.microsoft.com/office/drawing/2014/main" id="{C505A52B-8173-C04B-9D1A-4775384F8B5D}"/>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988A8454-C73E-3F5D-E2E7-05F0B043C7EA}"/>
              </a:ext>
            </a:extLst>
          </p:cNvPr>
          <p:cNvSpPr>
            <a:spLocks noGrp="1"/>
          </p:cNvSpPr>
          <p:nvPr>
            <p:ph type="sldNum" sz="quarter" idx="12"/>
          </p:nvPr>
        </p:nvSpPr>
        <p:spPr/>
        <p:txBody>
          <a:bodyPr/>
          <a:lstStyle/>
          <a:p>
            <a:fld id="{77C6A7FE-225D-49F1-B302-AA37EA92BB49}" type="slidenum">
              <a:rPr lang="en-US" smtClean="0"/>
              <a:t>23</a:t>
            </a:fld>
            <a:endParaRPr lang="en-US"/>
          </a:p>
        </p:txBody>
      </p:sp>
    </p:spTree>
    <p:extLst>
      <p:ext uri="{BB962C8B-B14F-4D97-AF65-F5344CB8AC3E}">
        <p14:creationId xmlns:p14="http://schemas.microsoft.com/office/powerpoint/2010/main" val="1312713096"/>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Variance Component Interpretation of</a:t>
                </a:r>
                <a:r>
                  <a:rPr lang="en-US" sz="4000" dirty="0"/>
                  <a:t> </a:t>
                </a:r>
                <a14:m>
                  <m:oMath xmlns:m="http://schemas.openxmlformats.org/officeDocument/2006/math">
                    <m:r>
                      <a:rPr lang="en-US" sz="3600" i="1" smtClean="0">
                        <a:solidFill>
                          <a:schemeClr val="bg1"/>
                        </a:solidFill>
                        <a:latin typeface="Cambria Math" panose="02040503050406030204" pitchFamily="18" charset="0"/>
                      </a:rPr>
                      <m:t>𝜌</m:t>
                    </m:r>
                  </m:oMath>
                </a14:m>
                <a:endParaRPr lang="en-US" sz="3600" dirty="0"/>
              </a:p>
            </p:txBody>
          </p:sp>
        </mc:Choice>
        <mc:Fallback xmlns="">
          <p:sp>
            <p:nvSpPr>
              <p:cNvPr id="4" name="Rectangle 3">
                <a:extLst>
                  <a:ext uri="{FF2B5EF4-FFF2-40B4-BE49-F238E27FC236}">
                    <a16:creationId xmlns:a16="http://schemas.microsoft.com/office/drawing/2014/main" id="{FA2AFBA0-B906-4A1A-8F2B-7DABBA8D5113}"/>
                  </a:ext>
                </a:extLst>
              </p:cNvPr>
              <p:cNvSpPr>
                <a:spLocks noRot="1" noChangeAspect="1" noMove="1" noResize="1" noEditPoints="1" noAdjustHandles="1" noChangeArrowheads="1" noChangeShapeType="1" noTextEdit="1"/>
              </p:cNvSpPr>
              <p:nvPr/>
            </p:nvSpPr>
            <p:spPr>
              <a:xfrm>
                <a:off x="0" y="-18029"/>
                <a:ext cx="12192000" cy="1355216"/>
              </a:xfrm>
              <a:prstGeom prst="rect">
                <a:avLst/>
              </a:prstGeom>
              <a:blipFill>
                <a:blip r:embed="rId3"/>
                <a:stretch>
                  <a:fillRect/>
                </a:stretch>
              </a:blipFill>
              <a:ln>
                <a:noFill/>
              </a:ln>
            </p:spPr>
            <p:txBody>
              <a:bodyPr/>
              <a:lstStyle/>
              <a:p>
                <a:r>
                  <a:rPr lang="en-US">
                    <a:noFill/>
                  </a:rPr>
                  <a:t> </a:t>
                </a:r>
              </a:p>
            </p:txBody>
          </p:sp>
        </mc:Fallback>
      </mc:AlternateContent>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872B258-F9F4-49FD-99B2-106DA72C09B1}"/>
                  </a:ext>
                </a:extLst>
              </p:cNvPr>
              <p:cNvSpPr txBox="1"/>
              <p:nvPr/>
            </p:nvSpPr>
            <p:spPr>
              <a:xfrm>
                <a:off x="681169" y="1695098"/>
                <a:ext cx="10812162" cy="5319598"/>
              </a:xfrm>
              <a:prstGeom prst="rect">
                <a:avLst/>
              </a:prstGeom>
              <a:noFill/>
            </p:spPr>
            <p:txBody>
              <a:bodyPr wrap="square">
                <a:spAutoFit/>
              </a:bodyPr>
              <a:lstStyle/>
              <a:p>
                <a:r>
                  <a:rPr lang="en-US" altLang="en-US" sz="2800" dirty="0">
                    <a:solidFill>
                      <a:schemeClr val="tx1"/>
                    </a:solidFill>
                  </a:rPr>
                  <a:t>The overall variance of the outcome variable, </a:t>
                </a:r>
                <a14:m>
                  <m:oMath xmlns:m="http://schemas.openxmlformats.org/officeDocument/2006/math">
                    <m:sSub>
                      <m:sSubPr>
                        <m:ctrlPr>
                          <a:rPr lang="en-US" altLang="en-US" sz="2800" b="0" i="1" smtClean="0">
                            <a:solidFill>
                              <a:schemeClr val="tx1"/>
                            </a:solidFill>
                            <a:latin typeface="Cambria Math" panose="02040503050406030204" pitchFamily="18" charset="0"/>
                          </a:rPr>
                        </m:ctrlPr>
                      </m:sSubPr>
                      <m:e>
                        <m:r>
                          <a:rPr lang="en-US" altLang="en-US" sz="2800" b="0" i="1" smtClean="0">
                            <a:solidFill>
                              <a:schemeClr val="tx1"/>
                            </a:solidFill>
                            <a:latin typeface="Cambria Math" panose="02040503050406030204" pitchFamily="18" charset="0"/>
                          </a:rPr>
                          <m:t>𝑌</m:t>
                        </m:r>
                      </m:e>
                      <m:sub>
                        <m:r>
                          <a:rPr lang="en-US" altLang="en-US" sz="2800" b="0" i="1" smtClean="0">
                            <a:solidFill>
                              <a:schemeClr val="tx1"/>
                            </a:solidFill>
                            <a:latin typeface="Cambria Math" panose="02040503050406030204" pitchFamily="18" charset="0"/>
                          </a:rPr>
                          <m:t>𝑖𝑗𝑘</m:t>
                        </m:r>
                      </m:sub>
                    </m:sSub>
                  </m:oMath>
                </a14:m>
                <a:r>
                  <a:rPr lang="en-US" altLang="en-US" sz="2800" dirty="0">
                    <a:solidFill>
                      <a:schemeClr val="tx1"/>
                    </a:solidFill>
                  </a:rPr>
                  <a:t>, is </a:t>
                </a:r>
                <a14:m>
                  <m:oMath xmlns:m="http://schemas.openxmlformats.org/officeDocument/2006/math">
                    <m:sSup>
                      <m:sSupPr>
                        <m:ctrlPr>
                          <a:rPr lang="en-US" sz="2800" i="1" smtClean="0">
                            <a:solidFill>
                              <a:schemeClr val="tx1"/>
                            </a:solidFill>
                            <a:latin typeface="Cambria Math" panose="02040503050406030204" pitchFamily="18" charset="0"/>
                          </a:rPr>
                        </m:ctrlPr>
                      </m:sSupPr>
                      <m:e>
                        <m:r>
                          <a:rPr lang="en-US" sz="2800" i="1">
                            <a:solidFill>
                              <a:schemeClr val="tx1"/>
                            </a:solidFill>
                            <a:latin typeface="Cambria Math" panose="02040503050406030204" pitchFamily="18" charset="0"/>
                          </a:rPr>
                          <m:t>𝜎</m:t>
                        </m:r>
                      </m:e>
                      <m:sup>
                        <m:r>
                          <a:rPr lang="en-US" sz="2800" i="1">
                            <a:solidFill>
                              <a:schemeClr val="tx1"/>
                            </a:solidFill>
                            <a:latin typeface="Cambria Math" panose="02040503050406030204" pitchFamily="18" charset="0"/>
                          </a:rPr>
                          <m:t>2</m:t>
                        </m:r>
                      </m:sup>
                    </m:sSup>
                    <m:r>
                      <a:rPr lang="en-US" sz="2800" b="0" i="1" smtClean="0">
                        <a:solidFill>
                          <a:schemeClr val="tx1"/>
                        </a:solidFill>
                        <a:latin typeface="Cambria Math" panose="02040503050406030204" pitchFamily="18" charset="0"/>
                      </a:rPr>
                      <m:t>.</m:t>
                    </m:r>
                    <m:sSup>
                      <m:sSupPr>
                        <m:ctrlPr>
                          <a:rPr lang="en-US" sz="2800" i="1">
                            <a:latin typeface="Cambria Math" panose="02040503050406030204" pitchFamily="18" charset="0"/>
                          </a:rPr>
                        </m:ctrlPr>
                      </m:sSupPr>
                      <m:e>
                        <m:r>
                          <a:rPr lang="en-US" sz="2800" i="1">
                            <a:latin typeface="Cambria Math" panose="02040503050406030204" pitchFamily="18" charset="0"/>
                          </a:rPr>
                          <m:t>𝜎</m:t>
                        </m:r>
                      </m:e>
                      <m:sup>
                        <m:r>
                          <a:rPr lang="en-US" sz="2800" i="1">
                            <a:latin typeface="Cambria Math" panose="02040503050406030204" pitchFamily="18" charset="0"/>
                          </a:rPr>
                          <m:t>2</m:t>
                        </m:r>
                      </m:sup>
                    </m:sSup>
                  </m:oMath>
                </a14:m>
                <a:r>
                  <a:rPr lang="en-US" altLang="en-US" sz="2800" dirty="0">
                    <a:solidFill>
                      <a:schemeClr val="tx1"/>
                    </a:solidFill>
                  </a:rPr>
                  <a:t> may be expressed as the sum of two components, i.e.,</a:t>
                </a:r>
              </a:p>
              <a:p>
                <a:endParaRPr lang="en-US" altLang="en-US" sz="2800" dirty="0">
                  <a:solidFill>
                    <a:schemeClr val="tx1"/>
                  </a:solidFill>
                </a:endParaRPr>
              </a:p>
              <a:p>
                <a:pPr algn="ctr" eaLnBrk="1" hangingPunct="1"/>
                <a14:m>
                  <m:oMathPara xmlns:m="http://schemas.openxmlformats.org/officeDocument/2006/math">
                    <m:oMathParaPr>
                      <m:jc m:val="centerGroup"/>
                    </m:oMathParaPr>
                    <m:oMath xmlns:m="http://schemas.openxmlformats.org/officeDocument/2006/math">
                      <m:sSup>
                        <m:sSupPr>
                          <m:ctrlPr>
                            <a:rPr lang="en-US" sz="2800" i="1" smtClean="0">
                              <a:solidFill>
                                <a:schemeClr val="tx1"/>
                              </a:solidFill>
                              <a:latin typeface="Cambria Math" panose="02040503050406030204" pitchFamily="18" charset="0"/>
                            </a:rPr>
                          </m:ctrlPr>
                        </m:sSupPr>
                        <m:e>
                          <m:r>
                            <a:rPr lang="en-US" sz="2800" i="1">
                              <a:solidFill>
                                <a:schemeClr val="tx1"/>
                              </a:solidFill>
                              <a:latin typeface="Cambria Math" panose="02040503050406030204" pitchFamily="18" charset="0"/>
                            </a:rPr>
                            <m:t>𝜎</m:t>
                          </m:r>
                        </m:e>
                        <m:sup>
                          <m:r>
                            <a:rPr lang="en-US" sz="2800" i="1">
                              <a:solidFill>
                                <a:schemeClr val="tx1"/>
                              </a:solidFill>
                              <a:latin typeface="Cambria Math" panose="02040503050406030204" pitchFamily="18" charset="0"/>
                            </a:rPr>
                            <m:t>2</m:t>
                          </m:r>
                        </m:sup>
                      </m:sSup>
                      <m:r>
                        <a:rPr lang="en-US" sz="2800" i="1">
                          <a:solidFill>
                            <a:schemeClr val="tx1"/>
                          </a:solidFill>
                          <a:latin typeface="Cambria Math" panose="02040503050406030204" pitchFamily="18" charset="0"/>
                        </a:rPr>
                        <m:t>=</m:t>
                      </m:r>
                      <m:sSubSup>
                        <m:sSubSupPr>
                          <m:ctrlPr>
                            <a:rPr lang="en-US" sz="2800" i="1">
                              <a:solidFill>
                                <a:schemeClr val="tx1"/>
                              </a:solidFill>
                              <a:latin typeface="Cambria Math" panose="02040503050406030204" pitchFamily="18" charset="0"/>
                            </a:rPr>
                          </m:ctrlPr>
                        </m:sSubSupPr>
                        <m:e>
                          <m:r>
                            <a:rPr lang="en-US" sz="2800" i="1">
                              <a:solidFill>
                                <a:schemeClr val="tx1"/>
                              </a:solidFill>
                              <a:latin typeface="Cambria Math" panose="02040503050406030204" pitchFamily="18" charset="0"/>
                            </a:rPr>
                            <m:t>𝜎</m:t>
                          </m:r>
                        </m:e>
                        <m:sub>
                          <m:r>
                            <a:rPr lang="en-US" sz="2800" i="1">
                              <a:solidFill>
                                <a:schemeClr val="tx1"/>
                              </a:solidFill>
                              <a:latin typeface="Cambria Math" panose="02040503050406030204" pitchFamily="18" charset="0"/>
                            </a:rPr>
                            <m:t>𝐵</m:t>
                          </m:r>
                        </m:sub>
                        <m:sup>
                          <m:r>
                            <a:rPr lang="en-US" sz="2800" i="0">
                              <a:solidFill>
                                <a:schemeClr val="tx1"/>
                              </a:solidFill>
                              <a:latin typeface="Cambria Math" panose="02040503050406030204" pitchFamily="18" charset="0"/>
                            </a:rPr>
                            <m:t>2</m:t>
                          </m:r>
                        </m:sup>
                      </m:sSubSup>
                      <m:r>
                        <a:rPr lang="en-US" sz="2800" i="1">
                          <a:solidFill>
                            <a:schemeClr val="tx1"/>
                          </a:solidFill>
                          <a:latin typeface="Cambria Math" panose="02040503050406030204" pitchFamily="18" charset="0"/>
                        </a:rPr>
                        <m:t>+</m:t>
                      </m:r>
                      <m:sSubSup>
                        <m:sSubSupPr>
                          <m:ctrlPr>
                            <a:rPr lang="en-US" sz="2800" i="1">
                              <a:solidFill>
                                <a:schemeClr val="tx1"/>
                              </a:solidFill>
                              <a:latin typeface="Cambria Math" panose="02040503050406030204" pitchFamily="18" charset="0"/>
                            </a:rPr>
                          </m:ctrlPr>
                        </m:sSubSupPr>
                        <m:e>
                          <m:r>
                            <a:rPr lang="en-US" sz="2800" i="1">
                              <a:solidFill>
                                <a:schemeClr val="tx1"/>
                              </a:solidFill>
                              <a:latin typeface="Cambria Math" panose="02040503050406030204" pitchFamily="18" charset="0"/>
                            </a:rPr>
                            <m:t>𝜎</m:t>
                          </m:r>
                        </m:e>
                        <m:sub>
                          <m:r>
                            <a:rPr lang="en-US" sz="2800" i="1">
                              <a:solidFill>
                                <a:schemeClr val="tx1"/>
                              </a:solidFill>
                              <a:latin typeface="Cambria Math" panose="02040503050406030204" pitchFamily="18" charset="0"/>
                            </a:rPr>
                            <m:t>𝑊</m:t>
                          </m:r>
                        </m:sub>
                        <m:sup>
                          <m:r>
                            <a:rPr lang="en-US" sz="2800" i="0">
                              <a:solidFill>
                                <a:schemeClr val="tx1"/>
                              </a:solidFill>
                              <a:latin typeface="Cambria Math" panose="02040503050406030204" pitchFamily="18" charset="0"/>
                            </a:rPr>
                            <m:t>2</m:t>
                          </m:r>
                        </m:sup>
                      </m:sSubSup>
                      <m:r>
                        <a:rPr lang="en-US" sz="2800" i="1">
                          <a:solidFill>
                            <a:schemeClr val="tx1"/>
                          </a:solidFill>
                          <a:latin typeface="Cambria Math" panose="02040503050406030204" pitchFamily="18" charset="0"/>
                        </a:rPr>
                        <m:t>,</m:t>
                      </m:r>
                    </m:oMath>
                  </m:oMathPara>
                </a14:m>
                <a:endParaRPr lang="en-US" altLang="en-US" sz="2800" dirty="0">
                  <a:solidFill>
                    <a:schemeClr val="tx1"/>
                  </a:solidFill>
                </a:endParaRPr>
              </a:p>
              <a:p>
                <a:pPr eaLnBrk="1" hangingPunct="1"/>
                <a:r>
                  <a:rPr lang="en-US" altLang="en-US" sz="2800" dirty="0">
                    <a:solidFill>
                      <a:schemeClr val="tx1"/>
                    </a:solidFill>
                  </a:rPr>
                  <a:t>where </a:t>
                </a:r>
              </a:p>
              <a:p>
                <a:pPr eaLnBrk="1" hangingPunct="1"/>
                <a:r>
                  <a:rPr lang="en-US" altLang="en-US" sz="2800" dirty="0">
                    <a:solidFill>
                      <a:schemeClr val="tx1"/>
                    </a:solidFill>
                  </a:rPr>
                  <a:t> 	</a:t>
                </a:r>
                <a14:m>
                  <m:oMath xmlns:m="http://schemas.openxmlformats.org/officeDocument/2006/math">
                    <m:sSubSup>
                      <m:sSubSupPr>
                        <m:ctrlPr>
                          <a:rPr lang="en-US" sz="2800" i="1" smtClean="0">
                            <a:solidFill>
                              <a:schemeClr val="tx1"/>
                            </a:solidFill>
                            <a:latin typeface="Cambria Math" panose="02040503050406030204" pitchFamily="18" charset="0"/>
                          </a:rPr>
                        </m:ctrlPr>
                      </m:sSubSupPr>
                      <m:e>
                        <m:r>
                          <a:rPr lang="en-US" sz="2800" i="1">
                            <a:solidFill>
                              <a:schemeClr val="tx1"/>
                            </a:solidFill>
                            <a:latin typeface="Cambria Math" panose="02040503050406030204" pitchFamily="18" charset="0"/>
                          </a:rPr>
                          <m:t>𝜎</m:t>
                        </m:r>
                      </m:e>
                      <m:sub>
                        <m:r>
                          <a:rPr lang="en-US" sz="2800" i="1">
                            <a:solidFill>
                              <a:schemeClr val="tx1"/>
                            </a:solidFill>
                            <a:latin typeface="Cambria Math" panose="02040503050406030204" pitchFamily="18" charset="0"/>
                          </a:rPr>
                          <m:t>𝐵</m:t>
                        </m:r>
                      </m:sub>
                      <m:sup>
                        <m:r>
                          <a:rPr lang="en-US" sz="2800" i="0">
                            <a:solidFill>
                              <a:schemeClr val="tx1"/>
                            </a:solidFill>
                            <a:latin typeface="Cambria Math" panose="02040503050406030204" pitchFamily="18" charset="0"/>
                          </a:rPr>
                          <m:t>2</m:t>
                        </m:r>
                      </m:sup>
                    </m:sSubSup>
                    <m:r>
                      <a:rPr lang="en-US" sz="2800" i="1">
                        <a:solidFill>
                          <a:schemeClr val="tx1"/>
                        </a:solidFill>
                        <a:latin typeface="Cambria Math" panose="02040503050406030204" pitchFamily="18" charset="0"/>
                      </a:rPr>
                      <m:t>= </m:t>
                    </m:r>
                  </m:oMath>
                </a14:m>
                <a:r>
                  <a:rPr lang="en-US" altLang="en-US" sz="2800" dirty="0">
                    <a:solidFill>
                      <a:schemeClr val="tx1"/>
                    </a:solidFill>
                  </a:rPr>
                  <a:t>between-cluster component of variance</a:t>
                </a:r>
              </a:p>
              <a:p>
                <a:pPr eaLnBrk="1" hangingPunct="1"/>
                <a:endParaRPr lang="en-US" altLang="en-US" sz="2800" dirty="0">
                  <a:solidFill>
                    <a:schemeClr val="tx1"/>
                  </a:solidFill>
                </a:endParaRPr>
              </a:p>
              <a:p>
                <a:pPr eaLnBrk="1" hangingPunct="1"/>
                <a:r>
                  <a:rPr lang="en-US" sz="2800" dirty="0">
                    <a:solidFill>
                      <a:schemeClr val="tx1"/>
                    </a:solidFill>
                  </a:rPr>
                  <a:t> 	</a:t>
                </a:r>
                <a14:m>
                  <m:oMath xmlns:m="http://schemas.openxmlformats.org/officeDocument/2006/math">
                    <m:sSubSup>
                      <m:sSubSupPr>
                        <m:ctrlPr>
                          <a:rPr lang="en-US" sz="2800" i="1" smtClean="0">
                            <a:solidFill>
                              <a:schemeClr val="tx1"/>
                            </a:solidFill>
                            <a:latin typeface="Cambria Math" panose="02040503050406030204" pitchFamily="18" charset="0"/>
                          </a:rPr>
                        </m:ctrlPr>
                      </m:sSubSupPr>
                      <m:e>
                        <m:r>
                          <a:rPr lang="en-US" sz="2800" i="1">
                            <a:solidFill>
                              <a:schemeClr val="tx1"/>
                            </a:solidFill>
                            <a:latin typeface="Cambria Math" panose="02040503050406030204" pitchFamily="18" charset="0"/>
                          </a:rPr>
                          <m:t>𝜎</m:t>
                        </m:r>
                      </m:e>
                      <m:sub>
                        <m:r>
                          <a:rPr lang="en-US" sz="2800" i="1">
                            <a:solidFill>
                              <a:schemeClr val="tx1"/>
                            </a:solidFill>
                            <a:latin typeface="Cambria Math" panose="02040503050406030204" pitchFamily="18" charset="0"/>
                          </a:rPr>
                          <m:t>𝑊</m:t>
                        </m:r>
                      </m:sub>
                      <m:sup>
                        <m:r>
                          <a:rPr lang="en-US" sz="2800" i="0">
                            <a:solidFill>
                              <a:schemeClr val="tx1"/>
                            </a:solidFill>
                            <a:latin typeface="Cambria Math" panose="02040503050406030204" pitchFamily="18" charset="0"/>
                          </a:rPr>
                          <m:t>2</m:t>
                        </m:r>
                      </m:sup>
                    </m:sSubSup>
                    <m:r>
                      <a:rPr lang="en-US" sz="2800" i="1">
                        <a:solidFill>
                          <a:schemeClr val="tx1"/>
                        </a:solidFill>
                        <a:latin typeface="Cambria Math" panose="02040503050406030204" pitchFamily="18" charset="0"/>
                      </a:rPr>
                      <m:t>= </m:t>
                    </m:r>
                  </m:oMath>
                </a14:m>
                <a:r>
                  <a:rPr lang="en-US" altLang="en-US" sz="2800" dirty="0">
                    <a:solidFill>
                      <a:schemeClr val="tx1"/>
                    </a:solidFill>
                  </a:rPr>
                  <a:t>within-cluster component of variance. </a:t>
                </a:r>
              </a:p>
              <a:p>
                <a:pPr eaLnBrk="1" hangingPunct="1"/>
                <a:endParaRPr lang="en-US" altLang="en-US" sz="2800" dirty="0">
                  <a:solidFill>
                    <a:schemeClr val="tx1"/>
                  </a:solidFill>
                </a:endParaRPr>
              </a:p>
              <a:p>
                <a:pPr eaLnBrk="1" hangingPunct="1"/>
                <a:r>
                  <a:rPr lang="en-US" altLang="en-US" sz="2800" dirty="0"/>
                  <a:t>In the next slide, we derive this expression for the variance and then the expression for </a:t>
                </a:r>
                <a14:m>
                  <m:oMath xmlns:m="http://schemas.openxmlformats.org/officeDocument/2006/math">
                    <m:r>
                      <m:rPr>
                        <m:sty m:val="p"/>
                      </m:rPr>
                      <a:rPr lang="en-US" altLang="en-US" sz="2800" b="0" i="0" smtClean="0">
                        <a:latin typeface="Cambria Math" panose="02040503050406030204" pitchFamily="18" charset="0"/>
                      </a:rPr>
                      <m:t>ρ</m:t>
                    </m:r>
                  </m:oMath>
                </a14:m>
                <a:endParaRPr lang="en-US" altLang="en-US" sz="2800" b="0" dirty="0"/>
              </a:p>
              <a:p>
                <a:pPr eaLnBrk="1" hangingPunct="1"/>
                <a:r>
                  <a:rPr lang="en-US" altLang="en-US" sz="2800" dirty="0"/>
                  <a:t>.</a:t>
                </a:r>
                <a:endParaRPr lang="en-US" altLang="en-US" sz="2800" dirty="0">
                  <a:solidFill>
                    <a:schemeClr val="tx1"/>
                  </a:solidFill>
                </a:endParaRPr>
              </a:p>
            </p:txBody>
          </p:sp>
        </mc:Choice>
        <mc:Fallback xmlns="">
          <p:sp>
            <p:nvSpPr>
              <p:cNvPr id="5" name="TextBox 4">
                <a:extLst>
                  <a:ext uri="{FF2B5EF4-FFF2-40B4-BE49-F238E27FC236}">
                    <a16:creationId xmlns:a16="http://schemas.microsoft.com/office/drawing/2014/main" id="{9872B258-F9F4-49FD-99B2-106DA72C09B1}"/>
                  </a:ext>
                </a:extLst>
              </p:cNvPr>
              <p:cNvSpPr txBox="1">
                <a:spLocks noRot="1" noChangeAspect="1" noMove="1" noResize="1" noEditPoints="1" noAdjustHandles="1" noChangeArrowheads="1" noChangeShapeType="1" noTextEdit="1"/>
              </p:cNvSpPr>
              <p:nvPr/>
            </p:nvSpPr>
            <p:spPr>
              <a:xfrm>
                <a:off x="681169" y="1695098"/>
                <a:ext cx="10812162" cy="5319598"/>
              </a:xfrm>
              <a:prstGeom prst="rect">
                <a:avLst/>
              </a:prstGeom>
              <a:blipFill>
                <a:blip r:embed="rId5"/>
                <a:stretch>
                  <a:fillRect l="-1184" t="-916" b="-2291"/>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9BA4AB99-CBBD-3F48-AD58-236502E6F41D}"/>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6D5C347B-82A0-0A4F-AAF5-CD5D7FBCF57D}"/>
              </a:ext>
            </a:extLst>
          </p:cNvPr>
          <p:cNvSpPr>
            <a:spLocks noGrp="1"/>
          </p:cNvSpPr>
          <p:nvPr>
            <p:ph type="sldNum" sz="quarter" idx="12"/>
          </p:nvPr>
        </p:nvSpPr>
        <p:spPr/>
        <p:txBody>
          <a:bodyPr/>
          <a:lstStyle/>
          <a:p>
            <a:fld id="{77C6A7FE-225D-49F1-B302-AA37EA92BB49}" type="slidenum">
              <a:rPr lang="en-US" smtClean="0"/>
              <a:t>24</a:t>
            </a:fld>
            <a:endParaRPr lang="en-US"/>
          </a:p>
        </p:txBody>
      </p:sp>
    </p:spTree>
    <p:extLst>
      <p:ext uri="{BB962C8B-B14F-4D97-AF65-F5344CB8AC3E}">
        <p14:creationId xmlns:p14="http://schemas.microsoft.com/office/powerpoint/2010/main" val="1114384991"/>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Variance Component Interpretation of</a:t>
                </a:r>
                <a:r>
                  <a:rPr lang="en-US" sz="4000" dirty="0"/>
                  <a:t> </a:t>
                </a:r>
                <a14:m>
                  <m:oMath xmlns:m="http://schemas.openxmlformats.org/officeDocument/2006/math">
                    <m:r>
                      <a:rPr lang="en-US" sz="3600" i="1" smtClean="0">
                        <a:solidFill>
                          <a:schemeClr val="bg1"/>
                        </a:solidFill>
                        <a:latin typeface="Cambria Math" panose="02040503050406030204" pitchFamily="18" charset="0"/>
                      </a:rPr>
                      <m:t>𝜌</m:t>
                    </m:r>
                  </m:oMath>
                </a14:m>
                <a:r>
                  <a:rPr lang="en-US" sz="3600" dirty="0"/>
                  <a:t> (cont.)</a:t>
                </a:r>
              </a:p>
            </p:txBody>
          </p:sp>
        </mc:Choice>
        <mc:Fallback xmlns="">
          <p:sp>
            <p:nvSpPr>
              <p:cNvPr id="4" name="Rectangle 3">
                <a:extLst>
                  <a:ext uri="{FF2B5EF4-FFF2-40B4-BE49-F238E27FC236}">
                    <a16:creationId xmlns:a16="http://schemas.microsoft.com/office/drawing/2014/main" id="{FA2AFBA0-B906-4A1A-8F2B-7DABBA8D5113}"/>
                  </a:ext>
                </a:extLst>
              </p:cNvPr>
              <p:cNvSpPr>
                <a:spLocks noRot="1" noChangeAspect="1" noMove="1" noResize="1" noEditPoints="1" noAdjustHandles="1" noChangeArrowheads="1" noChangeShapeType="1" noTextEdit="1"/>
              </p:cNvSpPr>
              <p:nvPr/>
            </p:nvSpPr>
            <p:spPr>
              <a:xfrm>
                <a:off x="0" y="-18029"/>
                <a:ext cx="12192000" cy="1355216"/>
              </a:xfrm>
              <a:prstGeom prst="rect">
                <a:avLst/>
              </a:prstGeom>
              <a:blipFill>
                <a:blip r:embed="rId3"/>
                <a:stretch>
                  <a:fillRect/>
                </a:stretch>
              </a:blipFill>
              <a:ln>
                <a:noFill/>
              </a:ln>
            </p:spPr>
            <p:txBody>
              <a:bodyPr/>
              <a:lstStyle/>
              <a:p>
                <a:r>
                  <a:rPr lang="en-US">
                    <a:noFill/>
                  </a:rPr>
                  <a:t> </a:t>
                </a:r>
              </a:p>
            </p:txBody>
          </p:sp>
        </mc:Fallback>
      </mc:AlternateContent>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872B258-F9F4-49FD-99B2-106DA72C09B1}"/>
                  </a:ext>
                </a:extLst>
              </p:cNvPr>
              <p:cNvSpPr txBox="1"/>
              <p:nvPr/>
            </p:nvSpPr>
            <p:spPr>
              <a:xfrm>
                <a:off x="7026413" y="5563925"/>
                <a:ext cx="10812162" cy="379976"/>
              </a:xfrm>
              <a:prstGeom prst="rect">
                <a:avLst/>
              </a:prstGeom>
              <a:noFill/>
            </p:spPr>
            <p:txBody>
              <a:bodyPr wrap="square">
                <a:spAutoFit/>
              </a:bodyPr>
              <a:lstStyle/>
              <a:p>
                <a:pPr>
                  <a:spcBef>
                    <a:spcPct val="50000"/>
                  </a:spcBef>
                </a:pPr>
                <a:r>
                  <a:rPr lang="en-US" altLang="en-US" dirty="0">
                    <a:solidFill>
                      <a:schemeClr val="tx1"/>
                    </a:solidFill>
                  </a:rPr>
                  <a:t>And </a:t>
                </a:r>
                <a14:m>
                  <m:oMath xmlns:m="http://schemas.openxmlformats.org/officeDocument/2006/math">
                    <m:sSubSup>
                      <m:sSubSupPr>
                        <m:ctrlPr>
                          <a:rPr lang="en-US" i="1" smtClean="0">
                            <a:solidFill>
                              <a:schemeClr val="tx1"/>
                            </a:solidFill>
                            <a:latin typeface="Cambria Math" panose="02040503050406030204" pitchFamily="18" charset="0"/>
                          </a:rPr>
                        </m:ctrlPr>
                      </m:sSubSupPr>
                      <m:e>
                        <m:r>
                          <a:rPr lang="en-US" i="1">
                            <a:solidFill>
                              <a:schemeClr val="tx1"/>
                            </a:solidFill>
                            <a:latin typeface="Cambria Math" panose="02040503050406030204" pitchFamily="18" charset="0"/>
                          </a:rPr>
                          <m:t>𝜎</m:t>
                        </m:r>
                      </m:e>
                      <m:sub>
                        <m:r>
                          <m:rPr>
                            <m:sty m:val="p"/>
                          </m:rPr>
                          <a:rPr lang="en-US" i="0">
                            <a:solidFill>
                              <a:schemeClr val="tx1"/>
                            </a:solidFill>
                            <a:latin typeface="Cambria Math" panose="02040503050406030204" pitchFamily="18" charset="0"/>
                          </a:rPr>
                          <m:t>W</m:t>
                        </m:r>
                      </m:sub>
                      <m:sup>
                        <m:r>
                          <a:rPr lang="en-US" i="0">
                            <a:solidFill>
                              <a:schemeClr val="tx1"/>
                            </a:solidFill>
                            <a:latin typeface="Cambria Math" panose="02040503050406030204" pitchFamily="18" charset="0"/>
                          </a:rPr>
                          <m:t>2</m:t>
                        </m:r>
                      </m:sup>
                    </m:sSubSup>
                    <m:r>
                      <a:rPr lang="en-US" i="1">
                        <a:solidFill>
                          <a:schemeClr val="tx1"/>
                        </a:solidFill>
                        <a:latin typeface="Cambria Math" panose="02040503050406030204" pitchFamily="18" charset="0"/>
                      </a:rPr>
                      <m:t>=</m:t>
                    </m:r>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𝜎</m:t>
                        </m:r>
                      </m:e>
                      <m:sup>
                        <m:r>
                          <a:rPr lang="en-US" i="1">
                            <a:solidFill>
                              <a:schemeClr val="tx1"/>
                            </a:solidFill>
                            <a:latin typeface="Cambria Math" panose="02040503050406030204" pitchFamily="18" charset="0"/>
                          </a:rPr>
                          <m:t>2</m:t>
                        </m:r>
                      </m:sup>
                    </m:sSup>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1−</m:t>
                        </m:r>
                        <m:r>
                          <a:rPr lang="en-US" i="1">
                            <a:solidFill>
                              <a:schemeClr val="tx1"/>
                            </a:solidFill>
                            <a:latin typeface="Cambria Math" panose="02040503050406030204" pitchFamily="18" charset="0"/>
                          </a:rPr>
                          <m:t>𝜌</m:t>
                        </m:r>
                      </m:e>
                    </m:d>
                  </m:oMath>
                </a14:m>
                <a:r>
                  <a:rPr lang="en-US" altLang="en-US" sz="1400" dirty="0">
                    <a:solidFill>
                      <a:schemeClr val="tx1"/>
                    </a:solidFill>
                  </a:rPr>
                  <a:t>.    </a:t>
                </a:r>
              </a:p>
            </p:txBody>
          </p:sp>
        </mc:Choice>
        <mc:Fallback xmlns="">
          <p:sp>
            <p:nvSpPr>
              <p:cNvPr id="5" name="TextBox 4">
                <a:extLst>
                  <a:ext uri="{FF2B5EF4-FFF2-40B4-BE49-F238E27FC236}">
                    <a16:creationId xmlns:a16="http://schemas.microsoft.com/office/drawing/2014/main" id="{9872B258-F9F4-49FD-99B2-106DA72C09B1}"/>
                  </a:ext>
                </a:extLst>
              </p:cNvPr>
              <p:cNvSpPr txBox="1">
                <a:spLocks noRot="1" noChangeAspect="1" noMove="1" noResize="1" noEditPoints="1" noAdjustHandles="1" noChangeArrowheads="1" noChangeShapeType="1" noTextEdit="1"/>
              </p:cNvSpPr>
              <p:nvPr/>
            </p:nvSpPr>
            <p:spPr>
              <a:xfrm>
                <a:off x="7026413" y="5563925"/>
                <a:ext cx="10812162" cy="379976"/>
              </a:xfrm>
              <a:prstGeom prst="rect">
                <a:avLst/>
              </a:prstGeom>
              <a:blipFill>
                <a:blip r:embed="rId5"/>
                <a:stretch>
                  <a:fillRect l="-469" t="-6452" b="-258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317BD37-386B-304D-9D30-E658C6187AB9}"/>
                  </a:ext>
                </a:extLst>
              </p:cNvPr>
              <p:cNvSpPr txBox="1"/>
              <p:nvPr/>
            </p:nvSpPr>
            <p:spPr>
              <a:xfrm>
                <a:off x="384671" y="1278239"/>
                <a:ext cx="10511929" cy="1347357"/>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ea typeface="Cambria Math" panose="02040503050406030204" pitchFamily="18" charset="0"/>
                      </a:rPr>
                      <m:t>𝑊𝑒</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𝑙𝑒𝑡</m:t>
                    </m:r>
                    <m:r>
                      <a:rPr lang="en-US" b="0" i="1" smtClean="0">
                        <a:latin typeface="Cambria Math" panose="02040503050406030204" pitchFamily="18" charset="0"/>
                        <a:ea typeface="Cambria Math" panose="02040503050406030204" pitchFamily="18" charset="0"/>
                      </a:rPr>
                      <m:t>  </m:t>
                    </m:r>
                    <m:r>
                      <a:rPr lang="en-US" i="1" smtClean="0">
                        <a:latin typeface="Cambria Math" panose="02040503050406030204" pitchFamily="18" charset="0"/>
                        <a:ea typeface="Cambria Math" panose="02040503050406030204" pitchFamily="18" charset="0"/>
                      </a:rPr>
                      <m:t>𝜌</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𝑐𝑜𝑟𝑟</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𝑌</m:t>
                            </m:r>
                          </m:e>
                          <m:sub>
                            <m:r>
                              <a:rPr lang="en-US" b="0" i="1" smtClean="0">
                                <a:latin typeface="Cambria Math" panose="02040503050406030204" pitchFamily="18" charset="0"/>
                                <a:ea typeface="Cambria Math" panose="02040503050406030204" pitchFamily="18" charset="0"/>
                              </a:rPr>
                              <m:t>𝑖𝑘𝑗</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𝑌</m:t>
                            </m:r>
                          </m:e>
                          <m:sub>
                            <m:r>
                              <a:rPr lang="en-US" b="0" i="1" smtClean="0">
                                <a:latin typeface="Cambria Math" panose="02040503050406030204" pitchFamily="18" charset="0"/>
                                <a:ea typeface="Cambria Math" panose="02040503050406030204" pitchFamily="18" charset="0"/>
                              </a:rPr>
                              <m:t>𝑖𝑘</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𝑗</m:t>
                                </m:r>
                              </m:e>
                              <m:sup>
                                <m:r>
                                  <a:rPr lang="en-US" b="0" i="1" smtClean="0">
                                    <a:latin typeface="Cambria Math" panose="02040503050406030204" pitchFamily="18" charset="0"/>
                                    <a:ea typeface="Cambria Math" panose="02040503050406030204" pitchFamily="18" charset="0"/>
                                  </a:rPr>
                                  <m:t>′</m:t>
                                </m:r>
                              </m:sup>
                            </m:sSup>
                          </m:sub>
                        </m:sSub>
                      </m:e>
                    </m:d>
                    <m:r>
                      <a:rPr lang="en-US" b="0" i="1" smtClean="0">
                        <a:latin typeface="Cambria Math" panose="02040503050406030204" pitchFamily="18" charset="0"/>
                        <a:ea typeface="Cambria Math" panose="02040503050406030204" pitchFamily="18" charset="0"/>
                      </a:rPr>
                      <m:t>. </m:t>
                    </m:r>
                  </m:oMath>
                </a14:m>
                <a:r>
                  <a:rPr lang="en-US" dirty="0"/>
                  <a:t> </a:t>
                </a:r>
              </a:p>
              <a:p>
                <a:endParaRPr lang="en-US" dirty="0"/>
              </a:p>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𝑖𝑘𝑗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𝛽</m:t>
                        </m:r>
                      </m:e>
                      <m:sup>
                        <m:r>
                          <a:rPr lang="en-US" b="0" i="1" smtClean="0">
                            <a:latin typeface="Cambria Math" panose="02040503050406030204" pitchFamily="18" charset="0"/>
                          </a:rPr>
                          <m:t>∗</m:t>
                        </m:r>
                      </m:sup>
                    </m:sSup>
                    <m:sSub>
                      <m:sSubPr>
                        <m:ctrlPr>
                          <a:rPr lang="en-US" i="1" dirty="0">
                            <a:latin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𝑋</m:t>
                        </m:r>
                      </m:e>
                      <m:sub>
                        <m:r>
                          <a:rPr lang="en-US" i="1" dirty="0">
                            <a:latin typeface="Cambria Math" panose="02040503050406030204" pitchFamily="18" charset="0"/>
                          </a:rPr>
                          <m:t>𝑖𝑘</m:t>
                        </m:r>
                        <m:r>
                          <a:rPr lang="en-US" b="0" i="1" dirty="0" smtClean="0">
                            <a:latin typeface="Cambria Math" panose="02040503050406030204" pitchFamily="18" charset="0"/>
                          </a:rPr>
                          <m:t>𝑗</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𝑏</m:t>
                        </m:r>
                      </m:e>
                      <m:sub>
                        <m:r>
                          <a:rPr lang="en-US" b="0" i="1" smtClean="0">
                            <a:latin typeface="Cambria Math" panose="02040503050406030204" pitchFamily="18" charset="0"/>
                            <a:ea typeface="Cambria Math" panose="02040503050406030204" pitchFamily="18" charset="0"/>
                          </a:rPr>
                          <m:t>𝑖𝑘</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𝑒</m:t>
                        </m:r>
                      </m:e>
                      <m:sub>
                        <m:r>
                          <a:rPr lang="en-US" b="0" i="1" smtClean="0">
                            <a:latin typeface="Cambria Math" panose="02040503050406030204" pitchFamily="18" charset="0"/>
                            <a:ea typeface="Cambria Math" panose="02040503050406030204" pitchFamily="18" charset="0"/>
                          </a:rPr>
                          <m:t>𝑖𝑘𝑗</m:t>
                        </m:r>
                      </m:sub>
                    </m:sSub>
                    <m:r>
                      <a:rPr lang="en-US" b="0" i="1" smtClean="0">
                        <a:latin typeface="Cambria Math" panose="02040503050406030204" pitchFamily="18" charset="0"/>
                        <a:ea typeface="Cambria Math" panose="02040503050406030204" pitchFamily="18" charset="0"/>
                      </a:rPr>
                      <m:t> </m:t>
                    </m:r>
                  </m:oMath>
                </a14:m>
                <a:r>
                  <a:rPr lang="en-US" dirty="0"/>
                  <a:t>with </a:t>
                </a:r>
                <a14:m>
                  <m:oMath xmlns:m="http://schemas.openxmlformats.org/officeDocument/2006/math">
                    <m:r>
                      <a:rPr lang="en-US" b="0" i="1" smtClean="0">
                        <a:latin typeface="Cambria Math" panose="02040503050406030204" pitchFamily="18" charset="0"/>
                      </a:rPr>
                      <m:t>𝑉𝑎𝑟</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𝑖𝑘</m:t>
                            </m:r>
                          </m:sub>
                        </m:sSub>
                      </m:e>
                    </m:d>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𝐵</m:t>
                        </m:r>
                      </m:sub>
                      <m:sup>
                        <m:r>
                          <a:rPr lang="en-US" b="0" i="1" smtClean="0">
                            <a:latin typeface="Cambria Math" panose="02040503050406030204" pitchFamily="18" charset="0"/>
                          </a:rPr>
                          <m:t>2</m:t>
                        </m:r>
                      </m:sup>
                    </m:sSubSup>
                  </m:oMath>
                </a14:m>
                <a:r>
                  <a:rPr lang="en-US" dirty="0"/>
                  <a:t> and </a:t>
                </a:r>
                <a14:m>
                  <m:oMath xmlns:m="http://schemas.openxmlformats.org/officeDocument/2006/math">
                    <m:r>
                      <a:rPr lang="en-US" i="1">
                        <a:latin typeface="Cambria Math" panose="02040503050406030204" pitchFamily="18" charset="0"/>
                      </a:rPr>
                      <m:t>𝑉𝑎𝑟</m:t>
                    </m:r>
                    <m:d>
                      <m:dPr>
                        <m:ctrlPr>
                          <a:rPr lang="en-US" i="1">
                            <a:latin typeface="Cambria Math" panose="02040503050406030204" pitchFamily="18" charset="0"/>
                          </a:rPr>
                        </m:ctrlPr>
                      </m:dPr>
                      <m:e>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𝑖𝑗𝑘</m:t>
                            </m:r>
                          </m:sub>
                        </m:sSub>
                      </m:e>
                    </m:d>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𝑊</m:t>
                        </m:r>
                      </m:sub>
                      <m:sup>
                        <m:r>
                          <a:rPr lang="en-US" i="1">
                            <a:latin typeface="Cambria Math" panose="02040503050406030204" pitchFamily="18" charset="0"/>
                          </a:rPr>
                          <m:t>2</m:t>
                        </m:r>
                      </m:sup>
                    </m:sSubSup>
                  </m:oMath>
                </a14:m>
                <a:r>
                  <a:rPr lang="en-US" dirty="0"/>
                  <a:t>. It is assumed that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𝐶𝑜𝑟𝑟</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𝑏</m:t>
                        </m:r>
                      </m:e>
                      <m:sub>
                        <m:r>
                          <a:rPr lang="en-US" i="1">
                            <a:latin typeface="Cambria Math" panose="02040503050406030204" pitchFamily="18" charset="0"/>
                            <a:ea typeface="Cambria Math" panose="02040503050406030204" pitchFamily="18" charset="0"/>
                          </a:rPr>
                          <m:t>𝑖𝑘</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𝑒</m:t>
                        </m:r>
                      </m:e>
                      <m:sub>
                        <m:r>
                          <a:rPr lang="en-US" i="1">
                            <a:latin typeface="Cambria Math" panose="02040503050406030204" pitchFamily="18" charset="0"/>
                            <a:ea typeface="Cambria Math" panose="02040503050406030204" pitchFamily="18" charset="0"/>
                          </a:rPr>
                          <m:t>𝑖𝑘𝑗</m:t>
                        </m:r>
                      </m:sub>
                    </m:sSub>
                    <m:r>
                      <a:rPr lang="en-US" b="0" i="1" smtClean="0">
                        <a:latin typeface="Cambria Math" panose="02040503050406030204" pitchFamily="18" charset="0"/>
                        <a:ea typeface="Cambria Math" panose="02040503050406030204" pitchFamily="18" charset="0"/>
                      </a:rPr>
                      <m:t>)=</m:t>
                    </m:r>
                    <m:r>
                      <m:rPr>
                        <m:nor/>
                      </m:rPr>
                      <a:rPr lang="en-US" i="1" dirty="0"/>
                      <m:t>Co</m:t>
                    </m:r>
                    <m:r>
                      <m:rPr>
                        <m:nor/>
                      </m:rPr>
                      <a:rPr lang="en-US" b="0" i="1" dirty="0" smtClean="0"/>
                      <m:t>rr</m:t>
                    </m:r>
                    <m:r>
                      <m:rPr>
                        <m:nor/>
                      </m:rPr>
                      <a:rPr lang="en-US" i="0" dirty="0"/>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𝑒</m:t>
                        </m:r>
                      </m:e>
                      <m:sub>
                        <m:r>
                          <a:rPr lang="en-US" i="1">
                            <a:latin typeface="Cambria Math" panose="02040503050406030204" pitchFamily="18" charset="0"/>
                            <a:ea typeface="Cambria Math" panose="02040503050406030204" pitchFamily="18" charset="0"/>
                          </a:rPr>
                          <m:t>𝑖𝑘𝑗</m:t>
                        </m:r>
                      </m:sub>
                    </m:sSub>
                    <m:r>
                      <a:rPr lang="en-US" i="1">
                        <a:latin typeface="Cambria Math" panose="02040503050406030204" pitchFamily="18" charset="0"/>
                        <a:ea typeface="Cambria Math" panose="02040503050406030204" pitchFamily="18" charset="0"/>
                      </a:rPr>
                      <m:t> </m:t>
                    </m:r>
                    <m:r>
                      <a:rPr lang="en-US">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𝑒</m:t>
                        </m:r>
                      </m:e>
                      <m:sub>
                        <m:r>
                          <a:rPr lang="en-US" i="1">
                            <a:latin typeface="Cambria Math" panose="02040503050406030204" pitchFamily="18" charset="0"/>
                            <a:ea typeface="Cambria Math" panose="02040503050406030204" pitchFamily="18" charset="0"/>
                          </a:rPr>
                          <m:t>𝑖</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𝑘𝑗</m:t>
                            </m:r>
                          </m:e>
                          <m:sup>
                            <m:r>
                              <a:rPr lang="en-US" i="1">
                                <a:latin typeface="Cambria Math" panose="02040503050406030204" pitchFamily="18" charset="0"/>
                                <a:ea typeface="Cambria Math" panose="02040503050406030204" pitchFamily="18" charset="0"/>
                              </a:rPr>
                              <m:t>′</m:t>
                            </m:r>
                          </m:sup>
                        </m:sSup>
                      </m:sub>
                    </m:sSub>
                    <m:r>
                      <m:rPr>
                        <m:nor/>
                      </m:rPr>
                      <a:rPr lang="en-US" i="0" dirty="0"/>
                      <m:t>)</m:t>
                    </m:r>
                    <m:r>
                      <a:rPr lang="en-US" b="0" i="1" dirty="0"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0.</m:t>
                    </m:r>
                  </m:oMath>
                </a14:m>
                <a:r>
                  <a:rPr lang="en-US" dirty="0"/>
                  <a:t>  Then we have</a:t>
                </a:r>
              </a:p>
            </p:txBody>
          </p:sp>
        </mc:Choice>
        <mc:Fallback xmlns="">
          <p:sp>
            <p:nvSpPr>
              <p:cNvPr id="3" name="TextBox 2">
                <a:extLst>
                  <a:ext uri="{FF2B5EF4-FFF2-40B4-BE49-F238E27FC236}">
                    <a16:creationId xmlns:a16="http://schemas.microsoft.com/office/drawing/2014/main" id="{7317BD37-386B-304D-9D30-E658C6187AB9}"/>
                  </a:ext>
                </a:extLst>
              </p:cNvPr>
              <p:cNvSpPr txBox="1">
                <a:spLocks noRot="1" noChangeAspect="1" noMove="1" noResize="1" noEditPoints="1" noAdjustHandles="1" noChangeArrowheads="1" noChangeShapeType="1" noTextEdit="1"/>
              </p:cNvSpPr>
              <p:nvPr/>
            </p:nvSpPr>
            <p:spPr>
              <a:xfrm>
                <a:off x="384671" y="1278239"/>
                <a:ext cx="10511929" cy="1347357"/>
              </a:xfrm>
              <a:prstGeom prst="rect">
                <a:avLst/>
              </a:prstGeom>
              <a:blipFill>
                <a:blip r:embed="rId6"/>
                <a:stretch>
                  <a:fillRect b="-27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30C4976-2EC4-4E45-AC5F-6EF17DB72ED8}"/>
                  </a:ext>
                </a:extLst>
              </p:cNvPr>
              <p:cNvSpPr txBox="1"/>
              <p:nvPr/>
            </p:nvSpPr>
            <p:spPr>
              <a:xfrm>
                <a:off x="800798" y="2528971"/>
                <a:ext cx="7118295" cy="331309"/>
              </a:xfrm>
              <a:prstGeom prst="rect">
                <a:avLst/>
              </a:prstGeom>
              <a:noFill/>
            </p:spPr>
            <p:txBody>
              <a:bodyPr wrap="none" lIns="0" tIns="0" rIns="0" bIns="0" rtlCol="0">
                <a:spAutoFit/>
              </a:bodyPr>
              <a:lstStyle/>
              <a:p>
                <a:r>
                  <a:rPr lang="en-US" dirty="0">
                    <a:ea typeface="Cambria Math" panose="02040503050406030204" pitchFamily="18" charset="0"/>
                  </a:rPr>
                  <a:t>Cov</a:t>
                </a:r>
                <a14:m>
                  <m:oMath xmlns:m="http://schemas.openxmlformats.org/officeDocument/2006/math">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𝑌</m:t>
                            </m:r>
                          </m:e>
                          <m:sub>
                            <m:r>
                              <a:rPr lang="en-US" i="1">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𝑗</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𝑌</m:t>
                            </m:r>
                          </m:e>
                          <m:sub>
                            <m:r>
                              <a:rPr lang="en-US" i="1">
                                <a:latin typeface="Cambria Math" panose="02040503050406030204" pitchFamily="18" charset="0"/>
                                <a:ea typeface="Cambria Math" panose="02040503050406030204" pitchFamily="18" charset="0"/>
                              </a:rPr>
                              <m:t>𝑖</m:t>
                            </m:r>
                            <m:sSup>
                              <m:sSupPr>
                                <m:ctrlPr>
                                  <a:rPr lang="en-US" i="1">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𝑗</m:t>
                                </m:r>
                              </m:e>
                              <m:sup>
                                <m:r>
                                  <a:rPr lang="en-US" i="1">
                                    <a:latin typeface="Cambria Math" panose="02040503050406030204" pitchFamily="18" charset="0"/>
                                    <a:ea typeface="Cambria Math" panose="02040503050406030204" pitchFamily="18" charset="0"/>
                                  </a:rPr>
                                  <m:t>′</m:t>
                                </m:r>
                              </m:sup>
                            </m:sSup>
                          </m:sub>
                        </m:sSub>
                      </m:e>
                    </m:d>
                  </m:oMath>
                </a14:m>
                <a:r>
                  <a:rPr lang="en-US" dirty="0"/>
                  <a:t> = Cov(</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0</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𝛽</m:t>
                        </m:r>
                      </m:e>
                      <m:sup>
                        <m:r>
                          <a:rPr lang="en-US" i="1">
                            <a:latin typeface="Cambria Math" panose="02040503050406030204" pitchFamily="18" charset="0"/>
                          </a:rPr>
                          <m:t>∗</m:t>
                        </m:r>
                      </m:sup>
                    </m:sSup>
                    <m:sSub>
                      <m:sSubPr>
                        <m:ctrlPr>
                          <a:rPr lang="en-US" i="1" dirty="0">
                            <a:latin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𝑋</m:t>
                        </m:r>
                      </m:e>
                      <m:sub>
                        <m:r>
                          <a:rPr lang="en-US" i="1" dirty="0">
                            <a:latin typeface="Cambria Math" panose="02040503050406030204" pitchFamily="18" charset="0"/>
                          </a:rPr>
                          <m:t>𝑖𝑘</m:t>
                        </m:r>
                        <m:r>
                          <a:rPr lang="en-US" b="0" i="1" dirty="0" smtClean="0">
                            <a:latin typeface="Cambria Math" panose="02040503050406030204" pitchFamily="18" charset="0"/>
                          </a:rPr>
                          <m:t>𝑗</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𝑏</m:t>
                        </m:r>
                      </m:e>
                      <m:sub>
                        <m:r>
                          <a:rPr lang="en-US" i="1">
                            <a:latin typeface="Cambria Math" panose="02040503050406030204" pitchFamily="18" charset="0"/>
                            <a:ea typeface="Cambria Math" panose="02040503050406030204" pitchFamily="18" charset="0"/>
                          </a:rPr>
                          <m:t>𝑖𝑘</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𝑒</m:t>
                        </m:r>
                      </m:e>
                      <m:sub>
                        <m:r>
                          <a:rPr lang="en-US" i="1">
                            <a:latin typeface="Cambria Math" panose="02040503050406030204" pitchFamily="18" charset="0"/>
                            <a:ea typeface="Cambria Math" panose="02040503050406030204" pitchFamily="18" charset="0"/>
                          </a:rPr>
                          <m:t>𝑖𝑘𝑗</m:t>
                        </m:r>
                      </m:sub>
                    </m:sSub>
                  </m:oMath>
                </a14:m>
                <a:r>
                  <a:rPr lang="en-US" dirty="0"/>
                  <a:t>,</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0</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𝛽</m:t>
                        </m:r>
                      </m:e>
                      <m:sup>
                        <m:r>
                          <a:rPr lang="en-US" i="1">
                            <a:latin typeface="Cambria Math" panose="02040503050406030204" pitchFamily="18" charset="0"/>
                          </a:rPr>
                          <m:t>∗</m:t>
                        </m:r>
                      </m:sup>
                    </m:sSup>
                    <m:sSub>
                      <m:sSubPr>
                        <m:ctrlPr>
                          <a:rPr lang="en-US" i="1" dirty="0">
                            <a:latin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𝑋</m:t>
                        </m:r>
                      </m:e>
                      <m:sub>
                        <m:r>
                          <a:rPr lang="en-US" i="1" dirty="0">
                            <a:latin typeface="Cambria Math" panose="02040503050406030204" pitchFamily="18" charset="0"/>
                          </a:rPr>
                          <m:t>𝑖</m:t>
                        </m:r>
                        <m:r>
                          <a:rPr lang="en-US" b="0" i="1" dirty="0" smtClean="0">
                            <a:latin typeface="Cambria Math" panose="02040503050406030204" pitchFamily="18" charset="0"/>
                          </a:rPr>
                          <m:t>𝑘</m:t>
                        </m:r>
                        <m:r>
                          <a:rPr lang="en-US" i="1" dirty="0">
                            <a:latin typeface="Cambria Math" panose="02040503050406030204" pitchFamily="18" charset="0"/>
                          </a:rPr>
                          <m:t>𝑗</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𝑏</m:t>
                        </m:r>
                      </m:e>
                      <m:sub>
                        <m:r>
                          <a:rPr lang="en-US" i="1">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𝑘</m:t>
                        </m:r>
                      </m:sub>
                    </m:sSub>
                    <m:r>
                      <a:rPr lang="en-US" i="1">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𝑒</m:t>
                        </m:r>
                      </m:e>
                      <m:sub>
                        <m:r>
                          <a:rPr lang="en-US" i="1">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𝑘</m:t>
                        </m:r>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𝑗</m:t>
                            </m:r>
                          </m:e>
                          <m:sup>
                            <m:r>
                              <a:rPr lang="en-US" b="0" i="1" smtClean="0">
                                <a:latin typeface="Cambria Math" panose="02040503050406030204" pitchFamily="18" charset="0"/>
                                <a:ea typeface="Cambria Math" panose="02040503050406030204" pitchFamily="18" charset="0"/>
                              </a:rPr>
                              <m:t>′</m:t>
                            </m:r>
                          </m:sup>
                        </m:sSup>
                      </m:sub>
                    </m:sSub>
                    <m:r>
                      <a:rPr lang="en-US" i="1">
                        <a:latin typeface="Cambria Math" panose="02040503050406030204" pitchFamily="18" charset="0"/>
                        <a:ea typeface="Cambria Math" panose="02040503050406030204" pitchFamily="18" charset="0"/>
                      </a:rPr>
                      <m:t> </m:t>
                    </m:r>
                  </m:oMath>
                </a14:m>
                <a:r>
                  <a:rPr lang="en-US" dirty="0"/>
                  <a:t>)</a:t>
                </a:r>
              </a:p>
            </p:txBody>
          </p:sp>
        </mc:Choice>
        <mc:Fallback xmlns="">
          <p:sp>
            <p:nvSpPr>
              <p:cNvPr id="7" name="TextBox 6">
                <a:extLst>
                  <a:ext uri="{FF2B5EF4-FFF2-40B4-BE49-F238E27FC236}">
                    <a16:creationId xmlns:a16="http://schemas.microsoft.com/office/drawing/2014/main" id="{530C4976-2EC4-4E45-AC5F-6EF17DB72ED8}"/>
                  </a:ext>
                </a:extLst>
              </p:cNvPr>
              <p:cNvSpPr txBox="1">
                <a:spLocks noRot="1" noChangeAspect="1" noMove="1" noResize="1" noEditPoints="1" noAdjustHandles="1" noChangeArrowheads="1" noChangeShapeType="1" noTextEdit="1"/>
              </p:cNvSpPr>
              <p:nvPr/>
            </p:nvSpPr>
            <p:spPr>
              <a:xfrm>
                <a:off x="800798" y="2528971"/>
                <a:ext cx="7118295" cy="331309"/>
              </a:xfrm>
              <a:prstGeom prst="rect">
                <a:avLst/>
              </a:prstGeom>
              <a:blipFill>
                <a:blip r:embed="rId7"/>
                <a:stretch>
                  <a:fillRect l="-1969" t="-16667"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DE2C5A4C-05BF-9444-BA30-CB3568C5C044}"/>
                  </a:ext>
                </a:extLst>
              </p:cNvPr>
              <p:cNvSpPr/>
              <p:nvPr/>
            </p:nvSpPr>
            <p:spPr>
              <a:xfrm>
                <a:off x="1899122" y="2963264"/>
                <a:ext cx="7399846" cy="403893"/>
              </a:xfrm>
              <a:prstGeom prst="rect">
                <a:avLst/>
              </a:prstGeom>
            </p:spPr>
            <p:txBody>
              <a:bodyPr wrap="none">
                <a:spAutoFit/>
              </a:bodyPr>
              <a:lstStyle/>
              <a:p>
                <a:r>
                  <a:rPr lang="en-US" dirty="0"/>
                  <a:t>= </a:t>
                </a:r>
                <a:r>
                  <a:rPr lang="en-US" dirty="0" err="1"/>
                  <a:t>Cov</a:t>
                </a:r>
                <a:r>
                  <a:rPr lang="en-US" dirty="0"/>
                  <a:t>(</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𝑏</m:t>
                        </m:r>
                      </m:e>
                      <m:sub>
                        <m:r>
                          <a:rPr lang="en-US" i="1">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𝑘</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𝑒</m:t>
                        </m:r>
                      </m:e>
                      <m:sub>
                        <m:r>
                          <a:rPr lang="en-US" i="1">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𝑗</m:t>
                        </m:r>
                      </m:sub>
                    </m:sSub>
                    <m:r>
                      <a:rPr lang="en-US" i="1">
                        <a:latin typeface="Cambria Math" panose="02040503050406030204" pitchFamily="18" charset="0"/>
                        <a:ea typeface="Cambria Math" panose="02040503050406030204" pitchFamily="18" charset="0"/>
                      </a:rPr>
                      <m:t> </m:t>
                    </m:r>
                  </m:oMath>
                </a14:m>
                <a:r>
                  <a:rPr lang="en-US" dirty="0"/>
                  <a:t>,</a:t>
                </a:r>
                <a:r>
                  <a:rPr lang="en-US" dirty="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𝑏</m:t>
                        </m:r>
                      </m:e>
                      <m:sub>
                        <m:r>
                          <a:rPr lang="en-US" i="1">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𝑘</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𝑒</m:t>
                        </m:r>
                      </m:e>
                      <m:sub>
                        <m:r>
                          <a:rPr lang="en-US" i="1">
                            <a:latin typeface="Cambria Math" panose="02040503050406030204" pitchFamily="18" charset="0"/>
                            <a:ea typeface="Cambria Math" panose="02040503050406030204" pitchFamily="18" charset="0"/>
                          </a:rPr>
                          <m:t>𝑖</m:t>
                        </m:r>
                        <m:sSup>
                          <m:sSupPr>
                            <m:ctrlPr>
                              <a:rPr lang="en-US" i="1">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𝑗</m:t>
                            </m:r>
                          </m:e>
                          <m:sup>
                            <m:r>
                              <a:rPr lang="en-US" i="1">
                                <a:latin typeface="Cambria Math" panose="02040503050406030204" pitchFamily="18" charset="0"/>
                                <a:ea typeface="Cambria Math" panose="02040503050406030204" pitchFamily="18" charset="0"/>
                              </a:rPr>
                              <m:t>′</m:t>
                            </m:r>
                          </m:sup>
                        </m:sSup>
                      </m:sub>
                    </m:sSub>
                    <m:r>
                      <a:rPr lang="en-US" i="1">
                        <a:latin typeface="Cambria Math" panose="02040503050406030204" pitchFamily="18" charset="0"/>
                        <a:ea typeface="Cambria Math" panose="02040503050406030204" pitchFamily="18" charset="0"/>
                      </a:rPr>
                      <m:t> </m:t>
                    </m:r>
                  </m:oMath>
                </a14:m>
                <a:r>
                  <a:rPr lang="en-US" dirty="0"/>
                  <a:t>)=</a:t>
                </a:r>
                <a:r>
                  <a:rPr lang="en-US" dirty="0" err="1"/>
                  <a:t>Cov</a:t>
                </a:r>
                <a:r>
                  <a:rPr lang="en-US" dirty="0"/>
                  <a:t>(</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𝑏</m:t>
                        </m:r>
                      </m:e>
                      <m:sub>
                        <m:r>
                          <a:rPr lang="en-US" i="1">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𝑘</m:t>
                        </m:r>
                      </m:sub>
                    </m:sSub>
                  </m:oMath>
                </a14:m>
                <a:r>
                  <a:rPr lang="en-US" dirty="0"/>
                  <a:t>,</a:t>
                </a:r>
                <a:r>
                  <a:rPr lang="en-US" dirty="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𝑏</m:t>
                        </m:r>
                      </m:e>
                      <m:sub>
                        <m:r>
                          <a:rPr lang="en-US" i="1">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𝑘</m:t>
                        </m:r>
                      </m:sub>
                    </m:sSub>
                  </m:oMath>
                </a14:m>
                <a:r>
                  <a:rPr lang="en-US" dirty="0"/>
                  <a:t>)+2Cov(</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𝑏</m:t>
                        </m:r>
                      </m:e>
                      <m:sub>
                        <m:r>
                          <a:rPr lang="en-US" i="1">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𝑘</m:t>
                        </m:r>
                      </m:sub>
                    </m:sSub>
                  </m:oMath>
                </a14:m>
                <a:r>
                  <a:rPr lang="en-US" dirty="0"/>
                  <a:t>,</a:t>
                </a:r>
                <a:r>
                  <a:rPr lang="en-US" dirty="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𝑒</m:t>
                        </m:r>
                      </m:e>
                      <m:sub>
                        <m:r>
                          <a:rPr lang="en-US" i="1">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𝑗</m:t>
                        </m:r>
                      </m:sub>
                    </m:sSub>
                  </m:oMath>
                </a14:m>
                <a:r>
                  <a:rPr lang="en-US" dirty="0">
                    <a:ea typeface="Cambria Math" panose="02040503050406030204" pitchFamily="18" charset="0"/>
                  </a:rPr>
                  <a:t> </a:t>
                </a:r>
                <a:r>
                  <a:rPr lang="en-US" dirty="0"/>
                  <a:t>)+</a:t>
                </a:r>
                <a:r>
                  <a:rPr lang="en-US" dirty="0" err="1"/>
                  <a:t>Cov</a:t>
                </a:r>
                <a:r>
                  <a:rPr lang="en-US" dirty="0"/>
                  <a:t>(</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𝑒</m:t>
                        </m:r>
                      </m:e>
                      <m:sub>
                        <m:r>
                          <a:rPr lang="en-US" i="1">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𝑗</m:t>
                        </m:r>
                      </m:sub>
                    </m:sSub>
                    <m:r>
                      <a:rPr lang="en-US" i="1">
                        <a:latin typeface="Cambria Math" panose="02040503050406030204" pitchFamily="18" charset="0"/>
                        <a:ea typeface="Cambria Math" panose="02040503050406030204" pitchFamily="18" charset="0"/>
                      </a:rPr>
                      <m:t> </m:t>
                    </m:r>
                    <m:r>
                      <a:rPr lang="en-US" b="0" i="0"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𝑒</m:t>
                        </m:r>
                      </m:e>
                      <m:sub>
                        <m:r>
                          <a:rPr lang="en-US" i="1">
                            <a:latin typeface="Cambria Math" panose="02040503050406030204" pitchFamily="18" charset="0"/>
                            <a:ea typeface="Cambria Math" panose="02040503050406030204" pitchFamily="18" charset="0"/>
                          </a:rPr>
                          <m:t>𝑖</m:t>
                        </m:r>
                        <m:sSup>
                          <m:sSupPr>
                            <m:ctrlPr>
                              <a:rPr lang="en-US" i="1">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𝑗</m:t>
                            </m:r>
                          </m:e>
                          <m:sup>
                            <m:r>
                              <a:rPr lang="en-US" i="1">
                                <a:latin typeface="Cambria Math" panose="02040503050406030204" pitchFamily="18" charset="0"/>
                                <a:ea typeface="Cambria Math" panose="02040503050406030204" pitchFamily="18" charset="0"/>
                              </a:rPr>
                              <m:t>′</m:t>
                            </m:r>
                          </m:sup>
                        </m:sSup>
                      </m:sub>
                    </m:sSub>
                  </m:oMath>
                </a14:m>
                <a:r>
                  <a:rPr lang="en-US" dirty="0"/>
                  <a:t>)</a:t>
                </a:r>
              </a:p>
            </p:txBody>
          </p:sp>
        </mc:Choice>
        <mc:Fallback xmlns="">
          <p:sp>
            <p:nvSpPr>
              <p:cNvPr id="8" name="Rectangle 7">
                <a:extLst>
                  <a:ext uri="{FF2B5EF4-FFF2-40B4-BE49-F238E27FC236}">
                    <a16:creationId xmlns:a16="http://schemas.microsoft.com/office/drawing/2014/main" id="{DE2C5A4C-05BF-9444-BA30-CB3568C5C044}"/>
                  </a:ext>
                </a:extLst>
              </p:cNvPr>
              <p:cNvSpPr>
                <a:spLocks noRot="1" noChangeAspect="1" noMove="1" noResize="1" noEditPoints="1" noAdjustHandles="1" noChangeArrowheads="1" noChangeShapeType="1" noTextEdit="1"/>
              </p:cNvSpPr>
              <p:nvPr/>
            </p:nvSpPr>
            <p:spPr>
              <a:xfrm>
                <a:off x="1899122" y="2963264"/>
                <a:ext cx="7399846" cy="403893"/>
              </a:xfrm>
              <a:prstGeom prst="rect">
                <a:avLst/>
              </a:prstGeom>
              <a:blipFill>
                <a:blip r:embed="rId8"/>
                <a:stretch>
                  <a:fillRect l="-686" t="-6250" b="-18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35A304E-5952-FF40-A55A-42B38C343B22}"/>
                  </a:ext>
                </a:extLst>
              </p:cNvPr>
              <p:cNvSpPr txBox="1"/>
              <p:nvPr/>
            </p:nvSpPr>
            <p:spPr>
              <a:xfrm>
                <a:off x="1978396" y="3525545"/>
                <a:ext cx="2445157" cy="276999"/>
              </a:xfrm>
              <a:prstGeom prst="rect">
                <a:avLst/>
              </a:prstGeom>
              <a:noFill/>
            </p:spPr>
            <p:txBody>
              <a:bodyPr wrap="none" lIns="0" tIns="0" rIns="0" bIns="0" rtlCol="0">
                <a:spAutoFit/>
              </a:bodyPr>
              <a:lstStyle/>
              <a:p>
                <a14:m>
                  <m:oMath xmlns:m="http://schemas.openxmlformats.org/officeDocument/2006/math">
                    <m:r>
                      <m:rPr>
                        <m:nor/>
                      </m:rPr>
                      <a:rPr lang="en-US" b="0" i="0" dirty="0" smtClean="0"/>
                      <m:t>=</m:t>
                    </m:r>
                    <m:r>
                      <m:rPr>
                        <m:nor/>
                      </m:rPr>
                      <a:rPr lang="en-US" i="0" dirty="0" smtClean="0"/>
                      <m:t>Cov</m:t>
                    </m:r>
                    <m:r>
                      <m:rPr>
                        <m:nor/>
                      </m:rPr>
                      <a:rPr lang="en-US" i="0" dirty="0" smtClean="0"/>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𝑏</m:t>
                        </m:r>
                      </m:e>
                      <m:sub>
                        <m:r>
                          <a:rPr lang="en-US" i="1">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𝑘</m:t>
                        </m:r>
                      </m:sub>
                    </m:sSub>
                    <m:r>
                      <m:rPr>
                        <m:nor/>
                      </m:rPr>
                      <a:rPr lang="en-US" i="0" dirty="0"/>
                      <m:t>,</m:t>
                    </m:r>
                    <m:r>
                      <m:rPr>
                        <m:nor/>
                      </m:rPr>
                      <a:rPr lang="en-US" i="0" dirty="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𝑏</m:t>
                        </m:r>
                      </m:e>
                      <m:sub>
                        <m:r>
                          <a:rPr lang="en-US" b="0" i="1" smtClean="0">
                            <a:latin typeface="Cambria Math" panose="02040503050406030204" pitchFamily="18" charset="0"/>
                            <a:ea typeface="Cambria Math" panose="02040503050406030204" pitchFamily="18" charset="0"/>
                          </a:rPr>
                          <m:t>𝑖𝑘</m:t>
                        </m:r>
                      </m:sub>
                    </m:sSub>
                    <m:r>
                      <a:rPr lang="en-US" b="0" i="1" smtClean="0">
                        <a:latin typeface="Cambria Math" panose="02040503050406030204" pitchFamily="18" charset="0"/>
                        <a:ea typeface="Cambria Math" panose="02040503050406030204" pitchFamily="18" charset="0"/>
                      </a:rPr>
                      <m:t>)=</m:t>
                    </m:r>
                  </m:oMath>
                </a14:m>
                <a:r>
                  <a:rPr lang="en-US" dirty="0"/>
                  <a:t> Var(</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𝑏</m:t>
                        </m:r>
                      </m:e>
                      <m:sub>
                        <m:r>
                          <a:rPr lang="en-US" i="1">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𝑘</m:t>
                        </m:r>
                      </m:sub>
                    </m:sSub>
                    <m:r>
                      <a:rPr lang="en-US" b="0" i="1" smtClean="0">
                        <a:latin typeface="Cambria Math" panose="02040503050406030204" pitchFamily="18" charset="0"/>
                        <a:ea typeface="Cambria Math" panose="02040503050406030204" pitchFamily="18" charset="0"/>
                      </a:rPr>
                      <m:t>)</m:t>
                    </m:r>
                  </m:oMath>
                </a14:m>
                <a:endParaRPr lang="en-US" dirty="0"/>
              </a:p>
            </p:txBody>
          </p:sp>
        </mc:Choice>
        <mc:Fallback xmlns="">
          <p:sp>
            <p:nvSpPr>
              <p:cNvPr id="10" name="TextBox 9">
                <a:extLst>
                  <a:ext uri="{FF2B5EF4-FFF2-40B4-BE49-F238E27FC236}">
                    <a16:creationId xmlns:a16="http://schemas.microsoft.com/office/drawing/2014/main" id="{D35A304E-5952-FF40-A55A-42B38C343B22}"/>
                  </a:ext>
                </a:extLst>
              </p:cNvPr>
              <p:cNvSpPr txBox="1">
                <a:spLocks noRot="1" noChangeAspect="1" noMove="1" noResize="1" noEditPoints="1" noAdjustHandles="1" noChangeArrowheads="1" noChangeShapeType="1" noTextEdit="1"/>
              </p:cNvSpPr>
              <p:nvPr/>
            </p:nvSpPr>
            <p:spPr>
              <a:xfrm>
                <a:off x="1978396" y="3525545"/>
                <a:ext cx="2445157" cy="276999"/>
              </a:xfrm>
              <a:prstGeom prst="rect">
                <a:avLst/>
              </a:prstGeom>
              <a:blipFill>
                <a:blip r:embed="rId9"/>
                <a:stretch>
                  <a:fillRect l="-2244" t="-28261" r="-1995"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2924F19-2AD4-2E41-A99C-21F150F7EDE9}"/>
                  </a:ext>
                </a:extLst>
              </p:cNvPr>
              <p:cNvSpPr txBox="1"/>
              <p:nvPr/>
            </p:nvSpPr>
            <p:spPr>
              <a:xfrm>
                <a:off x="1920015" y="3980695"/>
                <a:ext cx="730328" cy="37317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rPr>
                            <m:t>𝐵</m:t>
                          </m:r>
                        </m:sub>
                        <m:sup>
                          <m:r>
                            <a:rPr lang="en-US" i="1">
                              <a:latin typeface="Cambria Math" panose="02040503050406030204" pitchFamily="18" charset="0"/>
                            </a:rPr>
                            <m:t>2</m:t>
                          </m:r>
                        </m:sup>
                      </m:sSubSup>
                    </m:oMath>
                  </m:oMathPara>
                </a14:m>
                <a:endParaRPr lang="en-US" dirty="0"/>
              </a:p>
            </p:txBody>
          </p:sp>
        </mc:Choice>
        <mc:Fallback xmlns="">
          <p:sp>
            <p:nvSpPr>
              <p:cNvPr id="11" name="TextBox 10">
                <a:extLst>
                  <a:ext uri="{FF2B5EF4-FFF2-40B4-BE49-F238E27FC236}">
                    <a16:creationId xmlns:a16="http://schemas.microsoft.com/office/drawing/2014/main" id="{E2924F19-2AD4-2E41-A99C-21F150F7EDE9}"/>
                  </a:ext>
                </a:extLst>
              </p:cNvPr>
              <p:cNvSpPr txBox="1">
                <a:spLocks noRot="1" noChangeAspect="1" noMove="1" noResize="1" noEditPoints="1" noAdjustHandles="1" noChangeArrowheads="1" noChangeShapeType="1" noTextEdit="1"/>
              </p:cNvSpPr>
              <p:nvPr/>
            </p:nvSpPr>
            <p:spPr>
              <a:xfrm>
                <a:off x="1920015" y="3980695"/>
                <a:ext cx="730328" cy="373179"/>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8A7D758-2CD6-A64F-9A4B-A532E89097E3}"/>
                  </a:ext>
                </a:extLst>
              </p:cNvPr>
              <p:cNvSpPr txBox="1"/>
              <p:nvPr/>
            </p:nvSpPr>
            <p:spPr>
              <a:xfrm>
                <a:off x="800798" y="4556017"/>
                <a:ext cx="2801344" cy="411395"/>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𝑉𝑎𝑟</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r>
                              <a:rPr lang="en-US" b="0" i="1" smtClean="0">
                                <a:latin typeface="Cambria Math" panose="02040503050406030204" pitchFamily="18" charset="0"/>
                              </a:rPr>
                              <m:t>𝑘</m:t>
                            </m:r>
                            <m:r>
                              <a:rPr lang="en-US" i="1">
                                <a:latin typeface="Cambria Math" panose="02040503050406030204" pitchFamily="18" charset="0"/>
                              </a:rPr>
                              <m:t>𝑗</m:t>
                            </m:r>
                          </m:sub>
                        </m:sSub>
                      </m:e>
                    </m:d>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𝜎</m:t>
                        </m:r>
                      </m:e>
                      <m:sub>
                        <m:r>
                          <a:rPr lang="en-US" i="1">
                            <a:latin typeface="Cambria Math" panose="02040503050406030204" pitchFamily="18" charset="0"/>
                          </a:rPr>
                          <m:t>𝐵</m:t>
                        </m:r>
                      </m:sub>
                      <m:sup>
                        <m:r>
                          <a:rPr lang="en-US" i="1">
                            <a:latin typeface="Cambria Math" panose="02040503050406030204" pitchFamily="18" charset="0"/>
                          </a:rPr>
                          <m:t>2</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𝜎</m:t>
                        </m:r>
                      </m:e>
                      <m:sub>
                        <m:r>
                          <m:rPr>
                            <m:sty m:val="p"/>
                          </m:rPr>
                          <a:rPr lang="en-US">
                            <a:latin typeface="Cambria Math" panose="02040503050406030204" pitchFamily="18" charset="0"/>
                          </a:rPr>
                          <m:t>W</m:t>
                        </m:r>
                      </m:sub>
                      <m:sup>
                        <m:r>
                          <a:rPr lang="en-US">
                            <a:latin typeface="Cambria Math" panose="02040503050406030204" pitchFamily="18" charset="0"/>
                          </a:rPr>
                          <m:t>2</m:t>
                        </m:r>
                      </m:sup>
                    </m:sSubSup>
                  </m:oMath>
                </a14:m>
                <a:r>
                  <a:rPr lang="en-US" dirty="0"/>
                  <a:t> =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oMath>
                </a14:m>
                <a:r>
                  <a:rPr lang="en-US" dirty="0"/>
                  <a:t> </a:t>
                </a:r>
              </a:p>
            </p:txBody>
          </p:sp>
        </mc:Choice>
        <mc:Fallback xmlns="">
          <p:sp>
            <p:nvSpPr>
              <p:cNvPr id="12" name="TextBox 11">
                <a:extLst>
                  <a:ext uri="{FF2B5EF4-FFF2-40B4-BE49-F238E27FC236}">
                    <a16:creationId xmlns:a16="http://schemas.microsoft.com/office/drawing/2014/main" id="{58A7D758-2CD6-A64F-9A4B-A532E89097E3}"/>
                  </a:ext>
                </a:extLst>
              </p:cNvPr>
              <p:cNvSpPr txBox="1">
                <a:spLocks noRot="1" noChangeAspect="1" noMove="1" noResize="1" noEditPoints="1" noAdjustHandles="1" noChangeArrowheads="1" noChangeShapeType="1" noTextEdit="1"/>
              </p:cNvSpPr>
              <p:nvPr/>
            </p:nvSpPr>
            <p:spPr>
              <a:xfrm>
                <a:off x="800798" y="4556017"/>
                <a:ext cx="2801344" cy="411395"/>
              </a:xfrm>
              <a:prstGeom prst="rect">
                <a:avLst/>
              </a:prstGeom>
              <a:blipFill>
                <a:blip r:embed="rId11"/>
                <a:stretch>
                  <a:fillRect b="-176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B14E7756-51BC-1F4B-8DD8-7809274B7FCD}"/>
                  </a:ext>
                </a:extLst>
              </p:cNvPr>
              <p:cNvSpPr/>
              <p:nvPr/>
            </p:nvSpPr>
            <p:spPr>
              <a:xfrm>
                <a:off x="800798" y="5330913"/>
                <a:ext cx="6225615" cy="846001"/>
              </a:xfrm>
              <a:prstGeom prst="rect">
                <a:avLst/>
              </a:prstGeom>
            </p:spPr>
            <p:txBody>
              <a:bodyPr wrap="none">
                <a:spAutoFit/>
              </a:bodyPr>
              <a:lstStyle/>
              <a:p>
                <a:r>
                  <a:rPr lang="en-US" dirty="0"/>
                  <a:t>Then, </a:t>
                </a:r>
                <a14:m>
                  <m:oMath xmlns:m="http://schemas.openxmlformats.org/officeDocument/2006/math">
                    <m:r>
                      <a:rPr lang="en-US" i="1" smtClean="0">
                        <a:latin typeface="Cambria Math" panose="02040503050406030204" pitchFamily="18" charset="0"/>
                      </a:rPr>
                      <m:t>𝜌</m:t>
                    </m:r>
                    <m:r>
                      <a:rPr lang="en-US" b="0" i="1" smtClean="0">
                        <a:latin typeface="Cambria Math" panose="02040503050406030204" pitchFamily="18" charset="0"/>
                      </a:rPr>
                      <m:t>=</m:t>
                    </m:r>
                    <m:r>
                      <a:rPr lang="en-US" i="1" smtClean="0">
                        <a:latin typeface="Cambria Math" panose="02040503050406030204" pitchFamily="18" charset="0"/>
                        <a:ea typeface="Cambria Math" panose="02040503050406030204" pitchFamily="18" charset="0"/>
                      </a:rPr>
                      <m:t>𝑐𝑜𝑟𝑟</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𝑌</m:t>
                            </m:r>
                          </m:e>
                          <m:sub>
                            <m:r>
                              <a:rPr lang="en-US" i="1">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𝑗</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𝑌</m:t>
                            </m:r>
                          </m:e>
                          <m:sub>
                            <m:r>
                              <a:rPr lang="en-US" i="1">
                                <a:latin typeface="Cambria Math" panose="02040503050406030204" pitchFamily="18" charset="0"/>
                                <a:ea typeface="Cambria Math" panose="02040503050406030204" pitchFamily="18" charset="0"/>
                              </a:rPr>
                              <m:t>𝑖</m:t>
                            </m:r>
                            <m:sSup>
                              <m:sSupPr>
                                <m:ctrlPr>
                                  <a:rPr lang="en-US" i="1">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𝑗</m:t>
                                </m:r>
                              </m:e>
                              <m:sup>
                                <m:r>
                                  <a:rPr lang="en-US" i="1">
                                    <a:latin typeface="Cambria Math" panose="02040503050406030204" pitchFamily="18" charset="0"/>
                                    <a:ea typeface="Cambria Math" panose="02040503050406030204" pitchFamily="18" charset="0"/>
                                  </a:rPr>
                                  <m:t>′</m:t>
                                </m:r>
                              </m:sup>
                            </m:sSup>
                          </m:sub>
                        </m:sSub>
                      </m:e>
                    </m:d>
                  </m:oMath>
                </a14:m>
                <a:r>
                  <a:rPr lang="en-US" dirty="0"/>
                  <a:t> = </a:t>
                </a:r>
                <a14:m>
                  <m:oMath xmlns:m="http://schemas.openxmlformats.org/officeDocument/2006/math">
                    <m:f>
                      <m:fPr>
                        <m:ctrlPr>
                          <a:rPr lang="en-US" i="1" smtClean="0">
                            <a:latin typeface="Cambria Math" panose="02040503050406030204" pitchFamily="18" charset="0"/>
                          </a:rPr>
                        </m:ctrlPr>
                      </m:fPr>
                      <m:num>
                        <m:r>
                          <m:rPr>
                            <m:nor/>
                          </m:rPr>
                          <a:rPr lang="en-US" i="0" dirty="0">
                            <a:ea typeface="Cambria Math" panose="02040503050406030204" pitchFamily="18" charset="0"/>
                          </a:rPr>
                          <m:t>Cov</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𝑌</m:t>
                                </m:r>
                              </m:e>
                              <m:sub>
                                <m:r>
                                  <a:rPr lang="en-US" i="1">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𝑗</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𝑌</m:t>
                                </m:r>
                              </m:e>
                              <m:sub>
                                <m:r>
                                  <a:rPr lang="en-US" i="1">
                                    <a:latin typeface="Cambria Math" panose="02040503050406030204" pitchFamily="18" charset="0"/>
                                    <a:ea typeface="Cambria Math" panose="02040503050406030204" pitchFamily="18" charset="0"/>
                                  </a:rPr>
                                  <m:t>𝑖</m:t>
                                </m:r>
                                <m:sSup>
                                  <m:sSupPr>
                                    <m:ctrlPr>
                                      <a:rPr lang="en-US" i="1">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𝑗</m:t>
                                    </m:r>
                                  </m:e>
                                  <m:sup>
                                    <m:r>
                                      <a:rPr lang="en-US" i="1">
                                        <a:latin typeface="Cambria Math" panose="02040503050406030204" pitchFamily="18" charset="0"/>
                                        <a:ea typeface="Cambria Math" panose="02040503050406030204" pitchFamily="18" charset="0"/>
                                      </a:rPr>
                                      <m:t>′</m:t>
                                    </m:r>
                                  </m:sup>
                                </m:sSup>
                              </m:sub>
                            </m:sSub>
                          </m:e>
                        </m:d>
                      </m:num>
                      <m:den>
                        <m:rad>
                          <m:radPr>
                            <m:degHide m:val="on"/>
                            <m:ctrlPr>
                              <a:rPr lang="en-US" i="1" smtClean="0">
                                <a:latin typeface="Cambria Math" panose="02040503050406030204" pitchFamily="18" charset="0"/>
                              </a:rPr>
                            </m:ctrlPr>
                          </m:radPr>
                          <m:deg/>
                          <m:e>
                            <m:r>
                              <a:rPr lang="en-US" i="1">
                                <a:latin typeface="Cambria Math" panose="02040503050406030204" pitchFamily="18" charset="0"/>
                              </a:rPr>
                              <m:t>𝑉𝑎𝑟</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r>
                                      <a:rPr lang="en-US" b="0" i="1" smtClean="0">
                                        <a:latin typeface="Cambria Math" panose="02040503050406030204" pitchFamily="18" charset="0"/>
                                      </a:rPr>
                                      <m:t>𝑘</m:t>
                                    </m:r>
                                    <m:r>
                                      <a:rPr lang="en-US" i="1">
                                        <a:latin typeface="Cambria Math" panose="02040503050406030204" pitchFamily="18" charset="0"/>
                                      </a:rPr>
                                      <m:t>𝑗</m:t>
                                    </m:r>
                                  </m:sub>
                                </m:sSub>
                              </m:e>
                            </m:d>
                            <m:r>
                              <a:rPr lang="en-US" i="1">
                                <a:latin typeface="Cambria Math" panose="02040503050406030204" pitchFamily="18" charset="0"/>
                              </a:rPr>
                              <m:t>𝑉𝑎𝑟</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Sup>
                                      <m:sSupPr>
                                        <m:ctrlPr>
                                          <a:rPr lang="en-US" i="1" smtClean="0">
                                            <a:latin typeface="Cambria Math" panose="02040503050406030204" pitchFamily="18" charset="0"/>
                                          </a:rPr>
                                        </m:ctrlPr>
                                      </m:sSupPr>
                                      <m:e>
                                        <m:r>
                                          <a:rPr lang="en-US" b="0" i="1" smtClean="0">
                                            <a:latin typeface="Cambria Math" panose="02040503050406030204" pitchFamily="18" charset="0"/>
                                          </a:rPr>
                                          <m:t>𝑘𝐽</m:t>
                                        </m:r>
                                      </m:e>
                                      <m:sup>
                                        <m:r>
                                          <a:rPr lang="en-US" b="0" i="1" smtClean="0">
                                            <a:latin typeface="Cambria Math" panose="02040503050406030204" pitchFamily="18" charset="0"/>
                                          </a:rPr>
                                          <m:t>′</m:t>
                                        </m:r>
                                      </m:sup>
                                    </m:sSup>
                                  </m:sub>
                                </m:sSub>
                              </m:e>
                            </m:d>
                          </m:e>
                        </m:rad>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rPr>
                              <m:t>𝐵</m:t>
                            </m:r>
                          </m:sub>
                          <m:sup>
                            <m:r>
                              <a:rPr lang="en-US" i="1">
                                <a:latin typeface="Cambria Math" panose="02040503050406030204" pitchFamily="18" charset="0"/>
                              </a:rPr>
                              <m:t>2</m:t>
                            </m:r>
                          </m:sup>
                        </m:sSubSup>
                      </m:num>
                      <m:den>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den>
                    </m:f>
                    <m:r>
                      <a:rPr lang="en-US" b="0" i="1" smtClean="0">
                        <a:latin typeface="Cambria Math" panose="02040503050406030204" pitchFamily="18" charset="0"/>
                      </a:rPr>
                      <m:t>=</m:t>
                    </m:r>
                  </m:oMath>
                </a14:m>
                <a:r>
                  <a:rPr lang="en-US" dirty="0"/>
                  <a:t> </a:t>
                </a:r>
                <a14:m>
                  <m:oMath xmlns:m="http://schemas.openxmlformats.org/officeDocument/2006/math">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panose="02040503050406030204" pitchFamily="18" charset="0"/>
                              </a:rPr>
                              <m:t>𝜎</m:t>
                            </m:r>
                          </m:e>
                          <m:sub>
                            <m:r>
                              <a:rPr lang="en-US" i="1">
                                <a:latin typeface="Cambria Math" panose="02040503050406030204" pitchFamily="18" charset="0"/>
                              </a:rPr>
                              <m:t>𝐵</m:t>
                            </m:r>
                          </m:sub>
                          <m:sup>
                            <m:r>
                              <a:rPr lang="en-US" i="1">
                                <a:latin typeface="Cambria Math" panose="02040503050406030204" pitchFamily="18" charset="0"/>
                              </a:rPr>
                              <m:t>2</m:t>
                            </m:r>
                          </m:sup>
                        </m:sSubSup>
                      </m:num>
                      <m:den>
                        <m:sSubSup>
                          <m:sSubSupPr>
                            <m:ctrlPr>
                              <a:rPr lang="en-US" i="1">
                                <a:latin typeface="Cambria Math" panose="02040503050406030204" pitchFamily="18" charset="0"/>
                              </a:rPr>
                            </m:ctrlPr>
                          </m:sSubSupPr>
                          <m:e>
                            <m:r>
                              <a:rPr lang="en-US" i="1">
                                <a:latin typeface="Cambria Math" panose="02040503050406030204" pitchFamily="18" charset="0"/>
                              </a:rPr>
                              <m:t>𝜎</m:t>
                            </m:r>
                          </m:e>
                          <m:sub>
                            <m:r>
                              <a:rPr lang="en-US" i="1">
                                <a:latin typeface="Cambria Math" panose="02040503050406030204" pitchFamily="18" charset="0"/>
                              </a:rPr>
                              <m:t>𝐵</m:t>
                            </m:r>
                          </m:sub>
                          <m:sup>
                            <m:r>
                              <a:rPr lang="en-US" i="1">
                                <a:latin typeface="Cambria Math" panose="02040503050406030204" pitchFamily="18" charset="0"/>
                              </a:rPr>
                              <m:t>2</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𝜎</m:t>
                            </m:r>
                          </m:e>
                          <m:sub>
                            <m:r>
                              <m:rPr>
                                <m:sty m:val="p"/>
                              </m:rPr>
                              <a:rPr lang="en-US">
                                <a:latin typeface="Cambria Math" panose="02040503050406030204" pitchFamily="18" charset="0"/>
                              </a:rPr>
                              <m:t>W</m:t>
                            </m:r>
                          </m:sub>
                          <m:sup>
                            <m:r>
                              <a:rPr lang="en-US">
                                <a:latin typeface="Cambria Math" panose="02040503050406030204" pitchFamily="18" charset="0"/>
                              </a:rPr>
                              <m:t>2</m:t>
                            </m:r>
                          </m:sup>
                        </m:sSubSup>
                      </m:den>
                    </m:f>
                  </m:oMath>
                </a14:m>
                <a:r>
                  <a:rPr lang="en-US" dirty="0"/>
                  <a:t>.</a:t>
                </a:r>
              </a:p>
            </p:txBody>
          </p:sp>
        </mc:Choice>
        <mc:Fallback xmlns="">
          <p:sp>
            <p:nvSpPr>
              <p:cNvPr id="13" name="Rectangle 12">
                <a:extLst>
                  <a:ext uri="{FF2B5EF4-FFF2-40B4-BE49-F238E27FC236}">
                    <a16:creationId xmlns:a16="http://schemas.microsoft.com/office/drawing/2014/main" id="{B14E7756-51BC-1F4B-8DD8-7809274B7FCD}"/>
                  </a:ext>
                </a:extLst>
              </p:cNvPr>
              <p:cNvSpPr>
                <a:spLocks noRot="1" noChangeAspect="1" noMove="1" noResize="1" noEditPoints="1" noAdjustHandles="1" noChangeArrowheads="1" noChangeShapeType="1" noTextEdit="1"/>
              </p:cNvSpPr>
              <p:nvPr/>
            </p:nvSpPr>
            <p:spPr>
              <a:xfrm>
                <a:off x="800798" y="5330913"/>
                <a:ext cx="6225615" cy="846001"/>
              </a:xfrm>
              <a:prstGeom prst="rect">
                <a:avLst/>
              </a:prstGeom>
              <a:blipFill>
                <a:blip r:embed="rId12"/>
                <a:stretch>
                  <a:fillRect l="-610"/>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2BF81629-C1F5-C64F-80C2-D58999493D8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9F51AB0-8297-A9E4-7032-A3F7B0ECC828}"/>
              </a:ext>
            </a:extLst>
          </p:cNvPr>
          <p:cNvSpPr>
            <a:spLocks noGrp="1"/>
          </p:cNvSpPr>
          <p:nvPr>
            <p:ph type="sldNum" sz="quarter" idx="12"/>
          </p:nvPr>
        </p:nvSpPr>
        <p:spPr/>
        <p:txBody>
          <a:bodyPr/>
          <a:lstStyle/>
          <a:p>
            <a:fld id="{77C6A7FE-225D-49F1-B302-AA37EA92BB49}" type="slidenum">
              <a:rPr lang="en-US" smtClean="0"/>
              <a:t>25</a:t>
            </a:fld>
            <a:endParaRPr lang="en-US"/>
          </a:p>
        </p:txBody>
      </p:sp>
    </p:spTree>
    <p:extLst>
      <p:ext uri="{BB962C8B-B14F-4D97-AF65-F5344CB8AC3E}">
        <p14:creationId xmlns:p14="http://schemas.microsoft.com/office/powerpoint/2010/main" val="45811588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Quantifying the Effect of Clustering</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84BC578-A0AB-4E09-8610-2EB2485E6576}"/>
                  </a:ext>
                </a:extLst>
              </p:cNvPr>
              <p:cNvSpPr txBox="1"/>
              <p:nvPr/>
            </p:nvSpPr>
            <p:spPr>
              <a:xfrm>
                <a:off x="353569" y="1361199"/>
                <a:ext cx="10875263" cy="4688271"/>
              </a:xfrm>
              <a:prstGeom prst="rect">
                <a:avLst/>
              </a:prstGeom>
              <a:noFill/>
            </p:spPr>
            <p:txBody>
              <a:bodyPr wrap="square">
                <a:spAutoFit/>
              </a:bodyPr>
              <a:lstStyle/>
              <a:p>
                <a:r>
                  <a:rPr lang="en-US" altLang="en-US" sz="2400" dirty="0"/>
                  <a:t>Consider a trial in which 2</a:t>
                </a:r>
                <a14:m>
                  <m:oMath xmlns:m="http://schemas.openxmlformats.org/officeDocument/2006/math">
                    <m:r>
                      <m:rPr>
                        <m:sty m:val="p"/>
                      </m:rPr>
                      <a:rPr lang="en-US" sz="2400">
                        <a:latin typeface="Cambria Math" panose="02040503050406030204" pitchFamily="18" charset="0"/>
                      </a:rPr>
                      <m:t>K</m:t>
                    </m:r>
                  </m:oMath>
                </a14:m>
                <a:r>
                  <a:rPr lang="en-US" altLang="en-US" sz="2400" dirty="0"/>
                  <a:t> clusters all of size  </a:t>
                </a:r>
                <a14:m>
                  <m:oMath xmlns:m="http://schemas.openxmlformats.org/officeDocument/2006/math">
                    <m:r>
                      <a:rPr lang="en-US" sz="2400" i="1">
                        <a:solidFill>
                          <a:srgbClr val="000000"/>
                        </a:solidFill>
                        <a:latin typeface="Cambria Math" panose="02040503050406030204" pitchFamily="18" charset="0"/>
                      </a:rPr>
                      <m:t>𝑚</m:t>
                    </m:r>
                  </m:oMath>
                </a14:m>
                <a:r>
                  <a:rPr lang="en-US" altLang="en-US" sz="2400" dirty="0"/>
                  <a:t> are each randomly assigned to an experimental or a control group, denoted by  </a:t>
                </a:r>
                <a14:m>
                  <m:oMath xmlns:m="http://schemas.openxmlformats.org/officeDocument/2006/math">
                    <m:r>
                      <a:rPr lang="en-US" sz="2400" i="1" smtClean="0">
                        <a:solidFill>
                          <a:srgbClr val="000000"/>
                        </a:solidFill>
                        <a:latin typeface="Cambria Math" panose="02040503050406030204" pitchFamily="18" charset="0"/>
                      </a:rPr>
                      <m:t>𝑖</m:t>
                    </m:r>
                    <m:r>
                      <a:rPr lang="en-US" sz="2400" i="1" smtClean="0">
                        <a:solidFill>
                          <a:srgbClr val="000000"/>
                        </a:solidFill>
                        <a:latin typeface="Cambria Math" panose="02040503050406030204" pitchFamily="18" charset="0"/>
                      </a:rPr>
                      <m:t>=1</m:t>
                    </m:r>
                  </m:oMath>
                </a14:m>
                <a:r>
                  <a:rPr lang="en-US" altLang="en-US" sz="2400" dirty="0"/>
                  <a:t> and 2 respectively.  Let </a:t>
                </a:r>
                <a14:m>
                  <m:oMath xmlns:m="http://schemas.openxmlformats.org/officeDocument/2006/math">
                    <m:sSub>
                      <m:sSubPr>
                        <m:ctrlPr>
                          <a:rPr lang="en-US" sz="2400" i="1">
                            <a:solidFill>
                              <a:srgbClr val="000000"/>
                            </a:solidFill>
                            <a:latin typeface="Cambria Math" panose="02040503050406030204" pitchFamily="18" charset="0"/>
                          </a:rPr>
                        </m:ctrlPr>
                      </m:sSubPr>
                      <m:e>
                        <m:acc>
                          <m:accPr>
                            <m:chr m:val="̄"/>
                            <m:ctrlPr>
                              <a:rPr lang="en-US" sz="2400" i="1">
                                <a:solidFill>
                                  <a:srgbClr val="000000"/>
                                </a:solidFill>
                                <a:latin typeface="Cambria Math" panose="02040503050406030204" pitchFamily="18" charset="0"/>
                              </a:rPr>
                            </m:ctrlPr>
                          </m:accPr>
                          <m:e>
                            <m:r>
                              <a:rPr lang="en-US" sz="2400" b="0" i="1" smtClean="0">
                                <a:solidFill>
                                  <a:srgbClr val="000000"/>
                                </a:solidFill>
                                <a:latin typeface="Cambria Math" panose="02040503050406030204" pitchFamily="18" charset="0"/>
                              </a:rPr>
                              <m:t>𝑌</m:t>
                            </m:r>
                          </m:e>
                        </m:acc>
                      </m:e>
                      <m:sub>
                        <m:r>
                          <a:rPr lang="en-US" sz="2400" i="1">
                            <a:solidFill>
                              <a:srgbClr val="000000"/>
                            </a:solidFill>
                            <a:latin typeface="Cambria Math" panose="02040503050406030204" pitchFamily="18" charset="0"/>
                          </a:rPr>
                          <m:t>𝑖</m:t>
                        </m:r>
                      </m:sub>
                    </m:sSub>
                  </m:oMath>
                </a14:m>
                <a:r>
                  <a:rPr lang="en-US" altLang="en-US" sz="2400" dirty="0"/>
                  <a:t>       denote the sample mean of the response variable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𝑖𝑘</m:t>
                        </m:r>
                        <m:r>
                          <a:rPr lang="en-US" sz="2400" b="0" i="1" smtClean="0">
                            <a:latin typeface="Cambria Math" panose="02040503050406030204" pitchFamily="18" charset="0"/>
                          </a:rPr>
                          <m:t>𝑗</m:t>
                        </m:r>
                      </m:sub>
                    </m:sSub>
                  </m:oMath>
                </a14:m>
                <a:r>
                  <a:rPr lang="en-US" altLang="en-US" sz="2400" dirty="0"/>
                  <a:t> in group </a:t>
                </a:r>
                <a14:m>
                  <m:oMath xmlns:m="http://schemas.openxmlformats.org/officeDocument/2006/math">
                    <m:r>
                      <a:rPr lang="en-US" sz="2400" i="1">
                        <a:solidFill>
                          <a:srgbClr val="000000"/>
                        </a:solidFill>
                        <a:latin typeface="Cambria Math" panose="02040503050406030204" pitchFamily="18" charset="0"/>
                      </a:rPr>
                      <m:t>𝑖</m:t>
                    </m:r>
                    <m:r>
                      <a:rPr lang="en-US" sz="2400" i="1">
                        <a:solidFill>
                          <a:srgbClr val="000000"/>
                        </a:solidFill>
                        <a:latin typeface="Cambria Math" panose="02040503050406030204" pitchFamily="18" charset="0"/>
                      </a:rPr>
                      <m:t>, </m:t>
                    </m:r>
                    <m:r>
                      <a:rPr lang="en-US" sz="2400" i="1">
                        <a:solidFill>
                          <a:srgbClr val="000000"/>
                        </a:solidFill>
                        <a:latin typeface="Cambria Math" panose="02040503050406030204" pitchFamily="18" charset="0"/>
                      </a:rPr>
                      <m:t>𝑖</m:t>
                    </m:r>
                    <m:r>
                      <a:rPr lang="en-US" sz="2400" i="1">
                        <a:solidFill>
                          <a:srgbClr val="000000"/>
                        </a:solidFill>
                        <a:latin typeface="Cambria Math" panose="02040503050406030204" pitchFamily="18" charset="0"/>
                      </a:rPr>
                      <m:t>=1,2</m:t>
                    </m:r>
                  </m:oMath>
                </a14:m>
                <a:r>
                  <a:rPr lang="en-US" altLang="en-US" sz="2400" dirty="0"/>
                  <a:t>, </a:t>
                </a:r>
              </a:p>
              <a:p>
                <a:r>
                  <a:rPr lang="en-US" sz="2400" dirty="0"/>
                  <a:t>k</a:t>
                </a:r>
                <a14:m>
                  <m:oMath xmlns:m="http://schemas.openxmlformats.org/officeDocument/2006/math">
                    <m:r>
                      <a:rPr lang="en-US" sz="2400" i="1">
                        <a:latin typeface="Cambria Math" panose="02040503050406030204" pitchFamily="18" charset="0"/>
                      </a:rPr>
                      <m:t>=1,…,</m:t>
                    </m:r>
                    <m:r>
                      <a:rPr lang="en-US" sz="2400" i="1">
                        <a:latin typeface="Cambria Math" panose="02040503050406030204" pitchFamily="18" charset="0"/>
                      </a:rPr>
                      <m:t>𝐾</m:t>
                    </m:r>
                    <m:r>
                      <a:rPr lang="en-US" sz="2400" i="1">
                        <a:latin typeface="Cambria Math" panose="02040503050406030204" pitchFamily="18" charset="0"/>
                      </a:rPr>
                      <m:t>;</m:t>
                    </m:r>
                    <m:r>
                      <a:rPr lang="en-US" sz="2400" b="0" i="1" smtClean="0">
                        <a:latin typeface="Cambria Math" panose="02040503050406030204" pitchFamily="18" charset="0"/>
                      </a:rPr>
                      <m:t>𝑗</m:t>
                    </m:r>
                    <m:r>
                      <a:rPr lang="en-US" sz="2400" i="1">
                        <a:latin typeface="Cambria Math" panose="02040503050406030204" pitchFamily="18" charset="0"/>
                      </a:rPr>
                      <m:t>=1,…,</m:t>
                    </m:r>
                    <m:r>
                      <a:rPr lang="en-US" sz="2400" i="1">
                        <a:latin typeface="Cambria Math" panose="02040503050406030204" pitchFamily="18" charset="0"/>
                      </a:rPr>
                      <m:t>𝑚</m:t>
                    </m:r>
                    <m:r>
                      <a:rPr lang="en-US" sz="2400" i="1">
                        <a:solidFill>
                          <a:srgbClr val="000000"/>
                        </a:solidFill>
                        <a:latin typeface="Cambria Math" panose="02040503050406030204" pitchFamily="18" charset="0"/>
                      </a:rPr>
                      <m:t>.</m:t>
                    </m:r>
                  </m:oMath>
                </a14:m>
                <a:r>
                  <a:rPr lang="en-US" sz="2400" dirty="0"/>
                  <a:t> </a:t>
                </a:r>
              </a:p>
              <a:p>
                <a:endParaRPr lang="en-US" altLang="en-US" sz="1200" dirty="0"/>
              </a:p>
              <a:p>
                <a:r>
                  <a:rPr lang="en-US" altLang="en-US" sz="2000" dirty="0"/>
                  <a:t>Then, assuming  the model         </a:t>
                </a:r>
              </a:p>
              <a:p>
                <a:pPr algn="ctr"/>
                <a:r>
                  <a:rPr lang="en-US" altLang="en-US" sz="2000" dirty="0"/>
                  <a:t>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𝑖𝑘𝑗</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0</m:t>
                        </m:r>
                      </m:sub>
                    </m:sSub>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𝛽</m:t>
                        </m:r>
                      </m:e>
                      <m:sup>
                        <m:r>
                          <a:rPr lang="en-US" sz="2000" i="1">
                            <a:latin typeface="Cambria Math" panose="02040503050406030204" pitchFamily="18" charset="0"/>
                          </a:rPr>
                          <m:t>∗</m:t>
                        </m:r>
                      </m:sup>
                    </m:sSup>
                    <m:sSub>
                      <m:sSubPr>
                        <m:ctrlPr>
                          <a:rPr lang="en-US" sz="2000" i="1" dirty="0">
                            <a:latin typeface="Cambria Math" panose="02040503050406030204" pitchFamily="18" charset="0"/>
                          </a:rPr>
                        </m:ctrlPr>
                      </m:sSubPr>
                      <m:e>
                        <m:r>
                          <a:rPr lang="en-US" sz="2000" i="1" dirty="0">
                            <a:latin typeface="Cambria Math" panose="02040503050406030204" pitchFamily="18" charset="0"/>
                            <a:ea typeface="Cambria Math" panose="02040503050406030204" pitchFamily="18" charset="0"/>
                          </a:rPr>
                          <m:t>𝑋</m:t>
                        </m:r>
                      </m:e>
                      <m:sub>
                        <m:r>
                          <a:rPr lang="en-US" sz="2000" i="1" dirty="0">
                            <a:latin typeface="Cambria Math" panose="02040503050406030204" pitchFamily="18" charset="0"/>
                          </a:rPr>
                          <m:t>𝑖</m:t>
                        </m:r>
                        <m:r>
                          <a:rPr lang="en-US" sz="2000" b="0" i="1" dirty="0" smtClean="0">
                            <a:latin typeface="Cambria Math" panose="02040503050406030204" pitchFamily="18" charset="0"/>
                          </a:rPr>
                          <m:t>𝑘</m:t>
                        </m:r>
                        <m:r>
                          <a:rPr lang="en-US" sz="2000" i="1" dirty="0">
                            <a:latin typeface="Cambria Math" panose="02040503050406030204" pitchFamily="18" charset="0"/>
                          </a:rPr>
                          <m:t>𝑗</m:t>
                        </m:r>
                      </m:sub>
                    </m:sSub>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𝑏</m:t>
                        </m:r>
                      </m:e>
                      <m:sub>
                        <m:r>
                          <a:rPr lang="en-US" sz="2000" b="0" i="1" smtClean="0">
                            <a:latin typeface="Cambria Math" panose="02040503050406030204" pitchFamily="18" charset="0"/>
                          </a:rPr>
                          <m:t>𝑖𝑘</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𝑒</m:t>
                        </m:r>
                      </m:e>
                      <m:sub>
                        <m:r>
                          <a:rPr lang="en-US" sz="2000" b="0" i="1" smtClean="0">
                            <a:latin typeface="Cambria Math" panose="02040503050406030204" pitchFamily="18" charset="0"/>
                          </a:rPr>
                          <m:t>𝑖𝑘𝑗</m:t>
                        </m:r>
                      </m:sub>
                    </m:sSub>
                    <m:r>
                      <a:rPr lang="en-US" sz="2000" b="0" i="1" smtClean="0">
                        <a:latin typeface="Cambria Math" panose="02040503050406030204" pitchFamily="18" charset="0"/>
                      </a:rPr>
                      <m:t>,</m:t>
                    </m:r>
                  </m:oMath>
                </a14:m>
                <a:endParaRPr lang="en-US" sz="2000" b="0" i="1" dirty="0">
                  <a:latin typeface="Cambria Math" panose="02040503050406030204" pitchFamily="18" charset="0"/>
                </a:endParaRPr>
              </a:p>
              <a:p>
                <a:pPr algn="ctr"/>
                <a:endParaRPr lang="en-US" sz="2000" b="0" i="1" dirty="0">
                  <a:latin typeface="Cambria Math" panose="02040503050406030204" pitchFamily="18" charset="0"/>
                </a:endParaRPr>
              </a:p>
              <a:p>
                <a14:m>
                  <m:oMath xmlns:m="http://schemas.openxmlformats.org/officeDocument/2006/math">
                    <m:r>
                      <a:rPr lang="en-US" sz="2000" b="0" i="1" smtClean="0">
                        <a:latin typeface="Cambria Math" panose="02040503050406030204" pitchFamily="18" charset="0"/>
                      </a:rPr>
                      <m:t> </m:t>
                    </m:r>
                    <m:r>
                      <a:rPr lang="en-US" sz="2000" b="0" i="1" smtClean="0">
                        <a:latin typeface="Cambria Math" panose="02040503050406030204" pitchFamily="18" charset="0"/>
                      </a:rPr>
                      <m:t>𝑉𝑎𝑟</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𝑏</m:t>
                            </m:r>
                          </m:e>
                          <m:sub>
                            <m:r>
                              <a:rPr lang="en-US" sz="2000" b="0" i="1" smtClean="0">
                                <a:latin typeface="Cambria Math" panose="02040503050406030204" pitchFamily="18" charset="0"/>
                              </a:rPr>
                              <m:t>𝑖𝑘</m:t>
                            </m:r>
                          </m:sub>
                        </m:sSub>
                      </m:e>
                    </m:d>
                    <m:r>
                      <a:rPr lang="en-US" sz="2000" b="0" i="1" smtClean="0">
                        <a:latin typeface="Cambria Math" panose="02040503050406030204" pitchFamily="18" charset="0"/>
                      </a:rPr>
                      <m:t>= </m:t>
                    </m:r>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ea typeface="Cambria Math" panose="02040503050406030204" pitchFamily="18" charset="0"/>
                          </a:rPr>
                          <m:t>𝜎</m:t>
                        </m:r>
                      </m:e>
                      <m:sub>
                        <m:r>
                          <a:rPr lang="en-US" sz="2000" b="0" i="1" smtClean="0">
                            <a:latin typeface="Cambria Math" panose="02040503050406030204" pitchFamily="18" charset="0"/>
                          </a:rPr>
                          <m:t>𝐵</m:t>
                        </m:r>
                      </m:sub>
                      <m:sup>
                        <m:r>
                          <a:rPr lang="en-US" sz="2000" b="0" i="1" smtClean="0">
                            <a:latin typeface="Cambria Math" panose="02040503050406030204" pitchFamily="18" charset="0"/>
                          </a:rPr>
                          <m:t> 2</m:t>
                        </m:r>
                      </m:sup>
                    </m:sSubSup>
                    <m:r>
                      <a:rPr lang="en-US" sz="2000" i="1">
                        <a:latin typeface="Cambria Math" panose="02040503050406030204" pitchFamily="18" charset="0"/>
                      </a:rPr>
                      <m:t>,</m:t>
                    </m:r>
                    <m:r>
                      <a:rPr lang="en-US" sz="2000" b="0" i="1" smtClean="0">
                        <a:latin typeface="Cambria Math" panose="02040503050406030204" pitchFamily="18" charset="0"/>
                      </a:rPr>
                      <m:t>  </m:t>
                    </m:r>
                    <m:r>
                      <a:rPr lang="en-US" sz="2000" i="1">
                        <a:latin typeface="Cambria Math" panose="02040503050406030204" pitchFamily="18" charset="0"/>
                      </a:rPr>
                      <m:t>𝑉𝑎𝑟</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b="0" i="1" smtClean="0">
                                <a:latin typeface="Cambria Math" panose="02040503050406030204" pitchFamily="18" charset="0"/>
                              </a:rPr>
                              <m:t>𝑒</m:t>
                            </m:r>
                          </m:e>
                          <m:sub>
                            <m:r>
                              <a:rPr lang="en-US" sz="2000" b="0" i="1" smtClean="0">
                                <a:latin typeface="Cambria Math" panose="02040503050406030204" pitchFamily="18" charset="0"/>
                              </a:rPr>
                              <m:t>𝑖𝑘𝑗</m:t>
                            </m:r>
                          </m:sub>
                        </m:sSub>
                      </m:e>
                    </m:d>
                    <m:r>
                      <a:rPr lang="en-US" sz="2000" i="1">
                        <a:latin typeface="Cambria Math" panose="02040503050406030204" pitchFamily="18" charset="0"/>
                      </a:rPr>
                      <m:t>= </m:t>
                    </m:r>
                    <m:sSubSup>
                      <m:sSubSupPr>
                        <m:ctrlPr>
                          <a:rPr lang="en-US" sz="2000" i="1">
                            <a:latin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𝜎</m:t>
                        </m:r>
                      </m:e>
                      <m:sub>
                        <m:r>
                          <a:rPr lang="en-US" sz="2000" b="0" i="1" smtClean="0">
                            <a:latin typeface="Cambria Math" panose="02040503050406030204" pitchFamily="18" charset="0"/>
                          </a:rPr>
                          <m:t>𝑊</m:t>
                        </m:r>
                      </m:sub>
                      <m:sup>
                        <m:r>
                          <a:rPr lang="en-US" sz="2000" i="1">
                            <a:latin typeface="Cambria Math" panose="02040503050406030204" pitchFamily="18" charset="0"/>
                          </a:rPr>
                          <m:t>2</m:t>
                        </m:r>
                      </m:sup>
                    </m:sSubSup>
                    <m:r>
                      <a:rPr lang="en-US" sz="2000">
                        <a:latin typeface="Cambria Math" panose="02040503050406030204" pitchFamily="18" charset="0"/>
                      </a:rPr>
                      <m:t>, </m:t>
                    </m:r>
                    <m:r>
                      <a:rPr lang="en-US" sz="2000" b="0" i="0" smtClean="0">
                        <a:latin typeface="Cambria Math" panose="02040503050406030204" pitchFamily="18" charset="0"/>
                      </a:rPr>
                      <m:t> </m:t>
                    </m:r>
                    <m:r>
                      <m:rPr>
                        <m:sty m:val="p"/>
                      </m:rPr>
                      <a:rPr lang="en-US" sz="2000">
                        <a:latin typeface="Cambria Math" panose="02040503050406030204" pitchFamily="18" charset="0"/>
                      </a:rPr>
                      <m:t>Cov</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b="0" i="1" smtClean="0">
                                <a:latin typeface="Cambria Math" panose="02040503050406030204" pitchFamily="18" charset="0"/>
                              </a:rPr>
                              <m:t>𝑏</m:t>
                            </m:r>
                          </m:e>
                          <m:sub>
                            <m:r>
                              <a:rPr lang="en-US" sz="2000" b="0" i="1" smtClean="0">
                                <a:latin typeface="Cambria Math" panose="02040503050406030204" pitchFamily="18" charset="0"/>
                              </a:rPr>
                              <m:t>𝑖</m:t>
                            </m:r>
                            <m:r>
                              <a:rPr lang="en-US" sz="2000" i="1">
                                <a:latin typeface="Cambria Math" panose="02040503050406030204" pitchFamily="18" charset="0"/>
                              </a:rPr>
                              <m:t>𝑘</m:t>
                            </m:r>
                          </m:sub>
                        </m:sSub>
                        <m:r>
                          <m:rPr>
                            <m:nor/>
                          </m:rPr>
                          <a:rPr lang="en-US" sz="2000" i="0" dirty="0"/>
                          <m:t>, </m:t>
                        </m:r>
                        <m:sSub>
                          <m:sSubPr>
                            <m:ctrlPr>
                              <a:rPr lang="en-US" sz="2000" i="1">
                                <a:latin typeface="Cambria Math" panose="02040503050406030204" pitchFamily="18" charset="0"/>
                              </a:rPr>
                            </m:ctrlPr>
                          </m:sSubPr>
                          <m:e>
                            <m:r>
                              <a:rPr lang="en-US" sz="2000" i="1">
                                <a:latin typeface="Cambria Math" panose="02040503050406030204" pitchFamily="18" charset="0"/>
                              </a:rPr>
                              <m:t>𝑒</m:t>
                            </m:r>
                          </m:e>
                          <m:sub>
                            <m:sSup>
                              <m:sSupPr>
                                <m:ctrlPr>
                                  <a:rPr lang="en-US" sz="2000" i="1">
                                    <a:latin typeface="Cambria Math" panose="02040503050406030204" pitchFamily="18" charset="0"/>
                                  </a:rPr>
                                </m:ctrlPr>
                              </m:sSupPr>
                              <m:e>
                                <m:r>
                                  <a:rPr lang="en-US" sz="2000" b="0" i="1" smtClean="0">
                                    <a:latin typeface="Cambria Math" panose="02040503050406030204" pitchFamily="18" charset="0"/>
                                  </a:rPr>
                                  <m:t>𝑖</m:t>
                                </m:r>
                                <m:r>
                                  <a:rPr lang="en-US" sz="2000" i="1">
                                    <a:latin typeface="Cambria Math" panose="02040503050406030204" pitchFamily="18" charset="0"/>
                                  </a:rPr>
                                  <m:t>𝑘</m:t>
                                </m:r>
                              </m:e>
                              <m:sup>
                                <m:r>
                                  <a:rPr lang="en-US" sz="2000" i="1">
                                    <a:latin typeface="Cambria Math" panose="02040503050406030204" pitchFamily="18" charset="0"/>
                                  </a:rPr>
                                  <m:t>′</m:t>
                                </m:r>
                              </m:sup>
                            </m:sSup>
                            <m:r>
                              <a:rPr lang="en-US" sz="2000" b="0" i="1" smtClean="0">
                                <a:latin typeface="Cambria Math" panose="02040503050406030204" pitchFamily="18" charset="0"/>
                              </a:rPr>
                              <m:t>𝑗</m:t>
                            </m:r>
                          </m:sub>
                        </m:sSub>
                      </m:e>
                    </m:d>
                    <m:r>
                      <a:rPr lang="en-US" sz="2000" i="1">
                        <a:latin typeface="Cambria Math" panose="02040503050406030204" pitchFamily="18" charset="0"/>
                      </a:rPr>
                      <m:t>=0 </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𝑖</m:t>
                    </m:r>
                    <m:r>
                      <a:rPr lang="en-US" sz="2000" i="1">
                        <a:latin typeface="Cambria Math" panose="02040503050406030204" pitchFamily="18" charset="0"/>
                        <a:ea typeface="Cambria Math" panose="02040503050406030204" pitchFamily="18" charset="0"/>
                      </a:rPr>
                      <m:t>, </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𝑖</m:t>
                        </m:r>
                      </m:e>
                      <m:sup>
                        <m:r>
                          <a:rPr lang="en-US" sz="2000" i="1">
                            <a:latin typeface="Cambria Math" panose="02040503050406030204" pitchFamily="18" charset="0"/>
                            <a:ea typeface="Cambria Math" panose="02040503050406030204" pitchFamily="18" charset="0"/>
                          </a:rPr>
                          <m:t>′</m:t>
                        </m:r>
                      </m:sup>
                    </m:sSup>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𝑘</m:t>
                    </m:r>
                    <m:r>
                      <a:rPr lang="en-US" sz="2000" i="1">
                        <a:latin typeface="Cambria Math" panose="02040503050406030204" pitchFamily="18" charset="0"/>
                        <a:ea typeface="Cambria Math" panose="02040503050406030204" pitchFamily="18" charset="0"/>
                      </a:rPr>
                      <m:t>, </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𝑘</m:t>
                        </m:r>
                      </m:e>
                      <m:sup>
                        <m:r>
                          <a:rPr lang="en-US" sz="2000" i="1">
                            <a:latin typeface="Cambria Math" panose="02040503050406030204" pitchFamily="18" charset="0"/>
                            <a:ea typeface="Cambria Math" panose="02040503050406030204" pitchFamily="18" charset="0"/>
                          </a:rPr>
                          <m:t>′</m:t>
                        </m:r>
                      </m:sup>
                    </m:sSup>
                    <m:r>
                      <a:rPr lang="en-US" sz="200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𝑗</m:t>
                    </m:r>
                    <m:r>
                      <a:rPr lang="en-US" sz="2000">
                        <a:latin typeface="Cambria Math" panose="02040503050406030204" pitchFamily="18" charset="0"/>
                      </a:rPr>
                      <m:t>,</m:t>
                    </m:r>
                    <m:r>
                      <a:rPr lang="en-US" sz="2000" b="0" i="0" smtClean="0">
                        <a:latin typeface="Cambria Math" panose="02040503050406030204" pitchFamily="18" charset="0"/>
                      </a:rPr>
                      <m:t>  </m:t>
                    </m:r>
                    <m:r>
                      <m:rPr>
                        <m:sty m:val="p"/>
                      </m:rPr>
                      <a:rPr lang="en-US" sz="2000">
                        <a:latin typeface="Cambria Math" panose="02040503050406030204" pitchFamily="18" charset="0"/>
                      </a:rPr>
                      <m:t>Cov</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𝑒</m:t>
                            </m:r>
                          </m:e>
                          <m:sub>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𝑖</m:t>
                                </m:r>
                              </m:e>
                              <m:sup>
                                <m:r>
                                  <a:rPr lang="en-US" sz="2000" b="0" i="1" smtClean="0">
                                    <a:latin typeface="Cambria Math" panose="02040503050406030204" pitchFamily="18" charset="0"/>
                                  </a:rPr>
                                  <m:t>′</m:t>
                                </m:r>
                              </m:sup>
                            </m:sSup>
                            <m:sSup>
                              <m:sSupPr>
                                <m:ctrlPr>
                                  <a:rPr lang="en-US" sz="2000" b="0" i="1" smtClean="0">
                                    <a:latin typeface="Cambria Math" panose="02040503050406030204" pitchFamily="18" charset="0"/>
                                  </a:rPr>
                                </m:ctrlPr>
                              </m:sSupPr>
                              <m:e>
                                <m:r>
                                  <a:rPr lang="en-US" sz="2000" i="1">
                                    <a:latin typeface="Cambria Math" panose="02040503050406030204" pitchFamily="18" charset="0"/>
                                  </a:rPr>
                                  <m:t>𝑘</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𝑗</m:t>
                            </m:r>
                          </m:sub>
                        </m:sSub>
                        <m:r>
                          <m:rPr>
                            <m:nor/>
                          </m:rPr>
                          <a:rPr lang="en-US" sz="2000" i="0" dirty="0"/>
                          <m:t>, </m:t>
                        </m:r>
                        <m:sSub>
                          <m:sSubPr>
                            <m:ctrlPr>
                              <a:rPr lang="en-US" sz="2000" i="1">
                                <a:latin typeface="Cambria Math" panose="02040503050406030204" pitchFamily="18" charset="0"/>
                              </a:rPr>
                            </m:ctrlPr>
                          </m:sSubPr>
                          <m:e>
                            <m:r>
                              <a:rPr lang="en-US" sz="2000" i="1">
                                <a:latin typeface="Cambria Math" panose="02040503050406030204" pitchFamily="18" charset="0"/>
                              </a:rPr>
                              <m:t>𝑒</m:t>
                            </m:r>
                          </m:e>
                          <m:sub>
                            <m:sSup>
                              <m:sSupPr>
                                <m:ctrlPr>
                                  <a:rPr lang="en-US" sz="2000" i="1">
                                    <a:latin typeface="Cambria Math" panose="02040503050406030204" pitchFamily="18" charset="0"/>
                                  </a:rPr>
                                </m:ctrlPr>
                              </m:sSupPr>
                              <m:e>
                                <m:r>
                                  <a:rPr lang="en-US" sz="2000" b="0" i="1" smtClean="0">
                                    <a:latin typeface="Cambria Math" panose="02040503050406030204" pitchFamily="18" charset="0"/>
                                  </a:rPr>
                                  <m:t>𝑖</m:t>
                                </m:r>
                                <m:r>
                                  <a:rPr lang="en-US" sz="2000" i="1">
                                    <a:latin typeface="Cambria Math" panose="02040503050406030204" pitchFamily="18" charset="0"/>
                                  </a:rPr>
                                  <m:t>𝑘</m:t>
                                </m:r>
                              </m:e>
                              <m:sup>
                                <m:r>
                                  <a:rPr lang="en-US" sz="2000" i="1">
                                    <a:latin typeface="Cambria Math" panose="02040503050406030204" pitchFamily="18" charset="0"/>
                                  </a:rPr>
                                  <m:t>′</m:t>
                                </m:r>
                              </m:sup>
                            </m:sSup>
                            <m:sSup>
                              <m:sSupPr>
                                <m:ctrlPr>
                                  <a:rPr lang="en-US" sz="2000" i="1">
                                    <a:latin typeface="Cambria Math" panose="02040503050406030204" pitchFamily="18" charset="0"/>
                                  </a:rPr>
                                </m:ctrlPr>
                              </m:sSupPr>
                              <m:e>
                                <m:r>
                                  <a:rPr lang="en-US" sz="2000" b="0" i="1" smtClean="0">
                                    <a:latin typeface="Cambria Math" panose="02040503050406030204" pitchFamily="18" charset="0"/>
                                  </a:rPr>
                                  <m:t>𝑗</m:t>
                                </m:r>
                              </m:e>
                              <m:sup>
                                <m:r>
                                  <a:rPr lang="en-US" sz="2000" b="0" i="1">
                                    <a:latin typeface="Cambria Math" panose="02040503050406030204" pitchFamily="18" charset="0"/>
                                  </a:rPr>
                                  <m:t>′</m:t>
                                </m:r>
                              </m:sup>
                            </m:sSup>
                          </m:sub>
                        </m:sSub>
                      </m:e>
                    </m:d>
                    <m:r>
                      <a:rPr lang="en-US" sz="2000" i="1">
                        <a:latin typeface="Cambria Math" panose="02040503050406030204" pitchFamily="18" charset="0"/>
                      </a:rPr>
                      <m:t>=0 </m:t>
                    </m:r>
                    <m:r>
                      <a:rPr lang="en-US" sz="2000" i="1">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𝑖</m:t>
                    </m:r>
                    <m:r>
                      <a:rPr lang="en-US" sz="2000" b="0" i="1" smtClean="0">
                        <a:latin typeface="Cambria Math" panose="02040503050406030204" pitchFamily="18" charset="0"/>
                        <a:ea typeface="Cambria Math" panose="02040503050406030204" pitchFamily="18" charset="0"/>
                      </a:rPr>
                      <m:t>, </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𝑖</m:t>
                        </m:r>
                      </m:e>
                      <m:sup>
                        <m:r>
                          <a:rPr lang="en-US" sz="2000" b="0" i="1" smtClean="0">
                            <a:latin typeface="Cambria Math" panose="02040503050406030204" pitchFamily="18" charset="0"/>
                            <a:ea typeface="Cambria Math" panose="02040503050406030204" pitchFamily="18" charset="0"/>
                          </a:rPr>
                          <m:t>′</m:t>
                        </m:r>
                      </m:sup>
                    </m:sSup>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𝑘</m:t>
                    </m:r>
                    <m:r>
                      <a:rPr lang="en-US" sz="2000" b="0" i="1" smtClean="0">
                        <a:latin typeface="Cambria Math" panose="02040503050406030204" pitchFamily="18" charset="0"/>
                        <a:ea typeface="Cambria Math" panose="02040503050406030204" pitchFamily="18" charset="0"/>
                      </a:rPr>
                      <m:t>, </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𝑘</m:t>
                        </m:r>
                      </m:e>
                      <m:sup>
                        <m:r>
                          <a:rPr lang="en-US" sz="2000" b="0" i="1" smtClean="0">
                            <a:latin typeface="Cambria Math" panose="02040503050406030204" pitchFamily="18" charset="0"/>
                            <a:ea typeface="Cambria Math" panose="02040503050406030204" pitchFamily="18" charset="0"/>
                          </a:rPr>
                          <m:t>′</m:t>
                        </m:r>
                      </m:sup>
                    </m:sSup>
                    <m:r>
                      <a:rPr lang="en-US" sz="200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𝑗</m:t>
                    </m:r>
                    <m:r>
                      <a:rPr lang="en-US" sz="2000" i="1">
                        <a:latin typeface="Cambria Math" panose="02040503050406030204" pitchFamily="18" charset="0"/>
                        <a:ea typeface="Cambria Math" panose="02040503050406030204" pitchFamily="18" charset="0"/>
                      </a:rPr>
                      <m:t> ≠</m:t>
                    </m:r>
                    <m:sSup>
                      <m:sSupPr>
                        <m:ctrlPr>
                          <a:rPr lang="en-US" sz="2000" i="1">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𝑗</m:t>
                        </m:r>
                      </m:e>
                      <m:sup>
                        <m:r>
                          <a:rPr lang="en-US" sz="2000" i="1">
                            <a:latin typeface="Cambria Math" panose="02040503050406030204" pitchFamily="18" charset="0"/>
                            <a:ea typeface="Cambria Math" panose="02040503050406030204" pitchFamily="18" charset="0"/>
                          </a:rPr>
                          <m:t>′</m:t>
                        </m:r>
                      </m:sup>
                    </m:sSup>
                    <m:r>
                      <a:rPr lang="en-US" sz="2000" b="0" i="0" smtClean="0">
                        <a:latin typeface="Cambria Math" panose="02040503050406030204" pitchFamily="18" charset="0"/>
                        <a:ea typeface="Cambria Math" panose="02040503050406030204" pitchFamily="18" charset="0"/>
                      </a:rPr>
                      <m:t>, </m:t>
                    </m:r>
                    <m:r>
                      <m:rPr>
                        <m:sty m:val="p"/>
                      </m:rPr>
                      <a:rPr lang="en-US" sz="2000">
                        <a:latin typeface="Cambria Math" panose="02040503050406030204" pitchFamily="18" charset="0"/>
                      </a:rPr>
                      <m:t>Cov</m:t>
                    </m:r>
                    <m:r>
                      <a:rPr lang="en-US" sz="2000">
                        <a:latin typeface="Cambria Math" panose="02040503050406030204" pitchFamily="18" charset="0"/>
                      </a:rPr>
                      <m:t>(</m:t>
                    </m:r>
                    <m:sSub>
                      <m:sSubPr>
                        <m:ctrlPr>
                          <a:rPr lang="en-US" sz="2000" i="1">
                            <a:latin typeface="Cambria Math" panose="02040503050406030204" pitchFamily="18" charset="0"/>
                          </a:rPr>
                        </m:ctrlPr>
                      </m:sSubPr>
                      <m:e>
                        <m:r>
                          <a:rPr lang="en-US" sz="2000" b="0" i="1" smtClean="0">
                            <a:latin typeface="Cambria Math" panose="02040503050406030204" pitchFamily="18" charset="0"/>
                          </a:rPr>
                          <m:t>𝑏</m:t>
                        </m:r>
                      </m:e>
                      <m:sub>
                        <m:r>
                          <a:rPr lang="en-US" sz="2000" b="0" i="1" smtClean="0">
                            <a:latin typeface="Cambria Math" panose="02040503050406030204" pitchFamily="18" charset="0"/>
                          </a:rPr>
                          <m:t>𝑖</m:t>
                        </m:r>
                        <m:r>
                          <a:rPr lang="en-US" sz="2000" i="1">
                            <a:latin typeface="Cambria Math" panose="02040503050406030204" pitchFamily="18" charset="0"/>
                          </a:rPr>
                          <m:t>𝑘</m:t>
                        </m:r>
                      </m:sub>
                    </m:sSub>
                    <m:r>
                      <m:rPr>
                        <m:nor/>
                      </m:rPr>
                      <a:rPr lang="en-US" sz="2000" i="0" dirty="0"/>
                      <m:t>, </m:t>
                    </m:r>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𝑏</m:t>
                        </m:r>
                      </m:e>
                      <m:sub>
                        <m:r>
                          <a:rPr lang="en-US" sz="2000" b="0" i="1" smtClean="0">
                            <a:latin typeface="Cambria Math" panose="02040503050406030204" pitchFamily="18" charset="0"/>
                          </a:rPr>
                          <m:t>𝑖</m:t>
                        </m:r>
                        <m:r>
                          <a:rPr lang="en-US" sz="2000" i="1">
                            <a:latin typeface="Cambria Math" panose="02040503050406030204" pitchFamily="18" charset="0"/>
                          </a:rPr>
                          <m:t>𝑘</m:t>
                        </m:r>
                        <m:r>
                          <a:rPr lang="en-US" sz="2000" i="1">
                            <a:latin typeface="Cambria Math" panose="02040503050406030204" pitchFamily="18" charset="0"/>
                          </a:rPr>
                          <m:t>′</m:t>
                        </m:r>
                      </m:sub>
                    </m:sSub>
                    <m:r>
                      <a:rPr lang="en-US" sz="2000" i="1">
                        <a:latin typeface="Cambria Math" panose="02040503050406030204" pitchFamily="18" charset="0"/>
                      </a:rPr>
                      <m:t>)=0 </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𝑘</m:t>
                    </m:r>
                    <m:r>
                      <a:rPr lang="en-US" sz="2000" i="1">
                        <a:latin typeface="Cambria Math" panose="02040503050406030204" pitchFamily="18" charset="0"/>
                        <a:ea typeface="Cambria Math" panose="02040503050406030204" pitchFamily="18" charset="0"/>
                      </a:rPr>
                      <m:t> ≠</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𝑘</m:t>
                        </m:r>
                      </m:e>
                      <m:sup>
                        <m:r>
                          <a:rPr lang="en-US" sz="2000" i="1">
                            <a:latin typeface="Cambria Math" panose="02040503050406030204" pitchFamily="18" charset="0"/>
                            <a:ea typeface="Cambria Math" panose="02040503050406030204" pitchFamily="18" charset="0"/>
                          </a:rPr>
                          <m:t>′</m:t>
                        </m:r>
                      </m:sup>
                    </m:sSup>
                  </m:oMath>
                </a14:m>
                <a:r>
                  <a:rPr lang="en-US" sz="2000" dirty="0"/>
                  <a:t> </a:t>
                </a:r>
                <a14:m>
                  <m:oMath xmlns:m="http://schemas.openxmlformats.org/officeDocument/2006/math">
                    <m:r>
                      <m:rPr>
                        <m:sty m:val="p"/>
                      </m:rPr>
                      <a:rPr lang="en-US" sz="2000" b="0" i="0" smtClean="0">
                        <a:latin typeface="Cambria Math" panose="02040503050406030204" pitchFamily="18" charset="0"/>
                        <a:ea typeface="Cambria Math" panose="02040503050406030204" pitchFamily="18" charset="0"/>
                      </a:rPr>
                      <m:t>or</m:t>
                    </m:r>
                    <m:r>
                      <a:rPr lang="en-US" sz="2000" b="0" i="0" smtClean="0">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𝑖</m:t>
                    </m:r>
                    <m:r>
                      <a:rPr lang="en-US" sz="2000"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𝑖</m:t>
                        </m:r>
                      </m:e>
                      <m:sup>
                        <m:r>
                          <a:rPr lang="en-US" sz="2000" i="1">
                            <a:latin typeface="Cambria Math" panose="02040503050406030204" pitchFamily="18" charset="0"/>
                            <a:ea typeface="Cambria Math" panose="02040503050406030204" pitchFamily="18" charset="0"/>
                          </a:rPr>
                          <m:t>′</m:t>
                        </m:r>
                      </m:sup>
                    </m:sSup>
                  </m:oMath>
                </a14:m>
                <a:r>
                  <a:rPr lang="en-US" sz="2000" dirty="0"/>
                  <a:t> , we will show in slide 27 that  </a:t>
                </a:r>
                <a:endParaRPr lang="en-US" altLang="en-US" sz="2000" dirty="0"/>
              </a:p>
              <a:p>
                <a:pPr/>
                <a14:m>
                  <m:oMathPara xmlns:m="http://schemas.openxmlformats.org/officeDocument/2006/math">
                    <m:oMathParaPr>
                      <m:jc m:val="centerGroup"/>
                    </m:oMathParaPr>
                    <m:oMath xmlns:m="http://schemas.openxmlformats.org/officeDocument/2006/math">
                      <m:r>
                        <m:rPr>
                          <m:nor/>
                        </m:rPr>
                        <a:rPr lang="en-US" sz="2000" i="0" smtClean="0">
                          <a:solidFill>
                            <a:schemeClr val="tx1"/>
                          </a:solidFill>
                          <a:latin typeface="Cambria Math" panose="02040503050406030204" pitchFamily="18" charset="0"/>
                        </a:rPr>
                        <m:t>Var</m:t>
                      </m:r>
                      <m:d>
                        <m:dPr>
                          <m:ctrlPr>
                            <a:rPr lang="en-US" sz="2000" i="1">
                              <a:solidFill>
                                <a:schemeClr val="tx1"/>
                              </a:solidFill>
                              <a:latin typeface="Cambria Math" panose="02040503050406030204" pitchFamily="18" charset="0"/>
                            </a:rPr>
                          </m:ctrlPr>
                        </m:dPr>
                        <m:e>
                          <m:sSub>
                            <m:sSubPr>
                              <m:ctrlPr>
                                <a:rPr lang="en-US" sz="2000" i="1">
                                  <a:solidFill>
                                    <a:schemeClr val="tx1"/>
                                  </a:solidFill>
                                  <a:latin typeface="Cambria Math" panose="02040503050406030204" pitchFamily="18" charset="0"/>
                                </a:rPr>
                              </m:ctrlPr>
                            </m:sSubPr>
                            <m:e>
                              <m:acc>
                                <m:accPr>
                                  <m:chr m:val="̄"/>
                                  <m:ctrlPr>
                                    <a:rPr lang="en-US" sz="2000" i="1">
                                      <a:solidFill>
                                        <a:schemeClr val="tx1"/>
                                      </a:solidFill>
                                      <a:latin typeface="Cambria Math" panose="02040503050406030204" pitchFamily="18" charset="0"/>
                                    </a:rPr>
                                  </m:ctrlPr>
                                </m:accPr>
                                <m:e>
                                  <m:r>
                                    <a:rPr lang="en-US" sz="2000" b="0" i="1" smtClean="0">
                                      <a:solidFill>
                                        <a:schemeClr val="tx1"/>
                                      </a:solidFill>
                                      <a:latin typeface="Cambria Math" panose="02040503050406030204" pitchFamily="18" charset="0"/>
                                    </a:rPr>
                                    <m:t>𝑌</m:t>
                                  </m:r>
                                </m:e>
                              </m:acc>
                            </m:e>
                            <m:sub>
                              <m:r>
                                <m:rPr>
                                  <m:sty m:val="p"/>
                                </m:rPr>
                                <a:rPr lang="en-US" sz="2000" i="0">
                                  <a:solidFill>
                                    <a:schemeClr val="tx1"/>
                                  </a:solidFill>
                                  <a:latin typeface="Cambria Math" panose="02040503050406030204" pitchFamily="18" charset="0"/>
                                </a:rPr>
                                <m:t>i</m:t>
                              </m:r>
                            </m:sub>
                          </m:sSub>
                        </m:e>
                      </m:d>
                      <m:r>
                        <a:rPr lang="en-US" sz="2000" i="1">
                          <a:solidFill>
                            <a:schemeClr val="tx1"/>
                          </a:solidFill>
                          <a:latin typeface="Cambria Math" panose="02040503050406030204" pitchFamily="18" charset="0"/>
                        </a:rPr>
                        <m:t>=</m:t>
                      </m:r>
                      <m:f>
                        <m:fPr>
                          <m:ctrlPr>
                            <a:rPr lang="en-US" sz="2000" i="1">
                              <a:solidFill>
                                <a:schemeClr val="tx1"/>
                              </a:solidFill>
                              <a:latin typeface="Cambria Math" panose="02040503050406030204" pitchFamily="18" charset="0"/>
                            </a:rPr>
                          </m:ctrlPr>
                        </m:fPr>
                        <m:num>
                          <m:sSup>
                            <m:sSupPr>
                              <m:ctrlPr>
                                <a:rPr lang="en-US" sz="2000" i="1">
                                  <a:solidFill>
                                    <a:schemeClr val="tx1"/>
                                  </a:solidFill>
                                  <a:latin typeface="Cambria Math" panose="02040503050406030204" pitchFamily="18" charset="0"/>
                                </a:rPr>
                              </m:ctrlPr>
                            </m:sSupPr>
                            <m:e>
                              <m:r>
                                <a:rPr lang="en-US" sz="2000" i="1">
                                  <a:solidFill>
                                    <a:schemeClr val="tx1"/>
                                  </a:solidFill>
                                  <a:latin typeface="Cambria Math" panose="02040503050406030204" pitchFamily="18" charset="0"/>
                                </a:rPr>
                                <m:t>𝜎</m:t>
                              </m:r>
                            </m:e>
                            <m:sup>
                              <m:r>
                                <a:rPr lang="en-US" sz="2000" i="1">
                                  <a:solidFill>
                                    <a:schemeClr val="tx1"/>
                                  </a:solidFill>
                                  <a:latin typeface="Cambria Math" panose="02040503050406030204" pitchFamily="18" charset="0"/>
                                </a:rPr>
                                <m:t>2</m:t>
                              </m:r>
                            </m:sup>
                          </m:sSup>
                        </m:num>
                        <m:den>
                          <m:r>
                            <a:rPr lang="en-US" sz="2000" b="0" i="1" smtClean="0">
                              <a:solidFill>
                                <a:schemeClr val="tx1"/>
                              </a:solidFill>
                              <a:latin typeface="Cambria Math" panose="02040503050406030204" pitchFamily="18" charset="0"/>
                            </a:rPr>
                            <m:t>𝐾</m:t>
                          </m:r>
                          <m:r>
                            <a:rPr lang="en-US" sz="2000" i="1">
                              <a:solidFill>
                                <a:schemeClr val="tx1"/>
                              </a:solidFill>
                              <a:latin typeface="Cambria Math" panose="02040503050406030204" pitchFamily="18" charset="0"/>
                            </a:rPr>
                            <m:t>𝑚</m:t>
                          </m:r>
                        </m:den>
                      </m:f>
                      <m:d>
                        <m:dPr>
                          <m:begChr m:val="["/>
                          <m:endChr m:val="]"/>
                          <m:ctrlPr>
                            <a:rPr lang="en-US" sz="2000" i="1">
                              <a:solidFill>
                                <a:schemeClr val="tx1"/>
                              </a:solidFill>
                              <a:latin typeface="Cambria Math" panose="02040503050406030204" pitchFamily="18" charset="0"/>
                            </a:rPr>
                          </m:ctrlPr>
                        </m:dPr>
                        <m:e>
                          <m:r>
                            <a:rPr lang="en-US" sz="2000" i="1">
                              <a:solidFill>
                                <a:schemeClr val="tx1"/>
                              </a:solidFill>
                              <a:latin typeface="Cambria Math" panose="02040503050406030204" pitchFamily="18" charset="0"/>
                            </a:rPr>
                            <m:t>1+</m:t>
                          </m:r>
                          <m:d>
                            <m:dPr>
                              <m:ctrlPr>
                                <a:rPr lang="en-US" sz="2000" i="1">
                                  <a:solidFill>
                                    <a:schemeClr val="tx1"/>
                                  </a:solidFill>
                                  <a:latin typeface="Cambria Math" panose="02040503050406030204" pitchFamily="18" charset="0"/>
                                </a:rPr>
                              </m:ctrlPr>
                            </m:dPr>
                            <m:e>
                              <m:r>
                                <a:rPr lang="en-US" sz="2000" i="1">
                                  <a:solidFill>
                                    <a:schemeClr val="tx1"/>
                                  </a:solidFill>
                                  <a:latin typeface="Cambria Math" panose="02040503050406030204" pitchFamily="18" charset="0"/>
                                </a:rPr>
                                <m:t>𝑚</m:t>
                              </m:r>
                              <m:r>
                                <a:rPr lang="en-US" sz="2000" i="1">
                                  <a:solidFill>
                                    <a:schemeClr val="tx1"/>
                                  </a:solidFill>
                                  <a:latin typeface="Cambria Math" panose="02040503050406030204" pitchFamily="18" charset="0"/>
                                </a:rPr>
                                <m:t>−1</m:t>
                              </m:r>
                            </m:e>
                          </m:d>
                          <m:r>
                            <a:rPr lang="en-US" sz="2000" i="1">
                              <a:solidFill>
                                <a:schemeClr val="tx1"/>
                              </a:solidFill>
                              <a:latin typeface="Cambria Math" panose="02040503050406030204" pitchFamily="18" charset="0"/>
                            </a:rPr>
                            <m:t>𝜌</m:t>
                          </m:r>
                        </m:e>
                      </m:d>
                      <m:r>
                        <a:rPr lang="en-US" sz="2000" i="1">
                          <a:solidFill>
                            <a:schemeClr val="tx1"/>
                          </a:solidFill>
                          <a:latin typeface="Cambria Math" panose="02040503050406030204" pitchFamily="18" charset="0"/>
                        </a:rPr>
                        <m:t>,</m:t>
                      </m:r>
                      <m:r>
                        <a:rPr lang="en-US" sz="2000" i="1">
                          <a:solidFill>
                            <a:schemeClr val="tx1"/>
                          </a:solidFill>
                          <a:latin typeface="Cambria Math" panose="02040503050406030204" pitchFamily="18" charset="0"/>
                        </a:rPr>
                        <m:t>𝑖</m:t>
                      </m:r>
                      <m:r>
                        <a:rPr lang="en-US" sz="2000" i="1">
                          <a:solidFill>
                            <a:schemeClr val="tx1"/>
                          </a:solidFill>
                          <a:latin typeface="Cambria Math" panose="02040503050406030204" pitchFamily="18" charset="0"/>
                        </a:rPr>
                        <m:t>=1,2</m:t>
                      </m:r>
                    </m:oMath>
                  </m:oMathPara>
                </a14:m>
                <a:endParaRPr lang="en-US" sz="2000" dirty="0">
                  <a:solidFill>
                    <a:schemeClr val="tx1"/>
                  </a:solidFill>
                </a:endParaRPr>
              </a:p>
              <a:p>
                <a:pPr eaLnBrk="1" hangingPunct="1"/>
                <a:endParaRPr lang="en-US" altLang="en-US" sz="2000" dirty="0"/>
              </a:p>
              <a:p>
                <a:r>
                  <a:rPr lang="en-US" altLang="en-US" sz="2000" dirty="0"/>
                  <a:t>where </a:t>
                </a:r>
                <a14:m>
                  <m:oMath xmlns:m="http://schemas.openxmlformats.org/officeDocument/2006/math">
                    <m:r>
                      <a:rPr lang="en-US" sz="2000" i="1" smtClean="0">
                        <a:solidFill>
                          <a:srgbClr val="000000"/>
                        </a:solidFill>
                        <a:latin typeface="Cambria Math" panose="02040503050406030204" pitchFamily="18" charset="0"/>
                      </a:rPr>
                      <m:t>𝜌</m:t>
                    </m:r>
                  </m:oMath>
                </a14:m>
                <a:r>
                  <a:rPr lang="en-US" sz="2000" dirty="0"/>
                  <a:t> </a:t>
                </a:r>
                <a:r>
                  <a:rPr lang="en-US" altLang="en-US" sz="2000" dirty="0"/>
                  <a:t>is intra-cluster correlation coefficient and </a:t>
                </a:r>
                <a14:m>
                  <m:oMath xmlns:m="http://schemas.openxmlformats.org/officeDocument/2006/math">
                    <m:r>
                      <m:rPr>
                        <m:sty m:val="p"/>
                      </m:rPr>
                      <a:rPr lang="en-US" sz="2000" b="0" i="0" smtClean="0">
                        <a:latin typeface="Cambria Math" panose="02040503050406030204" pitchFamily="18" charset="0"/>
                      </a:rPr>
                      <m:t>Var</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𝑖𝑘𝑗</m:t>
                            </m:r>
                          </m:sub>
                        </m:sSub>
                      </m:e>
                    </m:d>
                    <m:r>
                      <a:rPr lang="en-US" sz="2000" b="0" i="0" smtClean="0">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𝜎</m:t>
                        </m:r>
                      </m:e>
                      <m:sup>
                        <m:r>
                          <a:rPr lang="en-US" sz="2000" i="1">
                            <a:latin typeface="Cambria Math" panose="02040503050406030204" pitchFamily="18" charset="0"/>
                          </a:rPr>
                          <m:t>2</m:t>
                        </m:r>
                      </m:sup>
                    </m:sSup>
                    <m:r>
                      <a:rPr lang="en-US" sz="2000" b="0" i="1" smtClean="0">
                        <a:latin typeface="Cambria Math" panose="02040503050406030204" pitchFamily="18" charset="0"/>
                      </a:rPr>
                      <m:t>=</m:t>
                    </m:r>
                    <m:sSubSup>
                      <m:sSubSupPr>
                        <m:ctrlPr>
                          <a:rPr lang="en-US" sz="2000" i="1">
                            <a:latin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rPr>
                          <m:t>𝐵</m:t>
                        </m:r>
                      </m:sub>
                      <m:sup>
                        <m:r>
                          <a:rPr lang="en-US" sz="2000" i="1">
                            <a:latin typeface="Cambria Math" panose="02040503050406030204" pitchFamily="18" charset="0"/>
                          </a:rPr>
                          <m:t> 2</m:t>
                        </m:r>
                      </m:sup>
                    </m:sSubSup>
                    <m:r>
                      <a:rPr lang="en-US" sz="2000" b="0" i="1" smtClean="0">
                        <a:latin typeface="Cambria Math" panose="02040503050406030204" pitchFamily="18" charset="0"/>
                      </a:rPr>
                      <m:t>+</m:t>
                    </m:r>
                    <m:sSubSup>
                      <m:sSubSupPr>
                        <m:ctrlPr>
                          <a:rPr lang="en-US" sz="2000" i="1">
                            <a:latin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𝜎</m:t>
                        </m:r>
                      </m:e>
                      <m:sub>
                        <m:r>
                          <a:rPr lang="en-US" sz="2000" b="0" i="1" smtClean="0">
                            <a:latin typeface="Cambria Math" panose="02040503050406030204" pitchFamily="18" charset="0"/>
                            <a:ea typeface="Cambria Math" panose="02040503050406030204" pitchFamily="18" charset="0"/>
                          </a:rPr>
                          <m:t>𝑊</m:t>
                        </m:r>
                      </m:sub>
                      <m:sup>
                        <m:r>
                          <a:rPr lang="en-US" sz="2000" i="1">
                            <a:latin typeface="Cambria Math" panose="02040503050406030204" pitchFamily="18" charset="0"/>
                          </a:rPr>
                          <m:t> 2</m:t>
                        </m:r>
                      </m:sup>
                    </m:sSubSup>
                  </m:oMath>
                </a14:m>
                <a:endParaRPr lang="en-US" altLang="en-US" sz="2000" dirty="0"/>
              </a:p>
            </p:txBody>
          </p:sp>
        </mc:Choice>
        <mc:Fallback xmlns="">
          <p:sp>
            <p:nvSpPr>
              <p:cNvPr id="5" name="TextBox 4">
                <a:extLst>
                  <a:ext uri="{FF2B5EF4-FFF2-40B4-BE49-F238E27FC236}">
                    <a16:creationId xmlns:a16="http://schemas.microsoft.com/office/drawing/2014/main" id="{984BC578-A0AB-4E09-8610-2EB2485E6576}"/>
                  </a:ext>
                </a:extLst>
              </p:cNvPr>
              <p:cNvSpPr txBox="1">
                <a:spLocks noRot="1" noChangeAspect="1" noMove="1" noResize="1" noEditPoints="1" noAdjustHandles="1" noChangeArrowheads="1" noChangeShapeType="1" noTextEdit="1"/>
              </p:cNvSpPr>
              <p:nvPr/>
            </p:nvSpPr>
            <p:spPr>
              <a:xfrm>
                <a:off x="353569" y="1361199"/>
                <a:ext cx="10875263" cy="4688271"/>
              </a:xfrm>
              <a:prstGeom prst="rect">
                <a:avLst/>
              </a:prstGeom>
              <a:blipFill>
                <a:blip r:embed="rId4"/>
                <a:stretch>
                  <a:fillRect l="-841" t="-1040" b="-910"/>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DCBA39BB-F5F8-B94D-AE8D-1E99D9F2EFE5}"/>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FF24CD65-1B98-FE9E-6878-AF79E423457C}"/>
              </a:ext>
            </a:extLst>
          </p:cNvPr>
          <p:cNvSpPr>
            <a:spLocks noGrp="1"/>
          </p:cNvSpPr>
          <p:nvPr>
            <p:ph type="sldNum" sz="quarter" idx="12"/>
          </p:nvPr>
        </p:nvSpPr>
        <p:spPr/>
        <p:txBody>
          <a:bodyPr/>
          <a:lstStyle/>
          <a:p>
            <a:fld id="{77C6A7FE-225D-49F1-B302-AA37EA92BB49}" type="slidenum">
              <a:rPr lang="en-US" smtClean="0"/>
              <a:t>26</a:t>
            </a:fld>
            <a:endParaRPr lang="en-US"/>
          </a:p>
        </p:txBody>
      </p:sp>
    </p:spTree>
    <p:extLst>
      <p:ext uri="{BB962C8B-B14F-4D97-AF65-F5344CB8AC3E}">
        <p14:creationId xmlns:p14="http://schemas.microsoft.com/office/powerpoint/2010/main" val="3894205456"/>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770054"/>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Quantifying the Effect of Clustering</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ED9208C-566C-D345-9F0C-AC64CC176B75}"/>
                  </a:ext>
                </a:extLst>
              </p:cNvPr>
              <p:cNvSpPr txBox="1"/>
              <p:nvPr/>
            </p:nvSpPr>
            <p:spPr>
              <a:xfrm>
                <a:off x="436857" y="939248"/>
                <a:ext cx="6260808" cy="585097"/>
              </a:xfrm>
              <a:prstGeom prst="rect">
                <a:avLst/>
              </a:prstGeom>
              <a:noFill/>
            </p:spPr>
            <p:txBody>
              <a:bodyPr wrap="square" rtlCol="0">
                <a:spAutoFit/>
              </a:bodyPr>
              <a:lstStyle/>
              <a:p>
                <a:r>
                  <a:rPr lang="en-US" dirty="0"/>
                  <a:t>We have </a:t>
                </a:r>
                <a14:m>
                  <m:oMath xmlns:m="http://schemas.openxmlformats.org/officeDocument/2006/math">
                    <m:sSub>
                      <m:sSubPr>
                        <m:ctrlPr>
                          <a:rPr lang="en-US" i="1">
                            <a:solidFill>
                              <a:srgbClr val="000000"/>
                            </a:solidFill>
                            <a:latin typeface="Cambria Math" panose="02040503050406030204" pitchFamily="18" charset="0"/>
                          </a:rPr>
                        </m:ctrlPr>
                      </m:sSubPr>
                      <m:e>
                        <m:acc>
                          <m:accPr>
                            <m:chr m:val="̄"/>
                            <m:ctrlPr>
                              <a:rPr lang="en-US" i="1" smtClean="0">
                                <a:solidFill>
                                  <a:srgbClr val="000000"/>
                                </a:solidFill>
                                <a:latin typeface="Cambria Math" panose="02040503050406030204" pitchFamily="18" charset="0"/>
                              </a:rPr>
                            </m:ctrlPr>
                          </m:accPr>
                          <m:e>
                            <m:r>
                              <a:rPr lang="en-US" b="0" i="1" smtClean="0">
                                <a:solidFill>
                                  <a:srgbClr val="000000"/>
                                </a:solidFill>
                                <a:latin typeface="Cambria Math" panose="02040503050406030204" pitchFamily="18" charset="0"/>
                              </a:rPr>
                              <m:t>𝑌</m:t>
                            </m:r>
                          </m:e>
                        </m:acc>
                      </m:e>
                      <m:sub>
                        <m:r>
                          <a:rPr lang="en-US" i="1">
                            <a:solidFill>
                              <a:srgbClr val="000000"/>
                            </a:solidFill>
                            <a:latin typeface="Cambria Math" panose="02040503050406030204" pitchFamily="18" charset="0"/>
                          </a:rPr>
                          <m:t>𝑖</m:t>
                        </m:r>
                      </m:sub>
                    </m:sSub>
                    <m:r>
                      <a:rPr lang="en-US" b="0" i="1" smtClean="0">
                        <a:solidFill>
                          <a:srgbClr val="000000"/>
                        </a:solidFill>
                        <a:latin typeface="Cambria Math" panose="02040503050406030204" pitchFamily="18" charset="0"/>
                      </a:rPr>
                      <m:t>=</m:t>
                    </m:r>
                    <m:f>
                      <m:fPr>
                        <m:ctrlPr>
                          <a:rPr lang="en-US" b="0" i="1" smtClean="0">
                            <a:solidFill>
                              <a:srgbClr val="000000"/>
                            </a:solidFill>
                            <a:latin typeface="Cambria Math" panose="02040503050406030204" pitchFamily="18" charset="0"/>
                          </a:rPr>
                        </m:ctrlPr>
                      </m:fPr>
                      <m:num>
                        <m:nary>
                          <m:naryPr>
                            <m:chr m:val="∑"/>
                            <m:ctrlPr>
                              <a:rPr lang="en-US" b="0" i="1" smtClean="0">
                                <a:solidFill>
                                  <a:srgbClr val="000000"/>
                                </a:solidFill>
                                <a:latin typeface="Cambria Math" panose="02040503050406030204" pitchFamily="18" charset="0"/>
                              </a:rPr>
                            </m:ctrlPr>
                          </m:naryPr>
                          <m:sub>
                            <m:r>
                              <m:rPr>
                                <m:brk m:alnAt="23"/>
                              </m:rPr>
                              <a:rPr lang="en-US" b="0" i="1" smtClean="0">
                                <a:solidFill>
                                  <a:srgbClr val="000000"/>
                                </a:solidFill>
                                <a:latin typeface="Cambria Math" panose="02040503050406030204" pitchFamily="18" charset="0"/>
                              </a:rPr>
                              <m:t>𝑘</m:t>
                            </m:r>
                            <m:r>
                              <a:rPr lang="en-US" b="0" i="1" smtClean="0">
                                <a:solidFill>
                                  <a:srgbClr val="000000"/>
                                </a:solidFill>
                                <a:latin typeface="Cambria Math" panose="02040503050406030204" pitchFamily="18" charset="0"/>
                              </a:rPr>
                              <m:t>=1</m:t>
                            </m:r>
                          </m:sub>
                          <m:sup>
                            <m:r>
                              <a:rPr lang="en-US" b="0" i="1" smtClean="0">
                                <a:solidFill>
                                  <a:srgbClr val="000000"/>
                                </a:solidFill>
                                <a:latin typeface="Cambria Math" panose="02040503050406030204" pitchFamily="18" charset="0"/>
                              </a:rPr>
                              <m:t>𝐾</m:t>
                            </m:r>
                          </m:sup>
                          <m:e>
                            <m:nary>
                              <m:naryPr>
                                <m:chr m:val="∑"/>
                                <m:ctrlPr>
                                  <a:rPr lang="en-US" b="0" i="1" smtClean="0">
                                    <a:solidFill>
                                      <a:srgbClr val="000000"/>
                                    </a:solidFill>
                                    <a:latin typeface="Cambria Math" panose="02040503050406030204" pitchFamily="18" charset="0"/>
                                  </a:rPr>
                                </m:ctrlPr>
                              </m:naryPr>
                              <m:sub>
                                <m:r>
                                  <a:rPr lang="en-US" b="0" i="1" smtClean="0">
                                    <a:solidFill>
                                      <a:srgbClr val="000000"/>
                                    </a:solidFill>
                                    <a:latin typeface="Cambria Math" panose="02040503050406030204" pitchFamily="18" charset="0"/>
                                  </a:rPr>
                                  <m:t>𝑗</m:t>
                                </m:r>
                                <m:r>
                                  <a:rPr lang="en-US" b="0" i="1" smtClean="0">
                                    <a:solidFill>
                                      <a:srgbClr val="000000"/>
                                    </a:solidFill>
                                    <a:latin typeface="Cambria Math" panose="02040503050406030204" pitchFamily="18" charset="0"/>
                                  </a:rPr>
                                  <m:t>=1</m:t>
                                </m:r>
                              </m:sub>
                              <m:sup>
                                <m:r>
                                  <a:rPr lang="en-US" b="0" i="1" smtClean="0">
                                    <a:solidFill>
                                      <a:srgbClr val="000000"/>
                                    </a:solidFill>
                                    <a:latin typeface="Cambria Math" panose="02040503050406030204" pitchFamily="18" charset="0"/>
                                  </a:rPr>
                                  <m:t>𝑚</m:t>
                                </m:r>
                              </m:sup>
                              <m:e>
                                <m:sSub>
                                  <m:sSubPr>
                                    <m:ctrlPr>
                                      <a:rPr lang="en-US" b="0"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𝑌</m:t>
                                    </m:r>
                                  </m:e>
                                  <m:sub>
                                    <m:r>
                                      <a:rPr lang="en-US" b="0" i="1" smtClean="0">
                                        <a:solidFill>
                                          <a:srgbClr val="000000"/>
                                        </a:solidFill>
                                        <a:latin typeface="Cambria Math" panose="02040503050406030204" pitchFamily="18" charset="0"/>
                                      </a:rPr>
                                      <m:t>𝑖𝑘𝑗</m:t>
                                    </m:r>
                                  </m:sub>
                                </m:sSub>
                              </m:e>
                            </m:nary>
                          </m:e>
                        </m:nary>
                      </m:num>
                      <m:den>
                        <m:r>
                          <a:rPr lang="en-US" b="0" i="1" smtClean="0">
                            <a:solidFill>
                              <a:srgbClr val="000000"/>
                            </a:solidFill>
                            <a:latin typeface="Cambria Math" panose="02040503050406030204" pitchFamily="18" charset="0"/>
                          </a:rPr>
                          <m:t>𝐾𝑚</m:t>
                        </m:r>
                      </m:den>
                    </m:f>
                  </m:oMath>
                </a14:m>
                <a:r>
                  <a:rPr lang="en-US" dirty="0"/>
                  <a:t>, and </a:t>
                </a:r>
                <a14:m>
                  <m:oMath xmlns:m="http://schemas.openxmlformats.org/officeDocument/2006/math">
                    <m:r>
                      <a:rPr lang="en-US" i="1" smtClean="0">
                        <a:latin typeface="Cambria Math" panose="02040503050406030204" pitchFamily="18" charset="0"/>
                        <a:ea typeface="Cambria Math" panose="02040503050406030204" pitchFamily="18" charset="0"/>
                      </a:rPr>
                      <m:t>𝜌</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𝐵</m:t>
                            </m:r>
                          </m:sub>
                          <m:sup>
                            <m:r>
                              <a:rPr lang="en-US" b="0" i="1" smtClean="0">
                                <a:latin typeface="Cambria Math" panose="02040503050406030204" pitchFamily="18" charset="0"/>
                                <a:ea typeface="Cambria Math" panose="02040503050406030204" pitchFamily="18" charset="0"/>
                              </a:rPr>
                              <m:t>2</m:t>
                            </m:r>
                          </m:sup>
                        </m:sSubSup>
                      </m:num>
                      <m:den>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𝐵</m:t>
                            </m:r>
                          </m:sub>
                          <m:sup>
                            <m:r>
                              <a:rPr lang="en-US" b="0" i="1" smtClean="0">
                                <a:latin typeface="Cambria Math" panose="02040503050406030204" pitchFamily="18" charset="0"/>
                                <a:ea typeface="Cambria Math" panose="02040503050406030204" pitchFamily="18" charset="0"/>
                              </a:rPr>
                              <m:t>2</m:t>
                            </m:r>
                          </m:sup>
                        </m:sSubSup>
                        <m:r>
                          <a:rPr lang="en-US" b="0" i="1" smtClean="0">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𝑊</m:t>
                            </m:r>
                          </m:sub>
                          <m:sup>
                            <m:r>
                              <a:rPr lang="en-US" b="0" i="1" smtClean="0">
                                <a:latin typeface="Cambria Math" panose="02040503050406030204" pitchFamily="18" charset="0"/>
                                <a:ea typeface="Cambria Math" panose="02040503050406030204" pitchFamily="18" charset="0"/>
                              </a:rPr>
                              <m:t>2</m:t>
                            </m:r>
                          </m:sup>
                        </m:sSubSup>
                      </m:den>
                    </m:f>
                  </m:oMath>
                </a14:m>
                <a:r>
                  <a:rPr lang="en-US" dirty="0"/>
                  <a:t>, then</a:t>
                </a:r>
              </a:p>
            </p:txBody>
          </p:sp>
        </mc:Choice>
        <mc:Fallback xmlns="">
          <p:sp>
            <p:nvSpPr>
              <p:cNvPr id="3" name="TextBox 2">
                <a:extLst>
                  <a:ext uri="{FF2B5EF4-FFF2-40B4-BE49-F238E27FC236}">
                    <a16:creationId xmlns:a16="http://schemas.microsoft.com/office/drawing/2014/main" id="{FED9208C-566C-D345-9F0C-AC64CC176B75}"/>
                  </a:ext>
                </a:extLst>
              </p:cNvPr>
              <p:cNvSpPr txBox="1">
                <a:spLocks noRot="1" noChangeAspect="1" noMove="1" noResize="1" noEditPoints="1" noAdjustHandles="1" noChangeArrowheads="1" noChangeShapeType="1" noTextEdit="1"/>
              </p:cNvSpPr>
              <p:nvPr/>
            </p:nvSpPr>
            <p:spPr>
              <a:xfrm>
                <a:off x="436857" y="939248"/>
                <a:ext cx="6260808" cy="585097"/>
              </a:xfrm>
              <a:prstGeom prst="rect">
                <a:avLst/>
              </a:prstGeom>
              <a:blipFill>
                <a:blip r:embed="rId4"/>
                <a:stretch>
                  <a:fillRect l="-810" t="-47917" b="-312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84A63629-3230-464E-9973-A6C51D39EAD3}"/>
                  </a:ext>
                </a:extLst>
              </p:cNvPr>
              <p:cNvSpPr/>
              <p:nvPr/>
            </p:nvSpPr>
            <p:spPr>
              <a:xfrm>
                <a:off x="303227" y="1439699"/>
                <a:ext cx="9354869" cy="9840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𝑉𝑎𝑟</m:t>
                      </m:r>
                      <m:d>
                        <m:dPr>
                          <m:ctrlPr>
                            <a:rPr lang="en-US" b="0" i="1" smtClean="0">
                              <a:latin typeface="Cambria Math" panose="02040503050406030204" pitchFamily="18" charset="0"/>
                            </a:rPr>
                          </m:ctrlPr>
                        </m:dPr>
                        <m:e>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b="0" i="1" smtClean="0">
                                      <a:solidFill>
                                        <a:srgbClr val="000000"/>
                                      </a:solidFill>
                                      <a:latin typeface="Cambria Math" panose="02040503050406030204" pitchFamily="18" charset="0"/>
                                    </a:rPr>
                                    <m:t>𝑌</m:t>
                                  </m:r>
                                </m:e>
                              </m:acc>
                            </m:e>
                            <m:sub>
                              <m:r>
                                <a:rPr lang="en-US" i="1">
                                  <a:solidFill>
                                    <a:srgbClr val="000000"/>
                                  </a:solidFill>
                                  <a:latin typeface="Cambria Math" panose="02040503050406030204" pitchFamily="18" charset="0"/>
                                </a:rPr>
                                <m:t>𝑖</m:t>
                              </m:r>
                            </m:sub>
                          </m:sSub>
                        </m:e>
                      </m:d>
                      <m:r>
                        <a:rPr lang="en-US" b="0" i="1" smtClean="0">
                          <a:latin typeface="Cambria Math" panose="02040503050406030204" pitchFamily="18" charset="0"/>
                        </a:rPr>
                        <m:t>=</m:t>
                      </m:r>
                      <m:r>
                        <a:rPr lang="en-US" b="0" i="1" smtClean="0">
                          <a:latin typeface="Cambria Math" panose="02040503050406030204" pitchFamily="18" charset="0"/>
                        </a:rPr>
                        <m:t>𝑉𝑎𝑟</m:t>
                      </m:r>
                      <m:d>
                        <m:dPr>
                          <m:ctrlPr>
                            <a:rPr lang="en-US" b="0" i="1" smtClean="0">
                              <a:latin typeface="Cambria Math" panose="02040503050406030204" pitchFamily="18" charset="0"/>
                            </a:rPr>
                          </m:ctrlPr>
                        </m:dPr>
                        <m:e>
                          <m:f>
                            <m:fPr>
                              <m:ctrlPr>
                                <a:rPr lang="en-US" i="1">
                                  <a:solidFill>
                                    <a:srgbClr val="000000"/>
                                  </a:solidFill>
                                  <a:latin typeface="Cambria Math" panose="02040503050406030204" pitchFamily="18" charset="0"/>
                                </a:rPr>
                              </m:ctrlPr>
                            </m:fPr>
                            <m:num>
                              <m:nary>
                                <m:naryPr>
                                  <m:chr m:val="∑"/>
                                  <m:ctrlPr>
                                    <a:rPr lang="en-US" i="1">
                                      <a:solidFill>
                                        <a:srgbClr val="000000"/>
                                      </a:solidFill>
                                      <a:latin typeface="Cambria Math" panose="02040503050406030204" pitchFamily="18" charset="0"/>
                                    </a:rPr>
                                  </m:ctrlPr>
                                </m:naryPr>
                                <m:sub>
                                  <m:r>
                                    <m:rPr>
                                      <m:brk m:alnAt="23"/>
                                    </m:rPr>
                                    <a:rPr lang="en-US" i="1">
                                      <a:solidFill>
                                        <a:srgbClr val="000000"/>
                                      </a:solidFill>
                                      <a:latin typeface="Cambria Math" panose="02040503050406030204" pitchFamily="18" charset="0"/>
                                    </a:rPr>
                                    <m:t>𝑘</m:t>
                                  </m:r>
                                  <m:r>
                                    <a:rPr lang="en-US" i="1">
                                      <a:solidFill>
                                        <a:srgbClr val="000000"/>
                                      </a:solidFill>
                                      <a:latin typeface="Cambria Math" panose="02040503050406030204" pitchFamily="18" charset="0"/>
                                    </a:rPr>
                                    <m:t>=1</m:t>
                                  </m:r>
                                </m:sub>
                                <m:sup>
                                  <m:r>
                                    <a:rPr lang="en-US" i="1">
                                      <a:solidFill>
                                        <a:srgbClr val="000000"/>
                                      </a:solidFill>
                                      <a:latin typeface="Cambria Math" panose="02040503050406030204" pitchFamily="18" charset="0"/>
                                    </a:rPr>
                                    <m:t>𝐾</m:t>
                                  </m:r>
                                </m:sup>
                                <m:e>
                                  <m:nary>
                                    <m:naryPr>
                                      <m:chr m:val="∑"/>
                                      <m:ctrlPr>
                                        <a:rPr lang="en-US" i="1" smtClean="0">
                                          <a:solidFill>
                                            <a:srgbClr val="000000"/>
                                          </a:solidFill>
                                          <a:latin typeface="Cambria Math" panose="02040503050406030204" pitchFamily="18" charset="0"/>
                                        </a:rPr>
                                      </m:ctrlPr>
                                    </m:naryPr>
                                    <m:sub>
                                      <m:r>
                                        <a:rPr lang="en-US" b="0" i="1" smtClean="0">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sub>
                                    <m:sup>
                                      <m:r>
                                        <a:rPr lang="en-US" i="1">
                                          <a:solidFill>
                                            <a:srgbClr val="000000"/>
                                          </a:solidFill>
                                          <a:latin typeface="Cambria Math" panose="02040503050406030204" pitchFamily="18" charset="0"/>
                                        </a:rPr>
                                        <m:t>𝑚</m:t>
                                      </m:r>
                                    </m:sup>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𝑌</m:t>
                                          </m:r>
                                        </m:e>
                                        <m:sub>
                                          <m:r>
                                            <a:rPr lang="en-US" i="1">
                                              <a:solidFill>
                                                <a:srgbClr val="000000"/>
                                              </a:solidFill>
                                              <a:latin typeface="Cambria Math" panose="02040503050406030204" pitchFamily="18" charset="0"/>
                                            </a:rPr>
                                            <m:t>𝑖𝑘</m:t>
                                          </m:r>
                                          <m:r>
                                            <a:rPr lang="en-US" b="0" i="1" smtClean="0">
                                              <a:solidFill>
                                                <a:srgbClr val="000000"/>
                                              </a:solidFill>
                                              <a:latin typeface="Cambria Math" panose="02040503050406030204" pitchFamily="18" charset="0"/>
                                            </a:rPr>
                                            <m:t>𝑗</m:t>
                                          </m:r>
                                        </m:sub>
                                      </m:sSub>
                                    </m:e>
                                  </m:nary>
                                </m:e>
                              </m:nary>
                            </m:num>
                            <m:den>
                              <m:r>
                                <a:rPr lang="en-US" i="1">
                                  <a:solidFill>
                                    <a:srgbClr val="000000"/>
                                  </a:solidFill>
                                  <a:latin typeface="Cambria Math" panose="02040503050406030204" pitchFamily="18" charset="0"/>
                                </a:rPr>
                                <m:t>𝐾𝑚</m:t>
                              </m:r>
                            </m:den>
                          </m:f>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𝐾𝑚</m:t>
                                  </m:r>
                                </m:e>
                              </m:d>
                            </m:e>
                            <m:sup>
                              <m:r>
                                <a:rPr lang="en-US" b="0" i="1" smtClean="0">
                                  <a:latin typeface="Cambria Math" panose="02040503050406030204" pitchFamily="18" charset="0"/>
                                </a:rPr>
                                <m:t>2</m:t>
                              </m:r>
                            </m:sup>
                          </m:sSup>
                        </m:den>
                      </m:f>
                      <m:r>
                        <a:rPr lang="en-US" b="0" i="1" smtClean="0">
                          <a:latin typeface="Cambria Math" panose="02040503050406030204" pitchFamily="18" charset="0"/>
                        </a:rPr>
                        <m:t>𝑉𝑎𝑟</m:t>
                      </m:r>
                      <m:d>
                        <m:dPr>
                          <m:ctrlPr>
                            <a:rPr lang="en-US" b="0" i="1" smtClean="0">
                              <a:latin typeface="Cambria Math" panose="02040503050406030204" pitchFamily="18" charset="0"/>
                            </a:rPr>
                          </m:ctrlPr>
                        </m:dPr>
                        <m:e>
                          <m:nary>
                            <m:naryPr>
                              <m:chr m:val="∑"/>
                              <m:ctrlPr>
                                <a:rPr lang="en-US" i="1">
                                  <a:solidFill>
                                    <a:srgbClr val="000000"/>
                                  </a:solidFill>
                                  <a:latin typeface="Cambria Math" panose="02040503050406030204" pitchFamily="18" charset="0"/>
                                </a:rPr>
                              </m:ctrlPr>
                            </m:naryPr>
                            <m:sub>
                              <m:r>
                                <m:rPr>
                                  <m:brk m:alnAt="23"/>
                                </m:rPr>
                                <a:rPr lang="en-US" i="1">
                                  <a:solidFill>
                                    <a:srgbClr val="000000"/>
                                  </a:solidFill>
                                  <a:latin typeface="Cambria Math" panose="02040503050406030204" pitchFamily="18" charset="0"/>
                                </a:rPr>
                                <m:t>𝑘</m:t>
                              </m:r>
                              <m:r>
                                <a:rPr lang="en-US" i="1">
                                  <a:solidFill>
                                    <a:srgbClr val="000000"/>
                                  </a:solidFill>
                                  <a:latin typeface="Cambria Math" panose="02040503050406030204" pitchFamily="18" charset="0"/>
                                </a:rPr>
                                <m:t>=1</m:t>
                              </m:r>
                            </m:sub>
                            <m:sup>
                              <m:r>
                                <a:rPr lang="en-US" i="1">
                                  <a:solidFill>
                                    <a:srgbClr val="000000"/>
                                  </a:solidFill>
                                  <a:latin typeface="Cambria Math" panose="02040503050406030204" pitchFamily="18" charset="0"/>
                                </a:rPr>
                                <m:t>𝐾</m:t>
                              </m:r>
                            </m:sup>
                            <m:e>
                              <m:nary>
                                <m:naryPr>
                                  <m:chr m:val="∑"/>
                                  <m:ctrlPr>
                                    <a:rPr lang="en-US" i="1">
                                      <a:solidFill>
                                        <a:srgbClr val="000000"/>
                                      </a:solidFill>
                                      <a:latin typeface="Cambria Math" panose="02040503050406030204" pitchFamily="18" charset="0"/>
                                    </a:rPr>
                                  </m:ctrlPr>
                                </m:naryPr>
                                <m:sub>
                                  <m:r>
                                    <a:rPr lang="en-US" b="0" i="1" smtClean="0">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sub>
                                <m:sup>
                                  <m:r>
                                    <a:rPr lang="en-US" i="1">
                                      <a:solidFill>
                                        <a:srgbClr val="000000"/>
                                      </a:solidFill>
                                      <a:latin typeface="Cambria Math" panose="02040503050406030204" pitchFamily="18" charset="0"/>
                                    </a:rPr>
                                    <m:t>𝑚</m:t>
                                  </m:r>
                                </m:sup>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𝑌</m:t>
                                      </m:r>
                                    </m:e>
                                    <m:sub>
                                      <m:r>
                                        <a:rPr lang="en-US" i="1">
                                          <a:solidFill>
                                            <a:srgbClr val="000000"/>
                                          </a:solidFill>
                                          <a:latin typeface="Cambria Math" panose="02040503050406030204" pitchFamily="18" charset="0"/>
                                        </a:rPr>
                                        <m:t>𝑖𝑘</m:t>
                                      </m:r>
                                      <m:r>
                                        <a:rPr lang="en-US" b="0" i="1" smtClean="0">
                                          <a:solidFill>
                                            <a:srgbClr val="000000"/>
                                          </a:solidFill>
                                          <a:latin typeface="Cambria Math" panose="02040503050406030204" pitchFamily="18" charset="0"/>
                                        </a:rPr>
                                        <m:t>𝑗</m:t>
                                      </m:r>
                                    </m:sub>
                                  </m:sSub>
                                </m:e>
                              </m:nary>
                            </m:e>
                          </m:nary>
                        </m:e>
                      </m:d>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𝐾𝑚</m:t>
                                  </m:r>
                                </m:e>
                              </m:d>
                            </m:e>
                            <m:sup>
                              <m:r>
                                <a:rPr lang="en-US" i="1">
                                  <a:latin typeface="Cambria Math" panose="02040503050406030204" pitchFamily="18" charset="0"/>
                                </a:rPr>
                                <m:t>2</m:t>
                              </m:r>
                            </m:sup>
                          </m:sSup>
                        </m:den>
                      </m:f>
                      <m:d>
                        <m:dPr>
                          <m:ctrlPr>
                            <a:rPr lang="en-US" i="1">
                              <a:latin typeface="Cambria Math" panose="02040503050406030204" pitchFamily="18" charset="0"/>
                            </a:rPr>
                          </m:ctrlPr>
                        </m:dPr>
                        <m:e>
                          <m:nary>
                            <m:naryPr>
                              <m:chr m:val="∑"/>
                              <m:ctrlPr>
                                <a:rPr lang="en-US" i="1">
                                  <a:solidFill>
                                    <a:srgbClr val="000000"/>
                                  </a:solidFill>
                                  <a:latin typeface="Cambria Math" panose="02040503050406030204" pitchFamily="18" charset="0"/>
                                </a:rPr>
                              </m:ctrlPr>
                            </m:naryPr>
                            <m:sub>
                              <m:r>
                                <m:rPr>
                                  <m:brk m:alnAt="23"/>
                                </m:rPr>
                                <a:rPr lang="en-US" i="1">
                                  <a:solidFill>
                                    <a:srgbClr val="000000"/>
                                  </a:solidFill>
                                  <a:latin typeface="Cambria Math" panose="02040503050406030204" pitchFamily="18" charset="0"/>
                                </a:rPr>
                                <m:t>𝑘</m:t>
                              </m:r>
                              <m:r>
                                <a:rPr lang="en-US" i="1">
                                  <a:solidFill>
                                    <a:srgbClr val="000000"/>
                                  </a:solidFill>
                                  <a:latin typeface="Cambria Math" panose="02040503050406030204" pitchFamily="18" charset="0"/>
                                </a:rPr>
                                <m:t>=1</m:t>
                              </m:r>
                            </m:sub>
                            <m:sup>
                              <m:r>
                                <a:rPr lang="en-US" i="1">
                                  <a:solidFill>
                                    <a:srgbClr val="000000"/>
                                  </a:solidFill>
                                  <a:latin typeface="Cambria Math" panose="02040503050406030204" pitchFamily="18" charset="0"/>
                                </a:rPr>
                                <m:t>𝐾</m:t>
                              </m:r>
                            </m:sup>
                            <m:e>
                              <m:nary>
                                <m:naryPr>
                                  <m:chr m:val="∑"/>
                                  <m:ctrlPr>
                                    <a:rPr lang="en-US" i="1">
                                      <a:solidFill>
                                        <a:srgbClr val="000000"/>
                                      </a:solidFill>
                                      <a:latin typeface="Cambria Math" panose="02040503050406030204" pitchFamily="18" charset="0"/>
                                    </a:rPr>
                                  </m:ctrlPr>
                                </m:naryPr>
                                <m:sub>
                                  <m:r>
                                    <a:rPr lang="en-US" b="0" i="1" smtClean="0">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sub>
                                <m:sup>
                                  <m:r>
                                    <a:rPr lang="en-US" i="1">
                                      <a:solidFill>
                                        <a:srgbClr val="000000"/>
                                      </a:solidFill>
                                      <a:latin typeface="Cambria Math" panose="02040503050406030204" pitchFamily="18" charset="0"/>
                                    </a:rPr>
                                    <m:t>𝑚</m:t>
                                  </m:r>
                                </m:sup>
                                <m:e>
                                  <m:sSub>
                                    <m:sSubPr>
                                      <m:ctrlPr>
                                        <a:rPr lang="en-US" i="1">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𝑉𝑎𝑟</m:t>
                                      </m:r>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𝑌</m:t>
                                      </m:r>
                                    </m:e>
                                    <m:sub>
                                      <m:r>
                                        <a:rPr lang="en-US" i="1">
                                          <a:solidFill>
                                            <a:srgbClr val="000000"/>
                                          </a:solidFill>
                                          <a:latin typeface="Cambria Math" panose="02040503050406030204" pitchFamily="18" charset="0"/>
                                        </a:rPr>
                                        <m:t>𝑖𝑘</m:t>
                                      </m:r>
                                      <m:r>
                                        <a:rPr lang="en-US" b="0" i="1" smtClean="0">
                                          <a:solidFill>
                                            <a:srgbClr val="000000"/>
                                          </a:solidFill>
                                          <a:latin typeface="Cambria Math" panose="02040503050406030204" pitchFamily="18" charset="0"/>
                                        </a:rPr>
                                        <m:t>𝑗</m:t>
                                      </m:r>
                                    </m:sub>
                                  </m:sSub>
                                  <m:r>
                                    <a:rPr lang="en-US" b="0" i="1" smtClean="0">
                                      <a:solidFill>
                                        <a:srgbClr val="000000"/>
                                      </a:solidFill>
                                      <a:latin typeface="Cambria Math" panose="02040503050406030204" pitchFamily="18" charset="0"/>
                                    </a:rPr>
                                    <m:t>)</m:t>
                                  </m:r>
                                </m:e>
                              </m:nary>
                            </m:e>
                          </m:nary>
                        </m:e>
                      </m:d>
                    </m:oMath>
                  </m:oMathPara>
                </a14:m>
                <a:endParaRPr lang="en-US" dirty="0"/>
              </a:p>
            </p:txBody>
          </p:sp>
        </mc:Choice>
        <mc:Fallback xmlns="">
          <p:sp>
            <p:nvSpPr>
              <p:cNvPr id="8" name="Rectangle 7">
                <a:extLst>
                  <a:ext uri="{FF2B5EF4-FFF2-40B4-BE49-F238E27FC236}">
                    <a16:creationId xmlns:a16="http://schemas.microsoft.com/office/drawing/2014/main" id="{84A63629-3230-464E-9973-A6C51D39EAD3}"/>
                  </a:ext>
                </a:extLst>
              </p:cNvPr>
              <p:cNvSpPr>
                <a:spLocks noRot="1" noChangeAspect="1" noMove="1" noResize="1" noEditPoints="1" noAdjustHandles="1" noChangeArrowheads="1" noChangeShapeType="1" noTextEdit="1"/>
              </p:cNvSpPr>
              <p:nvPr/>
            </p:nvSpPr>
            <p:spPr>
              <a:xfrm>
                <a:off x="303227" y="1439699"/>
                <a:ext cx="9354869" cy="984052"/>
              </a:xfrm>
              <a:prstGeom prst="rect">
                <a:avLst/>
              </a:prstGeom>
              <a:blipFill>
                <a:blip r:embed="rId5"/>
                <a:stretch>
                  <a:fillRect t="-79747" b="-1240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A4C4F5FC-3EBD-3240-81C4-EF4BAC3642F9}"/>
                  </a:ext>
                </a:extLst>
              </p:cNvPr>
              <p:cNvSpPr/>
              <p:nvPr/>
            </p:nvSpPr>
            <p:spPr>
              <a:xfrm>
                <a:off x="1545201" y="2439623"/>
                <a:ext cx="8049961" cy="528606"/>
              </a:xfrm>
              <a:prstGeom prst="rect">
                <a:avLst/>
              </a:prstGeom>
            </p:spPr>
            <p:txBody>
              <a:bodyPr wrap="none">
                <a:spAutoFit/>
              </a:bodyPr>
              <a:lstStyle/>
              <a:p>
                <a:r>
                  <a:rPr lang="en-US" dirty="0"/>
                  <a:t>+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2</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𝐾𝑚</m:t>
                                </m:r>
                              </m:e>
                            </m:d>
                          </m:e>
                          <m:sup>
                            <m:r>
                              <a:rPr lang="en-US" i="1">
                                <a:latin typeface="Cambria Math" panose="02040503050406030204" pitchFamily="18" charset="0"/>
                              </a:rPr>
                              <m:t>2</m:t>
                            </m:r>
                          </m:sup>
                        </m:sSup>
                      </m:den>
                    </m:f>
                    <m:r>
                      <m:rPr>
                        <m:nor/>
                      </m:rPr>
                      <a:rPr lang="en-US" i="0" dirty="0"/>
                      <m:t> </m:t>
                    </m:r>
                    <m:d>
                      <m:dPr>
                        <m:ctrlPr>
                          <a:rPr lang="en-US" i="1">
                            <a:latin typeface="Cambria Math" panose="02040503050406030204" pitchFamily="18" charset="0"/>
                          </a:rPr>
                        </m:ctrlPr>
                      </m:dPr>
                      <m:e>
                        <m:nary>
                          <m:naryPr>
                            <m:chr m:val="∑"/>
                            <m:ctrlPr>
                              <a:rPr lang="en-US" i="1">
                                <a:solidFill>
                                  <a:srgbClr val="000000"/>
                                </a:solidFill>
                                <a:latin typeface="Cambria Math" panose="02040503050406030204" pitchFamily="18" charset="0"/>
                              </a:rPr>
                            </m:ctrlPr>
                          </m:naryPr>
                          <m:sub>
                            <m:r>
                              <m:rPr>
                                <m:brk m:alnAt="23"/>
                              </m:rPr>
                              <a:rPr lang="en-US" i="1">
                                <a:solidFill>
                                  <a:srgbClr val="000000"/>
                                </a:solidFill>
                                <a:latin typeface="Cambria Math" panose="02040503050406030204" pitchFamily="18" charset="0"/>
                              </a:rPr>
                              <m:t>𝑘</m:t>
                            </m:r>
                            <m:r>
                              <a:rPr lang="en-US" i="1">
                                <a:solidFill>
                                  <a:srgbClr val="000000"/>
                                </a:solidFill>
                                <a:latin typeface="Cambria Math" panose="02040503050406030204" pitchFamily="18" charset="0"/>
                              </a:rPr>
                              <m:t>=1</m:t>
                            </m:r>
                          </m:sub>
                          <m:sup>
                            <m:r>
                              <a:rPr lang="en-US" i="1">
                                <a:solidFill>
                                  <a:srgbClr val="000000"/>
                                </a:solidFill>
                                <a:latin typeface="Cambria Math" panose="02040503050406030204" pitchFamily="18" charset="0"/>
                              </a:rPr>
                              <m:t>𝐾</m:t>
                            </m:r>
                          </m:sup>
                          <m:e>
                            <m:nary>
                              <m:naryPr>
                                <m:chr m:val="∑"/>
                                <m:ctrlPr>
                                  <a:rPr lang="en-US" i="1">
                                    <a:solidFill>
                                      <a:srgbClr val="000000"/>
                                    </a:solidFill>
                                    <a:latin typeface="Cambria Math" panose="02040503050406030204" pitchFamily="18" charset="0"/>
                                  </a:rPr>
                                </m:ctrlPr>
                              </m:naryPr>
                              <m:sub>
                                <m:r>
                                  <a:rPr lang="en-US" b="0" i="1" smtClean="0">
                                    <a:solidFill>
                                      <a:srgbClr val="000000"/>
                                    </a:solidFill>
                                    <a:latin typeface="Cambria Math" panose="02040503050406030204" pitchFamily="18" charset="0"/>
                                  </a:rPr>
                                  <m:t>𝑗</m:t>
                                </m:r>
                                <m:r>
                                  <a:rPr lang="en-US" i="1">
                                    <a:solidFill>
                                      <a:srgbClr val="000000"/>
                                    </a:solidFill>
                                    <a:latin typeface="Cambria Math" panose="02040503050406030204" pitchFamily="18" charset="0"/>
                                    <a:ea typeface="Cambria Math" panose="02040503050406030204" pitchFamily="18" charset="0"/>
                                  </a:rPr>
                                  <m:t>≠</m:t>
                                </m:r>
                                <m:sSup>
                                  <m:sSupPr>
                                    <m:ctrlPr>
                                      <a:rPr lang="en-US" i="1" smtClean="0">
                                        <a:solidFill>
                                          <a:srgbClr val="000000"/>
                                        </a:solidFill>
                                        <a:latin typeface="Cambria Math" panose="02040503050406030204" pitchFamily="18" charset="0"/>
                                        <a:ea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𝑗</m:t>
                                    </m:r>
                                  </m:e>
                                  <m:sup>
                                    <m:r>
                                      <a:rPr lang="en-US" b="0" i="1" smtClean="0">
                                        <a:solidFill>
                                          <a:srgbClr val="000000"/>
                                        </a:solidFill>
                                        <a:latin typeface="Cambria Math" panose="02040503050406030204" pitchFamily="18" charset="0"/>
                                        <a:ea typeface="Cambria Math" panose="02040503050406030204" pitchFamily="18" charset="0"/>
                                      </a:rPr>
                                      <m:t>′</m:t>
                                    </m:r>
                                  </m:sup>
                                </m:sSup>
                              </m:sub>
                              <m:sup>
                                <m:r>
                                  <a:rPr lang="en-US" i="1">
                                    <a:solidFill>
                                      <a:srgbClr val="000000"/>
                                    </a:solidFill>
                                    <a:latin typeface="Cambria Math" panose="02040503050406030204" pitchFamily="18" charset="0"/>
                                  </a:rPr>
                                  <m:t>𝑚</m:t>
                                </m:r>
                              </m:sup>
                              <m:e>
                                <m:sSub>
                                  <m:sSubPr>
                                    <m:ctrlPr>
                                      <a:rPr lang="en-US" i="1">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𝐶𝑜𝑣</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𝑌</m:t>
                                    </m:r>
                                  </m:e>
                                  <m:sub>
                                    <m:r>
                                      <a:rPr lang="en-US" i="1">
                                        <a:solidFill>
                                          <a:srgbClr val="000000"/>
                                        </a:solidFill>
                                        <a:latin typeface="Cambria Math" panose="02040503050406030204" pitchFamily="18" charset="0"/>
                                      </a:rPr>
                                      <m:t>𝑖𝑘</m:t>
                                    </m:r>
                                    <m:r>
                                      <a:rPr lang="en-US" b="0" i="1" smtClean="0">
                                        <a:solidFill>
                                          <a:srgbClr val="000000"/>
                                        </a:solidFill>
                                        <a:latin typeface="Cambria Math" panose="02040503050406030204" pitchFamily="18" charset="0"/>
                                      </a:rPr>
                                      <m:t>𝑗</m:t>
                                    </m:r>
                                  </m:sub>
                                </m:sSub>
                                <m:r>
                                  <a:rPr lang="en-US" b="0" i="1" smtClean="0">
                                    <a:solidFill>
                                      <a:srgbClr val="000000"/>
                                    </a:solidFill>
                                    <a:latin typeface="Cambria Math" panose="02040503050406030204" pitchFamily="18" charset="0"/>
                                  </a:rPr>
                                  <m:t>,</m:t>
                                </m:r>
                                <m:sSub>
                                  <m:sSubPr>
                                    <m:ctrlPr>
                                      <a:rPr lang="en-US" b="0"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𝑌</m:t>
                                    </m:r>
                                  </m:e>
                                  <m:sub>
                                    <m:r>
                                      <a:rPr lang="en-US" b="0" i="1" smtClean="0">
                                        <a:solidFill>
                                          <a:srgbClr val="000000"/>
                                        </a:solidFill>
                                        <a:latin typeface="Cambria Math" panose="02040503050406030204" pitchFamily="18" charset="0"/>
                                      </a:rPr>
                                      <m:t>𝑖𝑘</m:t>
                                    </m:r>
                                    <m:sSup>
                                      <m:sSupPr>
                                        <m:ctrlPr>
                                          <a:rPr lang="en-US" b="0" i="1" smtClean="0">
                                            <a:solidFill>
                                              <a:srgbClr val="000000"/>
                                            </a:solidFill>
                                            <a:latin typeface="Cambria Math" panose="02040503050406030204" pitchFamily="18" charset="0"/>
                                          </a:rPr>
                                        </m:ctrlPr>
                                      </m:sSupPr>
                                      <m:e>
                                        <m:r>
                                          <a:rPr lang="en-US" b="0" i="1" smtClean="0">
                                            <a:solidFill>
                                              <a:srgbClr val="000000"/>
                                            </a:solidFill>
                                            <a:latin typeface="Cambria Math" panose="02040503050406030204" pitchFamily="18" charset="0"/>
                                          </a:rPr>
                                          <m:t>𝑗</m:t>
                                        </m:r>
                                      </m:e>
                                      <m:sup>
                                        <m:r>
                                          <a:rPr lang="en-US" b="0" i="1" smtClean="0">
                                            <a:solidFill>
                                              <a:srgbClr val="000000"/>
                                            </a:solidFill>
                                            <a:latin typeface="Cambria Math" panose="02040503050406030204" pitchFamily="18" charset="0"/>
                                          </a:rPr>
                                          <m:t>′</m:t>
                                        </m:r>
                                      </m:sup>
                                    </m:sSup>
                                  </m:sub>
                                </m:sSub>
                                <m:r>
                                  <a:rPr lang="en-US" i="1">
                                    <a:solidFill>
                                      <a:srgbClr val="000000"/>
                                    </a:solidFill>
                                    <a:latin typeface="Cambria Math" panose="02040503050406030204" pitchFamily="18" charset="0"/>
                                  </a:rPr>
                                  <m:t>)</m:t>
                                </m:r>
                              </m:e>
                            </m:nary>
                          </m:e>
                        </m:nary>
                      </m:e>
                    </m:d>
                    <m:r>
                      <a:rPr lang="en-US" b="0" i="1" smtClean="0">
                        <a:solidFill>
                          <a:srgbClr val="000000"/>
                        </a:solidFill>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2</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𝐾𝑚</m:t>
                                </m:r>
                              </m:e>
                            </m:d>
                          </m:e>
                          <m:sup>
                            <m:r>
                              <a:rPr lang="en-US" i="1">
                                <a:latin typeface="Cambria Math" panose="02040503050406030204" pitchFamily="18" charset="0"/>
                              </a:rPr>
                              <m:t>2</m:t>
                            </m:r>
                          </m:sup>
                        </m:sSup>
                      </m:den>
                    </m:f>
                    <m:r>
                      <m:rPr>
                        <m:nor/>
                      </m:rPr>
                      <a:rPr lang="en-US" i="0" dirty="0"/>
                      <m:t> </m:t>
                    </m:r>
                    <m:d>
                      <m:dPr>
                        <m:ctrlPr>
                          <a:rPr lang="en-US" i="1">
                            <a:latin typeface="Cambria Math" panose="02040503050406030204" pitchFamily="18" charset="0"/>
                          </a:rPr>
                        </m:ctrlPr>
                      </m:dPr>
                      <m:e>
                        <m:nary>
                          <m:naryPr>
                            <m:chr m:val="∑"/>
                            <m:ctrlPr>
                              <a:rPr lang="en-US" i="1">
                                <a:solidFill>
                                  <a:srgbClr val="000000"/>
                                </a:solidFill>
                                <a:latin typeface="Cambria Math" panose="02040503050406030204" pitchFamily="18" charset="0"/>
                              </a:rPr>
                            </m:ctrlPr>
                          </m:naryPr>
                          <m:sub>
                            <m:r>
                              <m:rPr>
                                <m:brk m:alnAt="23"/>
                              </m:rPr>
                              <a:rPr lang="en-US" i="1">
                                <a:solidFill>
                                  <a:srgbClr val="000000"/>
                                </a:solidFill>
                                <a:latin typeface="Cambria Math" panose="02040503050406030204" pitchFamily="18" charset="0"/>
                              </a:rPr>
                              <m:t>𝑘</m:t>
                            </m:r>
                            <m:r>
                              <a:rPr lang="en-US" i="1">
                                <a:solidFill>
                                  <a:srgbClr val="000000"/>
                                </a:solidFill>
                                <a:latin typeface="Cambria Math" panose="02040503050406030204" pitchFamily="18" charset="0"/>
                                <a:ea typeface="Cambria Math" panose="02040503050406030204" pitchFamily="18" charset="0"/>
                              </a:rPr>
                              <m:t>≠</m:t>
                            </m:r>
                            <m:sSup>
                              <m:sSupPr>
                                <m:ctrlPr>
                                  <a:rPr lang="en-US" i="1" smtClean="0">
                                    <a:solidFill>
                                      <a:srgbClr val="000000"/>
                                    </a:solidFill>
                                    <a:latin typeface="Cambria Math" panose="02040503050406030204" pitchFamily="18" charset="0"/>
                                    <a:ea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𝑘</m:t>
                                </m:r>
                              </m:e>
                              <m:sup>
                                <m:r>
                                  <a:rPr lang="en-US" b="0" i="1" smtClean="0">
                                    <a:solidFill>
                                      <a:srgbClr val="000000"/>
                                    </a:solidFill>
                                    <a:latin typeface="Cambria Math" panose="02040503050406030204" pitchFamily="18" charset="0"/>
                                    <a:ea typeface="Cambria Math" panose="02040503050406030204" pitchFamily="18" charset="0"/>
                                  </a:rPr>
                                  <m:t>′</m:t>
                                </m:r>
                              </m:sup>
                            </m:sSup>
                          </m:sub>
                          <m:sup>
                            <m:r>
                              <a:rPr lang="en-US" i="1">
                                <a:solidFill>
                                  <a:srgbClr val="000000"/>
                                </a:solidFill>
                                <a:latin typeface="Cambria Math" panose="02040503050406030204" pitchFamily="18" charset="0"/>
                              </a:rPr>
                              <m:t>𝐾</m:t>
                            </m:r>
                          </m:sup>
                          <m:e>
                            <m:nary>
                              <m:naryPr>
                                <m:chr m:val="∑"/>
                                <m:ctrlPr>
                                  <a:rPr lang="en-US" i="1">
                                    <a:solidFill>
                                      <a:srgbClr val="000000"/>
                                    </a:solidFill>
                                    <a:latin typeface="Cambria Math" panose="02040503050406030204" pitchFamily="18" charset="0"/>
                                  </a:rPr>
                                </m:ctrlPr>
                              </m:naryPr>
                              <m:sub>
                                <m:r>
                                  <a:rPr lang="en-US" b="0" i="1" smtClean="0">
                                    <a:solidFill>
                                      <a:srgbClr val="000000"/>
                                    </a:solidFill>
                                    <a:latin typeface="Cambria Math" panose="02040503050406030204" pitchFamily="18" charset="0"/>
                                  </a:rPr>
                                  <m:t>𝑗</m:t>
                                </m:r>
                                <m:r>
                                  <a:rPr lang="en-US" b="0" i="1" smtClean="0">
                                    <a:solidFill>
                                      <a:srgbClr val="000000"/>
                                    </a:solidFill>
                                    <a:latin typeface="Cambria Math" panose="02040503050406030204" pitchFamily="18" charset="0"/>
                                  </a:rPr>
                                  <m:t>=1,</m:t>
                                </m:r>
                                <m:sSup>
                                  <m:sSupPr>
                                    <m:ctrlPr>
                                      <a:rPr lang="en-US" b="0" i="1" smtClean="0">
                                        <a:solidFill>
                                          <a:srgbClr val="000000"/>
                                        </a:solidFill>
                                        <a:latin typeface="Cambria Math" panose="02040503050406030204" pitchFamily="18" charset="0"/>
                                      </a:rPr>
                                    </m:ctrlPr>
                                  </m:sSupPr>
                                  <m:e>
                                    <m:r>
                                      <a:rPr lang="en-US" b="0" i="1" smtClean="0">
                                        <a:solidFill>
                                          <a:srgbClr val="000000"/>
                                        </a:solidFill>
                                        <a:latin typeface="Cambria Math" panose="02040503050406030204" pitchFamily="18" charset="0"/>
                                      </a:rPr>
                                      <m:t>𝑗</m:t>
                                    </m:r>
                                  </m:e>
                                  <m:sup>
                                    <m:r>
                                      <a:rPr lang="en-US" b="0" i="1" smtClean="0">
                                        <a:solidFill>
                                          <a:srgbClr val="000000"/>
                                        </a:solidFill>
                                        <a:latin typeface="Cambria Math" panose="02040503050406030204" pitchFamily="18" charset="0"/>
                                      </a:rPr>
                                      <m:t>′</m:t>
                                    </m:r>
                                  </m:sup>
                                </m:sSup>
                                <m:r>
                                  <m:rPr>
                                    <m:brk m:alnAt="23"/>
                                  </m:rP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1</m:t>
                                </m:r>
                              </m:sub>
                              <m:sup>
                                <m:r>
                                  <a:rPr lang="en-US" i="1">
                                    <a:solidFill>
                                      <a:srgbClr val="000000"/>
                                    </a:solidFill>
                                    <a:latin typeface="Cambria Math" panose="02040503050406030204" pitchFamily="18" charset="0"/>
                                  </a:rPr>
                                  <m:t>𝑚</m:t>
                                </m:r>
                              </m:sup>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𝐶𝑜𝑣</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𝑌</m:t>
                                    </m:r>
                                  </m:e>
                                  <m:sub>
                                    <m:r>
                                      <a:rPr lang="en-US" i="1">
                                        <a:solidFill>
                                          <a:srgbClr val="000000"/>
                                        </a:solidFill>
                                        <a:latin typeface="Cambria Math" panose="02040503050406030204" pitchFamily="18" charset="0"/>
                                      </a:rPr>
                                      <m:t>𝑖𝑘</m:t>
                                    </m:r>
                                    <m:r>
                                      <a:rPr lang="en-US" b="0" i="1" smtClean="0">
                                        <a:solidFill>
                                          <a:srgbClr val="000000"/>
                                        </a:solidFill>
                                        <a:latin typeface="Cambria Math" panose="02040503050406030204" pitchFamily="18" charset="0"/>
                                      </a:rPr>
                                      <m:t>𝑗</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𝑌</m:t>
                                    </m:r>
                                  </m:e>
                                  <m:sub>
                                    <m:r>
                                      <a:rPr lang="en-US" i="1">
                                        <a:solidFill>
                                          <a:srgbClr val="000000"/>
                                        </a:solidFill>
                                        <a:latin typeface="Cambria Math" panose="02040503050406030204" pitchFamily="18" charset="0"/>
                                      </a:rPr>
                                      <m:t>𝑖</m:t>
                                    </m:r>
                                    <m:sSup>
                                      <m:sSupPr>
                                        <m:ctrlPr>
                                          <a:rPr lang="en-US" i="1" smtClean="0">
                                            <a:solidFill>
                                              <a:srgbClr val="000000"/>
                                            </a:solidFill>
                                            <a:latin typeface="Cambria Math" panose="02040503050406030204" pitchFamily="18" charset="0"/>
                                          </a:rPr>
                                        </m:ctrlPr>
                                      </m:sSupPr>
                                      <m:e>
                                        <m:r>
                                          <a:rPr lang="en-US" b="0" i="1" smtClean="0">
                                            <a:solidFill>
                                              <a:srgbClr val="000000"/>
                                            </a:solidFill>
                                            <a:latin typeface="Cambria Math" panose="02040503050406030204" pitchFamily="18" charset="0"/>
                                          </a:rPr>
                                          <m:t>𝑘</m:t>
                                        </m:r>
                                      </m:e>
                                      <m:sup>
                                        <m:r>
                                          <a:rPr lang="en-US" b="0" i="1" smtClean="0">
                                            <a:solidFill>
                                              <a:srgbClr val="000000"/>
                                            </a:solidFill>
                                            <a:latin typeface="Cambria Math" panose="02040503050406030204" pitchFamily="18" charset="0"/>
                                          </a:rPr>
                                          <m:t>′</m:t>
                                        </m:r>
                                      </m:sup>
                                    </m:sSup>
                                    <m:sSup>
                                      <m:sSupPr>
                                        <m:ctrlPr>
                                          <a:rPr lang="en-US" i="1">
                                            <a:solidFill>
                                              <a:srgbClr val="000000"/>
                                            </a:solidFill>
                                            <a:latin typeface="Cambria Math" panose="02040503050406030204" pitchFamily="18" charset="0"/>
                                          </a:rPr>
                                        </m:ctrlPr>
                                      </m:sSupPr>
                                      <m:e>
                                        <m:r>
                                          <a:rPr lang="en-US" b="0" i="1" smtClean="0">
                                            <a:solidFill>
                                              <a:srgbClr val="000000"/>
                                            </a:solidFill>
                                            <a:latin typeface="Cambria Math" panose="02040503050406030204" pitchFamily="18" charset="0"/>
                                          </a:rPr>
                                          <m:t>𝑗</m:t>
                                        </m:r>
                                      </m:e>
                                      <m:sup>
                                        <m:r>
                                          <a:rPr lang="en-US" i="1">
                                            <a:solidFill>
                                              <a:srgbClr val="000000"/>
                                            </a:solidFill>
                                            <a:latin typeface="Cambria Math" panose="02040503050406030204" pitchFamily="18" charset="0"/>
                                          </a:rPr>
                                          <m:t>′</m:t>
                                        </m:r>
                                      </m:sup>
                                    </m:sSup>
                                  </m:sub>
                                </m:sSub>
                                <m:r>
                                  <a:rPr lang="en-US" i="1">
                                    <a:solidFill>
                                      <a:srgbClr val="000000"/>
                                    </a:solidFill>
                                    <a:latin typeface="Cambria Math" panose="02040503050406030204" pitchFamily="18" charset="0"/>
                                  </a:rPr>
                                  <m:t>)</m:t>
                                </m:r>
                              </m:e>
                            </m:nary>
                          </m:e>
                        </m:nary>
                      </m:e>
                    </m:d>
                  </m:oMath>
                </a14:m>
                <a:endParaRPr lang="en-US" dirty="0"/>
              </a:p>
            </p:txBody>
          </p:sp>
        </mc:Choice>
        <mc:Fallback xmlns="">
          <p:sp>
            <p:nvSpPr>
              <p:cNvPr id="10" name="Rectangle 9">
                <a:extLst>
                  <a:ext uri="{FF2B5EF4-FFF2-40B4-BE49-F238E27FC236}">
                    <a16:creationId xmlns:a16="http://schemas.microsoft.com/office/drawing/2014/main" id="{A4C4F5FC-3EBD-3240-81C4-EF4BAC3642F9}"/>
                  </a:ext>
                </a:extLst>
              </p:cNvPr>
              <p:cNvSpPr>
                <a:spLocks noRot="1" noChangeAspect="1" noMove="1" noResize="1" noEditPoints="1" noAdjustHandles="1" noChangeArrowheads="1" noChangeShapeType="1" noTextEdit="1"/>
              </p:cNvSpPr>
              <p:nvPr/>
            </p:nvSpPr>
            <p:spPr>
              <a:xfrm>
                <a:off x="1545201" y="2439623"/>
                <a:ext cx="8049961" cy="528606"/>
              </a:xfrm>
              <a:prstGeom prst="rect">
                <a:avLst/>
              </a:prstGeom>
              <a:blipFill>
                <a:blip r:embed="rId6"/>
                <a:stretch>
                  <a:fillRect l="-606" t="-70115" b="-1126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E9D667E-30D4-9B42-BE47-A682AF2E1625}"/>
                  </a:ext>
                </a:extLst>
              </p:cNvPr>
              <p:cNvSpPr txBox="1"/>
              <p:nvPr/>
            </p:nvSpPr>
            <p:spPr>
              <a:xfrm>
                <a:off x="1267882" y="3143495"/>
                <a:ext cx="8276946" cy="8917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rPr>
                                <m:t>2</m:t>
                              </m:r>
                            </m:sup>
                          </m:sSup>
                        </m:num>
                        <m:den>
                          <m:r>
                            <a:rPr lang="en-US" b="0" i="1" smtClean="0">
                              <a:latin typeface="Cambria Math" panose="02040503050406030204" pitchFamily="18" charset="0"/>
                            </a:rPr>
                            <m:t>𝐾𝑚</m:t>
                          </m:r>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2</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𝐾𝑚</m:t>
                                  </m:r>
                                </m:e>
                              </m:d>
                            </m:e>
                            <m:sup>
                              <m:r>
                                <a:rPr lang="en-US" i="1">
                                  <a:latin typeface="Cambria Math" panose="02040503050406030204" pitchFamily="18" charset="0"/>
                                </a:rPr>
                                <m:t>2</m:t>
                              </m:r>
                            </m:sup>
                          </m:sSup>
                        </m:den>
                      </m:f>
                      <m:d>
                        <m:dPr>
                          <m:ctrlPr>
                            <a:rPr lang="en-US" i="1">
                              <a:latin typeface="Cambria Math" panose="02040503050406030204" pitchFamily="18" charset="0"/>
                            </a:rPr>
                          </m:ctrlPr>
                        </m:dPr>
                        <m:e>
                          <m:nary>
                            <m:naryPr>
                              <m:chr m:val="∑"/>
                              <m:ctrlPr>
                                <a:rPr lang="en-US" i="1">
                                  <a:solidFill>
                                    <a:srgbClr val="000000"/>
                                  </a:solidFill>
                                  <a:latin typeface="Cambria Math" panose="02040503050406030204" pitchFamily="18" charset="0"/>
                                </a:rPr>
                              </m:ctrlPr>
                            </m:naryPr>
                            <m:sub>
                              <m:r>
                                <m:rPr>
                                  <m:brk m:alnAt="23"/>
                                </m:rPr>
                                <a:rPr lang="en-US" i="1">
                                  <a:solidFill>
                                    <a:srgbClr val="000000"/>
                                  </a:solidFill>
                                  <a:latin typeface="Cambria Math" panose="02040503050406030204" pitchFamily="18" charset="0"/>
                                </a:rPr>
                                <m:t>𝑘</m:t>
                              </m:r>
                              <m:r>
                                <a:rPr lang="en-US" i="1">
                                  <a:solidFill>
                                    <a:srgbClr val="000000"/>
                                  </a:solidFill>
                                  <a:latin typeface="Cambria Math" panose="02040503050406030204" pitchFamily="18" charset="0"/>
                                </a:rPr>
                                <m:t>=1</m:t>
                              </m:r>
                            </m:sub>
                            <m:sup>
                              <m:r>
                                <a:rPr lang="en-US" i="1">
                                  <a:solidFill>
                                    <a:srgbClr val="000000"/>
                                  </a:solidFill>
                                  <a:latin typeface="Cambria Math" panose="02040503050406030204" pitchFamily="18" charset="0"/>
                                </a:rPr>
                                <m:t>𝐾</m:t>
                              </m:r>
                            </m:sup>
                            <m:e>
                              <m:nary>
                                <m:naryPr>
                                  <m:chr m:val="∑"/>
                                  <m:ctrlPr>
                                    <a:rPr lang="en-US" i="1">
                                      <a:solidFill>
                                        <a:srgbClr val="000000"/>
                                      </a:solidFill>
                                      <a:latin typeface="Cambria Math" panose="02040503050406030204" pitchFamily="18" charset="0"/>
                                    </a:rPr>
                                  </m:ctrlPr>
                                </m:naryPr>
                                <m:sub>
                                  <m:r>
                                    <a:rPr lang="en-US" b="0" i="1" smtClean="0">
                                      <a:solidFill>
                                        <a:srgbClr val="000000"/>
                                      </a:solidFill>
                                      <a:latin typeface="Cambria Math" panose="02040503050406030204" pitchFamily="18" charset="0"/>
                                    </a:rPr>
                                    <m:t>𝑗</m:t>
                                  </m:r>
                                  <m:r>
                                    <a:rPr lang="en-US" i="1">
                                      <a:solidFill>
                                        <a:srgbClr val="000000"/>
                                      </a:solidFill>
                                      <a:latin typeface="Cambria Math" panose="02040503050406030204" pitchFamily="18" charset="0"/>
                                      <a:ea typeface="Cambria Math" panose="02040503050406030204" pitchFamily="18" charset="0"/>
                                    </a:rPr>
                                    <m:t>≠</m:t>
                                  </m:r>
                                  <m:sSup>
                                    <m:sSupPr>
                                      <m:ctrlPr>
                                        <a:rPr lang="en-US" i="1">
                                          <a:solidFill>
                                            <a:srgbClr val="000000"/>
                                          </a:solidFill>
                                          <a:latin typeface="Cambria Math" panose="02040503050406030204" pitchFamily="18" charset="0"/>
                                          <a:ea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𝑗</m:t>
                                      </m:r>
                                    </m:e>
                                    <m:sup>
                                      <m:r>
                                        <a:rPr lang="en-US" i="1">
                                          <a:solidFill>
                                            <a:srgbClr val="000000"/>
                                          </a:solidFill>
                                          <a:latin typeface="Cambria Math" panose="02040503050406030204" pitchFamily="18" charset="0"/>
                                          <a:ea typeface="Cambria Math" panose="02040503050406030204" pitchFamily="18" charset="0"/>
                                        </a:rPr>
                                        <m:t>′</m:t>
                                      </m:r>
                                    </m:sup>
                                  </m:sSup>
                                </m:sub>
                                <m:sup>
                                  <m:r>
                                    <a:rPr lang="en-US" i="1">
                                      <a:solidFill>
                                        <a:srgbClr val="000000"/>
                                      </a:solidFill>
                                      <a:latin typeface="Cambria Math" panose="02040503050406030204" pitchFamily="18" charset="0"/>
                                    </a:rPr>
                                    <m:t>𝑚</m:t>
                                  </m:r>
                                </m:sup>
                                <m:e>
                                  <m:r>
                                    <a:rPr lang="en-US" b="0" i="1" smtClean="0">
                                      <a:solidFill>
                                        <a:srgbClr val="000000"/>
                                      </a:solidFill>
                                      <a:latin typeface="Cambria Math" panose="02040503050406030204" pitchFamily="18" charset="0"/>
                                    </a:rPr>
                                    <m:t>𝐶𝑜𝑣</m:t>
                                  </m:r>
                                  <m:r>
                                    <a:rPr lang="en-US" b="0" i="1" smtClean="0">
                                      <a:solidFill>
                                        <a:srgbClr val="000000"/>
                                      </a:solidFill>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0</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𝛽</m:t>
                                      </m:r>
                                    </m:e>
                                    <m:sup>
                                      <m:r>
                                        <a:rPr lang="en-US" i="1">
                                          <a:latin typeface="Cambria Math" panose="02040503050406030204" pitchFamily="18" charset="0"/>
                                        </a:rPr>
                                        <m:t>∗</m:t>
                                      </m:r>
                                    </m:sup>
                                  </m:sSup>
                                  <m:sSub>
                                    <m:sSubPr>
                                      <m:ctrlPr>
                                        <a:rPr lang="en-US" i="1" dirty="0">
                                          <a:latin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𝑋</m:t>
                                      </m:r>
                                    </m:e>
                                    <m:sub>
                                      <m:r>
                                        <a:rPr lang="en-US" i="1" dirty="0">
                                          <a:latin typeface="Cambria Math" panose="02040503050406030204" pitchFamily="18" charset="0"/>
                                        </a:rPr>
                                        <m:t>𝑖</m:t>
                                      </m:r>
                                      <m:r>
                                        <a:rPr lang="en-US" b="0" i="1" dirty="0" smtClean="0">
                                          <a:latin typeface="Cambria Math" panose="02040503050406030204" pitchFamily="18" charset="0"/>
                                        </a:rPr>
                                        <m:t>𝑗𝑘</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b="0" i="1" smtClean="0">
                                          <a:latin typeface="Cambria Math" panose="02040503050406030204" pitchFamily="18" charset="0"/>
                                        </a:rPr>
                                        <m:t>𝑖</m:t>
                                      </m:r>
                                      <m:r>
                                        <a:rPr lang="en-US" i="1">
                                          <a:latin typeface="Cambria Math" panose="02040503050406030204" pitchFamily="18" charset="0"/>
                                        </a:rPr>
                                        <m:t>𝑘</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b="0" i="1" smtClean="0">
                                          <a:latin typeface="Cambria Math" panose="02040503050406030204" pitchFamily="18" charset="0"/>
                                        </a:rPr>
                                        <m:t>𝑖</m:t>
                                      </m:r>
                                      <m:r>
                                        <a:rPr lang="en-US" i="1">
                                          <a:latin typeface="Cambria Math" panose="02040503050406030204" pitchFamily="18" charset="0"/>
                                        </a:rPr>
                                        <m:t>𝑘</m:t>
                                      </m:r>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0</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𝛽</m:t>
                                      </m:r>
                                    </m:e>
                                    <m:sup>
                                      <m:r>
                                        <a:rPr lang="en-US" i="1">
                                          <a:latin typeface="Cambria Math" panose="02040503050406030204" pitchFamily="18" charset="0"/>
                                        </a:rPr>
                                        <m:t>∗</m:t>
                                      </m:r>
                                    </m:sup>
                                  </m:sSup>
                                  <m:sSub>
                                    <m:sSubPr>
                                      <m:ctrlPr>
                                        <a:rPr lang="en-US" i="1" dirty="0">
                                          <a:latin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𝑋</m:t>
                                      </m:r>
                                    </m:e>
                                    <m:sub>
                                      <m:r>
                                        <a:rPr lang="en-US" i="1" dirty="0">
                                          <a:latin typeface="Cambria Math" panose="02040503050406030204" pitchFamily="18" charset="0"/>
                                        </a:rPr>
                                        <m:t>𝑖𝑗𝑘</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b="0" i="1" smtClean="0">
                                          <a:latin typeface="Cambria Math" panose="02040503050406030204" pitchFamily="18" charset="0"/>
                                        </a:rPr>
                                        <m:t>𝑖</m:t>
                                      </m:r>
                                      <m:r>
                                        <a:rPr lang="en-US" i="1">
                                          <a:latin typeface="Cambria Math" panose="02040503050406030204" pitchFamily="18" charset="0"/>
                                        </a:rPr>
                                        <m:t>𝑘</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b="0" i="1" smtClean="0">
                                          <a:latin typeface="Cambria Math" panose="02040503050406030204" pitchFamily="18" charset="0"/>
                                        </a:rPr>
                                        <m:t>𝑖</m:t>
                                      </m:r>
                                      <m:r>
                                        <a:rPr lang="en-US" i="1">
                                          <a:latin typeface="Cambria Math" panose="02040503050406030204" pitchFamily="18" charset="0"/>
                                        </a:rPr>
                                        <m:t>𝑘</m:t>
                                      </m:r>
                                      <m:r>
                                        <a:rPr lang="en-US" i="1" smtClean="0">
                                          <a:latin typeface="Cambria Math" panose="02040503050406030204" pitchFamily="18" charset="0"/>
                                        </a:rPr>
                                        <m:t>𝑗</m:t>
                                      </m:r>
                                      <m:r>
                                        <a:rPr lang="en-US" b="0" i="1" smtClean="0">
                                          <a:latin typeface="Cambria Math" panose="02040503050406030204" pitchFamily="18" charset="0"/>
                                        </a:rPr>
                                        <m:t>′</m:t>
                                      </m:r>
                                    </m:sub>
                                  </m:sSub>
                                  <m:r>
                                    <a:rPr lang="en-US" b="0" i="1" smtClean="0">
                                      <a:solidFill>
                                        <a:srgbClr val="000000"/>
                                      </a:solidFill>
                                      <a:latin typeface="Cambria Math" panose="02040503050406030204" pitchFamily="18" charset="0"/>
                                    </a:rPr>
                                    <m:t>)</m:t>
                                  </m:r>
                                  <m:r>
                                    <a:rPr lang="en-US" i="1" smtClean="0">
                                      <a:solidFill>
                                        <a:srgbClr val="000000"/>
                                      </a:solidFill>
                                      <a:latin typeface="Cambria Math" panose="02040503050406030204" pitchFamily="18" charset="0"/>
                                    </a:rPr>
                                    <m:t> </m:t>
                                  </m:r>
                                </m:e>
                              </m:nary>
                            </m:e>
                          </m:nary>
                        </m:e>
                      </m:d>
                    </m:oMath>
                  </m:oMathPara>
                </a14:m>
                <a:endParaRPr lang="en-US" dirty="0"/>
              </a:p>
            </p:txBody>
          </p:sp>
        </mc:Choice>
        <mc:Fallback xmlns="">
          <p:sp>
            <p:nvSpPr>
              <p:cNvPr id="11" name="TextBox 10">
                <a:extLst>
                  <a:ext uri="{FF2B5EF4-FFF2-40B4-BE49-F238E27FC236}">
                    <a16:creationId xmlns:a16="http://schemas.microsoft.com/office/drawing/2014/main" id="{9E9D667E-30D4-9B42-BE47-A682AF2E1625}"/>
                  </a:ext>
                </a:extLst>
              </p:cNvPr>
              <p:cNvSpPr txBox="1">
                <a:spLocks noRot="1" noChangeAspect="1" noMove="1" noResize="1" noEditPoints="1" noAdjustHandles="1" noChangeArrowheads="1" noChangeShapeType="1" noTextEdit="1"/>
              </p:cNvSpPr>
              <p:nvPr/>
            </p:nvSpPr>
            <p:spPr>
              <a:xfrm>
                <a:off x="1267882" y="3143495"/>
                <a:ext cx="8276946" cy="8917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918F6F8-CAA2-4F49-BA57-C6A3E3183BA7}"/>
                  </a:ext>
                </a:extLst>
              </p:cNvPr>
              <p:cNvSpPr txBox="1"/>
              <p:nvPr/>
            </p:nvSpPr>
            <p:spPr>
              <a:xfrm>
                <a:off x="1267882" y="4135464"/>
                <a:ext cx="7196329" cy="8917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rPr>
                                <m:t>2</m:t>
                              </m:r>
                            </m:sup>
                          </m:sSup>
                        </m:num>
                        <m:den>
                          <m:r>
                            <a:rPr lang="en-US" b="0" i="1" smtClean="0">
                              <a:latin typeface="Cambria Math" panose="02040503050406030204" pitchFamily="18" charset="0"/>
                            </a:rPr>
                            <m:t>𝐾𝑚</m:t>
                          </m:r>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2</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𝐾𝑚</m:t>
                                  </m:r>
                                </m:e>
                              </m:d>
                            </m:e>
                            <m:sup>
                              <m:r>
                                <a:rPr lang="en-US" i="1">
                                  <a:latin typeface="Cambria Math" panose="02040503050406030204" pitchFamily="18" charset="0"/>
                                </a:rPr>
                                <m:t>2</m:t>
                              </m:r>
                            </m:sup>
                          </m:sSup>
                        </m:den>
                      </m:f>
                      <m:d>
                        <m:dPr>
                          <m:ctrlPr>
                            <a:rPr lang="en-US" i="1">
                              <a:latin typeface="Cambria Math" panose="02040503050406030204" pitchFamily="18" charset="0"/>
                            </a:rPr>
                          </m:ctrlPr>
                        </m:dPr>
                        <m:e>
                          <m:nary>
                            <m:naryPr>
                              <m:chr m:val="∑"/>
                              <m:ctrlPr>
                                <a:rPr lang="en-US" i="1">
                                  <a:solidFill>
                                    <a:srgbClr val="000000"/>
                                  </a:solidFill>
                                  <a:latin typeface="Cambria Math" panose="02040503050406030204" pitchFamily="18" charset="0"/>
                                </a:rPr>
                              </m:ctrlPr>
                            </m:naryPr>
                            <m:sub>
                              <m:r>
                                <m:rPr>
                                  <m:brk m:alnAt="23"/>
                                </m:rPr>
                                <a:rPr lang="en-US" i="1">
                                  <a:solidFill>
                                    <a:srgbClr val="000000"/>
                                  </a:solidFill>
                                  <a:latin typeface="Cambria Math" panose="02040503050406030204" pitchFamily="18" charset="0"/>
                                </a:rPr>
                                <m:t>𝑘</m:t>
                              </m:r>
                              <m:r>
                                <a:rPr lang="en-US" i="1">
                                  <a:solidFill>
                                    <a:srgbClr val="000000"/>
                                  </a:solidFill>
                                  <a:latin typeface="Cambria Math" panose="02040503050406030204" pitchFamily="18" charset="0"/>
                                </a:rPr>
                                <m:t>=1</m:t>
                              </m:r>
                            </m:sub>
                            <m:sup>
                              <m:r>
                                <a:rPr lang="en-US" i="1">
                                  <a:solidFill>
                                    <a:srgbClr val="000000"/>
                                  </a:solidFill>
                                  <a:latin typeface="Cambria Math" panose="02040503050406030204" pitchFamily="18" charset="0"/>
                                </a:rPr>
                                <m:t>𝐾</m:t>
                              </m:r>
                            </m:sup>
                            <m:e>
                              <m:nary>
                                <m:naryPr>
                                  <m:chr m:val="∑"/>
                                  <m:ctrlPr>
                                    <a:rPr lang="en-US" i="1">
                                      <a:solidFill>
                                        <a:srgbClr val="000000"/>
                                      </a:solidFill>
                                      <a:latin typeface="Cambria Math" panose="02040503050406030204" pitchFamily="18" charset="0"/>
                                    </a:rPr>
                                  </m:ctrlPr>
                                </m:naryPr>
                                <m:sub>
                                  <m:r>
                                    <a:rPr lang="en-US" b="0" i="1" smtClean="0">
                                      <a:solidFill>
                                        <a:srgbClr val="000000"/>
                                      </a:solidFill>
                                      <a:latin typeface="Cambria Math" panose="02040503050406030204" pitchFamily="18" charset="0"/>
                                    </a:rPr>
                                    <m:t>𝑗</m:t>
                                  </m:r>
                                  <m:r>
                                    <a:rPr lang="en-US" i="1">
                                      <a:solidFill>
                                        <a:srgbClr val="000000"/>
                                      </a:solidFill>
                                      <a:latin typeface="Cambria Math" panose="02040503050406030204" pitchFamily="18" charset="0"/>
                                      <a:ea typeface="Cambria Math" panose="02040503050406030204" pitchFamily="18" charset="0"/>
                                    </a:rPr>
                                    <m:t>≠</m:t>
                                  </m:r>
                                  <m:sSup>
                                    <m:sSupPr>
                                      <m:ctrlPr>
                                        <a:rPr lang="en-US" i="1">
                                          <a:solidFill>
                                            <a:srgbClr val="000000"/>
                                          </a:solidFill>
                                          <a:latin typeface="Cambria Math" panose="02040503050406030204" pitchFamily="18" charset="0"/>
                                          <a:ea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𝑗</m:t>
                                      </m:r>
                                    </m:e>
                                    <m:sup>
                                      <m:r>
                                        <a:rPr lang="en-US" i="1">
                                          <a:solidFill>
                                            <a:srgbClr val="000000"/>
                                          </a:solidFill>
                                          <a:latin typeface="Cambria Math" panose="02040503050406030204" pitchFamily="18" charset="0"/>
                                          <a:ea typeface="Cambria Math" panose="02040503050406030204" pitchFamily="18" charset="0"/>
                                        </a:rPr>
                                        <m:t>′</m:t>
                                      </m:r>
                                    </m:sup>
                                  </m:sSup>
                                </m:sub>
                                <m:sup>
                                  <m:r>
                                    <a:rPr lang="en-US" i="1">
                                      <a:solidFill>
                                        <a:srgbClr val="000000"/>
                                      </a:solidFill>
                                      <a:latin typeface="Cambria Math" panose="02040503050406030204" pitchFamily="18" charset="0"/>
                                    </a:rPr>
                                    <m:t>𝑚</m:t>
                                  </m:r>
                                </m:sup>
                                <m:e>
                                  <m:r>
                                    <a:rPr lang="en-US" b="0" i="1" smtClean="0">
                                      <a:solidFill>
                                        <a:srgbClr val="000000"/>
                                      </a:solidFill>
                                      <a:latin typeface="Cambria Math" panose="02040503050406030204" pitchFamily="18" charset="0"/>
                                    </a:rPr>
                                    <m:t>𝑉𝑎𝑟</m:t>
                                  </m:r>
                                  <m:d>
                                    <m:dPr>
                                      <m:ctrlPr>
                                        <a:rPr lang="en-US" b="0" i="1" smtClean="0">
                                          <a:solidFill>
                                            <a:srgbClr val="000000"/>
                                          </a:solidFill>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b="0" i="1" smtClean="0">
                                              <a:latin typeface="Cambria Math" panose="02040503050406030204" pitchFamily="18" charset="0"/>
                                            </a:rPr>
                                            <m:t>𝑖</m:t>
                                          </m:r>
                                          <m:r>
                                            <a:rPr lang="en-US" i="1">
                                              <a:latin typeface="Cambria Math" panose="02040503050406030204" pitchFamily="18" charset="0"/>
                                            </a:rPr>
                                            <m:t>𝑘</m:t>
                                          </m:r>
                                        </m:sub>
                                      </m:sSub>
                                    </m:e>
                                  </m:d>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𝐶𝑜𝑣</m:t>
                                  </m:r>
                                  <m:d>
                                    <m:dPr>
                                      <m:ctrlPr>
                                        <a:rPr lang="en-US" b="0" i="1" smtClean="0">
                                          <a:solidFill>
                                            <a:srgbClr val="000000"/>
                                          </a:solidFill>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b="0" i="1" smtClean="0">
                                              <a:latin typeface="Cambria Math" panose="02040503050406030204" pitchFamily="18" charset="0"/>
                                            </a:rPr>
                                            <m:t>𝑖</m:t>
                                          </m:r>
                                          <m:r>
                                            <a:rPr lang="en-US" i="1">
                                              <a:latin typeface="Cambria Math" panose="02040503050406030204" pitchFamily="18" charset="0"/>
                                            </a:rPr>
                                            <m:t>𝑘</m:t>
                                          </m:r>
                                          <m:r>
                                            <a:rPr lang="en-US" b="0" i="1" smtClean="0">
                                              <a:latin typeface="Cambria Math" panose="02040503050406030204" pitchFamily="18" charset="0"/>
                                            </a:rPr>
                                            <m:t>,</m:t>
                                          </m:r>
                                        </m:sub>
                                      </m:sSub>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b="0" i="1" smtClean="0">
                                              <a:latin typeface="Cambria Math" panose="02040503050406030204" pitchFamily="18" charset="0"/>
                                            </a:rPr>
                                            <m:t>𝑖</m:t>
                                          </m:r>
                                          <m:r>
                                            <a:rPr lang="en-US" i="1">
                                              <a:latin typeface="Cambria Math" panose="02040503050406030204" pitchFamily="18" charset="0"/>
                                            </a:rPr>
                                            <m:t>𝑘</m:t>
                                          </m:r>
                                          <m:sSup>
                                            <m:sSupPr>
                                              <m:ctrlPr>
                                                <a:rPr lang="en-US" i="1" smtClean="0">
                                                  <a:latin typeface="Cambria Math" panose="02040503050406030204" pitchFamily="18" charset="0"/>
                                                </a:rPr>
                                              </m:ctrlPr>
                                            </m:sSupPr>
                                            <m:e>
                                              <m:r>
                                                <a:rPr lang="en-US" b="0" i="1" smtClean="0">
                                                  <a:latin typeface="Cambria Math" panose="02040503050406030204" pitchFamily="18" charset="0"/>
                                                </a:rPr>
                                                <m:t>𝑗</m:t>
                                              </m:r>
                                            </m:e>
                                            <m:sup>
                                              <m:r>
                                                <a:rPr lang="en-US" i="1">
                                                  <a:latin typeface="Cambria Math" panose="02040503050406030204" pitchFamily="18" charset="0"/>
                                                </a:rPr>
                                                <m:t>′</m:t>
                                              </m:r>
                                            </m:sup>
                                          </m:sSup>
                                        </m:sub>
                                      </m:sSub>
                                    </m:e>
                                  </m:d>
                                  <m:r>
                                    <a:rPr lang="en-US" b="0" i="1" smtClean="0">
                                      <a:latin typeface="Cambria Math" panose="02040503050406030204" pitchFamily="18" charset="0"/>
                                    </a:rPr>
                                    <m:t>+</m:t>
                                  </m:r>
                                  <m:r>
                                    <a:rPr lang="en-US" b="0" i="1" smtClean="0">
                                      <a:latin typeface="Cambria Math" panose="02040503050406030204" pitchFamily="18" charset="0"/>
                                    </a:rPr>
                                    <m:t>𝐶𝑜𝑣</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b="0" i="1" smtClean="0">
                                          <a:latin typeface="Cambria Math" panose="02040503050406030204" pitchFamily="18" charset="0"/>
                                        </a:rPr>
                                        <m:t>𝑖</m:t>
                                      </m:r>
                                      <m:r>
                                        <a:rPr lang="en-US" i="1">
                                          <a:latin typeface="Cambria Math" panose="02040503050406030204" pitchFamily="18" charset="0"/>
                                        </a:rPr>
                                        <m:t>𝑘</m:t>
                                      </m:r>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i="1">
                                          <a:latin typeface="Cambria Math" panose="02040503050406030204" pitchFamily="18" charset="0"/>
                                        </a:rPr>
                                        <m:t>𝑒</m:t>
                                      </m:r>
                                    </m:e>
                                    <m:sub>
                                      <m:r>
                                        <a:rPr lang="en-US" b="0" i="1" smtClean="0">
                                          <a:latin typeface="Cambria Math" panose="02040503050406030204" pitchFamily="18" charset="0"/>
                                        </a:rPr>
                                        <m:t>𝑖</m:t>
                                      </m:r>
                                      <m:r>
                                        <a:rPr lang="en-US" i="1">
                                          <a:latin typeface="Cambria Math" panose="02040503050406030204" pitchFamily="18" charset="0"/>
                                        </a:rPr>
                                        <m:t>𝑘</m:t>
                                      </m:r>
                                      <m:sSup>
                                        <m:sSupPr>
                                          <m:ctrlPr>
                                            <a:rPr lang="en-US" i="1" smtClean="0">
                                              <a:latin typeface="Cambria Math" panose="02040503050406030204" pitchFamily="18" charset="0"/>
                                            </a:rPr>
                                          </m:ctrlPr>
                                        </m:sSupPr>
                                        <m:e>
                                          <m:r>
                                            <a:rPr lang="en-US" b="0" i="1" smtClean="0">
                                              <a:latin typeface="Cambria Math" panose="02040503050406030204" pitchFamily="18" charset="0"/>
                                            </a:rPr>
                                            <m:t>𝑗</m:t>
                                          </m:r>
                                        </m:e>
                                        <m:sup>
                                          <m:r>
                                            <a:rPr lang="en-US" b="0" i="1" smtClean="0">
                                              <a:latin typeface="Cambria Math" panose="02040503050406030204" pitchFamily="18" charset="0"/>
                                            </a:rPr>
                                            <m:t>′</m:t>
                                          </m:r>
                                        </m:sup>
                                      </m:sSup>
                                    </m:sub>
                                  </m:sSub>
                                  <m:r>
                                    <a:rPr lang="en-US" b="0" i="1" smtClean="0">
                                      <a:solidFill>
                                        <a:srgbClr val="000000"/>
                                      </a:solidFill>
                                      <a:latin typeface="Cambria Math" panose="02040503050406030204" pitchFamily="18" charset="0"/>
                                    </a:rPr>
                                    <m:t>)</m:t>
                                  </m:r>
                                  <m:r>
                                    <a:rPr lang="en-US" i="1" smtClean="0">
                                      <a:solidFill>
                                        <a:srgbClr val="000000"/>
                                      </a:solidFill>
                                      <a:latin typeface="Cambria Math" panose="02040503050406030204" pitchFamily="18" charset="0"/>
                                    </a:rPr>
                                    <m:t> </m:t>
                                  </m:r>
                                </m:e>
                              </m:nary>
                            </m:e>
                          </m:nary>
                        </m:e>
                      </m:d>
                    </m:oMath>
                  </m:oMathPara>
                </a14:m>
                <a:endParaRPr lang="en-US" dirty="0"/>
              </a:p>
            </p:txBody>
          </p:sp>
        </mc:Choice>
        <mc:Fallback xmlns="">
          <p:sp>
            <p:nvSpPr>
              <p:cNvPr id="12" name="TextBox 11">
                <a:extLst>
                  <a:ext uri="{FF2B5EF4-FFF2-40B4-BE49-F238E27FC236}">
                    <a16:creationId xmlns:a16="http://schemas.microsoft.com/office/drawing/2014/main" id="{A918F6F8-CAA2-4F49-BA57-C6A3E3183BA7}"/>
                  </a:ext>
                </a:extLst>
              </p:cNvPr>
              <p:cNvSpPr txBox="1">
                <a:spLocks noRot="1" noChangeAspect="1" noMove="1" noResize="1" noEditPoints="1" noAdjustHandles="1" noChangeArrowheads="1" noChangeShapeType="1" noTextEdit="1"/>
              </p:cNvSpPr>
              <p:nvPr/>
            </p:nvSpPr>
            <p:spPr>
              <a:xfrm>
                <a:off x="1267882" y="4135464"/>
                <a:ext cx="7196329" cy="891719"/>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C990CD1-8B7E-BB4D-98C5-51DF4AC8746E}"/>
                  </a:ext>
                </a:extLst>
              </p:cNvPr>
              <p:cNvSpPr txBox="1"/>
              <p:nvPr/>
            </p:nvSpPr>
            <p:spPr>
              <a:xfrm>
                <a:off x="1203874" y="5482029"/>
                <a:ext cx="5796459" cy="460447"/>
              </a:xfrm>
              <a:prstGeom prst="rect">
                <a:avLst/>
              </a:prstGeom>
              <a:noFill/>
            </p:spPr>
            <p:txBody>
              <a:bodyPr wrap="none" lIns="0" tIns="0" rIns="0" bIns="0" rtlCol="0">
                <a:spAutoFit/>
              </a:bodyPr>
              <a:lstStyle/>
              <a:p>
                <a14:m>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rPr>
                              <m:t>2</m:t>
                            </m:r>
                          </m:sup>
                        </m:sSup>
                      </m:num>
                      <m:den>
                        <m:r>
                          <a:rPr lang="en-US" b="0" i="1" smtClean="0">
                            <a:latin typeface="Cambria Math" panose="02040503050406030204" pitchFamily="18" charset="0"/>
                          </a:rPr>
                          <m:t>𝐾𝑚</m:t>
                        </m:r>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𝐾𝑚</m:t>
                                </m:r>
                              </m:e>
                            </m:d>
                          </m:e>
                          <m:sup>
                            <m:r>
                              <a:rPr lang="en-US" i="1">
                                <a:latin typeface="Cambria Math" panose="02040503050406030204" pitchFamily="18" charset="0"/>
                              </a:rPr>
                              <m:t>2</m:t>
                            </m:r>
                          </m:sup>
                        </m:sSup>
                      </m:den>
                    </m:f>
                    <m:d>
                      <m:dPr>
                        <m:ctrlPr>
                          <a:rPr lang="en-US" i="1">
                            <a:latin typeface="Cambria Math" panose="02040503050406030204" pitchFamily="18" charset="0"/>
                          </a:rPr>
                        </m:ctrlPr>
                      </m:dPr>
                      <m:e>
                        <m:nary>
                          <m:naryPr>
                            <m:chr m:val="∑"/>
                            <m:ctrlPr>
                              <a:rPr lang="en-US" i="1">
                                <a:solidFill>
                                  <a:srgbClr val="000000"/>
                                </a:solidFill>
                                <a:latin typeface="Cambria Math" panose="02040503050406030204" pitchFamily="18" charset="0"/>
                              </a:rPr>
                            </m:ctrlPr>
                          </m:naryPr>
                          <m:sub>
                            <m:r>
                              <m:rPr>
                                <m:brk m:alnAt="23"/>
                              </m:rPr>
                              <a:rPr lang="en-US" i="1">
                                <a:solidFill>
                                  <a:srgbClr val="000000"/>
                                </a:solidFill>
                                <a:latin typeface="Cambria Math" panose="02040503050406030204" pitchFamily="18" charset="0"/>
                              </a:rPr>
                              <m:t>𝑘</m:t>
                            </m:r>
                            <m:r>
                              <a:rPr lang="en-US" i="1">
                                <a:solidFill>
                                  <a:srgbClr val="000000"/>
                                </a:solidFill>
                                <a:latin typeface="Cambria Math" panose="02040503050406030204" pitchFamily="18" charset="0"/>
                              </a:rPr>
                              <m:t>=1</m:t>
                            </m:r>
                          </m:sub>
                          <m:sup>
                            <m:r>
                              <a:rPr lang="en-US" i="1">
                                <a:solidFill>
                                  <a:srgbClr val="000000"/>
                                </a:solidFill>
                                <a:latin typeface="Cambria Math" panose="02040503050406030204" pitchFamily="18" charset="0"/>
                              </a:rPr>
                              <m:t>𝐾</m:t>
                            </m:r>
                          </m:sup>
                          <m:e>
                            <m:nary>
                              <m:naryPr>
                                <m:chr m:val="∑"/>
                                <m:ctrlPr>
                                  <a:rPr lang="en-US" i="1">
                                    <a:solidFill>
                                      <a:srgbClr val="000000"/>
                                    </a:solidFill>
                                    <a:latin typeface="Cambria Math" panose="02040503050406030204" pitchFamily="18" charset="0"/>
                                  </a:rPr>
                                </m:ctrlPr>
                              </m:naryPr>
                              <m:sub>
                                <m:r>
                                  <a:rPr lang="en-US" b="0" i="1" smtClean="0">
                                    <a:solidFill>
                                      <a:srgbClr val="000000"/>
                                    </a:solidFill>
                                    <a:latin typeface="Cambria Math" panose="02040503050406030204" pitchFamily="18" charset="0"/>
                                  </a:rPr>
                                  <m:t>𝑗</m:t>
                                </m:r>
                                <m:r>
                                  <a:rPr lang="en-US" i="1">
                                    <a:solidFill>
                                      <a:srgbClr val="000000"/>
                                    </a:solidFill>
                                    <a:latin typeface="Cambria Math" panose="02040503050406030204" pitchFamily="18" charset="0"/>
                                    <a:ea typeface="Cambria Math" panose="02040503050406030204" pitchFamily="18" charset="0"/>
                                  </a:rPr>
                                  <m:t>≠</m:t>
                                </m:r>
                                <m:sSup>
                                  <m:sSupPr>
                                    <m:ctrlPr>
                                      <a:rPr lang="en-US" i="1">
                                        <a:solidFill>
                                          <a:srgbClr val="000000"/>
                                        </a:solidFill>
                                        <a:latin typeface="Cambria Math" panose="02040503050406030204" pitchFamily="18" charset="0"/>
                                        <a:ea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𝑗</m:t>
                                    </m:r>
                                  </m:e>
                                  <m:sup>
                                    <m:r>
                                      <a:rPr lang="en-US" i="1">
                                        <a:solidFill>
                                          <a:srgbClr val="000000"/>
                                        </a:solidFill>
                                        <a:latin typeface="Cambria Math" panose="02040503050406030204" pitchFamily="18" charset="0"/>
                                        <a:ea typeface="Cambria Math" panose="02040503050406030204" pitchFamily="18" charset="0"/>
                                      </a:rPr>
                                      <m:t>′</m:t>
                                    </m:r>
                                  </m:sup>
                                </m:sSup>
                              </m:sub>
                              <m:sup>
                                <m:r>
                                  <a:rPr lang="en-US" i="1">
                                    <a:solidFill>
                                      <a:srgbClr val="000000"/>
                                    </a:solidFill>
                                    <a:latin typeface="Cambria Math" panose="02040503050406030204" pitchFamily="18" charset="0"/>
                                  </a:rPr>
                                  <m:t>𝑚</m:t>
                                </m:r>
                              </m:sup>
                              <m:e>
                                <m:sSup>
                                  <m:sSupPr>
                                    <m:ctrlPr>
                                      <a:rPr lang="en-US" i="1" smtClean="0">
                                        <a:solidFill>
                                          <a:srgbClr val="000000"/>
                                        </a:solidFill>
                                        <a:latin typeface="Cambria Math" panose="02040503050406030204" pitchFamily="18" charset="0"/>
                                      </a:rPr>
                                    </m:ctrlPr>
                                  </m:sSupPr>
                                  <m:e>
                                    <m:r>
                                      <a:rPr lang="en-US" i="1" smtClean="0">
                                        <a:solidFill>
                                          <a:srgbClr val="000000"/>
                                        </a:solidFill>
                                        <a:latin typeface="Cambria Math" panose="02040503050406030204" pitchFamily="18" charset="0"/>
                                        <a:ea typeface="Cambria Math" panose="02040503050406030204" pitchFamily="18" charset="0"/>
                                      </a:rPr>
                                      <m:t>𝜎</m:t>
                                    </m:r>
                                  </m:e>
                                  <m:sup>
                                    <m:r>
                                      <a:rPr lang="en-US" b="0" i="1" smtClean="0">
                                        <a:solidFill>
                                          <a:srgbClr val="000000"/>
                                        </a:solidFill>
                                        <a:latin typeface="Cambria Math" panose="02040503050406030204" pitchFamily="18" charset="0"/>
                                      </a:rPr>
                                      <m:t>2</m:t>
                                    </m:r>
                                  </m:sup>
                                </m:sSup>
                                <m:r>
                                  <a:rPr lang="en-US" i="1" smtClean="0">
                                    <a:solidFill>
                                      <a:srgbClr val="000000"/>
                                    </a:solidFill>
                                    <a:latin typeface="Cambria Math" panose="02040503050406030204" pitchFamily="18" charset="0"/>
                                    <a:ea typeface="Cambria Math" panose="02040503050406030204" pitchFamily="18" charset="0"/>
                                  </a:rPr>
                                  <m:t>𝜌</m:t>
                                </m:r>
                              </m:e>
                            </m:nary>
                          </m:e>
                        </m:nary>
                      </m:e>
                    </m:d>
                    <m:r>
                      <a:rPr lang="en-US" b="0" i="1" smtClean="0">
                        <a:solidFill>
                          <a:srgbClr val="000000"/>
                        </a:solidFill>
                        <a:latin typeface="Cambria Math" panose="02040503050406030204" pitchFamily="18" charset="0"/>
                      </a:rPr>
                      <m:t>=</m:t>
                    </m:r>
                  </m:oMath>
                </a14:m>
                <a:r>
                  <a:rPr lang="en-US" dirty="0"/>
                  <a:t> </a:t>
                </a:r>
                <a14:m>
                  <m:oMath xmlns:m="http://schemas.openxmlformats.org/officeDocument/2006/math">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𝜎</m:t>
                            </m:r>
                          </m:e>
                          <m:sup>
                            <m:r>
                              <a:rPr lang="en-US" i="1">
                                <a:latin typeface="Cambria Math" panose="02040503050406030204" pitchFamily="18" charset="0"/>
                              </a:rPr>
                              <m:t>2</m:t>
                            </m:r>
                          </m:sup>
                        </m:sSup>
                      </m:num>
                      <m:den>
                        <m:r>
                          <a:rPr lang="en-US" i="1">
                            <a:latin typeface="Cambria Math" panose="02040503050406030204" pitchFamily="18" charset="0"/>
                          </a:rPr>
                          <m:t>𝐾𝑚</m:t>
                        </m:r>
                      </m:den>
                    </m:f>
                    <m:r>
                      <a:rPr lang="en-US" i="1">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2</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𝐾𝑚</m:t>
                                </m:r>
                              </m:e>
                            </m:d>
                          </m:e>
                          <m:sup>
                            <m:r>
                              <a:rPr lang="en-US" i="1">
                                <a:latin typeface="Cambria Math" panose="02040503050406030204" pitchFamily="18" charset="0"/>
                              </a:rPr>
                              <m:t>2</m:t>
                            </m:r>
                          </m:sup>
                        </m:sSup>
                      </m:den>
                    </m:f>
                    <m:r>
                      <a:rPr lang="en-US" b="0" i="1" smtClean="0">
                        <a:latin typeface="Cambria Math" panose="02040503050406030204" pitchFamily="18" charset="0"/>
                      </a:rPr>
                      <m:t>𝐾</m:t>
                    </m:r>
                    <m:f>
                      <m:fPr>
                        <m:ctrlPr>
                          <a:rPr lang="en-US" i="1">
                            <a:latin typeface="Cambria Math" panose="02040503050406030204" pitchFamily="18" charset="0"/>
                          </a:rPr>
                        </m:ctrlPr>
                      </m:fPr>
                      <m:num>
                        <m:r>
                          <a:rPr lang="en-US" i="1">
                            <a:latin typeface="Cambria Math" panose="02040503050406030204" pitchFamily="18" charset="0"/>
                          </a:rPr>
                          <m:t>𝑚</m:t>
                        </m:r>
                        <m:r>
                          <a:rPr lang="en-US" i="1">
                            <a:latin typeface="Cambria Math" panose="02040503050406030204" pitchFamily="18" charset="0"/>
                          </a:rPr>
                          <m:t> </m:t>
                        </m:r>
                        <m:d>
                          <m:dPr>
                            <m:ctrlPr>
                              <a:rPr lang="en-US" i="1">
                                <a:latin typeface="Cambria Math" panose="02040503050406030204" pitchFamily="18" charset="0"/>
                              </a:rPr>
                            </m:ctrlPr>
                          </m:dPr>
                          <m:e>
                            <m:r>
                              <a:rPr lang="en-US" i="1">
                                <a:latin typeface="Cambria Math" panose="02040503050406030204" pitchFamily="18" charset="0"/>
                              </a:rPr>
                              <m:t>𝑚</m:t>
                            </m:r>
                            <m:r>
                              <a:rPr lang="en-US" i="1">
                                <a:latin typeface="Cambria Math" panose="02040503050406030204" pitchFamily="18" charset="0"/>
                              </a:rPr>
                              <m:t>−1</m:t>
                            </m:r>
                          </m:e>
                        </m:d>
                      </m:num>
                      <m:den>
                        <m:r>
                          <a:rPr lang="en-US" i="1">
                            <a:latin typeface="Cambria Math" panose="02040503050406030204" pitchFamily="18" charset="0"/>
                          </a:rPr>
                          <m:t>2</m:t>
                        </m:r>
                      </m:den>
                    </m:f>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𝜌</m:t>
                    </m:r>
                  </m:oMath>
                </a14:m>
                <a:endParaRPr lang="en-US" dirty="0"/>
              </a:p>
            </p:txBody>
          </p:sp>
        </mc:Choice>
        <mc:Fallback xmlns="">
          <p:sp>
            <p:nvSpPr>
              <p:cNvPr id="13" name="TextBox 12">
                <a:extLst>
                  <a:ext uri="{FF2B5EF4-FFF2-40B4-BE49-F238E27FC236}">
                    <a16:creationId xmlns:a16="http://schemas.microsoft.com/office/drawing/2014/main" id="{5C990CD1-8B7E-BB4D-98C5-51DF4AC8746E}"/>
                  </a:ext>
                </a:extLst>
              </p:cNvPr>
              <p:cNvSpPr txBox="1">
                <a:spLocks noRot="1" noChangeAspect="1" noMove="1" noResize="1" noEditPoints="1" noAdjustHandles="1" noChangeArrowheads="1" noChangeShapeType="1" noTextEdit="1"/>
              </p:cNvSpPr>
              <p:nvPr/>
            </p:nvSpPr>
            <p:spPr>
              <a:xfrm>
                <a:off x="1203874" y="5482029"/>
                <a:ext cx="5796459" cy="46044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4EC4A16C-BE63-254D-BFD6-6D7E2B804338}"/>
                  </a:ext>
                </a:extLst>
              </p:cNvPr>
              <p:cNvSpPr/>
              <p:nvPr/>
            </p:nvSpPr>
            <p:spPr>
              <a:xfrm>
                <a:off x="1267882" y="5918752"/>
                <a:ext cx="2164952" cy="524182"/>
              </a:xfrm>
              <a:prstGeom prst="rect">
                <a:avLst/>
              </a:prstGeom>
            </p:spPr>
            <p:txBody>
              <a:bodyPr wrap="none">
                <a:spAutoFit/>
              </a:bodyPr>
              <a:lstStyle/>
              <a:p>
                <a:r>
                  <a:rPr lang="en-US" dirty="0"/>
                  <a:t>= </a:t>
                </a:r>
                <a14:m>
                  <m:oMath xmlns:m="http://schemas.openxmlformats.org/officeDocument/2006/math">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num>
                      <m:den>
                        <m:r>
                          <a:rPr lang="en-US" i="1">
                            <a:latin typeface="Cambria Math" panose="02040503050406030204" pitchFamily="18" charset="0"/>
                          </a:rPr>
                          <m:t>𝐾𝑚</m:t>
                        </m:r>
                      </m:den>
                    </m:f>
                    <m:d>
                      <m:dPr>
                        <m:begChr m:val="["/>
                        <m:endChr m:val="]"/>
                        <m:ctrlPr>
                          <a:rPr lang="en-US" i="1">
                            <a:latin typeface="Cambria Math" panose="02040503050406030204" pitchFamily="18" charset="0"/>
                          </a:rPr>
                        </m:ctrlPr>
                      </m:dPr>
                      <m:e>
                        <m:r>
                          <a:rPr lang="en-US" i="1">
                            <a:latin typeface="Cambria Math" panose="02040503050406030204" pitchFamily="18" charset="0"/>
                          </a:rPr>
                          <m:t>1+</m:t>
                        </m:r>
                        <m:d>
                          <m:dPr>
                            <m:ctrlPr>
                              <a:rPr lang="en-US" i="1">
                                <a:latin typeface="Cambria Math" panose="02040503050406030204" pitchFamily="18" charset="0"/>
                              </a:rPr>
                            </m:ctrlPr>
                          </m:dPr>
                          <m:e>
                            <m:r>
                              <a:rPr lang="en-US" i="1">
                                <a:latin typeface="Cambria Math" panose="02040503050406030204" pitchFamily="18" charset="0"/>
                              </a:rPr>
                              <m:t>𝑚</m:t>
                            </m:r>
                            <m:r>
                              <a:rPr lang="en-US" i="1">
                                <a:latin typeface="Cambria Math" panose="02040503050406030204" pitchFamily="18" charset="0"/>
                              </a:rPr>
                              <m:t>−1</m:t>
                            </m:r>
                          </m:e>
                        </m:d>
                        <m:r>
                          <a:rPr lang="en-US" i="1">
                            <a:latin typeface="Cambria Math" panose="02040503050406030204" pitchFamily="18" charset="0"/>
                          </a:rPr>
                          <m:t>𝜌</m:t>
                        </m:r>
                      </m:e>
                    </m:d>
                  </m:oMath>
                </a14:m>
                <a:endParaRPr lang="en-US" dirty="0"/>
              </a:p>
            </p:txBody>
          </p:sp>
        </mc:Choice>
        <mc:Fallback xmlns="">
          <p:sp>
            <p:nvSpPr>
              <p:cNvPr id="14" name="Rectangle 13">
                <a:extLst>
                  <a:ext uri="{FF2B5EF4-FFF2-40B4-BE49-F238E27FC236}">
                    <a16:creationId xmlns:a16="http://schemas.microsoft.com/office/drawing/2014/main" id="{4EC4A16C-BE63-254D-BFD6-6D7E2B804338}"/>
                  </a:ext>
                </a:extLst>
              </p:cNvPr>
              <p:cNvSpPr>
                <a:spLocks noRot="1" noChangeAspect="1" noMove="1" noResize="1" noEditPoints="1" noAdjustHandles="1" noChangeArrowheads="1" noChangeShapeType="1" noTextEdit="1"/>
              </p:cNvSpPr>
              <p:nvPr/>
            </p:nvSpPr>
            <p:spPr>
              <a:xfrm>
                <a:off x="1267882" y="5918752"/>
                <a:ext cx="2164952" cy="524182"/>
              </a:xfrm>
              <a:prstGeom prst="rect">
                <a:avLst/>
              </a:prstGeom>
              <a:blipFill>
                <a:blip r:embed="rId10"/>
                <a:stretch>
                  <a:fillRect l="-1744" b="-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FF8A6EE-50C5-FF4E-B611-58B69ED2A951}"/>
                  </a:ext>
                </a:extLst>
              </p:cNvPr>
              <p:cNvSpPr txBox="1"/>
              <p:nvPr/>
            </p:nvSpPr>
            <p:spPr>
              <a:xfrm>
                <a:off x="7547262" y="3947354"/>
                <a:ext cx="4402487" cy="369332"/>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0</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𝛽</m:t>
                        </m:r>
                      </m:e>
                      <m:sup>
                        <m:r>
                          <a:rPr lang="en-US" i="1">
                            <a:latin typeface="Cambria Math" panose="02040503050406030204" pitchFamily="18" charset="0"/>
                          </a:rPr>
                          <m:t>∗</m:t>
                        </m:r>
                      </m:sup>
                    </m:sSup>
                  </m:oMath>
                </a14:m>
                <a:r>
                  <a:rPr lang="en-US" dirty="0"/>
                  <a:t> are fixed effects so no covariance</a:t>
                </a:r>
              </a:p>
            </p:txBody>
          </p:sp>
        </mc:Choice>
        <mc:Fallback xmlns="">
          <p:sp>
            <p:nvSpPr>
              <p:cNvPr id="5" name="TextBox 4">
                <a:extLst>
                  <a:ext uri="{FF2B5EF4-FFF2-40B4-BE49-F238E27FC236}">
                    <a16:creationId xmlns:a16="http://schemas.microsoft.com/office/drawing/2014/main" id="{2FF8A6EE-50C5-FF4E-B611-58B69ED2A951}"/>
                  </a:ext>
                </a:extLst>
              </p:cNvPr>
              <p:cNvSpPr txBox="1">
                <a:spLocks noRot="1" noChangeAspect="1" noMove="1" noResize="1" noEditPoints="1" noAdjustHandles="1" noChangeArrowheads="1" noChangeShapeType="1" noTextEdit="1"/>
              </p:cNvSpPr>
              <p:nvPr/>
            </p:nvSpPr>
            <p:spPr>
              <a:xfrm>
                <a:off x="7547262" y="3947354"/>
                <a:ext cx="4402487" cy="369332"/>
              </a:xfrm>
              <a:prstGeom prst="rect">
                <a:avLst/>
              </a:prstGeom>
              <a:blipFill>
                <a:blip r:embed="rId11"/>
                <a:stretch>
                  <a:fillRect t="-10000" r="-416"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D06745C-B109-3F45-82B7-1FE665271CBE}"/>
                  </a:ext>
                </a:extLst>
              </p:cNvPr>
              <p:cNvSpPr txBox="1"/>
              <p:nvPr/>
            </p:nvSpPr>
            <p:spPr>
              <a:xfrm>
                <a:off x="8941199" y="2417193"/>
                <a:ext cx="3411199" cy="42364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 ←</m:t>
                      </m:r>
                      <m:r>
                        <a:rPr lang="en-US" b="0" i="1" smtClean="0">
                          <a:latin typeface="Cambria Math" panose="02040503050406030204" pitchFamily="18" charset="0"/>
                        </a:rPr>
                        <m:t> </m:t>
                      </m:r>
                      <m:r>
                        <a:rPr lang="en-US" b="0" i="1" smtClean="0">
                          <a:latin typeface="Cambria Math" panose="02040503050406030204" pitchFamily="18" charset="0"/>
                        </a:rPr>
                        <m:t>𝐶𝑜𝑣</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𝑖𝑘𝑗</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𝑖</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𝑘</m:t>
                                  </m:r>
                                </m:e>
                                <m:sup>
                                  <m:r>
                                    <a:rPr lang="en-US" b="0" i="1" smtClean="0">
                                      <a:latin typeface="Cambria Math" panose="02040503050406030204" pitchFamily="18" charset="0"/>
                                    </a:rPr>
                                    <m:t>′</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𝑗</m:t>
                                  </m:r>
                                </m:e>
                                <m:sup>
                                  <m:r>
                                    <a:rPr lang="en-US" b="0" i="1" smtClean="0">
                                      <a:latin typeface="Cambria Math" panose="02040503050406030204" pitchFamily="18" charset="0"/>
                                    </a:rPr>
                                    <m:t>′</m:t>
                                  </m:r>
                                </m:sup>
                              </m:sSup>
                            </m:sub>
                          </m:sSub>
                        </m:e>
                      </m:d>
                      <m:r>
                        <a:rPr lang="en-US" b="0" i="1" smtClean="0">
                          <a:latin typeface="Cambria Math" panose="02040503050406030204" pitchFamily="18" charset="0"/>
                        </a:rPr>
                        <m:t>=0</m:t>
                      </m:r>
                    </m:oMath>
                  </m:oMathPara>
                </a14:m>
                <a:endParaRPr lang="en-US" dirty="0"/>
              </a:p>
            </p:txBody>
          </p:sp>
        </mc:Choice>
        <mc:Fallback xmlns="">
          <p:sp>
            <p:nvSpPr>
              <p:cNvPr id="7" name="TextBox 6">
                <a:extLst>
                  <a:ext uri="{FF2B5EF4-FFF2-40B4-BE49-F238E27FC236}">
                    <a16:creationId xmlns:a16="http://schemas.microsoft.com/office/drawing/2014/main" id="{BD06745C-B109-3F45-82B7-1FE665271CBE}"/>
                  </a:ext>
                </a:extLst>
              </p:cNvPr>
              <p:cNvSpPr txBox="1">
                <a:spLocks noRot="1" noChangeAspect="1" noMove="1" noResize="1" noEditPoints="1" noAdjustHandles="1" noChangeArrowheads="1" noChangeShapeType="1" noTextEdit="1"/>
              </p:cNvSpPr>
              <p:nvPr/>
            </p:nvSpPr>
            <p:spPr>
              <a:xfrm>
                <a:off x="8941199" y="2417193"/>
                <a:ext cx="3411199" cy="423642"/>
              </a:xfrm>
              <a:prstGeom prst="rect">
                <a:avLst/>
              </a:prstGeom>
              <a:blipFill>
                <a:blip r:embed="rId12"/>
                <a:stretch>
                  <a:fillRect b="-57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4BE8809E-D58C-9B4C-A307-A4FD94A085F7}"/>
                  </a:ext>
                </a:extLst>
              </p:cNvPr>
              <p:cNvSpPr/>
              <p:nvPr/>
            </p:nvSpPr>
            <p:spPr>
              <a:xfrm>
                <a:off x="3642281" y="3981859"/>
                <a:ext cx="4026102" cy="373244"/>
              </a:xfrm>
              <a:prstGeom prst="rect">
                <a:avLst/>
              </a:prstGeom>
            </p:spPr>
            <p:txBody>
              <a:bodyPr wrap="none">
                <a:spAutoFit/>
              </a:bodyPr>
              <a:lstStyle/>
              <a:p>
                <a14:m>
                  <m:oMath xmlns:m="http://schemas.openxmlformats.org/officeDocument/2006/math">
                    <m:r>
                      <a:rPr lang="en-US" i="1" smtClean="0">
                        <a:latin typeface="Cambria Math" panose="02040503050406030204" pitchFamily="18" charset="0"/>
                      </a:rPr>
                      <m:t>←</m:t>
                    </m:r>
                    <m:r>
                      <a:rPr lang="en-US" b="0" i="1" smtClean="0">
                        <a:latin typeface="Cambria Math" panose="02040503050406030204" pitchFamily="18" charset="0"/>
                      </a:rPr>
                      <m:t>𝐶𝑜𝑣</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𝑖𝑘</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𝑖𝑘</m:t>
                            </m:r>
                          </m:sub>
                        </m:sSub>
                      </m:e>
                    </m:d>
                    <m:r>
                      <a:rPr lang="en-US" b="0" i="1" smtClean="0">
                        <a:latin typeface="Cambria Math" panose="02040503050406030204" pitchFamily="18" charset="0"/>
                      </a:rPr>
                      <m:t>=</m:t>
                    </m:r>
                    <m:r>
                      <a:rPr lang="en-US" i="1" smtClean="0">
                        <a:solidFill>
                          <a:srgbClr val="000000"/>
                        </a:solidFill>
                        <a:latin typeface="Cambria Math" panose="02040503050406030204" pitchFamily="18" charset="0"/>
                      </a:rPr>
                      <m:t>𝑉𝑎𝑟</m:t>
                    </m:r>
                    <m:d>
                      <m:dPr>
                        <m:ctrlPr>
                          <a:rPr lang="en-US" i="1">
                            <a:solidFill>
                              <a:srgbClr val="000000"/>
                            </a:solidFill>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𝑖𝑘</m:t>
                            </m:r>
                          </m:sub>
                        </m:sSub>
                      </m:e>
                    </m:d>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rPr>
                          <m:t>𝐵</m:t>
                        </m:r>
                      </m:sub>
                      <m:sup>
                        <m:r>
                          <a:rPr lang="en-US" i="1">
                            <a:latin typeface="Cambria Math" panose="02040503050406030204" pitchFamily="18" charset="0"/>
                          </a:rPr>
                          <m:t> 2</m:t>
                        </m:r>
                      </m:sup>
                    </m:sSubSup>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𝜎</m:t>
                        </m:r>
                      </m:e>
                      <m:sup>
                        <m:r>
                          <a:rPr lang="en-US" i="1">
                            <a:latin typeface="Cambria Math" panose="02040503050406030204" pitchFamily="18" charset="0"/>
                          </a:rPr>
                          <m:t>2</m:t>
                        </m:r>
                      </m:sup>
                    </m:sSup>
                    <m:r>
                      <a:rPr lang="en-US" i="1">
                        <a:latin typeface="Cambria Math" panose="02040503050406030204" pitchFamily="18" charset="0"/>
                        <a:ea typeface="Cambria Math" panose="02040503050406030204" pitchFamily="18" charset="0"/>
                      </a:rPr>
                      <m:t>𝜌</m:t>
                    </m:r>
                  </m:oMath>
                </a14:m>
                <a:endParaRPr lang="en-US" dirty="0"/>
              </a:p>
            </p:txBody>
          </p:sp>
        </mc:Choice>
        <mc:Fallback xmlns="">
          <p:sp>
            <p:nvSpPr>
              <p:cNvPr id="15" name="Rectangle 14">
                <a:extLst>
                  <a:ext uri="{FF2B5EF4-FFF2-40B4-BE49-F238E27FC236}">
                    <a16:creationId xmlns:a16="http://schemas.microsoft.com/office/drawing/2014/main" id="{4BE8809E-D58C-9B4C-A307-A4FD94A085F7}"/>
                  </a:ext>
                </a:extLst>
              </p:cNvPr>
              <p:cNvSpPr>
                <a:spLocks noRot="1" noChangeAspect="1" noMove="1" noResize="1" noEditPoints="1" noAdjustHandles="1" noChangeArrowheads="1" noChangeShapeType="1" noTextEdit="1"/>
              </p:cNvSpPr>
              <p:nvPr/>
            </p:nvSpPr>
            <p:spPr>
              <a:xfrm>
                <a:off x="3642281" y="3981859"/>
                <a:ext cx="4026102" cy="373244"/>
              </a:xfrm>
              <a:prstGeom prst="rect">
                <a:avLst/>
              </a:prstGeom>
              <a:blipFill>
                <a:blip r:embed="rId13"/>
                <a:stretch>
                  <a:fillRect t="-6557" b="-262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0F182E8-ACC5-E640-AC9C-F034898138AB}"/>
                  </a:ext>
                </a:extLst>
              </p:cNvPr>
              <p:cNvSpPr txBox="1"/>
              <p:nvPr/>
            </p:nvSpPr>
            <p:spPr>
              <a:xfrm>
                <a:off x="8689436" y="4228825"/>
                <a:ext cx="2049087" cy="423642"/>
              </a:xfrm>
              <a:prstGeom prst="rect">
                <a:avLst/>
              </a:prstGeom>
              <a:noFill/>
            </p:spPr>
            <p:txBody>
              <a:bodyPr wrap="none" rtlCol="0">
                <a:spAutoFit/>
              </a:bodyPr>
              <a:lstStyle/>
              <a:p>
                <a14:m>
                  <m:oMath xmlns:m="http://schemas.openxmlformats.org/officeDocument/2006/math">
                    <m:r>
                      <a:rPr lang="en-US" i="1">
                        <a:latin typeface="Cambria Math" panose="02040503050406030204" pitchFamily="18" charset="0"/>
                      </a:rPr>
                      <m:t>←</m:t>
                    </m:r>
                    <m:r>
                      <a:rPr lang="en-US" i="1">
                        <a:solidFill>
                          <a:srgbClr val="000000"/>
                        </a:solidFill>
                        <a:latin typeface="Cambria Math" panose="02040503050406030204" pitchFamily="18" charset="0"/>
                      </a:rPr>
                      <m:t>𝐶𝑜𝑣</m:t>
                    </m:r>
                    <m:d>
                      <m:dPr>
                        <m:ctrlPr>
                          <a:rPr lang="en-US" i="1">
                            <a:solidFill>
                              <a:srgbClr val="000000"/>
                            </a:solidFill>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𝑖𝑘</m:t>
                            </m:r>
                            <m:r>
                              <a:rPr lang="en-US" i="1">
                                <a:latin typeface="Cambria Math" panose="02040503050406030204" pitchFamily="18" charset="0"/>
                              </a:rPr>
                              <m:t>,</m:t>
                            </m:r>
                          </m:sub>
                        </m:sSub>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𝑖𝑘</m:t>
                            </m:r>
                            <m:sSup>
                              <m:sSupPr>
                                <m:ctrlPr>
                                  <a:rPr lang="en-US" i="1">
                                    <a:latin typeface="Cambria Math" panose="02040503050406030204" pitchFamily="18" charset="0"/>
                                  </a:rPr>
                                </m:ctrlPr>
                              </m:sSupPr>
                              <m:e>
                                <m:r>
                                  <a:rPr lang="en-US" i="1">
                                    <a:latin typeface="Cambria Math" panose="02040503050406030204" pitchFamily="18" charset="0"/>
                                  </a:rPr>
                                  <m:t>𝑗</m:t>
                                </m:r>
                              </m:e>
                              <m:sup>
                                <m:r>
                                  <a:rPr lang="en-US" i="1">
                                    <a:latin typeface="Cambria Math" panose="02040503050406030204" pitchFamily="18" charset="0"/>
                                  </a:rPr>
                                  <m:t>′</m:t>
                                </m:r>
                              </m:sup>
                            </m:sSup>
                          </m:sub>
                        </m:sSub>
                      </m:e>
                    </m:d>
                  </m:oMath>
                </a14:m>
                <a:r>
                  <a:rPr lang="en-US" dirty="0"/>
                  <a:t>=0</a:t>
                </a:r>
              </a:p>
            </p:txBody>
          </p:sp>
        </mc:Choice>
        <mc:Fallback xmlns="">
          <p:sp>
            <p:nvSpPr>
              <p:cNvPr id="16" name="TextBox 15">
                <a:extLst>
                  <a:ext uri="{FF2B5EF4-FFF2-40B4-BE49-F238E27FC236}">
                    <a16:creationId xmlns:a16="http://schemas.microsoft.com/office/drawing/2014/main" id="{B0F182E8-ACC5-E640-AC9C-F034898138AB}"/>
                  </a:ext>
                </a:extLst>
              </p:cNvPr>
              <p:cNvSpPr txBox="1">
                <a:spLocks noRot="1" noChangeAspect="1" noMove="1" noResize="1" noEditPoints="1" noAdjustHandles="1" noChangeArrowheads="1" noChangeShapeType="1" noTextEdit="1"/>
              </p:cNvSpPr>
              <p:nvPr/>
            </p:nvSpPr>
            <p:spPr>
              <a:xfrm>
                <a:off x="8689436" y="4228825"/>
                <a:ext cx="2049087" cy="423642"/>
              </a:xfrm>
              <a:prstGeom prst="rect">
                <a:avLst/>
              </a:prstGeom>
              <a:blipFill>
                <a:blip r:embed="rId14"/>
                <a:stretch>
                  <a:fillRect t="-2899" r="-1484" b="-159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A54A8610-BB8D-EE40-9596-3970EADF2538}"/>
                  </a:ext>
                </a:extLst>
              </p:cNvPr>
              <p:cNvSpPr/>
              <p:nvPr/>
            </p:nvSpPr>
            <p:spPr>
              <a:xfrm>
                <a:off x="8635027" y="4617848"/>
                <a:ext cx="2179764" cy="403893"/>
              </a:xfrm>
              <a:prstGeom prst="rect">
                <a:avLst/>
              </a:prstGeom>
            </p:spPr>
            <p:txBody>
              <a:bodyPr wrap="none">
                <a:spAutoFit/>
              </a:bodyPr>
              <a:lstStyle/>
              <a:p>
                <a14:m>
                  <m:oMath xmlns:m="http://schemas.openxmlformats.org/officeDocument/2006/math">
                    <m:r>
                      <a:rPr lang="en-US" i="1" smtClean="0">
                        <a:latin typeface="Cambria Math" panose="02040503050406030204" pitchFamily="18" charset="0"/>
                      </a:rPr>
                      <m:t>←</m:t>
                    </m:r>
                    <m:r>
                      <a:rPr lang="en-US" b="0" i="1" smtClean="0">
                        <a:latin typeface="Cambria Math" panose="02040503050406030204" pitchFamily="18" charset="0"/>
                      </a:rPr>
                      <m:t> </m:t>
                    </m:r>
                    <m:r>
                      <a:rPr lang="en-US" i="1">
                        <a:latin typeface="Cambria Math" panose="02040503050406030204" pitchFamily="18" charset="0"/>
                      </a:rPr>
                      <m:t>𝐶𝑜𝑣</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𝑖𝑘𝑗</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𝑖𝑘</m:t>
                        </m:r>
                        <m:sSup>
                          <m:sSupPr>
                            <m:ctrlPr>
                              <a:rPr lang="en-US" i="1">
                                <a:latin typeface="Cambria Math" panose="02040503050406030204" pitchFamily="18" charset="0"/>
                              </a:rPr>
                            </m:ctrlPr>
                          </m:sSupPr>
                          <m:e>
                            <m:r>
                              <a:rPr lang="en-US" i="1">
                                <a:latin typeface="Cambria Math" panose="02040503050406030204" pitchFamily="18" charset="0"/>
                              </a:rPr>
                              <m:t>𝑗</m:t>
                            </m:r>
                          </m:e>
                          <m:sup>
                            <m:r>
                              <a:rPr lang="en-US" i="1">
                                <a:latin typeface="Cambria Math" panose="02040503050406030204" pitchFamily="18" charset="0"/>
                              </a:rPr>
                              <m:t>′</m:t>
                            </m:r>
                          </m:sup>
                        </m:sSup>
                      </m:sub>
                    </m:sSub>
                  </m:oMath>
                </a14:m>
                <a:r>
                  <a:rPr lang="en-US" dirty="0"/>
                  <a:t>)=0</a:t>
                </a:r>
              </a:p>
            </p:txBody>
          </p:sp>
        </mc:Choice>
        <mc:Fallback xmlns="">
          <p:sp>
            <p:nvSpPr>
              <p:cNvPr id="17" name="Rectangle 16">
                <a:extLst>
                  <a:ext uri="{FF2B5EF4-FFF2-40B4-BE49-F238E27FC236}">
                    <a16:creationId xmlns:a16="http://schemas.microsoft.com/office/drawing/2014/main" id="{A54A8610-BB8D-EE40-9596-3970EADF2538}"/>
                  </a:ext>
                </a:extLst>
              </p:cNvPr>
              <p:cNvSpPr>
                <a:spLocks noRot="1" noChangeAspect="1" noMove="1" noResize="1" noEditPoints="1" noAdjustHandles="1" noChangeArrowheads="1" noChangeShapeType="1" noTextEdit="1"/>
              </p:cNvSpPr>
              <p:nvPr/>
            </p:nvSpPr>
            <p:spPr>
              <a:xfrm>
                <a:off x="8635027" y="4617848"/>
                <a:ext cx="2179764" cy="403893"/>
              </a:xfrm>
              <a:prstGeom prst="rect">
                <a:avLst/>
              </a:prstGeom>
              <a:blipFill>
                <a:blip r:embed="rId15"/>
                <a:stretch>
                  <a:fillRect t="-7576" r="-1681" b="-16667"/>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094CFEAE-F32B-FA44-9C23-4A8EF158A7E1}"/>
              </a:ext>
            </a:extLst>
          </p:cNvPr>
          <p:cNvSpPr txBox="1"/>
          <p:nvPr/>
        </p:nvSpPr>
        <p:spPr>
          <a:xfrm>
            <a:off x="9713980" y="2759603"/>
            <a:ext cx="1369286" cy="369332"/>
          </a:xfrm>
          <a:prstGeom prst="rect">
            <a:avLst/>
          </a:prstGeom>
          <a:noFill/>
        </p:spPr>
        <p:txBody>
          <a:bodyPr wrap="none" rtlCol="0">
            <a:spAutoFit/>
          </a:bodyPr>
          <a:lstStyle/>
          <a:p>
            <a:r>
              <a:rPr lang="en-US" dirty="0"/>
              <a:t>by definition</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854480A-91DA-A046-AACB-72576F00ABD9}"/>
                  </a:ext>
                </a:extLst>
              </p:cNvPr>
              <p:cNvSpPr txBox="1"/>
              <p:nvPr/>
            </p:nvSpPr>
            <p:spPr>
              <a:xfrm>
                <a:off x="3567261" y="5066341"/>
                <a:ext cx="8444299" cy="533544"/>
              </a:xfrm>
              <a:prstGeom prst="rect">
                <a:avLst/>
              </a:prstGeom>
              <a:noFill/>
            </p:spPr>
            <p:txBody>
              <a:bodyPr wrap="none" rtlCol="0">
                <a:spAutoFit/>
              </a:bodyPr>
              <a:lstStyle/>
              <a:p>
                <a14:m>
                  <m:oMath xmlns:m="http://schemas.openxmlformats.org/officeDocument/2006/math">
                    <m:r>
                      <a:rPr lang="en-US" i="1" smtClean="0">
                        <a:latin typeface="Cambria Math" panose="02040503050406030204" pitchFamily="18" charset="0"/>
                      </a:rPr>
                      <m:t>← </m:t>
                    </m:r>
                  </m:oMath>
                </a14:m>
                <a:r>
                  <a:rPr lang="en-US" dirty="0">
                    <a:solidFill>
                      <a:srgbClr val="000000"/>
                    </a:solidFill>
                  </a:rPr>
                  <a:t>The summation </a:t>
                </a:r>
                <a14:m>
                  <m:oMath xmlns:m="http://schemas.openxmlformats.org/officeDocument/2006/math">
                    <m:nary>
                      <m:naryPr>
                        <m:chr m:val="∑"/>
                        <m:ctrlPr>
                          <a:rPr lang="en-US" i="1">
                            <a:solidFill>
                              <a:srgbClr val="000000"/>
                            </a:solidFill>
                            <a:latin typeface="Cambria Math" panose="02040503050406030204" pitchFamily="18" charset="0"/>
                          </a:rPr>
                        </m:ctrlPr>
                      </m:naryPr>
                      <m:sub>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ea typeface="Cambria Math" panose="02040503050406030204" pitchFamily="18" charset="0"/>
                          </a:rPr>
                          <m:t>≠</m:t>
                        </m:r>
                        <m:sSup>
                          <m:sSupPr>
                            <m:ctrlPr>
                              <a:rPr lang="en-US" i="1">
                                <a:solidFill>
                                  <a:srgbClr val="000000"/>
                                </a:solidFill>
                                <a:latin typeface="Cambria Math" panose="02040503050406030204" pitchFamily="18" charset="0"/>
                                <a:ea typeface="Cambria Math" panose="02040503050406030204" pitchFamily="18" charset="0"/>
                              </a:rPr>
                            </m:ctrlPr>
                          </m:sSupPr>
                          <m:e>
                            <m:r>
                              <a:rPr lang="en-US" i="1">
                                <a:solidFill>
                                  <a:srgbClr val="000000"/>
                                </a:solidFill>
                                <a:latin typeface="Cambria Math" panose="02040503050406030204" pitchFamily="18" charset="0"/>
                                <a:ea typeface="Cambria Math" panose="02040503050406030204" pitchFamily="18" charset="0"/>
                              </a:rPr>
                              <m:t>𝑗</m:t>
                            </m:r>
                          </m:e>
                          <m:sup>
                            <m:r>
                              <a:rPr lang="en-US" i="1">
                                <a:solidFill>
                                  <a:srgbClr val="000000"/>
                                </a:solidFill>
                                <a:latin typeface="Cambria Math" panose="02040503050406030204" pitchFamily="18" charset="0"/>
                                <a:ea typeface="Cambria Math" panose="02040503050406030204" pitchFamily="18" charset="0"/>
                              </a:rPr>
                              <m:t>′</m:t>
                            </m:r>
                          </m:sup>
                        </m:sSup>
                      </m:sub>
                      <m:sup>
                        <m:r>
                          <a:rPr lang="en-US" i="1">
                            <a:solidFill>
                              <a:srgbClr val="000000"/>
                            </a:solidFill>
                            <a:latin typeface="Cambria Math" panose="02040503050406030204" pitchFamily="18" charset="0"/>
                          </a:rPr>
                          <m:t>𝑚</m:t>
                        </m:r>
                      </m:sup>
                      <m:e>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ea typeface="Cambria Math" panose="02040503050406030204" pitchFamily="18" charset="0"/>
                              </a:rPr>
                              <m:t>𝜎</m:t>
                            </m:r>
                          </m:e>
                          <m:sup>
                            <m:r>
                              <a:rPr lang="en-US" i="1">
                                <a:solidFill>
                                  <a:srgbClr val="000000"/>
                                </a:solidFill>
                                <a:latin typeface="Cambria Math" panose="02040503050406030204" pitchFamily="18" charset="0"/>
                              </a:rPr>
                              <m:t>2</m:t>
                            </m:r>
                          </m:sup>
                        </m:sSup>
                        <m:r>
                          <a:rPr lang="en-US" i="1">
                            <a:solidFill>
                              <a:srgbClr val="000000"/>
                            </a:solidFill>
                            <a:latin typeface="Cambria Math" panose="02040503050406030204" pitchFamily="18" charset="0"/>
                            <a:ea typeface="Cambria Math" panose="02040503050406030204" pitchFamily="18" charset="0"/>
                          </a:rPr>
                          <m:t>𝜌</m:t>
                        </m:r>
                      </m:e>
                    </m:nary>
                    <m:r>
                      <a:rPr lang="en-US" i="1">
                        <a:solidFill>
                          <a:srgbClr val="000000"/>
                        </a:solidFill>
                        <a:latin typeface="Cambria Math" panose="02040503050406030204" pitchFamily="18" charset="0"/>
                        <a:ea typeface="Cambria Math" panose="02040503050406030204" pitchFamily="18" charset="0"/>
                      </a:rPr>
                      <m:t> </m:t>
                    </m:r>
                  </m:oMath>
                </a14:m>
                <a:r>
                  <a:rPr lang="en-US" dirty="0"/>
                  <a:t> has </a:t>
                </a:r>
                <a14:m>
                  <m:oMath xmlns:m="http://schemas.openxmlformats.org/officeDocument/2006/math">
                    <m:r>
                      <a:rPr lang="en-US" i="1" dirty="0" smtClean="0">
                        <a:latin typeface="Cambria Math" panose="02040503050406030204" pitchFamily="18" charset="0"/>
                      </a:rPr>
                      <m:t>𝑚</m:t>
                    </m:r>
                    <m:r>
                      <a:rPr lang="en-US" i="1" dirty="0" smtClean="0">
                        <a:latin typeface="Cambria Math" panose="02040503050406030204" pitchFamily="18" charset="0"/>
                      </a:rPr>
                      <m:t>(</m:t>
                    </m:r>
                    <m:r>
                      <a:rPr lang="en-US" i="1" dirty="0" smtClean="0">
                        <a:latin typeface="Cambria Math" panose="02040503050406030204" pitchFamily="18" charset="0"/>
                      </a:rPr>
                      <m:t>𝑚</m:t>
                    </m:r>
                    <m:r>
                      <a:rPr lang="en-US" i="1" dirty="0" smtClean="0">
                        <a:latin typeface="Cambria Math" panose="02040503050406030204" pitchFamily="18" charset="0"/>
                      </a:rPr>
                      <m:t>−1)/2 </m:t>
                    </m:r>
                  </m:oMath>
                </a14:m>
                <a:r>
                  <a:rPr lang="en-US" dirty="0"/>
                  <a:t>terms. </a:t>
                </a:r>
                <a14:m>
                  <m:oMath xmlns:m="http://schemas.openxmlformats.org/officeDocument/2006/math">
                    <m:d>
                      <m:dPr>
                        <m:ctrlPr>
                          <a:rPr lang="en-US"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𝑚</m:t>
                            </m:r>
                          </m:e>
                          <m:e>
                            <m:r>
                              <a:rPr lang="en-US" b="0" i="1" smtClean="0">
                                <a:latin typeface="Cambria Math" panose="02040503050406030204" pitchFamily="18" charset="0"/>
                              </a:rPr>
                              <m:t>2</m:t>
                            </m:r>
                          </m:e>
                        </m:eqArr>
                      </m:e>
                    </m:d>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𝑚</m:t>
                        </m:r>
                        <m:r>
                          <a:rPr lang="en-US" b="0" i="1" smtClean="0">
                            <a:latin typeface="Cambria Math" panose="02040503050406030204" pitchFamily="18" charset="0"/>
                          </a:rPr>
                          <m:t>!</m:t>
                        </m:r>
                      </m:num>
                      <m:den>
                        <m:r>
                          <a:rPr lang="en-US" b="0" i="1" smtClean="0">
                            <a:latin typeface="Cambria Math" panose="02040503050406030204" pitchFamily="18" charset="0"/>
                          </a:rPr>
                          <m:t>2!</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−2</m:t>
                            </m:r>
                          </m:e>
                        </m:d>
                        <m:r>
                          <a:rPr lang="en-US" b="0" i="1" smtClean="0">
                            <a:latin typeface="Cambria Math" panose="02040503050406030204" pitchFamily="18" charset="0"/>
                          </a:rPr>
                          <m:t>!</m:t>
                        </m:r>
                      </m:den>
                    </m:f>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𝑚</m:t>
                        </m:r>
                        <m:r>
                          <a:rPr lang="en-US" b="0" i="1" smtClean="0">
                            <a:latin typeface="Cambria Math" panose="02040503050406030204" pitchFamily="18" charset="0"/>
                          </a:rPr>
                          <m:t> </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−1</m:t>
                            </m:r>
                          </m:e>
                        </m:d>
                        <m:d>
                          <m:dPr>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−2</m:t>
                            </m:r>
                          </m:e>
                        </m:d>
                        <m:r>
                          <a:rPr lang="en-US" b="0" i="1" smtClean="0">
                            <a:latin typeface="Cambria Math" panose="02040503050406030204" pitchFamily="18" charset="0"/>
                          </a:rPr>
                          <m:t>!</m:t>
                        </m:r>
                      </m:num>
                      <m:den>
                        <m:r>
                          <a:rPr lang="en-US" b="0" i="1" smtClean="0">
                            <a:latin typeface="Cambria Math" panose="02040503050406030204" pitchFamily="18" charset="0"/>
                          </a:rPr>
                          <m:t>2 </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−2</m:t>
                            </m:r>
                          </m:e>
                        </m:d>
                        <m:r>
                          <a:rPr lang="en-US" b="0" i="1" smtClean="0">
                            <a:latin typeface="Cambria Math" panose="02040503050406030204" pitchFamily="18" charset="0"/>
                          </a:rPr>
                          <m:t>!</m:t>
                        </m:r>
                      </m:den>
                    </m:f>
                  </m:oMath>
                </a14:m>
                <a:endParaRPr lang="en-US" dirty="0"/>
              </a:p>
            </p:txBody>
          </p:sp>
        </mc:Choice>
        <mc:Fallback xmlns="">
          <p:sp>
            <p:nvSpPr>
              <p:cNvPr id="19" name="TextBox 18">
                <a:extLst>
                  <a:ext uri="{FF2B5EF4-FFF2-40B4-BE49-F238E27FC236}">
                    <a16:creationId xmlns:a16="http://schemas.microsoft.com/office/drawing/2014/main" id="{E854480A-91DA-A046-AACB-72576F00ABD9}"/>
                  </a:ext>
                </a:extLst>
              </p:cNvPr>
              <p:cNvSpPr txBox="1">
                <a:spLocks noRot="1" noChangeAspect="1" noMove="1" noResize="1" noEditPoints="1" noAdjustHandles="1" noChangeArrowheads="1" noChangeShapeType="1" noTextEdit="1"/>
              </p:cNvSpPr>
              <p:nvPr/>
            </p:nvSpPr>
            <p:spPr>
              <a:xfrm>
                <a:off x="3567261" y="5066341"/>
                <a:ext cx="8444299" cy="533544"/>
              </a:xfrm>
              <a:prstGeom prst="rect">
                <a:avLst/>
              </a:prstGeom>
              <a:blipFill>
                <a:blip r:embed="rId16"/>
                <a:stretch>
                  <a:fillRect t="-68182" b="-111364"/>
                </a:stretch>
              </a:blipFill>
            </p:spPr>
            <p:txBody>
              <a:bodyPr/>
              <a:lstStyle/>
              <a:p>
                <a:r>
                  <a:rPr lang="en-US">
                    <a:noFill/>
                  </a:rPr>
                  <a:t> </a:t>
                </a:r>
              </a:p>
            </p:txBody>
          </p:sp>
        </mc:Fallback>
      </mc:AlternateContent>
      <p:sp>
        <p:nvSpPr>
          <p:cNvPr id="9" name="Slide Number Placeholder 8">
            <a:extLst>
              <a:ext uri="{FF2B5EF4-FFF2-40B4-BE49-F238E27FC236}">
                <a16:creationId xmlns:a16="http://schemas.microsoft.com/office/drawing/2014/main" id="{07B77460-0028-C1E4-48E4-7121BB2DEB04}"/>
              </a:ext>
            </a:extLst>
          </p:cNvPr>
          <p:cNvSpPr>
            <a:spLocks noGrp="1"/>
          </p:cNvSpPr>
          <p:nvPr>
            <p:ph type="sldNum" sz="quarter" idx="12"/>
          </p:nvPr>
        </p:nvSpPr>
        <p:spPr/>
        <p:txBody>
          <a:bodyPr/>
          <a:lstStyle/>
          <a:p>
            <a:r>
              <a:rPr lang="en-US" dirty="0"/>
              <a:t>198</a:t>
            </a:r>
            <a:fld id="{77C6A7FE-225D-49F1-B302-AA37EA92BB49}" type="slidenum">
              <a:rPr lang="en-US" smtClean="0"/>
              <a:t>27</a:t>
            </a:fld>
            <a:endParaRPr lang="en-US" dirty="0"/>
          </a:p>
        </p:txBody>
      </p:sp>
    </p:spTree>
    <p:extLst>
      <p:ext uri="{BB962C8B-B14F-4D97-AF65-F5344CB8AC3E}">
        <p14:creationId xmlns:p14="http://schemas.microsoft.com/office/powerpoint/2010/main" val="75541863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EABC860-DFAE-468B-8004-F84E9B21FC1C}"/>
                  </a:ext>
                </a:extLst>
              </p:cNvPr>
              <p:cNvSpPr txBox="1"/>
              <p:nvPr/>
            </p:nvSpPr>
            <p:spPr>
              <a:xfrm>
                <a:off x="747072" y="1793693"/>
                <a:ext cx="10682928" cy="4354975"/>
              </a:xfrm>
              <a:prstGeom prst="rect">
                <a:avLst/>
              </a:prstGeom>
              <a:noFill/>
            </p:spPr>
            <p:txBody>
              <a:bodyPr wrap="square">
                <a:spAutoFit/>
              </a:bodyPr>
              <a:lstStyle/>
              <a:p>
                <a:pPr>
                  <a:spcBef>
                    <a:spcPct val="50000"/>
                  </a:spcBef>
                </a:pPr>
                <a:r>
                  <a:rPr lang="en-US" altLang="en-US" sz="2400" dirty="0"/>
                  <a:t>The term </a:t>
                </a:r>
                <a14:m>
                  <m:oMath xmlns:m="http://schemas.openxmlformats.org/officeDocument/2006/math">
                    <m:r>
                      <m:rPr>
                        <m:sty m:val="p"/>
                      </m:rPr>
                      <a:rPr lang="en-US" sz="2400" i="1">
                        <a:latin typeface="Cambria Math" panose="02040503050406030204" pitchFamily="18" charset="0"/>
                      </a:rPr>
                      <m:t>Ι</m:t>
                    </m:r>
                    <m:r>
                      <m:rPr>
                        <m:sty m:val="p"/>
                      </m:rPr>
                      <a:rPr lang="en-US" sz="2400">
                        <a:latin typeface="Cambria Math" panose="02040503050406030204" pitchFamily="18" charset="0"/>
                      </a:rPr>
                      <m:t>F</m:t>
                    </m:r>
                    <m:r>
                      <a:rPr lang="en-US" sz="2400" i="1">
                        <a:latin typeface="Cambria Math" panose="02040503050406030204" pitchFamily="18" charset="0"/>
                      </a:rPr>
                      <m:t>=</m:t>
                    </m:r>
                    <m:r>
                      <a:rPr lang="en-US" sz="2400">
                        <a:latin typeface="Cambria Math" panose="02040503050406030204" pitchFamily="18" charset="0"/>
                      </a:rPr>
                      <m:t>1</m:t>
                    </m:r>
                    <m:r>
                      <a:rPr lang="en-US" sz="2400" i="1">
                        <a:latin typeface="Cambria Math" panose="02040503050406030204" pitchFamily="18" charset="0"/>
                      </a:rPr>
                      <m:t>+</m:t>
                    </m:r>
                    <m:d>
                      <m:dPr>
                        <m:ctrlPr>
                          <a:rPr lang="en-US" sz="2400" i="1">
                            <a:latin typeface="Cambria Math" panose="02040503050406030204" pitchFamily="18" charset="0"/>
                          </a:rPr>
                        </m:ctrlPr>
                      </m:dPr>
                      <m:e>
                        <m:r>
                          <a:rPr lang="en-US" sz="2400" i="1">
                            <a:latin typeface="Cambria Math" panose="02040503050406030204" pitchFamily="18" charset="0"/>
                          </a:rPr>
                          <m:t>𝑚</m:t>
                        </m:r>
                        <m:r>
                          <a:rPr lang="en-US" sz="2400" i="1">
                            <a:latin typeface="Cambria Math" panose="02040503050406030204" pitchFamily="18" charset="0"/>
                          </a:rPr>
                          <m:t>−1</m:t>
                        </m:r>
                      </m:e>
                    </m:d>
                    <m:r>
                      <a:rPr lang="en-US" sz="2400" i="1">
                        <a:latin typeface="Cambria Math" panose="02040503050406030204" pitchFamily="18" charset="0"/>
                      </a:rPr>
                      <m:t>𝜌</m:t>
                    </m:r>
                  </m:oMath>
                </a14:m>
                <a:r>
                  <a:rPr lang="en-US" altLang="en-US" sz="2400" dirty="0"/>
                  <a:t> is the “variance inflation factor” or “design effect” associated with cluster randomization, where, as previously stated, </a:t>
                </a:r>
                <a14:m>
                  <m:oMath xmlns:m="http://schemas.openxmlformats.org/officeDocument/2006/math">
                    <m:r>
                      <a:rPr lang="en-US" altLang="en-US" sz="2400" b="0" i="1" smtClean="0">
                        <a:latin typeface="Cambria Math" panose="02040503050406030204" pitchFamily="18" charset="0"/>
                      </a:rPr>
                      <m:t>𝐾</m:t>
                    </m:r>
                  </m:oMath>
                </a14:m>
                <a:r>
                  <a:rPr lang="en-US" altLang="en-US" sz="2400" dirty="0"/>
                  <a:t> is the number of clusters in each intervention group and </a:t>
                </a:r>
                <a14:m>
                  <m:oMath xmlns:m="http://schemas.openxmlformats.org/officeDocument/2006/math">
                    <m:r>
                      <a:rPr lang="en-US" altLang="en-US" sz="2400" b="0" i="1" smtClean="0">
                        <a:latin typeface="Cambria Math"/>
                      </a:rPr>
                      <m:t>𝑚</m:t>
                    </m:r>
                  </m:oMath>
                </a14:m>
                <a:r>
                  <a:rPr lang="en-US" altLang="en-US" sz="2400" dirty="0"/>
                  <a:t> is the number of participants per cluster, leading to </a:t>
                </a:r>
                <a14:m>
                  <m:oMath xmlns:m="http://schemas.openxmlformats.org/officeDocument/2006/math">
                    <m:r>
                      <a:rPr lang="en-US" altLang="en-US" sz="2400" b="0" i="1" smtClean="0">
                        <a:latin typeface="Cambria Math" panose="02040503050406030204" pitchFamily="18" charset="0"/>
                      </a:rPr>
                      <m:t>𝐾𝑚</m:t>
                    </m:r>
                    <m:r>
                      <a:rPr lang="en-US" altLang="en-US" sz="2400" b="0" i="1" smtClean="0">
                        <a:latin typeface="Cambria Math" panose="02040503050406030204" pitchFamily="18" charset="0"/>
                      </a:rPr>
                      <m:t>=</m:t>
                    </m:r>
                    <m:sSub>
                      <m:sSubPr>
                        <m:ctrlPr>
                          <a:rPr lang="en-US" altLang="en-US" sz="2400" b="0" i="1" smtClean="0">
                            <a:latin typeface="Cambria Math" panose="02040503050406030204" pitchFamily="18" charset="0"/>
                          </a:rPr>
                        </m:ctrlPr>
                      </m:sSubPr>
                      <m:e>
                        <m:r>
                          <a:rPr lang="en-US" altLang="en-US" sz="2400" b="0" i="1" smtClean="0">
                            <a:latin typeface="Cambria Math" panose="02040503050406030204" pitchFamily="18" charset="0"/>
                          </a:rPr>
                          <m:t>𝑛</m:t>
                        </m:r>
                      </m:e>
                      <m:sub>
                        <m:r>
                          <a:rPr lang="en-US" altLang="en-US" sz="2400" b="0" i="1" smtClean="0">
                            <a:latin typeface="Cambria Math" panose="02040503050406030204" pitchFamily="18" charset="0"/>
                          </a:rPr>
                          <m:t>𝑖</m:t>
                        </m:r>
                      </m:sub>
                    </m:sSub>
                  </m:oMath>
                </a14:m>
                <a:r>
                  <a:rPr lang="en-US" altLang="en-US" sz="2400" dirty="0"/>
                  <a:t>, the sample size in each intervention group,  and </a:t>
                </a:r>
                <a14:m>
                  <m:oMath xmlns:m="http://schemas.openxmlformats.org/officeDocument/2006/math">
                    <m:r>
                      <a:rPr lang="en-US" altLang="en-US" sz="2400" b="0" i="1" smtClean="0">
                        <a:latin typeface="Cambria Math" panose="02040503050406030204" pitchFamily="18" charset="0"/>
                      </a:rPr>
                      <m:t>𝑛</m:t>
                    </m:r>
                    <m:r>
                      <a:rPr lang="en-US" altLang="en-US" sz="2400" b="0" i="1" smtClean="0">
                        <a:latin typeface="Cambria Math" panose="02040503050406030204" pitchFamily="18" charset="0"/>
                      </a:rPr>
                      <m:t>=</m:t>
                    </m:r>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𝑛</m:t>
                        </m:r>
                      </m:e>
                      <m:sub>
                        <m:r>
                          <a:rPr lang="en-US" altLang="en-US" sz="2400" b="0" i="1" smtClean="0">
                            <a:latin typeface="Cambria Math" panose="02040503050406030204" pitchFamily="18" charset="0"/>
                          </a:rPr>
                          <m:t>1</m:t>
                        </m:r>
                      </m:sub>
                    </m:sSub>
                    <m:r>
                      <a:rPr lang="en-US" altLang="en-US" sz="2400" b="0" i="1" smtClean="0">
                        <a:latin typeface="Cambria Math" panose="02040503050406030204" pitchFamily="18" charset="0"/>
                      </a:rPr>
                      <m:t>+</m:t>
                    </m:r>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𝑛</m:t>
                        </m:r>
                      </m:e>
                      <m:sub>
                        <m:r>
                          <a:rPr lang="en-US" altLang="en-US" sz="2400" b="0" i="1" smtClean="0">
                            <a:latin typeface="Cambria Math" panose="02040503050406030204" pitchFamily="18" charset="0"/>
                          </a:rPr>
                          <m:t>2</m:t>
                        </m:r>
                      </m:sub>
                    </m:sSub>
                    <m:r>
                      <a:rPr lang="en-US" altLang="en-US" sz="2400" b="0" i="1" smtClean="0">
                        <a:latin typeface="Cambria Math" panose="02040503050406030204" pitchFamily="18" charset="0"/>
                      </a:rPr>
                      <m:t>. </m:t>
                    </m:r>
                  </m:oMath>
                </a14:m>
                <a:r>
                  <a:rPr lang="en-US" altLang="en-US" sz="2400" dirty="0"/>
                  <a:t> In this lecture, we assume </a:t>
                </a:r>
                <a14:m>
                  <m:oMath xmlns:m="http://schemas.openxmlformats.org/officeDocument/2006/math">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𝑛</m:t>
                        </m:r>
                      </m:e>
                      <m:sub>
                        <m:r>
                          <a:rPr lang="en-US" altLang="en-US" sz="2400" i="1">
                            <a:latin typeface="Cambria Math" panose="02040503050406030204" pitchFamily="18" charset="0"/>
                          </a:rPr>
                          <m:t>1</m:t>
                        </m:r>
                      </m:sub>
                    </m:sSub>
                    <m:r>
                      <a:rPr lang="en-US" altLang="en-US" sz="2400" b="0" i="1" smtClean="0">
                        <a:latin typeface="Cambria Math" panose="02040503050406030204" pitchFamily="18" charset="0"/>
                      </a:rPr>
                      <m:t>=</m:t>
                    </m:r>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𝑛</m:t>
                        </m:r>
                      </m:e>
                      <m:sub>
                        <m:r>
                          <a:rPr lang="en-US" altLang="en-US" sz="2400" i="1">
                            <a:latin typeface="Cambria Math" panose="02040503050406030204" pitchFamily="18" charset="0"/>
                          </a:rPr>
                          <m:t>2</m:t>
                        </m:r>
                      </m:sub>
                    </m:sSub>
                  </m:oMath>
                </a14:m>
                <a:r>
                  <a:rPr lang="en-US" altLang="en-US" sz="2400" dirty="0"/>
                  <a:t>.</a:t>
                </a:r>
              </a:p>
              <a:p>
                <a:pPr eaLnBrk="1" hangingPunct="1">
                  <a:spcBef>
                    <a:spcPct val="50000"/>
                  </a:spcBef>
                </a:pPr>
                <a:r>
                  <a:rPr lang="en-US" altLang="en-US" sz="2400" dirty="0"/>
                  <a:t>Equivalently, the “effective sample size” </a:t>
                </a:r>
                <a:r>
                  <a:rPr lang="en-US" altLang="en-US" sz="2400" b="1" dirty="0"/>
                  <a:t>in each group </a:t>
                </a:r>
                <a:r>
                  <a:rPr lang="en-US" altLang="en-US" sz="2400" dirty="0"/>
                  <a:t>is given by </a:t>
                </a:r>
              </a:p>
              <a:p>
                <a:pPr eaLnBrk="1" hangingPunct="1">
                  <a:spcBef>
                    <a:spcPct val="50000"/>
                  </a:spcBef>
                </a:pPr>
                <a14:m>
                  <m:oMathPara xmlns:m="http://schemas.openxmlformats.org/officeDocument/2006/math">
                    <m:oMathParaPr>
                      <m:jc m:val="centerGroup"/>
                    </m:oMathParaPr>
                    <m:oMath xmlns:m="http://schemas.openxmlformats.org/officeDocument/2006/math">
                      <m:sSub>
                        <m:sSubPr>
                          <m:ctrlPr>
                            <a:rPr lang="en-US" sz="2400" i="1" smtClean="0">
                              <a:solidFill>
                                <a:schemeClr val="tx1"/>
                              </a:solidFill>
                              <a:latin typeface="Cambria Math" panose="02040503050406030204" pitchFamily="18" charset="0"/>
                            </a:rPr>
                          </m:ctrlPr>
                        </m:sSubPr>
                        <m:e>
                          <m:r>
                            <m:rPr>
                              <m:sty m:val="p"/>
                            </m:rPr>
                            <a:rPr lang="en-US" sz="2400" i="1">
                              <a:solidFill>
                                <a:schemeClr val="tx1"/>
                              </a:solidFill>
                              <a:latin typeface="Cambria Math" panose="02040503050406030204" pitchFamily="18" charset="0"/>
                            </a:rPr>
                            <m:t>Ε</m:t>
                          </m:r>
                        </m:e>
                        <m:sub>
                          <m:r>
                            <a:rPr lang="en-US" sz="2400" i="1">
                              <a:solidFill>
                                <a:schemeClr val="tx1"/>
                              </a:solidFill>
                              <a:latin typeface="Cambria Math" panose="02040503050406030204" pitchFamily="18" charset="0"/>
                            </a:rPr>
                            <m:t>𝑆𝑆</m:t>
                          </m:r>
                        </m:sub>
                      </m:sSub>
                      <m:r>
                        <a:rPr lang="en-US" sz="2400" i="1">
                          <a:solidFill>
                            <a:schemeClr val="tx1"/>
                          </a:solidFill>
                          <a:latin typeface="Cambria Math" panose="02040503050406030204" pitchFamily="18" charset="0"/>
                        </a:rPr>
                        <m:t>=</m:t>
                      </m:r>
                      <m:f>
                        <m:fPr>
                          <m:ctrlPr>
                            <a:rPr lang="en-US" sz="2400" i="1">
                              <a:solidFill>
                                <a:schemeClr val="tx1"/>
                              </a:solidFill>
                              <a:latin typeface="Cambria Math" panose="02040503050406030204" pitchFamily="18" charset="0"/>
                            </a:rPr>
                          </m:ctrlPr>
                        </m:fPr>
                        <m:num>
                          <m:r>
                            <a:rPr lang="en-US" sz="2400" b="0" i="1" smtClean="0">
                              <a:solidFill>
                                <a:schemeClr val="tx1"/>
                              </a:solidFill>
                              <a:latin typeface="Cambria Math" panose="02040503050406030204" pitchFamily="18" charset="0"/>
                            </a:rPr>
                            <m:t>𝐾</m:t>
                          </m:r>
                          <m:r>
                            <a:rPr lang="en-US" sz="2400" i="1">
                              <a:solidFill>
                                <a:schemeClr val="tx1"/>
                              </a:solidFill>
                              <a:latin typeface="Cambria Math" panose="02040503050406030204" pitchFamily="18" charset="0"/>
                            </a:rPr>
                            <m:t>𝑚</m:t>
                          </m:r>
                        </m:num>
                        <m:den>
                          <m:r>
                            <m:rPr>
                              <m:sty m:val="p"/>
                            </m:rPr>
                            <a:rPr lang="en-US" sz="2400" i="1">
                              <a:solidFill>
                                <a:schemeClr val="tx1"/>
                              </a:solidFill>
                              <a:latin typeface="Cambria Math" panose="02040503050406030204" pitchFamily="18" charset="0"/>
                            </a:rPr>
                            <m:t>Ι</m:t>
                          </m:r>
                          <m:r>
                            <m:rPr>
                              <m:sty m:val="p"/>
                            </m:rPr>
                            <a:rPr lang="en-US" sz="2400" i="0">
                              <a:solidFill>
                                <a:schemeClr val="tx1"/>
                              </a:solidFill>
                              <a:latin typeface="Cambria Math" panose="02040503050406030204" pitchFamily="18" charset="0"/>
                            </a:rPr>
                            <m:t>F</m:t>
                          </m:r>
                        </m:den>
                      </m:f>
                      <m:r>
                        <a:rPr lang="en-US" sz="2400" i="1">
                          <a:solidFill>
                            <a:schemeClr val="tx1"/>
                          </a:solidFill>
                          <a:latin typeface="Cambria Math" panose="02040503050406030204" pitchFamily="18" charset="0"/>
                        </a:rPr>
                        <m:t>=</m:t>
                      </m:r>
                      <m:f>
                        <m:fPr>
                          <m:ctrlPr>
                            <a:rPr lang="en-US" sz="2400" i="1">
                              <a:solidFill>
                                <a:schemeClr val="tx1"/>
                              </a:solidFill>
                              <a:latin typeface="Cambria Math" panose="02040503050406030204" pitchFamily="18" charset="0"/>
                            </a:rPr>
                          </m:ctrlPr>
                        </m:fPr>
                        <m:num>
                          <m:r>
                            <a:rPr lang="en-US" sz="2400" b="0" i="1" smtClean="0">
                              <a:solidFill>
                                <a:schemeClr val="tx1"/>
                              </a:solidFill>
                              <a:latin typeface="Cambria Math" panose="02040503050406030204" pitchFamily="18" charset="0"/>
                            </a:rPr>
                            <m:t>𝐾</m:t>
                          </m:r>
                          <m:r>
                            <a:rPr lang="en-US" sz="2400" i="1">
                              <a:solidFill>
                                <a:schemeClr val="tx1"/>
                              </a:solidFill>
                              <a:latin typeface="Cambria Math" panose="02040503050406030204" pitchFamily="18" charset="0"/>
                            </a:rPr>
                            <m:t>𝑚</m:t>
                          </m:r>
                        </m:num>
                        <m:den>
                          <m:r>
                            <a:rPr lang="en-US" sz="2400" i="1">
                              <a:solidFill>
                                <a:schemeClr val="tx1"/>
                              </a:solidFill>
                              <a:latin typeface="Cambria Math" panose="02040503050406030204" pitchFamily="18" charset="0"/>
                            </a:rPr>
                            <m:t>1+</m:t>
                          </m:r>
                          <m:d>
                            <m:dPr>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𝑚</m:t>
                              </m:r>
                              <m:r>
                                <a:rPr lang="en-US" sz="2400" i="1">
                                  <a:solidFill>
                                    <a:schemeClr val="tx1"/>
                                  </a:solidFill>
                                  <a:latin typeface="Cambria Math" panose="02040503050406030204" pitchFamily="18" charset="0"/>
                                </a:rPr>
                                <m:t>−1</m:t>
                              </m:r>
                            </m:e>
                          </m:d>
                          <m:r>
                            <a:rPr lang="en-US" sz="2400" i="1">
                              <a:solidFill>
                                <a:schemeClr val="tx1"/>
                              </a:solidFill>
                              <a:latin typeface="Cambria Math" panose="02040503050406030204" pitchFamily="18" charset="0"/>
                            </a:rPr>
                            <m:t>𝜌</m:t>
                          </m:r>
                        </m:den>
                      </m:f>
                    </m:oMath>
                  </m:oMathPara>
                </a14:m>
                <a:endParaRPr lang="en-US" altLang="en-US" sz="2400" dirty="0"/>
              </a:p>
              <a:p>
                <a:pPr>
                  <a:spcBef>
                    <a:spcPct val="50000"/>
                  </a:spcBef>
                </a:pPr>
                <a:r>
                  <a:rPr lang="en-US" altLang="en-US" sz="2400" dirty="0"/>
                  <a:t>	When </a:t>
                </a:r>
                <a14:m>
                  <m:oMath xmlns:m="http://schemas.openxmlformats.org/officeDocument/2006/math">
                    <m:r>
                      <a:rPr lang="en-US" sz="2400" i="1" smtClean="0">
                        <a:solidFill>
                          <a:schemeClr val="tx1"/>
                        </a:solidFill>
                        <a:latin typeface="Cambria Math" panose="02040503050406030204" pitchFamily="18" charset="0"/>
                      </a:rPr>
                      <m:t>𝜌</m:t>
                    </m:r>
                    <m:r>
                      <a:rPr lang="en-US" sz="2400" i="1" smtClean="0">
                        <a:solidFill>
                          <a:schemeClr val="tx1"/>
                        </a:solidFill>
                        <a:latin typeface="Cambria Math" panose="02040503050406030204" pitchFamily="18" charset="0"/>
                      </a:rPr>
                      <m:t>=0,</m:t>
                    </m:r>
                    <m:sSub>
                      <m:sSubPr>
                        <m:ctrlPr>
                          <a:rPr lang="en-US" sz="2400" i="1">
                            <a:solidFill>
                              <a:schemeClr val="tx1"/>
                            </a:solidFill>
                            <a:latin typeface="Cambria Math" panose="02040503050406030204" pitchFamily="18" charset="0"/>
                          </a:rPr>
                        </m:ctrlPr>
                      </m:sSubPr>
                      <m:e>
                        <m:r>
                          <m:rPr>
                            <m:sty m:val="p"/>
                          </m:rPr>
                          <a:rPr lang="en-US" sz="2400" i="1">
                            <a:solidFill>
                              <a:schemeClr val="tx1"/>
                            </a:solidFill>
                            <a:latin typeface="Cambria Math" panose="02040503050406030204" pitchFamily="18" charset="0"/>
                          </a:rPr>
                          <m:t>Ε</m:t>
                        </m:r>
                      </m:e>
                      <m:sub>
                        <m:r>
                          <a:rPr lang="en-US" sz="2400" i="1">
                            <a:solidFill>
                              <a:schemeClr val="tx1"/>
                            </a:solidFill>
                            <a:latin typeface="Cambria Math" panose="02040503050406030204" pitchFamily="18" charset="0"/>
                          </a:rPr>
                          <m:t>𝑆𝑆</m:t>
                        </m:r>
                      </m:sub>
                    </m:sSub>
                    <m:r>
                      <a:rPr lang="en-US" sz="2400" i="1">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𝐾</m:t>
                    </m:r>
                    <m:r>
                      <a:rPr lang="en-US" sz="2400" i="1">
                        <a:solidFill>
                          <a:schemeClr val="tx1"/>
                        </a:solidFill>
                        <a:latin typeface="Cambria Math" panose="02040503050406030204" pitchFamily="18" charset="0"/>
                      </a:rPr>
                      <m:t>𝑚</m:t>
                    </m:r>
                  </m:oMath>
                </a14:m>
                <a:endParaRPr lang="en-US" altLang="en-US" sz="2400" dirty="0"/>
              </a:p>
              <a:p>
                <a:pPr>
                  <a:spcBef>
                    <a:spcPct val="50000"/>
                  </a:spcBef>
                </a:pPr>
                <a:r>
                  <a:rPr lang="en-US" altLang="en-US" sz="2400" dirty="0"/>
                  <a:t>	When   </a:t>
                </a:r>
                <a14:m>
                  <m:oMath xmlns:m="http://schemas.openxmlformats.org/officeDocument/2006/math">
                    <m:r>
                      <a:rPr lang="en-US" sz="2400" i="1" smtClean="0">
                        <a:solidFill>
                          <a:schemeClr val="tx1"/>
                        </a:solidFill>
                        <a:latin typeface="Cambria Math" panose="02040503050406030204" pitchFamily="18" charset="0"/>
                      </a:rPr>
                      <m:t>𝜌</m:t>
                    </m:r>
                    <m:r>
                      <a:rPr lang="en-US" sz="2400" i="1" smtClean="0">
                        <a:solidFill>
                          <a:schemeClr val="tx1"/>
                        </a:solidFill>
                        <a:latin typeface="Cambria Math" panose="02040503050406030204" pitchFamily="18" charset="0"/>
                      </a:rPr>
                      <m:t>=1,</m:t>
                    </m:r>
                    <m:sSub>
                      <m:sSubPr>
                        <m:ctrlPr>
                          <a:rPr lang="en-US" sz="2400" i="1">
                            <a:solidFill>
                              <a:schemeClr val="tx1"/>
                            </a:solidFill>
                            <a:latin typeface="Cambria Math" panose="02040503050406030204" pitchFamily="18" charset="0"/>
                          </a:rPr>
                        </m:ctrlPr>
                      </m:sSubPr>
                      <m:e>
                        <m:r>
                          <m:rPr>
                            <m:sty m:val="p"/>
                          </m:rPr>
                          <a:rPr lang="en-US" sz="2400" i="1">
                            <a:solidFill>
                              <a:schemeClr val="tx1"/>
                            </a:solidFill>
                            <a:latin typeface="Cambria Math" panose="02040503050406030204" pitchFamily="18" charset="0"/>
                          </a:rPr>
                          <m:t>Ε</m:t>
                        </m:r>
                      </m:e>
                      <m:sub>
                        <m:r>
                          <a:rPr lang="en-US" sz="2400" i="1">
                            <a:solidFill>
                              <a:schemeClr val="tx1"/>
                            </a:solidFill>
                            <a:latin typeface="Cambria Math" panose="02040503050406030204" pitchFamily="18" charset="0"/>
                          </a:rPr>
                          <m:t>𝑆𝑆</m:t>
                        </m:r>
                      </m:sub>
                    </m:sSub>
                    <m:r>
                      <a:rPr lang="en-US" sz="2400" i="1">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𝐾</m:t>
                    </m:r>
                  </m:oMath>
                </a14:m>
                <a:endParaRPr lang="en-US" sz="2400" dirty="0"/>
              </a:p>
            </p:txBody>
          </p:sp>
        </mc:Choice>
        <mc:Fallback xmlns="">
          <p:sp>
            <p:nvSpPr>
              <p:cNvPr id="5" name="TextBox 4">
                <a:extLst>
                  <a:ext uri="{FF2B5EF4-FFF2-40B4-BE49-F238E27FC236}">
                    <a16:creationId xmlns:a16="http://schemas.microsoft.com/office/drawing/2014/main" id="{DEABC860-DFAE-468B-8004-F84E9B21FC1C}"/>
                  </a:ext>
                </a:extLst>
              </p:cNvPr>
              <p:cNvSpPr txBox="1">
                <a:spLocks noRot="1" noChangeAspect="1" noMove="1" noResize="1" noEditPoints="1" noAdjustHandles="1" noChangeArrowheads="1" noChangeShapeType="1" noTextEdit="1"/>
              </p:cNvSpPr>
              <p:nvPr/>
            </p:nvSpPr>
            <p:spPr>
              <a:xfrm>
                <a:off x="747072" y="1793693"/>
                <a:ext cx="10682928" cy="4354975"/>
              </a:xfrm>
              <a:prstGeom prst="rect">
                <a:avLst/>
              </a:prstGeom>
              <a:blipFill>
                <a:blip r:embed="rId4"/>
                <a:stretch>
                  <a:fillRect l="-913" t="-1119" r="-57" b="-2098"/>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507BFF18-0C7A-B443-987E-ACFF7E9DC25C}"/>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4053AF95-19DE-28CD-5DF0-DB7B590F8D43}"/>
              </a:ext>
            </a:extLst>
          </p:cNvPr>
          <p:cNvSpPr>
            <a:spLocks noGrp="1"/>
          </p:cNvSpPr>
          <p:nvPr>
            <p:ph type="sldNum" sz="quarter" idx="12"/>
          </p:nvPr>
        </p:nvSpPr>
        <p:spPr/>
        <p:txBody>
          <a:bodyPr/>
          <a:lstStyle/>
          <a:p>
            <a:fld id="{77C6A7FE-225D-49F1-B302-AA37EA92BB49}" type="slidenum">
              <a:rPr lang="en-US" smtClean="0"/>
              <a:t>28</a:t>
            </a:fld>
            <a:endParaRPr lang="en-US"/>
          </a:p>
        </p:txBody>
      </p:sp>
    </p:spTree>
    <p:extLst>
      <p:ext uri="{BB962C8B-B14F-4D97-AF65-F5344CB8AC3E}">
        <p14:creationId xmlns:p14="http://schemas.microsoft.com/office/powerpoint/2010/main" val="761234697"/>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dirty="0"/>
              <a:t>Example: Familia Salama</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DE375E0-2CC8-4C40-9306-9DF9BC2F5076}"/>
                  </a:ext>
                </a:extLst>
              </p:cNvPr>
              <p:cNvSpPr txBox="1"/>
              <p:nvPr/>
            </p:nvSpPr>
            <p:spPr>
              <a:xfrm>
                <a:off x="681169" y="1660603"/>
                <a:ext cx="9957999" cy="4382097"/>
              </a:xfrm>
              <a:prstGeom prst="rect">
                <a:avLst/>
              </a:prstGeom>
              <a:noFill/>
            </p:spPr>
            <p:txBody>
              <a:bodyPr wrap="square">
                <a:spAutoFit/>
              </a:bodyPr>
              <a:lstStyle/>
              <a:p>
                <a:endParaRPr lang="en-US" sz="2800" dirty="0"/>
              </a:p>
              <a:p>
                <a:r>
                  <a:rPr lang="en-US" sz="2800" dirty="0"/>
                  <a:t>Now, the </a:t>
                </a:r>
                <a14:m>
                  <m:oMath xmlns:m="http://schemas.openxmlformats.org/officeDocument/2006/math">
                    <m:sSub>
                      <m:sSubPr>
                        <m:ctrlPr>
                          <a:rPr lang="en-US" sz="2800" i="1" smtClean="0">
                            <a:solidFill>
                              <a:schemeClr val="tx1"/>
                            </a:solidFill>
                            <a:latin typeface="Cambria Math" panose="02040503050406030204" pitchFamily="18" charset="0"/>
                          </a:rPr>
                        </m:ctrlPr>
                      </m:sSubPr>
                      <m:e>
                        <m:r>
                          <m:rPr>
                            <m:sty m:val="p"/>
                          </m:rPr>
                          <a:rPr lang="en-US" sz="2800" i="1">
                            <a:solidFill>
                              <a:schemeClr val="tx1"/>
                            </a:solidFill>
                            <a:latin typeface="Cambria Math" panose="02040503050406030204" pitchFamily="18" charset="0"/>
                          </a:rPr>
                          <m:t>Ε</m:t>
                        </m:r>
                      </m:e>
                      <m:sub>
                        <m:r>
                          <a:rPr lang="en-US" sz="2800" i="1">
                            <a:solidFill>
                              <a:schemeClr val="tx1"/>
                            </a:solidFill>
                            <a:latin typeface="Cambria Math" panose="02040503050406030204" pitchFamily="18" charset="0"/>
                          </a:rPr>
                          <m:t>𝑆𝑆</m:t>
                        </m:r>
                      </m:sub>
                    </m:sSub>
                    <m:r>
                      <a:rPr lang="en-US" sz="2800" b="0" i="1" smtClean="0">
                        <a:solidFill>
                          <a:schemeClr val="tx1"/>
                        </a:solidFill>
                        <a:latin typeface="Cambria Math" panose="02040503050406030204" pitchFamily="18" charset="0"/>
                      </a:rPr>
                      <m:t> (</m:t>
                    </m:r>
                    <m:r>
                      <a:rPr lang="en-US" sz="2800" b="0" i="1" smtClean="0">
                        <a:solidFill>
                          <a:schemeClr val="tx1"/>
                        </a:solidFill>
                        <a:latin typeface="Cambria Math" panose="02040503050406030204" pitchFamily="18" charset="0"/>
                      </a:rPr>
                      <m:t>𝑝𝑒𝑟</m:t>
                    </m:r>
                    <m:r>
                      <a:rPr lang="en-US" sz="2800" b="0" i="1" smtClean="0">
                        <a:solidFill>
                          <a:schemeClr val="tx1"/>
                        </a:solidFill>
                        <a:latin typeface="Cambria Math" panose="02040503050406030204" pitchFamily="18" charset="0"/>
                      </a:rPr>
                      <m:t> </m:t>
                    </m:r>
                    <m:r>
                      <a:rPr lang="en-US" sz="2800" b="0" i="1" smtClean="0">
                        <a:solidFill>
                          <a:schemeClr val="tx1"/>
                        </a:solidFill>
                        <a:latin typeface="Cambria Math" panose="02040503050406030204" pitchFamily="18" charset="0"/>
                      </a:rPr>
                      <m:t>𝑔𝑟𝑜𝑢𝑝</m:t>
                    </m:r>
                    <m:r>
                      <a:rPr lang="en-US" sz="2800" b="0" i="1" smtClean="0">
                        <a:solidFill>
                          <a:schemeClr val="tx1"/>
                        </a:solidFill>
                        <a:latin typeface="Cambria Math" panose="02040503050406030204" pitchFamily="18" charset="0"/>
                      </a:rPr>
                      <m:t>)=</m:t>
                    </m:r>
                    <m:f>
                      <m:fPr>
                        <m:ctrlPr>
                          <a:rPr lang="en-US" sz="2800" i="1">
                            <a:solidFill>
                              <a:schemeClr val="tx1"/>
                            </a:solidFill>
                            <a:latin typeface="Cambria Math" panose="02040503050406030204" pitchFamily="18" charset="0"/>
                          </a:rPr>
                        </m:ctrlPr>
                      </m:fPr>
                      <m:num>
                        <m:r>
                          <a:rPr lang="en-US" sz="2800" b="0" i="1" smtClean="0">
                            <a:solidFill>
                              <a:schemeClr val="tx1"/>
                            </a:solidFill>
                            <a:latin typeface="Cambria Math" panose="02040503050406030204" pitchFamily="18" charset="0"/>
                          </a:rPr>
                          <m:t>𝐾</m:t>
                        </m:r>
                        <m:r>
                          <a:rPr lang="en-US" sz="2800" i="1">
                            <a:solidFill>
                              <a:schemeClr val="tx1"/>
                            </a:solidFill>
                            <a:latin typeface="Cambria Math" panose="02040503050406030204" pitchFamily="18" charset="0"/>
                          </a:rPr>
                          <m:t>𝑚</m:t>
                        </m:r>
                      </m:num>
                      <m:den>
                        <m:r>
                          <m:rPr>
                            <m:sty m:val="p"/>
                          </m:rPr>
                          <a:rPr lang="en-US" sz="2800" i="1">
                            <a:solidFill>
                              <a:schemeClr val="tx1"/>
                            </a:solidFill>
                            <a:latin typeface="Cambria Math" panose="02040503050406030204" pitchFamily="18" charset="0"/>
                          </a:rPr>
                          <m:t>Ι</m:t>
                        </m:r>
                        <m:r>
                          <m:rPr>
                            <m:sty m:val="p"/>
                          </m:rPr>
                          <a:rPr lang="en-US" sz="2800" i="0">
                            <a:solidFill>
                              <a:schemeClr val="tx1"/>
                            </a:solidFill>
                            <a:latin typeface="Cambria Math" panose="02040503050406030204" pitchFamily="18" charset="0"/>
                          </a:rPr>
                          <m:t>F</m:t>
                        </m:r>
                      </m:den>
                    </m:f>
                    <m:r>
                      <a:rPr lang="en-US" sz="2800" i="1">
                        <a:solidFill>
                          <a:schemeClr val="tx1"/>
                        </a:solidFill>
                        <a:latin typeface="Cambria Math" panose="02040503050406030204" pitchFamily="18" charset="0"/>
                      </a:rPr>
                      <m:t>=</m:t>
                    </m:r>
                    <m:f>
                      <m:fPr>
                        <m:ctrlPr>
                          <a:rPr lang="en-US" sz="2800" i="1">
                            <a:solidFill>
                              <a:schemeClr val="tx1"/>
                            </a:solidFill>
                            <a:latin typeface="Cambria Math" panose="02040503050406030204" pitchFamily="18" charset="0"/>
                          </a:rPr>
                        </m:ctrlPr>
                      </m:fPr>
                      <m:num>
                        <m:r>
                          <a:rPr lang="en-US" sz="2800" b="0" i="1" smtClean="0">
                            <a:solidFill>
                              <a:schemeClr val="tx1"/>
                            </a:solidFill>
                            <a:latin typeface="Cambria Math" panose="02040503050406030204" pitchFamily="18" charset="0"/>
                          </a:rPr>
                          <m:t>𝐾</m:t>
                        </m:r>
                        <m:r>
                          <a:rPr lang="en-US" sz="2800" i="1">
                            <a:solidFill>
                              <a:schemeClr val="tx1"/>
                            </a:solidFill>
                            <a:latin typeface="Cambria Math" panose="02040503050406030204" pitchFamily="18" charset="0"/>
                          </a:rPr>
                          <m:t>𝑚</m:t>
                        </m:r>
                      </m:num>
                      <m:den>
                        <m:r>
                          <a:rPr lang="en-US" sz="2800" i="1">
                            <a:solidFill>
                              <a:schemeClr val="tx1"/>
                            </a:solidFill>
                            <a:latin typeface="Cambria Math" panose="02040503050406030204" pitchFamily="18" charset="0"/>
                          </a:rPr>
                          <m:t>1+</m:t>
                        </m:r>
                        <m:d>
                          <m:dPr>
                            <m:ctrlPr>
                              <a:rPr lang="en-US" sz="2800" i="1">
                                <a:solidFill>
                                  <a:schemeClr val="tx1"/>
                                </a:solidFill>
                                <a:latin typeface="Cambria Math" panose="02040503050406030204" pitchFamily="18" charset="0"/>
                              </a:rPr>
                            </m:ctrlPr>
                          </m:dPr>
                          <m:e>
                            <m:r>
                              <a:rPr lang="en-US" sz="2800" i="1">
                                <a:solidFill>
                                  <a:schemeClr val="tx1"/>
                                </a:solidFill>
                                <a:latin typeface="Cambria Math" panose="02040503050406030204" pitchFamily="18" charset="0"/>
                              </a:rPr>
                              <m:t>𝑚</m:t>
                            </m:r>
                            <m:r>
                              <a:rPr lang="en-US" sz="2800" i="1">
                                <a:solidFill>
                                  <a:schemeClr val="tx1"/>
                                </a:solidFill>
                                <a:latin typeface="Cambria Math" panose="02040503050406030204" pitchFamily="18" charset="0"/>
                              </a:rPr>
                              <m:t>−1</m:t>
                            </m:r>
                          </m:e>
                        </m:d>
                        <m:r>
                          <a:rPr lang="en-US" sz="2800" i="1">
                            <a:solidFill>
                              <a:schemeClr val="tx1"/>
                            </a:solidFill>
                            <a:latin typeface="Cambria Math" panose="02040503050406030204" pitchFamily="18" charset="0"/>
                          </a:rPr>
                          <m:t>𝜌</m:t>
                        </m:r>
                      </m:den>
                    </m:f>
                  </m:oMath>
                </a14:m>
                <a:endParaRPr lang="en-US" sz="2800" dirty="0"/>
              </a:p>
              <a:p>
                <a:endParaRPr lang="en-US" sz="2800" dirty="0"/>
              </a:p>
              <a:p>
                <a:r>
                  <a:rPr lang="en-US" sz="2800" dirty="0"/>
                  <a:t>Here, 2</a:t>
                </a:r>
                <a14:m>
                  <m:oMath xmlns:m="http://schemas.openxmlformats.org/officeDocument/2006/math">
                    <m:r>
                      <m:rPr>
                        <m:sty m:val="p"/>
                      </m:rPr>
                      <a:rPr lang="en-US" sz="2800" i="1" dirty="0">
                        <a:latin typeface="Cambria Math" panose="02040503050406030204" pitchFamily="18" charset="0"/>
                      </a:rPr>
                      <m:t>K</m:t>
                    </m:r>
                    <m:r>
                      <a:rPr lang="en-US" sz="2800" b="0" i="1" dirty="0" smtClean="0">
                        <a:latin typeface="Cambria Math" panose="02040503050406030204" pitchFamily="18" charset="0"/>
                      </a:rPr>
                      <m:t>𝑚</m:t>
                    </m:r>
                    <m:r>
                      <a:rPr lang="en-US" sz="2800" i="1" dirty="0" smtClean="0">
                        <a:latin typeface="Cambria Math" panose="02040503050406030204" pitchFamily="18" charset="0"/>
                      </a:rPr>
                      <m:t>=</m:t>
                    </m:r>
                    <m:r>
                      <a:rPr lang="en-US" sz="2800" b="0" i="1" dirty="0" smtClean="0">
                        <a:latin typeface="Cambria Math" panose="02040503050406030204" pitchFamily="18" charset="0"/>
                      </a:rPr>
                      <m:t>𝑛</m:t>
                    </m:r>
                    <m:r>
                      <a:rPr lang="en-US" sz="2800" b="0" i="1" dirty="0" smtClean="0">
                        <a:latin typeface="Cambria Math" panose="02040503050406030204" pitchFamily="18" charset="0"/>
                      </a:rPr>
                      <m:t>= 243,918</m:t>
                    </m:r>
                  </m:oMath>
                </a14:m>
                <a:r>
                  <a:rPr lang="en-US" sz="2800" dirty="0"/>
                  <a:t>, </a:t>
                </a:r>
                <a14:m>
                  <m:oMath xmlns:m="http://schemas.openxmlformats.org/officeDocument/2006/math">
                    <m:acc>
                      <m:accPr>
                        <m:chr m:val="̅"/>
                        <m:ctrlPr>
                          <a:rPr lang="en-US" sz="2800" i="1" dirty="0" smtClean="0">
                            <a:latin typeface="Cambria Math" panose="02040503050406030204" pitchFamily="18" charset="0"/>
                          </a:rPr>
                        </m:ctrlPr>
                      </m:accPr>
                      <m:e>
                        <m:r>
                          <a:rPr lang="en-US" sz="2800" i="1" dirty="0">
                            <a:latin typeface="Cambria Math" panose="02040503050406030204" pitchFamily="18" charset="0"/>
                          </a:rPr>
                          <m:t>𝑚</m:t>
                        </m:r>
                      </m:e>
                    </m:acc>
                  </m:oMath>
                </a14:m>
                <a:r>
                  <a:rPr lang="en-US" sz="2800" dirty="0">
                    <a:ea typeface="Cambria Math" panose="02040503050406030204" pitchFamily="18" charset="0"/>
                  </a:rPr>
                  <a:t> </a:t>
                </a:r>
                <a14:m>
                  <m:oMath xmlns:m="http://schemas.openxmlformats.org/officeDocument/2006/math">
                    <m:r>
                      <a:rPr lang="en-US" sz="2800" i="1">
                        <a:latin typeface="Cambria Math" panose="02040503050406030204" pitchFamily="18" charset="0"/>
                        <a:ea typeface="Cambria Math" panose="02040503050406030204" pitchFamily="18" charset="0"/>
                      </a:rPr>
                      <m:t>≈ </m:t>
                    </m:r>
                  </m:oMath>
                </a14:m>
                <a:r>
                  <a:rPr lang="en-US" sz="2800" dirty="0"/>
                  <a:t>243,918/60</a:t>
                </a:r>
                <a14:m>
                  <m:oMath xmlns:m="http://schemas.openxmlformats.org/officeDocument/2006/math">
                    <m:r>
                      <a:rPr lang="en-US" sz="2800" i="1" smtClean="0">
                        <a:latin typeface="Cambria Math" panose="02040503050406030204" pitchFamily="18" charset="0"/>
                        <a:ea typeface="Cambria Math" panose="02040503050406030204" pitchFamily="18" charset="0"/>
                      </a:rPr>
                      <m:t>≈</m:t>
                    </m:r>
                  </m:oMath>
                </a14:m>
                <a:r>
                  <a:rPr lang="en-US" sz="2800" dirty="0"/>
                  <a:t>4065 is the (average) cluster size per group, and the sample size per group is 243,918/2 = 121,938.</a:t>
                </a:r>
              </a:p>
              <a:p>
                <a:endParaRPr lang="en-US" sz="2800" dirty="0"/>
              </a:p>
              <a:p>
                <a:r>
                  <a:rPr lang="en-US" sz="2800" dirty="0"/>
                  <a:t>With </a:t>
                </a:r>
                <a14:m>
                  <m:oMath xmlns:m="http://schemas.openxmlformats.org/officeDocument/2006/math">
                    <m:r>
                      <a:rPr lang="en-US" sz="2800" i="1">
                        <a:latin typeface="Cambria Math" panose="02040503050406030204" pitchFamily="18" charset="0"/>
                        <a:ea typeface="Cambria Math" panose="02040503050406030204" pitchFamily="18" charset="0"/>
                      </a:rPr>
                      <m:t>𝜌</m:t>
                    </m:r>
                  </m:oMath>
                </a14:m>
                <a:r>
                  <a:rPr lang="en-US" sz="2800" dirty="0"/>
                  <a:t>=0.06, </a:t>
                </a:r>
                <a14:m>
                  <m:oMath xmlns:m="http://schemas.openxmlformats.org/officeDocument/2006/math">
                    <m:sSub>
                      <m:sSubPr>
                        <m:ctrlPr>
                          <a:rPr lang="en-US" sz="2800" i="1" dirty="0" smtClean="0">
                            <a:latin typeface="Cambria Math" panose="02040503050406030204" pitchFamily="18" charset="0"/>
                          </a:rPr>
                        </m:ctrlPr>
                      </m:sSubPr>
                      <m:e>
                        <m:r>
                          <a:rPr lang="en-US" sz="2800" b="0" i="1" dirty="0" smtClean="0">
                            <a:latin typeface="Cambria Math" panose="02040503050406030204" pitchFamily="18" charset="0"/>
                          </a:rPr>
                          <m:t>𝐸</m:t>
                        </m:r>
                      </m:e>
                      <m:sub>
                        <m:r>
                          <a:rPr lang="en-US" sz="2800" b="0" i="1" dirty="0" smtClean="0">
                            <a:latin typeface="Cambria Math" panose="02040503050406030204" pitchFamily="18" charset="0"/>
                          </a:rPr>
                          <m:t>𝑆𝑆</m:t>
                        </m:r>
                      </m:sub>
                    </m:sSub>
                    <m:r>
                      <a:rPr lang="en-US" sz="2800" i="1">
                        <a:latin typeface="Cambria Math" panose="02040503050406030204" pitchFamily="18" charset="0"/>
                        <a:ea typeface="Cambria Math" panose="02040503050406030204" pitchFamily="18" charset="0"/>
                      </a:rPr>
                      <m:t>≈</m:t>
                    </m:r>
                    <m:r>
                      <a:rPr lang="en-US" sz="2800" b="0" i="1" dirty="0" smtClean="0">
                        <a:latin typeface="Cambria Math" panose="02040503050406030204" pitchFamily="18" charset="0"/>
                      </a:rPr>
                      <m:t>(</m:t>
                    </m:r>
                    <m:f>
                      <m:fPr>
                        <m:ctrlPr>
                          <a:rPr lang="en-US" sz="2800" b="0" i="1" dirty="0" smtClean="0">
                            <a:latin typeface="Cambria Math" panose="02040503050406030204" pitchFamily="18" charset="0"/>
                          </a:rPr>
                        </m:ctrlPr>
                      </m:fPr>
                      <m:num>
                        <m:r>
                          <a:rPr lang="en-US" sz="2800" i="1" dirty="0" smtClean="0">
                            <a:latin typeface="Cambria Math" panose="02040503050406030204" pitchFamily="18" charset="0"/>
                          </a:rPr>
                          <m:t>243918</m:t>
                        </m:r>
                      </m:num>
                      <m:den>
                        <m:r>
                          <a:rPr lang="en-US" sz="2800" b="0" i="1" dirty="0" smtClean="0">
                            <a:latin typeface="Cambria Math" panose="02040503050406030204" pitchFamily="18" charset="0"/>
                          </a:rPr>
                          <m:t>2</m:t>
                        </m:r>
                      </m:den>
                    </m:f>
                    <m:r>
                      <a:rPr lang="en-US" sz="2800" b="0" i="1" dirty="0" smtClean="0">
                        <a:latin typeface="Cambria Math" panose="02040503050406030204" pitchFamily="18" charset="0"/>
                      </a:rPr>
                      <m:t>)</m:t>
                    </m:r>
                    <m:r>
                      <a:rPr lang="en-US" sz="2800" i="1" dirty="0" smtClean="0">
                        <a:latin typeface="Cambria Math" panose="02040503050406030204" pitchFamily="18" charset="0"/>
                      </a:rPr>
                      <m:t>/(1+</m:t>
                    </m:r>
                    <m:r>
                      <a:rPr lang="en-US" sz="2800" b="0" i="1" dirty="0" smtClean="0">
                        <a:latin typeface="Cambria Math" panose="02040503050406030204" pitchFamily="18" charset="0"/>
                      </a:rPr>
                      <m:t>(4065−1)</m:t>
                    </m:r>
                    <m:r>
                      <a:rPr lang="en-US" sz="2800" i="1" dirty="0" smtClean="0">
                        <a:latin typeface="Cambria Math" panose="02040503050406030204" pitchFamily="18" charset="0"/>
                      </a:rPr>
                      <m:t> </m:t>
                    </m:r>
                    <m:r>
                      <a:rPr lang="en-US" sz="2800" i="1" dirty="0" smtClean="0">
                        <a:latin typeface="Cambria Math" panose="02040503050406030204" pitchFamily="18" charset="0"/>
                        <a:ea typeface="Cambria Math" panose="02040503050406030204" pitchFamily="18" charset="0"/>
                      </a:rPr>
                      <m:t>×</m:t>
                    </m:r>
                    <m:r>
                      <a:rPr lang="en-US" sz="2800" i="1" dirty="0" smtClean="0">
                        <a:latin typeface="Cambria Math" panose="02040503050406030204" pitchFamily="18" charset="0"/>
                      </a:rPr>
                      <m:t> 0.06) </m:t>
                    </m:r>
                  </m:oMath>
                </a14:m>
                <a:r>
                  <a:rPr lang="en-US" sz="2800" dirty="0"/>
                  <a:t>=  121,959/245 = 498, still large but 8 (!) times smaller.  </a:t>
                </a:r>
              </a:p>
            </p:txBody>
          </p:sp>
        </mc:Choice>
        <mc:Fallback xmlns="">
          <p:sp>
            <p:nvSpPr>
              <p:cNvPr id="5" name="TextBox 4">
                <a:extLst>
                  <a:ext uri="{FF2B5EF4-FFF2-40B4-BE49-F238E27FC236}">
                    <a16:creationId xmlns:a16="http://schemas.microsoft.com/office/drawing/2014/main" id="{DDE375E0-2CC8-4C40-9306-9DF9BC2F5076}"/>
                  </a:ext>
                </a:extLst>
              </p:cNvPr>
              <p:cNvSpPr txBox="1">
                <a:spLocks noRot="1" noChangeAspect="1" noMove="1" noResize="1" noEditPoints="1" noAdjustHandles="1" noChangeArrowheads="1" noChangeShapeType="1" noTextEdit="1"/>
              </p:cNvSpPr>
              <p:nvPr/>
            </p:nvSpPr>
            <p:spPr>
              <a:xfrm>
                <a:off x="681169" y="1660603"/>
                <a:ext cx="9957999" cy="4382097"/>
              </a:xfrm>
              <a:prstGeom prst="rect">
                <a:avLst/>
              </a:prstGeom>
              <a:blipFill>
                <a:blip r:embed="rId4"/>
                <a:stretch>
                  <a:fillRect l="-1286" b="-3060"/>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3A2126C5-AC5A-594E-989C-B89658CD2BE5}"/>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B979166D-9FDC-6E4C-75D8-50CDC7C9954A}"/>
              </a:ext>
            </a:extLst>
          </p:cNvPr>
          <p:cNvSpPr>
            <a:spLocks noGrp="1"/>
          </p:cNvSpPr>
          <p:nvPr>
            <p:ph type="sldNum" sz="quarter" idx="12"/>
          </p:nvPr>
        </p:nvSpPr>
        <p:spPr/>
        <p:txBody>
          <a:bodyPr/>
          <a:lstStyle/>
          <a:p>
            <a:fld id="{77C6A7FE-225D-49F1-B302-AA37EA92BB49}" type="slidenum">
              <a:rPr lang="en-US" smtClean="0"/>
              <a:t>29</a:t>
            </a:fld>
            <a:endParaRPr lang="en-US"/>
          </a:p>
        </p:txBody>
      </p:sp>
    </p:spTree>
    <p:extLst>
      <p:ext uri="{BB962C8B-B14F-4D97-AF65-F5344CB8AC3E}">
        <p14:creationId xmlns:p14="http://schemas.microsoft.com/office/powerpoint/2010/main" val="223782851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015493"/>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dirty="0"/>
              <a:t>Example: Familia Salama</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439" y="6581679"/>
            <a:ext cx="3208020" cy="201958"/>
          </a:xfrm>
          <a:prstGeom prst="rect">
            <a:avLst/>
          </a:prstGeom>
        </p:spPr>
      </p:pic>
      <p:sp>
        <p:nvSpPr>
          <p:cNvPr id="5" name="TextBox 4">
            <a:extLst>
              <a:ext uri="{FF2B5EF4-FFF2-40B4-BE49-F238E27FC236}">
                <a16:creationId xmlns:a16="http://schemas.microsoft.com/office/drawing/2014/main" id="{DDE375E0-2CC8-4C40-9306-9DF9BC2F5076}"/>
              </a:ext>
            </a:extLst>
          </p:cNvPr>
          <p:cNvSpPr txBox="1"/>
          <p:nvPr/>
        </p:nvSpPr>
        <p:spPr>
          <a:xfrm>
            <a:off x="158655" y="1337187"/>
            <a:ext cx="9957999" cy="954107"/>
          </a:xfrm>
          <a:prstGeom prst="rect">
            <a:avLst/>
          </a:prstGeom>
          <a:noFill/>
        </p:spPr>
        <p:txBody>
          <a:bodyPr wrap="square">
            <a:spAutoFit/>
          </a:bodyPr>
          <a:lstStyle/>
          <a:p>
            <a:r>
              <a:rPr lang="en-US" sz="2800" dirty="0"/>
              <a:t> </a:t>
            </a:r>
          </a:p>
          <a:p>
            <a:endParaRPr lang="en-US" sz="2800" dirty="0"/>
          </a:p>
        </p:txBody>
      </p:sp>
      <p:graphicFrame>
        <p:nvGraphicFramePr>
          <p:cNvPr id="2" name="Table 2">
            <a:extLst>
              <a:ext uri="{FF2B5EF4-FFF2-40B4-BE49-F238E27FC236}">
                <a16:creationId xmlns:a16="http://schemas.microsoft.com/office/drawing/2014/main" id="{BBEFE4C1-C9E2-CD41-BD21-2CD4E1B867AC}"/>
              </a:ext>
            </a:extLst>
          </p:cNvPr>
          <p:cNvGraphicFramePr>
            <a:graphicFrameLocks noGrp="1"/>
          </p:cNvGraphicFramePr>
          <p:nvPr>
            <p:extLst>
              <p:ext uri="{D42A27DB-BD31-4B8C-83A1-F6EECF244321}">
                <p14:modId xmlns:p14="http://schemas.microsoft.com/office/powerpoint/2010/main" val="546912909"/>
              </p:ext>
            </p:extLst>
          </p:nvPr>
        </p:nvGraphicFramePr>
        <p:xfrm>
          <a:off x="964163" y="1079680"/>
          <a:ext cx="10475362" cy="2763520"/>
        </p:xfrm>
        <a:graphic>
          <a:graphicData uri="http://schemas.openxmlformats.org/drawingml/2006/table">
            <a:tbl>
              <a:tblPr firstRow="1" bandRow="1">
                <a:tableStyleId>{5C22544A-7EE6-4342-B048-85BDC9FD1C3A}</a:tableStyleId>
              </a:tblPr>
              <a:tblGrid>
                <a:gridCol w="3956180">
                  <a:extLst>
                    <a:ext uri="{9D8B030D-6E8A-4147-A177-3AD203B41FA5}">
                      <a16:colId xmlns:a16="http://schemas.microsoft.com/office/drawing/2014/main" val="18135101"/>
                    </a:ext>
                  </a:extLst>
                </a:gridCol>
                <a:gridCol w="2369975">
                  <a:extLst>
                    <a:ext uri="{9D8B030D-6E8A-4147-A177-3AD203B41FA5}">
                      <a16:colId xmlns:a16="http://schemas.microsoft.com/office/drawing/2014/main" val="404114014"/>
                    </a:ext>
                  </a:extLst>
                </a:gridCol>
                <a:gridCol w="2168824">
                  <a:extLst>
                    <a:ext uri="{9D8B030D-6E8A-4147-A177-3AD203B41FA5}">
                      <a16:colId xmlns:a16="http://schemas.microsoft.com/office/drawing/2014/main" val="1018343262"/>
                    </a:ext>
                  </a:extLst>
                </a:gridCol>
                <a:gridCol w="1980383">
                  <a:extLst>
                    <a:ext uri="{9D8B030D-6E8A-4147-A177-3AD203B41FA5}">
                      <a16:colId xmlns:a16="http://schemas.microsoft.com/office/drawing/2014/main" val="1986441907"/>
                    </a:ext>
                  </a:extLst>
                </a:gridCol>
              </a:tblGrid>
              <a:tr h="370840">
                <a:tc>
                  <a:txBody>
                    <a:bodyPr/>
                    <a:lstStyle/>
                    <a:p>
                      <a:r>
                        <a:rPr lang="en-US" dirty="0"/>
                        <a:t>Group</a:t>
                      </a:r>
                    </a:p>
                  </a:txBody>
                  <a:tcPr/>
                </a:tc>
                <a:tc>
                  <a:txBody>
                    <a:bodyPr/>
                    <a:lstStyle/>
                    <a:p>
                      <a:r>
                        <a:rPr lang="en-US" dirty="0"/>
                        <a:t>Intervention</a:t>
                      </a:r>
                    </a:p>
                  </a:txBody>
                  <a:tcPr/>
                </a:tc>
                <a:tc>
                  <a:txBody>
                    <a:bodyPr/>
                    <a:lstStyle/>
                    <a:p>
                      <a:r>
                        <a:rPr lang="en-US" dirty="0"/>
                        <a:t>SoC</a:t>
                      </a:r>
                    </a:p>
                  </a:txBody>
                  <a:tcPr/>
                </a:tc>
                <a:tc>
                  <a:txBody>
                    <a:bodyPr/>
                    <a:lstStyle/>
                    <a:p>
                      <a:r>
                        <a:rPr lang="en-US" dirty="0"/>
                        <a:t>Total</a:t>
                      </a:r>
                    </a:p>
                  </a:txBody>
                  <a:tcPr/>
                </a:tc>
                <a:extLst>
                  <a:ext uri="{0D108BD9-81ED-4DB2-BD59-A6C34878D82A}">
                    <a16:rowId xmlns:a16="http://schemas.microsoft.com/office/drawing/2014/main" val="4198355400"/>
                  </a:ext>
                </a:extLst>
              </a:tr>
              <a:tr h="370840">
                <a:tc>
                  <a:txBody>
                    <a:bodyPr/>
                    <a:lstStyle/>
                    <a:p>
                      <a:r>
                        <a:rPr lang="en-US" dirty="0"/>
                        <a:t>Sample Size</a:t>
                      </a:r>
                    </a:p>
                  </a:txBody>
                  <a:tcPr/>
                </a:tc>
                <a:tc>
                  <a:txBody>
                    <a:bodyPr/>
                    <a:lstStyle/>
                    <a:p>
                      <a:r>
                        <a:rPr lang="en-US" dirty="0"/>
                        <a:t>N=134,938</a:t>
                      </a:r>
                    </a:p>
                  </a:txBody>
                  <a:tcPr/>
                </a:tc>
                <a:tc>
                  <a:txBody>
                    <a:bodyPr/>
                    <a:lstStyle/>
                    <a:p>
                      <a:r>
                        <a:rPr lang="en-US" dirty="0"/>
                        <a:t>N=108,980</a:t>
                      </a:r>
                    </a:p>
                  </a:txBody>
                  <a:tcPr/>
                </a:tc>
                <a:tc>
                  <a:txBody>
                    <a:bodyPr/>
                    <a:lstStyle/>
                    <a:p>
                      <a:r>
                        <a:rPr lang="en-US" dirty="0"/>
                        <a:t>N=243,918</a:t>
                      </a:r>
                    </a:p>
                  </a:txBody>
                  <a:tcPr/>
                </a:tc>
                <a:extLst>
                  <a:ext uri="{0D108BD9-81ED-4DB2-BD59-A6C34878D82A}">
                    <a16:rowId xmlns:a16="http://schemas.microsoft.com/office/drawing/2014/main" val="3777638416"/>
                  </a:ext>
                </a:extLst>
              </a:tr>
              <a:tr h="370840">
                <a:tc>
                  <a:txBody>
                    <a:bodyPr/>
                    <a:lstStyle/>
                    <a:p>
                      <a:r>
                        <a:rPr lang="en-US" dirty="0"/>
                        <a:t>Proportion of &gt;=4 ANC visit</a:t>
                      </a:r>
                    </a:p>
                  </a:txBody>
                  <a:tcPr/>
                </a:tc>
                <a:tc>
                  <a:txBody>
                    <a:bodyPr/>
                    <a:lstStyle/>
                    <a:p>
                      <a:r>
                        <a:rPr lang="en-US" dirty="0"/>
                        <a:t>12,560/134,938 (9.3%)</a:t>
                      </a:r>
                    </a:p>
                  </a:txBody>
                  <a:tcPr/>
                </a:tc>
                <a:tc>
                  <a:txBody>
                    <a:bodyPr/>
                    <a:lstStyle/>
                    <a:p>
                      <a:r>
                        <a:rPr lang="en-US" dirty="0"/>
                        <a:t>7,155/108,980 (6.6%)</a:t>
                      </a:r>
                    </a:p>
                  </a:txBody>
                  <a:tcPr/>
                </a:tc>
                <a:tc>
                  <a:txBody>
                    <a:bodyPr/>
                    <a:lstStyle/>
                    <a:p>
                      <a:r>
                        <a:rPr lang="en-US" dirty="0"/>
                        <a:t>19,715/243,918 (8.1%)</a:t>
                      </a:r>
                    </a:p>
                  </a:txBody>
                  <a:tcPr/>
                </a:tc>
                <a:extLst>
                  <a:ext uri="{0D108BD9-81ED-4DB2-BD59-A6C34878D82A}">
                    <a16:rowId xmlns:a16="http://schemas.microsoft.com/office/drawing/2014/main" val="1199902017"/>
                  </a:ext>
                </a:extLst>
              </a:tr>
              <a:tr h="370840">
                <a:tc>
                  <a:txBody>
                    <a:bodyPr/>
                    <a:lstStyle/>
                    <a:p>
                      <a:r>
                        <a:rPr lang="en-US" dirty="0"/>
                        <a:t>ICC (95% CI) for Proportion of &gt;=4 ANC visits</a:t>
                      </a:r>
                    </a:p>
                  </a:txBody>
                  <a:tcPr/>
                </a:tc>
                <a:tc>
                  <a:txBody>
                    <a:bodyPr/>
                    <a:lstStyle/>
                    <a:p>
                      <a:r>
                        <a:rPr lang="en-US" dirty="0"/>
                        <a:t>0.05 (0.03, 0.07)</a:t>
                      </a:r>
                    </a:p>
                  </a:txBody>
                  <a:tcPr/>
                </a:tc>
                <a:tc>
                  <a:txBody>
                    <a:bodyPr/>
                    <a:lstStyle/>
                    <a:p>
                      <a:r>
                        <a:rPr lang="en-US" dirty="0"/>
                        <a:t>0.07 (0.05, 0.11)</a:t>
                      </a:r>
                    </a:p>
                  </a:txBody>
                  <a:tcPr/>
                </a:tc>
                <a:tc>
                  <a:txBody>
                    <a:bodyPr/>
                    <a:lstStyle/>
                    <a:p>
                      <a:r>
                        <a:rPr lang="en-US" dirty="0"/>
                        <a:t>0.05 (0.03, 0.07)</a:t>
                      </a:r>
                    </a:p>
                  </a:txBody>
                  <a:tcPr/>
                </a:tc>
                <a:extLst>
                  <a:ext uri="{0D108BD9-81ED-4DB2-BD59-A6C34878D82A}">
                    <a16:rowId xmlns:a16="http://schemas.microsoft.com/office/drawing/2014/main" val="3275161046"/>
                  </a:ext>
                </a:extLst>
              </a:tr>
              <a:tr h="370840">
                <a:tc>
                  <a:txBody>
                    <a:bodyPr/>
                    <a:lstStyle/>
                    <a:p>
                      <a:r>
                        <a:rPr lang="en-US" dirty="0"/>
                        <a:t>Mean (SD) for number of ANC visits</a:t>
                      </a:r>
                    </a:p>
                  </a:txBody>
                  <a:tcPr/>
                </a:tc>
                <a:tc>
                  <a:txBody>
                    <a:bodyPr/>
                    <a:lstStyle/>
                    <a:p>
                      <a:r>
                        <a:rPr lang="en-US" dirty="0"/>
                        <a:t>1.79 (1.21)</a:t>
                      </a:r>
                    </a:p>
                  </a:txBody>
                  <a:tcPr/>
                </a:tc>
                <a:tc>
                  <a:txBody>
                    <a:bodyPr/>
                    <a:lstStyle/>
                    <a:p>
                      <a:r>
                        <a:rPr lang="en-US" dirty="0"/>
                        <a:t>1.67 (1.06)</a:t>
                      </a:r>
                    </a:p>
                  </a:txBody>
                  <a:tcPr/>
                </a:tc>
                <a:tc>
                  <a:txBody>
                    <a:bodyPr/>
                    <a:lstStyle/>
                    <a:p>
                      <a:r>
                        <a:rPr lang="en-US" dirty="0"/>
                        <a:t>1.74 (1.15)</a:t>
                      </a:r>
                    </a:p>
                  </a:txBody>
                  <a:tcPr/>
                </a:tc>
                <a:extLst>
                  <a:ext uri="{0D108BD9-81ED-4DB2-BD59-A6C34878D82A}">
                    <a16:rowId xmlns:a16="http://schemas.microsoft.com/office/drawing/2014/main" val="3051586049"/>
                  </a:ext>
                </a:extLst>
              </a:tr>
              <a:tr h="370840">
                <a:tc>
                  <a:txBody>
                    <a:bodyPr/>
                    <a:lstStyle/>
                    <a:p>
                      <a:r>
                        <a:rPr lang="en-US" dirty="0"/>
                        <a:t>ICC (95% CI) for number of ANC visits</a:t>
                      </a:r>
                    </a:p>
                  </a:txBody>
                  <a:tcPr/>
                </a:tc>
                <a:tc>
                  <a:txBody>
                    <a:bodyPr/>
                    <a:lstStyle/>
                    <a:p>
                      <a:r>
                        <a:rPr lang="en-US" dirty="0"/>
                        <a:t>0.07 (0.05,0.10)</a:t>
                      </a:r>
                    </a:p>
                  </a:txBody>
                  <a:tcPr/>
                </a:tc>
                <a:tc>
                  <a:txBody>
                    <a:bodyPr/>
                    <a:lstStyle/>
                    <a:p>
                      <a:r>
                        <a:rPr lang="en-US" dirty="0"/>
                        <a:t>0.10 (0.07,0.15)</a:t>
                      </a:r>
                    </a:p>
                  </a:txBody>
                  <a:tcPr/>
                </a:tc>
                <a:tc>
                  <a:txBody>
                    <a:bodyPr/>
                    <a:lstStyle/>
                    <a:p>
                      <a:r>
                        <a:rPr lang="en-US" dirty="0"/>
                        <a:t>0.06 (0.04,0.08)</a:t>
                      </a:r>
                    </a:p>
                  </a:txBody>
                  <a:tcPr/>
                </a:tc>
                <a:extLst>
                  <a:ext uri="{0D108BD9-81ED-4DB2-BD59-A6C34878D82A}">
                    <a16:rowId xmlns:a16="http://schemas.microsoft.com/office/drawing/2014/main" val="1032295888"/>
                  </a:ext>
                </a:extLst>
              </a:tr>
            </a:tbl>
          </a:graphicData>
        </a:graphic>
      </p:graphicFrame>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3FB54F2-E804-A046-AF33-5B9ACF6C094E}"/>
                  </a:ext>
                </a:extLst>
              </p:cNvPr>
              <p:cNvSpPr txBox="1"/>
              <p:nvPr/>
            </p:nvSpPr>
            <p:spPr>
              <a:xfrm>
                <a:off x="1597031" y="4415490"/>
                <a:ext cx="6979347" cy="8436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𝑍</m:t>
                          </m:r>
                        </m:e>
                        <m:sup>
                          <m:r>
                            <a:rPr lang="en-US" b="0" i="1" smtClean="0">
                              <a:latin typeface="Cambria Math" panose="02040503050406030204" pitchFamily="18" charset="0"/>
                            </a:rPr>
                            <m:t>2</m:t>
                          </m:r>
                        </m:sup>
                      </m:sSup>
                      <m:r>
                        <a:rPr lang="en-US" b="0" i="1" smtClean="0">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(1.79−1.67)</m:t>
                              </m:r>
                            </m:e>
                            <m:sup>
                              <m:r>
                                <a:rPr lang="en-US" i="1">
                                  <a:latin typeface="Cambria Math" panose="02040503050406030204" pitchFamily="18" charset="0"/>
                                </a:rPr>
                                <m:t>2</m:t>
                              </m:r>
                            </m:sup>
                          </m:sSup>
                        </m:num>
                        <m:den>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1.21</m:t>
                                  </m:r>
                                </m:e>
                                <m:sup>
                                  <m:r>
                                    <a:rPr lang="en-US" i="1">
                                      <a:latin typeface="Cambria Math" panose="02040503050406030204" pitchFamily="18" charset="0"/>
                                    </a:rPr>
                                    <m:t>2</m:t>
                                  </m:r>
                                </m:sup>
                              </m:sSup>
                            </m:num>
                            <m:den>
                              <m:r>
                                <a:rPr lang="en-US" i="1">
                                  <a:latin typeface="Cambria Math" panose="02040503050406030204" pitchFamily="18" charset="0"/>
                                </a:rPr>
                                <m:t>134938</m:t>
                              </m:r>
                            </m:den>
                          </m:f>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1.06</m:t>
                                  </m:r>
                                </m:e>
                                <m:sup>
                                  <m:r>
                                    <a:rPr lang="en-US" i="1">
                                      <a:latin typeface="Cambria Math" panose="02040503050406030204" pitchFamily="18" charset="0"/>
                                    </a:rPr>
                                    <m:t>2</m:t>
                                  </m:r>
                                </m:sup>
                              </m:sSup>
                            </m:num>
                            <m:den>
                              <m:r>
                                <a:rPr lang="en-US" i="1">
                                  <a:latin typeface="Cambria Math" panose="02040503050406030204" pitchFamily="18" charset="0"/>
                                </a:rPr>
                                <m:t>108980</m:t>
                              </m:r>
                            </m:den>
                          </m:f>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𝐼𝐹</m:t>
                          </m:r>
                        </m:den>
                      </m:f>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(1.79−1.67)</m:t>
                              </m:r>
                            </m:e>
                            <m:sup>
                              <m:r>
                                <a:rPr lang="en-US" b="0" i="1" smtClean="0">
                                  <a:latin typeface="Cambria Math" panose="02040503050406030204" pitchFamily="18" charset="0"/>
                                </a:rPr>
                                <m:t>2</m:t>
                              </m:r>
                            </m:sup>
                          </m:sSup>
                        </m:num>
                        <m:den>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1.21</m:t>
                                      </m:r>
                                    </m:e>
                                    <m:sup>
                                      <m:r>
                                        <a:rPr lang="en-US" b="0" i="1" smtClean="0">
                                          <a:latin typeface="Cambria Math" panose="02040503050406030204" pitchFamily="18" charset="0"/>
                                        </a:rPr>
                                        <m:t>2</m:t>
                                      </m:r>
                                    </m:sup>
                                  </m:sSup>
                                </m:num>
                                <m:den>
                                  <m:r>
                                    <a:rPr lang="en-US" b="0" i="1" smtClean="0">
                                      <a:latin typeface="Cambria Math" panose="02040503050406030204" pitchFamily="18" charset="0"/>
                                    </a:rPr>
                                    <m:t>134938</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1.06</m:t>
                                      </m:r>
                                    </m:e>
                                    <m:sup>
                                      <m:r>
                                        <a:rPr lang="en-US" b="0" i="1" smtClean="0">
                                          <a:latin typeface="Cambria Math" panose="02040503050406030204" pitchFamily="18" charset="0"/>
                                        </a:rPr>
                                        <m:t>2</m:t>
                                      </m:r>
                                    </m:sup>
                                  </m:sSup>
                                </m:num>
                                <m:den>
                                  <m:r>
                                    <a:rPr lang="en-US" b="0" i="1" smtClean="0">
                                      <a:latin typeface="Cambria Math" panose="02040503050406030204" pitchFamily="18" charset="0"/>
                                    </a:rPr>
                                    <m:t>108980</m:t>
                                  </m:r>
                                </m:den>
                              </m:f>
                            </m:e>
                          </m:d>
                          <m:r>
                            <a:rPr lang="en-US" b="0" i="1" smtClean="0">
                              <a:latin typeface="Cambria Math" panose="02040503050406030204" pitchFamily="18" charset="0"/>
                              <a:ea typeface="Cambria Math" panose="02040503050406030204" pitchFamily="18" charset="0"/>
                            </a:rPr>
                            <m:t>×245</m:t>
                          </m:r>
                        </m:den>
                      </m:f>
                      <m:r>
                        <a:rPr lang="en-US" b="0" i="1" smtClean="0">
                          <a:latin typeface="Cambria Math" panose="02040503050406030204" pitchFamily="18" charset="0"/>
                        </a:rPr>
                        <m:t>=2.779</m:t>
                      </m:r>
                    </m:oMath>
                  </m:oMathPara>
                </a14:m>
                <a:endParaRPr lang="en-US" dirty="0"/>
              </a:p>
            </p:txBody>
          </p:sp>
        </mc:Choice>
        <mc:Fallback xmlns="">
          <p:sp>
            <p:nvSpPr>
              <p:cNvPr id="3" name="TextBox 2">
                <a:extLst>
                  <a:ext uri="{FF2B5EF4-FFF2-40B4-BE49-F238E27FC236}">
                    <a16:creationId xmlns:a16="http://schemas.microsoft.com/office/drawing/2014/main" id="{73FB54F2-E804-A046-AF33-5B9ACF6C094E}"/>
                  </a:ext>
                </a:extLst>
              </p:cNvPr>
              <p:cNvSpPr txBox="1">
                <a:spLocks noRot="1" noChangeAspect="1" noMove="1" noResize="1" noEditPoints="1" noAdjustHandles="1" noChangeArrowheads="1" noChangeShapeType="1" noTextEdit="1"/>
              </p:cNvSpPr>
              <p:nvPr/>
            </p:nvSpPr>
            <p:spPr>
              <a:xfrm>
                <a:off x="1597031" y="4415490"/>
                <a:ext cx="6979347" cy="84369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96F2E09-36CD-1249-8A1C-F63A98655892}"/>
                  </a:ext>
                </a:extLst>
              </p:cNvPr>
              <p:cNvSpPr txBox="1"/>
              <p:nvPr/>
            </p:nvSpPr>
            <p:spPr>
              <a:xfrm>
                <a:off x="158655" y="5375307"/>
                <a:ext cx="11857349" cy="1226170"/>
              </a:xfrm>
              <a:prstGeom prst="rect">
                <a:avLst/>
              </a:prstGeom>
              <a:noFill/>
            </p:spPr>
            <p:txBody>
              <a:bodyPr wrap="none" rtlCol="0">
                <a:spAutoFit/>
              </a:bodyPr>
              <a:lstStyle/>
              <a:p>
                <a:pPr algn="ctr"/>
                <a:r>
                  <a:rPr lang="en-US" dirty="0"/>
                  <a:t>p-value=</a:t>
                </a:r>
                <a14:m>
                  <m:oMath xmlns:m="http://schemas.openxmlformats.org/officeDocument/2006/math">
                    <m:r>
                      <a:rPr lang="en-US" b="0" i="1" smtClean="0">
                        <a:latin typeface="Cambria Math" panose="02040503050406030204" pitchFamily="18" charset="0"/>
                      </a:rPr>
                      <m:t>1−</m:t>
                    </m:r>
                    <m:r>
                      <m:rPr>
                        <m:sty m:val="p"/>
                      </m:rPr>
                      <a:rPr lang="en-US" b="0" i="0" smtClean="0">
                        <a:latin typeface="Cambria Math" panose="02040503050406030204" pitchFamily="18" charset="0"/>
                      </a:rPr>
                      <m:t>Pr</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𝑍</m:t>
                        </m:r>
                      </m:e>
                      <m:sup>
                        <m:r>
                          <a:rPr lang="en-US" b="0" i="1" smtClean="0">
                            <a:latin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𝜒</m:t>
                        </m:r>
                      </m:e>
                      <m:sub>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𝛼</m:t>
                        </m:r>
                      </m:sub>
                      <m:sup>
                        <m:r>
                          <a:rPr lang="en-US" b="0" i="1" smtClean="0">
                            <a:latin typeface="Cambria Math" panose="02040503050406030204" pitchFamily="18" charset="0"/>
                            <a:ea typeface="Cambria Math" panose="02040503050406030204" pitchFamily="18" charset="0"/>
                          </a:rPr>
                          <m:t>2</m:t>
                        </m:r>
                      </m:sup>
                    </m:sSubSup>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𝐻</m:t>
                        </m:r>
                      </m:e>
                      <m:sub>
                        <m:r>
                          <a:rPr lang="en-US" b="0" i="1" smtClean="0">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rPr>
                      <m:t>)</m:t>
                    </m:r>
                  </m:oMath>
                </a14:m>
                <a:r>
                  <a:rPr lang="en-US" dirty="0"/>
                  <a:t>= 0.096</a:t>
                </a:r>
              </a:p>
              <a:p>
                <a:endParaRPr lang="en-US" dirty="0"/>
              </a:p>
              <a:p>
                <a:r>
                  <a:rPr lang="en-US" dirty="0"/>
                  <a:t>Compare to the test statistic calculated in  Lecture 1 slide 20 ignoring the impact of the clustered design, where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𝑍</m:t>
                        </m:r>
                      </m:e>
                      <m:sup>
                        <m:r>
                          <a:rPr lang="en-US" b="0" i="1" smtClean="0">
                            <a:latin typeface="Cambria Math" panose="02040503050406030204" pitchFamily="18" charset="0"/>
                          </a:rPr>
                          <m:t>2</m:t>
                        </m:r>
                      </m:sup>
                    </m:sSup>
                  </m:oMath>
                </a14:m>
                <a:r>
                  <a:rPr lang="en-US" dirty="0"/>
                  <a:t> was  680 </a:t>
                </a:r>
              </a:p>
              <a:p>
                <a:r>
                  <a:rPr lang="en-US" dirty="0"/>
                  <a:t>and the p-value was 0! </a:t>
                </a:r>
              </a:p>
            </p:txBody>
          </p:sp>
        </mc:Choice>
        <mc:Fallback xmlns="">
          <p:sp>
            <p:nvSpPr>
              <p:cNvPr id="7" name="TextBox 6">
                <a:extLst>
                  <a:ext uri="{FF2B5EF4-FFF2-40B4-BE49-F238E27FC236}">
                    <a16:creationId xmlns:a16="http://schemas.microsoft.com/office/drawing/2014/main" id="{F96F2E09-36CD-1249-8A1C-F63A98655892}"/>
                  </a:ext>
                </a:extLst>
              </p:cNvPr>
              <p:cNvSpPr txBox="1">
                <a:spLocks noRot="1" noChangeAspect="1" noMove="1" noResize="1" noEditPoints="1" noAdjustHandles="1" noChangeArrowheads="1" noChangeShapeType="1" noTextEdit="1"/>
              </p:cNvSpPr>
              <p:nvPr/>
            </p:nvSpPr>
            <p:spPr>
              <a:xfrm>
                <a:off x="158655" y="5375307"/>
                <a:ext cx="11857349" cy="1226170"/>
              </a:xfrm>
              <a:prstGeom prst="rect">
                <a:avLst/>
              </a:prstGeom>
              <a:blipFill>
                <a:blip r:embed="rId5"/>
                <a:stretch>
                  <a:fillRect l="-411" t="-1990" b="-69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5E06F354-CBF7-F64B-8118-450834B1B707}"/>
                  </a:ext>
                </a:extLst>
              </p:cNvPr>
              <p:cNvSpPr/>
              <p:nvPr/>
            </p:nvSpPr>
            <p:spPr>
              <a:xfrm>
                <a:off x="2487942" y="3925416"/>
                <a:ext cx="5170233" cy="369332"/>
              </a:xfrm>
              <a:prstGeom prst="rect">
                <a:avLst/>
              </a:prstGeom>
            </p:spPr>
            <p:txBody>
              <a:bodyPr wrap="square">
                <a:spAutoFit/>
              </a:bodyPr>
              <a:lstStyle/>
              <a:p>
                <a14:m>
                  <m:oMath xmlns:m="http://schemas.openxmlformats.org/officeDocument/2006/math">
                    <m:r>
                      <a:rPr lang="en-US" b="0" i="1" smtClean="0">
                        <a:latin typeface="Cambria Math" panose="02040503050406030204" pitchFamily="18" charset="0"/>
                      </a:rPr>
                      <m:t>𝐼𝐹</m:t>
                    </m:r>
                    <m:r>
                      <a:rPr lang="en-US" b="0" i="1" smtClean="0">
                        <a:latin typeface="Cambria Math" panose="02040503050406030204" pitchFamily="18" charset="0"/>
                      </a:rPr>
                      <m:t>=</m:t>
                    </m:r>
                    <m:r>
                      <a:rPr lang="en-US">
                        <a:latin typeface="Cambria Math" panose="02040503050406030204" pitchFamily="18" charset="0"/>
                      </a:rPr>
                      <m:t>1</m:t>
                    </m:r>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𝑚</m:t>
                        </m:r>
                        <m:r>
                          <a:rPr lang="en-US" i="1">
                            <a:latin typeface="Cambria Math" panose="02040503050406030204" pitchFamily="18" charset="0"/>
                          </a:rPr>
                          <m:t>−1</m:t>
                        </m:r>
                      </m:e>
                    </m:d>
                    <m:r>
                      <a:rPr lang="en-US" i="1">
                        <a:latin typeface="Cambria Math" panose="02040503050406030204" pitchFamily="18" charset="0"/>
                      </a:rPr>
                      <m:t>𝜌</m:t>
                    </m:r>
                  </m:oMath>
                </a14:m>
                <a:r>
                  <a:rPr lang="en-US" dirty="0"/>
                  <a:t> = </a:t>
                </a:r>
                <a14:m>
                  <m:oMath xmlns:m="http://schemas.openxmlformats.org/officeDocument/2006/math">
                    <m:r>
                      <a:rPr lang="en-US" i="1" dirty="0">
                        <a:latin typeface="Cambria Math" panose="02040503050406030204" pitchFamily="18" charset="0"/>
                      </a:rPr>
                      <m:t>1+</m:t>
                    </m:r>
                    <m:r>
                      <a:rPr lang="en-US" b="0" i="1" dirty="0" smtClean="0">
                        <a:latin typeface="Cambria Math" panose="02040503050406030204" pitchFamily="18" charset="0"/>
                      </a:rPr>
                      <m:t>4064</m:t>
                    </m:r>
                    <m:r>
                      <a:rPr lang="en-US" i="1" dirty="0">
                        <a:latin typeface="Cambria Math" panose="02040503050406030204" pitchFamily="18" charset="0"/>
                        <a:ea typeface="Cambria Math" panose="02040503050406030204" pitchFamily="18" charset="0"/>
                      </a:rPr>
                      <m:t>×</m:t>
                    </m:r>
                    <m:r>
                      <a:rPr lang="en-US" i="1" dirty="0">
                        <a:latin typeface="Cambria Math" panose="02040503050406030204" pitchFamily="18" charset="0"/>
                      </a:rPr>
                      <m:t> 0.06</m:t>
                    </m:r>
                    <m:r>
                      <a:rPr lang="en-US" b="0" i="1" dirty="0" smtClean="0">
                        <a:latin typeface="Cambria Math" panose="02040503050406030204" pitchFamily="18" charset="0"/>
                      </a:rPr>
                      <m:t>=245</m:t>
                    </m:r>
                  </m:oMath>
                </a14:m>
                <a:r>
                  <a:rPr lang="en-US" dirty="0"/>
                  <a:t> </a:t>
                </a:r>
              </a:p>
            </p:txBody>
          </p:sp>
        </mc:Choice>
        <mc:Fallback xmlns="">
          <p:sp>
            <p:nvSpPr>
              <p:cNvPr id="8" name="Rectangle 7">
                <a:extLst>
                  <a:ext uri="{FF2B5EF4-FFF2-40B4-BE49-F238E27FC236}">
                    <a16:creationId xmlns:a16="http://schemas.microsoft.com/office/drawing/2014/main" id="{5E06F354-CBF7-F64B-8118-450834B1B707}"/>
                  </a:ext>
                </a:extLst>
              </p:cNvPr>
              <p:cNvSpPr>
                <a:spLocks noRot="1" noChangeAspect="1" noMove="1" noResize="1" noEditPoints="1" noAdjustHandles="1" noChangeArrowheads="1" noChangeShapeType="1" noTextEdit="1"/>
              </p:cNvSpPr>
              <p:nvPr/>
            </p:nvSpPr>
            <p:spPr>
              <a:xfrm>
                <a:off x="2487942" y="3925416"/>
                <a:ext cx="5170233" cy="369332"/>
              </a:xfrm>
              <a:prstGeom prst="rect">
                <a:avLst/>
              </a:prstGeom>
              <a:blipFill>
                <a:blip r:embed="rId6"/>
                <a:stretch>
                  <a:fillRect t="-10000" b="-26667"/>
                </a:stretch>
              </a:blipFill>
            </p:spPr>
            <p:txBody>
              <a:bodyPr/>
              <a:lstStyle/>
              <a:p>
                <a:r>
                  <a:rPr lang="en-US">
                    <a:noFill/>
                  </a:rPr>
                  <a:t> </a:t>
                </a:r>
              </a:p>
            </p:txBody>
          </p:sp>
        </mc:Fallback>
      </mc:AlternateContent>
      <p:sp>
        <p:nvSpPr>
          <p:cNvPr id="9" name="Footer Placeholder 8">
            <a:extLst>
              <a:ext uri="{FF2B5EF4-FFF2-40B4-BE49-F238E27FC236}">
                <a16:creationId xmlns:a16="http://schemas.microsoft.com/office/drawing/2014/main" id="{CFA08BA3-43FB-3C45-B6A3-9982729C8D6E}"/>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1C7E8EA-7662-0FF5-D556-CC936CDCD579}"/>
              </a:ext>
            </a:extLst>
          </p:cNvPr>
          <p:cNvSpPr>
            <a:spLocks noGrp="1"/>
          </p:cNvSpPr>
          <p:nvPr>
            <p:ph type="sldNum" sz="quarter" idx="12"/>
          </p:nvPr>
        </p:nvSpPr>
        <p:spPr/>
        <p:txBody>
          <a:bodyPr/>
          <a:lstStyle/>
          <a:p>
            <a:fld id="{77C6A7FE-225D-49F1-B302-AA37EA92BB49}" type="slidenum">
              <a:rPr lang="en-US" smtClean="0"/>
              <a:t>30</a:t>
            </a:fld>
            <a:endParaRPr lang="en-US"/>
          </a:p>
        </p:txBody>
      </p:sp>
    </p:spTree>
    <p:extLst>
      <p:ext uri="{BB962C8B-B14F-4D97-AF65-F5344CB8AC3E}">
        <p14:creationId xmlns:p14="http://schemas.microsoft.com/office/powerpoint/2010/main" val="299402262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30"/>
            <a:ext cx="12192000" cy="1785045"/>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Types of CRTs</a:t>
            </a:r>
          </a:p>
          <a:p>
            <a:pPr algn="ctr"/>
            <a:r>
              <a:rPr lang="en-US" altLang="en-US" sz="4400" b="1" dirty="0">
                <a:solidFill>
                  <a:schemeClr val="bg1"/>
                </a:solidFill>
              </a:rPr>
              <a:t>COMPLETELY RANDOMIZED CRT</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5" name="TextBox 4">
            <a:extLst>
              <a:ext uri="{FF2B5EF4-FFF2-40B4-BE49-F238E27FC236}">
                <a16:creationId xmlns:a16="http://schemas.microsoft.com/office/drawing/2014/main" id="{BFE84953-A6A7-40A6-8A3B-070D33E84255}"/>
              </a:ext>
            </a:extLst>
          </p:cNvPr>
          <p:cNvSpPr txBox="1"/>
          <p:nvPr/>
        </p:nvSpPr>
        <p:spPr>
          <a:xfrm>
            <a:off x="778477" y="1853161"/>
            <a:ext cx="10441458" cy="4401205"/>
          </a:xfrm>
          <a:prstGeom prst="rect">
            <a:avLst/>
          </a:prstGeom>
          <a:noFill/>
        </p:spPr>
        <p:txBody>
          <a:bodyPr wrap="square">
            <a:spAutoFit/>
          </a:bodyPr>
          <a:lstStyle/>
          <a:p>
            <a:r>
              <a:rPr lang="en-US" altLang="en-US" sz="2800" b="1" dirty="0"/>
              <a:t>Example:</a:t>
            </a:r>
          </a:p>
          <a:p>
            <a:endParaRPr lang="en-US" altLang="en-US" sz="2800" dirty="0"/>
          </a:p>
          <a:p>
            <a:r>
              <a:rPr lang="en-US" altLang="en-US" sz="2800" dirty="0"/>
              <a:t>To evaluate the effectiveness of vitamin A supplements on childhood mortality.</a:t>
            </a:r>
          </a:p>
          <a:p>
            <a:endParaRPr lang="en-US" altLang="en-US" sz="2800" dirty="0"/>
          </a:p>
          <a:p>
            <a:r>
              <a:rPr lang="en-US" altLang="en-US" sz="2800" dirty="0"/>
              <a:t>450 villages in Indonesia were randomly assigned to either participate in a vitamin A supplementation program or serve as a control.  One year mortality rates were compared in the two groups.</a:t>
            </a:r>
          </a:p>
          <a:p>
            <a:endParaRPr lang="en-US" altLang="en-US" sz="2800" dirty="0"/>
          </a:p>
          <a:p>
            <a:pPr algn="r"/>
            <a:r>
              <a:rPr lang="en-US" altLang="en-US" sz="2800" dirty="0"/>
              <a:t>Sommer et al. (1986)</a:t>
            </a:r>
            <a:endParaRPr lang="en-CA" altLang="en-US" sz="2800" dirty="0"/>
          </a:p>
        </p:txBody>
      </p:sp>
      <p:sp>
        <p:nvSpPr>
          <p:cNvPr id="2" name="Footer Placeholder 1">
            <a:extLst>
              <a:ext uri="{FF2B5EF4-FFF2-40B4-BE49-F238E27FC236}">
                <a16:creationId xmlns:a16="http://schemas.microsoft.com/office/drawing/2014/main" id="{2ED39714-B8AD-1D4C-9D0A-938202F76C7F}"/>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7B6B1BE9-F9A3-D390-8E04-3CF715274CE7}"/>
              </a:ext>
            </a:extLst>
          </p:cNvPr>
          <p:cNvSpPr>
            <a:spLocks noGrp="1"/>
          </p:cNvSpPr>
          <p:nvPr>
            <p:ph type="sldNum" sz="quarter" idx="12"/>
          </p:nvPr>
        </p:nvSpPr>
        <p:spPr/>
        <p:txBody>
          <a:bodyPr/>
          <a:lstStyle/>
          <a:p>
            <a:fld id="{77C6A7FE-225D-49F1-B302-AA37EA92BB49}" type="slidenum">
              <a:rPr lang="en-US" smtClean="0"/>
              <a:t>31</a:t>
            </a:fld>
            <a:endParaRPr lang="en-US"/>
          </a:p>
        </p:txBody>
      </p:sp>
    </p:spTree>
    <p:extLst>
      <p:ext uri="{BB962C8B-B14F-4D97-AF65-F5344CB8AC3E}">
        <p14:creationId xmlns:p14="http://schemas.microsoft.com/office/powerpoint/2010/main" val="80856223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i="1" dirty="0"/>
              <a:t>The Importance of Cluster Level Replication</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5" name="TextBox 4">
            <a:extLst>
              <a:ext uri="{FF2B5EF4-FFF2-40B4-BE49-F238E27FC236}">
                <a16:creationId xmlns:a16="http://schemas.microsoft.com/office/drawing/2014/main" id="{C4912394-8B28-4E93-B616-0B9546C0D221}"/>
              </a:ext>
            </a:extLst>
          </p:cNvPr>
          <p:cNvSpPr txBox="1"/>
          <p:nvPr/>
        </p:nvSpPr>
        <p:spPr>
          <a:xfrm>
            <a:off x="677562" y="1611865"/>
            <a:ext cx="10836875" cy="5416868"/>
          </a:xfrm>
          <a:prstGeom prst="rect">
            <a:avLst/>
          </a:prstGeom>
          <a:noFill/>
        </p:spPr>
        <p:txBody>
          <a:bodyPr wrap="square">
            <a:spAutoFit/>
          </a:bodyPr>
          <a:lstStyle/>
          <a:p>
            <a:pPr marL="457200" indent="-457200" eaLnBrk="1" hangingPunct="1">
              <a:spcAft>
                <a:spcPts val="1200"/>
              </a:spcAft>
              <a:buClr>
                <a:schemeClr val="tx1"/>
              </a:buClr>
              <a:buSzTx/>
              <a:buFont typeface="Arial" panose="020B0604020202020204" pitchFamily="34" charset="0"/>
              <a:buChar char="•"/>
            </a:pPr>
            <a:r>
              <a:rPr lang="en-US" altLang="en-US" sz="2680" dirty="0">
                <a:latin typeface="Arial" pitchFamily="34" charset="0"/>
              </a:rPr>
              <a:t>Some investigators have designed community intervention trials in which exactly one cluster has been assigned to each intervention group.</a:t>
            </a:r>
          </a:p>
          <a:p>
            <a:pPr marL="457200" indent="-457200" eaLnBrk="1" hangingPunct="1">
              <a:spcAft>
                <a:spcPts val="1200"/>
              </a:spcAft>
              <a:buClr>
                <a:schemeClr val="tx1"/>
              </a:buClr>
              <a:buSzTx/>
              <a:buFont typeface="Arial" panose="020B0604020202020204" pitchFamily="34" charset="0"/>
              <a:buChar char="•"/>
            </a:pPr>
            <a:r>
              <a:rPr lang="en-US" altLang="en-US" sz="2680" dirty="0">
                <a:latin typeface="Arial" pitchFamily="34" charset="0"/>
              </a:rPr>
              <a:t>Such trials result in interpretational difficulties caused by the confounding of two sources of variation:</a:t>
            </a:r>
          </a:p>
          <a:p>
            <a:pPr marL="914400" lvl="1" indent="-457200">
              <a:spcAft>
                <a:spcPts val="1200"/>
              </a:spcAft>
              <a:buClr>
                <a:schemeClr val="tx1"/>
              </a:buClr>
              <a:buFont typeface="Arial" panose="020B0604020202020204" pitchFamily="34" charset="0"/>
              <a:buChar char="•"/>
            </a:pPr>
            <a:r>
              <a:rPr lang="en-US" altLang="en-US" sz="2680" dirty="0">
                <a:latin typeface="Arial" pitchFamily="34" charset="0"/>
              </a:rPr>
              <a:t>The variation in response due to the effect of intervention, and</a:t>
            </a:r>
          </a:p>
          <a:p>
            <a:pPr marL="914400" lvl="1" indent="-457200">
              <a:spcAft>
                <a:spcPts val="1200"/>
              </a:spcAft>
              <a:buClr>
                <a:schemeClr val="tx1"/>
              </a:buClr>
              <a:buFont typeface="Arial" panose="020B0604020202020204" pitchFamily="34" charset="0"/>
              <a:buChar char="•"/>
            </a:pPr>
            <a:r>
              <a:rPr lang="en-US" altLang="en-US" sz="2680" dirty="0">
                <a:latin typeface="Arial" pitchFamily="34" charset="0"/>
              </a:rPr>
              <a:t>The natural variation that exists between the two communities (clusters) even in the absence of an intervention effect. </a:t>
            </a:r>
          </a:p>
          <a:p>
            <a:pPr marL="914400" lvl="1" indent="-457200">
              <a:spcAft>
                <a:spcPts val="1200"/>
              </a:spcAft>
              <a:buClr>
                <a:schemeClr val="tx1"/>
              </a:buClr>
              <a:buFont typeface="Arial" panose="020B0604020202020204" pitchFamily="34" charset="0"/>
              <a:buChar char="•"/>
            </a:pPr>
            <a:r>
              <a:rPr lang="en-US" altLang="en-US" sz="2680" dirty="0">
                <a:latin typeface="Arial" pitchFamily="34" charset="0"/>
              </a:rPr>
              <a:t>If treatment heterogeneity is suspected, the parameters are not estimable</a:t>
            </a:r>
          </a:p>
          <a:p>
            <a:pPr marL="914400" lvl="1" indent="-457200">
              <a:spcAft>
                <a:spcPts val="1200"/>
              </a:spcAft>
              <a:buClr>
                <a:schemeClr val="tx1"/>
              </a:buClr>
              <a:buFont typeface="Arial" panose="020B0604020202020204" pitchFamily="34" charset="0"/>
              <a:buChar char="•"/>
            </a:pPr>
            <a:endParaRPr lang="en-US" altLang="en-US" sz="2800" dirty="0">
              <a:latin typeface="Arial" pitchFamily="34" charset="0"/>
            </a:endParaRPr>
          </a:p>
        </p:txBody>
      </p:sp>
      <p:sp>
        <p:nvSpPr>
          <p:cNvPr id="2" name="Footer Placeholder 1">
            <a:extLst>
              <a:ext uri="{FF2B5EF4-FFF2-40B4-BE49-F238E27FC236}">
                <a16:creationId xmlns:a16="http://schemas.microsoft.com/office/drawing/2014/main" id="{40AB9BA0-49D7-6049-8AE5-850528673D56}"/>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C3F4E53B-740F-9648-7991-F175E482D68B}"/>
              </a:ext>
            </a:extLst>
          </p:cNvPr>
          <p:cNvSpPr>
            <a:spLocks noGrp="1"/>
          </p:cNvSpPr>
          <p:nvPr>
            <p:ph type="sldNum" sz="quarter" idx="12"/>
          </p:nvPr>
        </p:nvSpPr>
        <p:spPr/>
        <p:txBody>
          <a:bodyPr/>
          <a:lstStyle/>
          <a:p>
            <a:fld id="{77C6A7FE-225D-49F1-B302-AA37EA92BB49}" type="slidenum">
              <a:rPr lang="en-US" smtClean="0"/>
              <a:t>32</a:t>
            </a:fld>
            <a:endParaRPr lang="en-US"/>
          </a:p>
        </p:txBody>
      </p:sp>
    </p:spTree>
    <p:extLst>
      <p:ext uri="{BB962C8B-B14F-4D97-AF65-F5344CB8AC3E}">
        <p14:creationId xmlns:p14="http://schemas.microsoft.com/office/powerpoint/2010/main" val="187929728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698548"/>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latin typeface="Arial" panose="020B0604020202020204" pitchFamily="34" charset="0"/>
                <a:cs typeface="Arial" panose="020B0604020202020204" pitchFamily="34" charset="0"/>
              </a:rPr>
              <a:t>Sample Size Requirements for Completely Randomized Designs</a:t>
            </a:r>
            <a:endParaRPr lang="en-US" sz="2800" dirty="0">
              <a:solidFill>
                <a:schemeClr val="bg1"/>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B100C2D-C5F5-44E7-9875-8478622F016D}"/>
                  </a:ext>
                </a:extLst>
              </p:cNvPr>
              <p:cNvSpPr txBox="1"/>
              <p:nvPr/>
            </p:nvSpPr>
            <p:spPr>
              <a:xfrm>
                <a:off x="531341" y="2151384"/>
                <a:ext cx="10935729" cy="3539430"/>
              </a:xfrm>
              <a:prstGeom prst="rect">
                <a:avLst/>
              </a:prstGeom>
              <a:noFill/>
            </p:spPr>
            <p:txBody>
              <a:bodyPr wrap="square">
                <a:spAutoFit/>
              </a:bodyPr>
              <a:lstStyle/>
              <a:p>
                <a:pPr eaLnBrk="1" hangingPunct="1"/>
                <a:r>
                  <a:rPr lang="en-US" altLang="en-US" sz="3200" i="1" dirty="0">
                    <a:latin typeface="Times New Roman" pitchFamily="18" charset="0"/>
                  </a:rPr>
                  <a:t>Comparison of Means</a:t>
                </a:r>
              </a:p>
              <a:p>
                <a:pPr eaLnBrk="1" hangingPunct="1"/>
                <a:endParaRPr lang="en-US" altLang="en-US" sz="3200" i="1" dirty="0">
                  <a:latin typeface="Times New Roman" pitchFamily="18" charset="0"/>
                </a:endParaRPr>
              </a:p>
              <a:p>
                <a:r>
                  <a:rPr lang="en-US" altLang="en-US" sz="3200" dirty="0"/>
                  <a:t>Suppose  </a:t>
                </a:r>
                <a14:m>
                  <m:oMath xmlns:m="http://schemas.openxmlformats.org/officeDocument/2006/math">
                    <m:r>
                      <a:rPr lang="en-US" sz="3200" b="0" i="1" smtClean="0">
                        <a:solidFill>
                          <a:schemeClr val="tx1"/>
                        </a:solidFill>
                        <a:latin typeface="Cambria Math" panose="02040503050406030204" pitchFamily="18" charset="0"/>
                      </a:rPr>
                      <m:t>𝐾</m:t>
                    </m:r>
                  </m:oMath>
                </a14:m>
                <a:r>
                  <a:rPr lang="en-US" altLang="en-US" sz="3200" dirty="0"/>
                  <a:t> clusters of size </a:t>
                </a:r>
                <a14:m>
                  <m:oMath xmlns:m="http://schemas.openxmlformats.org/officeDocument/2006/math">
                    <m:r>
                      <a:rPr lang="en-US" sz="3200" i="1">
                        <a:solidFill>
                          <a:srgbClr val="000000"/>
                        </a:solidFill>
                        <a:latin typeface="Cambria Math" panose="02040503050406030204" pitchFamily="18" charset="0"/>
                      </a:rPr>
                      <m:t>𝑚</m:t>
                    </m:r>
                  </m:oMath>
                </a14:m>
                <a:r>
                  <a:rPr lang="en-US" altLang="en-US" sz="3200" dirty="0"/>
                  <a:t> are to be assigned to each of two intervention groups.  </a:t>
                </a:r>
              </a:p>
              <a:p>
                <a:pPr eaLnBrk="1" hangingPunct="1"/>
                <a:endParaRPr lang="en-US" altLang="en-US" sz="3200" dirty="0"/>
              </a:p>
              <a:p>
                <a:pPr eaLnBrk="1" hangingPunct="1"/>
                <a:r>
                  <a:rPr lang="en-US" altLang="en-US" sz="3200" dirty="0"/>
                  <a:t>We wish to determine the size of trial needed to test </a:t>
                </a:r>
              </a:p>
              <a:p>
                <a:pPr/>
                <a14:m>
                  <m:oMathPara xmlns:m="http://schemas.openxmlformats.org/officeDocument/2006/math">
                    <m:oMathParaPr>
                      <m:jc m:val="centerGroup"/>
                    </m:oMathParaPr>
                    <m:oMath xmlns:m="http://schemas.openxmlformats.org/officeDocument/2006/math">
                      <m:sSub>
                        <m:sSubPr>
                          <m:ctrlPr>
                            <a:rPr lang="en-US" sz="3200" i="1" smtClean="0">
                              <a:solidFill>
                                <a:srgbClr val="000000"/>
                              </a:solidFill>
                              <a:latin typeface="Cambria Math" panose="02040503050406030204" pitchFamily="18" charset="0"/>
                            </a:rPr>
                          </m:ctrlPr>
                        </m:sSubPr>
                        <m:e>
                          <m:r>
                            <m:rPr>
                              <m:sty m:val="p"/>
                            </m:rPr>
                            <a:rPr lang="en-US" sz="3200" i="1">
                              <a:solidFill>
                                <a:srgbClr val="000000"/>
                              </a:solidFill>
                              <a:latin typeface="Cambria Math" panose="02040503050406030204" pitchFamily="18" charset="0"/>
                            </a:rPr>
                            <m:t>Η</m:t>
                          </m:r>
                        </m:e>
                        <m:sub>
                          <m:r>
                            <a:rPr lang="en-US" sz="3200" i="1">
                              <a:solidFill>
                                <a:srgbClr val="000000"/>
                              </a:solidFill>
                              <a:latin typeface="Cambria Math" panose="02040503050406030204" pitchFamily="18" charset="0"/>
                            </a:rPr>
                            <m:t>0</m:t>
                          </m:r>
                        </m:sub>
                      </m:sSub>
                      <m:r>
                        <a:rPr lang="en-US" sz="3200" i="1">
                          <a:solidFill>
                            <a:srgbClr val="000000"/>
                          </a:solidFill>
                          <a:latin typeface="Cambria Math" panose="02040503050406030204" pitchFamily="18" charset="0"/>
                        </a:rPr>
                        <m:t>:</m:t>
                      </m:r>
                      <m:r>
                        <a:rPr lang="en-US" sz="3200" b="0" i="1" smtClean="0">
                          <a:solidFill>
                            <a:srgbClr val="000000"/>
                          </a:solidFill>
                          <a:latin typeface="Cambria Math" panose="02040503050406030204" pitchFamily="18" charset="0"/>
                        </a:rPr>
                        <m:t> </m:t>
                      </m:r>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𝜇</m:t>
                          </m:r>
                        </m:e>
                        <m:sub>
                          <m:r>
                            <a:rPr lang="en-US" sz="3200" i="1">
                              <a:solidFill>
                                <a:srgbClr val="000000"/>
                              </a:solidFill>
                              <a:latin typeface="Cambria Math" panose="02040503050406030204" pitchFamily="18" charset="0"/>
                            </a:rPr>
                            <m:t>1</m:t>
                          </m:r>
                        </m:sub>
                      </m:sSub>
                      <m:r>
                        <a:rPr lang="en-US" sz="3200" i="1">
                          <a:solidFill>
                            <a:srgbClr val="000000"/>
                          </a:solidFill>
                          <a:latin typeface="Cambria Math" panose="02040503050406030204" pitchFamily="18" charset="0"/>
                        </a:rPr>
                        <m:t>=</m:t>
                      </m:r>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𝜇</m:t>
                          </m:r>
                        </m:e>
                        <m:sub>
                          <m:r>
                            <a:rPr lang="en-US" sz="3200" i="1">
                              <a:solidFill>
                                <a:srgbClr val="000000"/>
                              </a:solidFill>
                              <a:latin typeface="Cambria Math" panose="02040503050406030204" pitchFamily="18" charset="0"/>
                            </a:rPr>
                            <m:t>2</m:t>
                          </m:r>
                        </m:sub>
                      </m:sSub>
                      <m:r>
                        <a:rPr lang="en-US" sz="3200" i="1">
                          <a:solidFill>
                            <a:srgbClr val="000000"/>
                          </a:solidFill>
                          <a:latin typeface="Cambria Math" panose="02040503050406030204" pitchFamily="18" charset="0"/>
                        </a:rPr>
                        <m:t>.</m:t>
                      </m:r>
                    </m:oMath>
                  </m:oMathPara>
                </a14:m>
                <a:endParaRPr lang="en-US" sz="3200" dirty="0"/>
              </a:p>
            </p:txBody>
          </p:sp>
        </mc:Choice>
        <mc:Fallback xmlns="">
          <p:sp>
            <p:nvSpPr>
              <p:cNvPr id="5" name="TextBox 4">
                <a:extLst>
                  <a:ext uri="{FF2B5EF4-FFF2-40B4-BE49-F238E27FC236}">
                    <a16:creationId xmlns:a16="http://schemas.microsoft.com/office/drawing/2014/main" id="{EB100C2D-C5F5-44E7-9875-8478622F016D}"/>
                  </a:ext>
                </a:extLst>
              </p:cNvPr>
              <p:cNvSpPr txBox="1">
                <a:spLocks noRot="1" noChangeAspect="1" noMove="1" noResize="1" noEditPoints="1" noAdjustHandles="1" noChangeArrowheads="1" noChangeShapeType="1" noTextEdit="1"/>
              </p:cNvSpPr>
              <p:nvPr/>
            </p:nvSpPr>
            <p:spPr>
              <a:xfrm>
                <a:off x="531341" y="2151384"/>
                <a:ext cx="10935729" cy="3539430"/>
              </a:xfrm>
              <a:prstGeom prst="rect">
                <a:avLst/>
              </a:prstGeom>
              <a:blipFill>
                <a:blip r:embed="rId4"/>
                <a:stretch>
                  <a:fillRect l="-1394" t="-2410"/>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1BB8C1FD-C600-1E45-865F-BCB4F0A66237}"/>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B7025C60-B304-BE90-346B-E8DBE6A713D0}"/>
              </a:ext>
            </a:extLst>
          </p:cNvPr>
          <p:cNvSpPr>
            <a:spLocks noGrp="1"/>
          </p:cNvSpPr>
          <p:nvPr>
            <p:ph type="sldNum" sz="quarter" idx="12"/>
          </p:nvPr>
        </p:nvSpPr>
        <p:spPr/>
        <p:txBody>
          <a:bodyPr/>
          <a:lstStyle/>
          <a:p>
            <a:fld id="{77C6A7FE-225D-49F1-B302-AA37EA92BB49}" type="slidenum">
              <a:rPr lang="en-US" smtClean="0"/>
              <a:t>33</a:t>
            </a:fld>
            <a:endParaRPr lang="en-US"/>
          </a:p>
        </p:txBody>
      </p:sp>
    </p:spTree>
    <p:extLst>
      <p:ext uri="{BB962C8B-B14F-4D97-AF65-F5344CB8AC3E}">
        <p14:creationId xmlns:p14="http://schemas.microsoft.com/office/powerpoint/2010/main" val="2781314564"/>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3549310-25AE-42A8-911A-336D23532843}"/>
                  </a:ext>
                </a:extLst>
              </p:cNvPr>
              <p:cNvSpPr txBox="1"/>
              <p:nvPr/>
            </p:nvSpPr>
            <p:spPr>
              <a:xfrm>
                <a:off x="10510" y="207034"/>
                <a:ext cx="12192000" cy="7066999"/>
              </a:xfrm>
              <a:prstGeom prst="rect">
                <a:avLst/>
              </a:prstGeom>
              <a:noFill/>
            </p:spPr>
            <p:txBody>
              <a:bodyPr wrap="square" rtlCol="0">
                <a:spAutoFit/>
              </a:bodyPr>
              <a:lstStyle/>
              <a:p>
                <a:r>
                  <a:rPr lang="en-US" sz="2800" dirty="0"/>
                  <a:t>The number of participants for fixed power (1- </a:t>
                </a:r>
                <a14:m>
                  <m:oMath xmlns:m="http://schemas.openxmlformats.org/officeDocument/2006/math">
                    <m:r>
                      <a:rPr lang="en-US" sz="2800" i="1">
                        <a:latin typeface="Cambria Math" panose="02040503050406030204" pitchFamily="18" charset="0"/>
                      </a:rPr>
                      <m:t>𝛽</m:t>
                    </m:r>
                  </m:oMath>
                </a14:m>
                <a:r>
                  <a:rPr lang="en-US" sz="2800" dirty="0"/>
                  <a:t>) is given by adjusting the denominator of the non-centrality parameter for the sample size </a:t>
                </a:r>
                <a:r>
                  <a:rPr lang="en-US" sz="2800" b="1" dirty="0"/>
                  <a:t>per group </a:t>
                </a:r>
                <a:r>
                  <a:rPr lang="en-US" sz="2800" dirty="0"/>
                  <a:t>by the IF. </a:t>
                </a:r>
              </a:p>
              <a:p>
                <a:endParaRPr lang="en-US" sz="2800" dirty="0"/>
              </a:p>
              <a:p>
                <a:pPr algn="ctr"/>
                <a14:m>
                  <m:oMathPara xmlns:m="http://schemas.openxmlformats.org/officeDocument/2006/math">
                    <m:oMathParaPr>
                      <m:jc m:val="centerGroup"/>
                    </m:oMathParaPr>
                    <m:oMath xmlns:m="http://schemas.openxmlformats.org/officeDocument/2006/math">
                      <m:sSub>
                        <m:sSubPr>
                          <m:ctrlPr>
                            <a:rPr lang="en-US" altLang="en-US" sz="2800" b="0" i="1" smtClean="0">
                              <a:latin typeface="Cambria Math" panose="02040503050406030204" pitchFamily="18" charset="0"/>
                            </a:rPr>
                          </m:ctrlPr>
                        </m:sSubPr>
                        <m:e>
                          <m:r>
                            <a:rPr lang="en-US" altLang="en-US" sz="2800" b="0" i="1" smtClean="0">
                              <a:latin typeface="Cambria Math" panose="02040503050406030204" pitchFamily="18" charset="0"/>
                            </a:rPr>
                            <m:t>𝑛</m:t>
                          </m:r>
                        </m:e>
                        <m:sub>
                          <m:r>
                            <a:rPr lang="en-US" altLang="en-US" sz="2800" b="0" i="1" smtClean="0">
                              <a:latin typeface="Cambria Math" panose="02040503050406030204" pitchFamily="18" charset="0"/>
                            </a:rPr>
                            <m:t>𝑖</m:t>
                          </m:r>
                        </m:sub>
                      </m:sSub>
                      <m:r>
                        <a:rPr lang="en-US" altLang="en-US" sz="2800" b="0" i="1" smtClean="0">
                          <a:latin typeface="Cambria Math" panose="02040503050406030204" pitchFamily="18" charset="0"/>
                        </a:rPr>
                        <m:t>=</m:t>
                      </m:r>
                      <m:r>
                        <a:rPr lang="en-US" altLang="en-US" sz="2800" b="0" i="1" smtClean="0">
                          <a:latin typeface="Cambria Math" panose="02040503050406030204" pitchFamily="18" charset="0"/>
                        </a:rPr>
                        <m:t>𝑚𝐾</m:t>
                      </m:r>
                      <m:r>
                        <a:rPr lang="en-US" altLang="en-US" sz="2800" i="1">
                          <a:latin typeface="Cambria Math" panose="02040503050406030204" pitchFamily="18" charset="0"/>
                        </a:rPr>
                        <m:t> </m:t>
                      </m:r>
                      <m:r>
                        <a:rPr lang="en-US" sz="2800" i="1" smtClean="0">
                          <a:solidFill>
                            <a:schemeClr val="tx1"/>
                          </a:solidFill>
                          <a:latin typeface="Cambria Math" panose="02040503050406030204" pitchFamily="18" charset="0"/>
                        </a:rPr>
                        <m:t>=</m:t>
                      </m:r>
                      <m:f>
                        <m:fPr>
                          <m:ctrlPr>
                            <a:rPr lang="en-US" sz="2800" i="1">
                              <a:solidFill>
                                <a:schemeClr val="tx1"/>
                              </a:solidFill>
                              <a:latin typeface="Cambria Math" panose="02040503050406030204" pitchFamily="18" charset="0"/>
                            </a:rPr>
                          </m:ctrlPr>
                        </m:fPr>
                        <m:num>
                          <m:sSup>
                            <m:sSupPr>
                              <m:ctrlPr>
                                <a:rPr lang="en-US" sz="2800" i="1">
                                  <a:solidFill>
                                    <a:schemeClr val="tx1"/>
                                  </a:solidFill>
                                  <a:latin typeface="Cambria Math" panose="02040503050406030204" pitchFamily="18" charset="0"/>
                                </a:rPr>
                              </m:ctrlPr>
                            </m:sSupPr>
                            <m:e>
                              <m:d>
                                <m:dPr>
                                  <m:ctrlPr>
                                    <a:rPr lang="en-US" sz="2800" i="1">
                                      <a:solidFill>
                                        <a:schemeClr val="tx1"/>
                                      </a:solidFill>
                                      <a:latin typeface="Cambria Math" panose="02040503050406030204" pitchFamily="18" charset="0"/>
                                    </a:rPr>
                                  </m:ctrlPr>
                                </m:dPr>
                                <m:e>
                                  <m:sSub>
                                    <m:sSubPr>
                                      <m:ctrlPr>
                                        <a:rPr lang="en-US" sz="2800" i="1">
                                          <a:solidFill>
                                            <a:schemeClr val="tx1"/>
                                          </a:solidFill>
                                          <a:latin typeface="Cambria Math" panose="02040503050406030204" pitchFamily="18" charset="0"/>
                                        </a:rPr>
                                      </m:ctrlPr>
                                    </m:sSubPr>
                                    <m:e>
                                      <m:r>
                                        <m:rPr>
                                          <m:sty m:val="p"/>
                                        </m:rPr>
                                        <a:rPr lang="en-US" sz="2800" i="1">
                                          <a:solidFill>
                                            <a:schemeClr val="tx1"/>
                                          </a:solidFill>
                                          <a:latin typeface="Cambria Math" panose="02040503050406030204" pitchFamily="18" charset="0"/>
                                        </a:rPr>
                                        <m:t>Ζ</m:t>
                                      </m:r>
                                    </m:e>
                                    <m:sub>
                                      <m:r>
                                        <a:rPr lang="en-US" sz="2800" i="1">
                                          <a:solidFill>
                                            <a:schemeClr val="tx1"/>
                                          </a:solidFill>
                                          <a:latin typeface="Cambria Math" panose="02040503050406030204" pitchFamily="18" charset="0"/>
                                        </a:rPr>
                                        <m:t>𝛼</m:t>
                                      </m:r>
                                      <m:r>
                                        <a:rPr lang="en-US" sz="2800" i="1">
                                          <a:solidFill>
                                            <a:schemeClr val="tx1"/>
                                          </a:solidFill>
                                          <a:latin typeface="Cambria Math" panose="02040503050406030204" pitchFamily="18" charset="0"/>
                                        </a:rPr>
                                        <m:t>/2</m:t>
                                      </m:r>
                                    </m:sub>
                                  </m:sSub>
                                  <m:r>
                                    <a:rPr lang="en-US" sz="280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r>
                                        <m:rPr>
                                          <m:sty m:val="p"/>
                                        </m:rPr>
                                        <a:rPr lang="en-US" sz="2800" i="1">
                                          <a:solidFill>
                                            <a:schemeClr val="tx1"/>
                                          </a:solidFill>
                                          <a:latin typeface="Cambria Math" panose="02040503050406030204" pitchFamily="18" charset="0"/>
                                        </a:rPr>
                                        <m:t>Ζ</m:t>
                                      </m:r>
                                    </m:e>
                                    <m:sub>
                                      <m:r>
                                        <a:rPr lang="en-US" sz="2800" i="1">
                                          <a:solidFill>
                                            <a:schemeClr val="tx1"/>
                                          </a:solidFill>
                                          <a:latin typeface="Cambria Math" panose="02040503050406030204" pitchFamily="18" charset="0"/>
                                        </a:rPr>
                                        <m:t>𝛽</m:t>
                                      </m:r>
                                    </m:sub>
                                  </m:sSub>
                                </m:e>
                              </m:d>
                            </m:e>
                            <m:sup>
                              <m:r>
                                <a:rPr lang="en-US" sz="2800" i="1">
                                  <a:solidFill>
                                    <a:schemeClr val="tx1"/>
                                  </a:solidFill>
                                  <a:latin typeface="Cambria Math" panose="02040503050406030204" pitchFamily="18" charset="0"/>
                                </a:rPr>
                                <m:t>2</m:t>
                              </m:r>
                            </m:sup>
                          </m:sSup>
                          <m:d>
                            <m:dPr>
                              <m:ctrlPr>
                                <a:rPr lang="en-US" sz="2800" i="1">
                                  <a:solidFill>
                                    <a:schemeClr val="tx1"/>
                                  </a:solidFill>
                                  <a:latin typeface="Cambria Math" panose="02040503050406030204" pitchFamily="18" charset="0"/>
                                </a:rPr>
                              </m:ctrlPr>
                            </m:dPr>
                            <m:e>
                              <m:r>
                                <a:rPr lang="en-US" sz="2800" i="1">
                                  <a:solidFill>
                                    <a:schemeClr val="tx1"/>
                                  </a:solidFill>
                                  <a:latin typeface="Cambria Math" panose="02040503050406030204" pitchFamily="18" charset="0"/>
                                </a:rPr>
                                <m:t>2</m:t>
                              </m:r>
                              <m:sSup>
                                <m:sSupPr>
                                  <m:ctrlPr>
                                    <a:rPr lang="en-US" sz="2800" i="1">
                                      <a:solidFill>
                                        <a:schemeClr val="tx1"/>
                                      </a:solidFill>
                                      <a:latin typeface="Cambria Math" panose="02040503050406030204" pitchFamily="18" charset="0"/>
                                    </a:rPr>
                                  </m:ctrlPr>
                                </m:sSupPr>
                                <m:e>
                                  <m:r>
                                    <a:rPr lang="en-US" sz="2800" i="1">
                                      <a:solidFill>
                                        <a:schemeClr val="tx1"/>
                                      </a:solidFill>
                                      <a:latin typeface="Cambria Math" panose="02040503050406030204" pitchFamily="18" charset="0"/>
                                    </a:rPr>
                                    <m:t>𝜎</m:t>
                                  </m:r>
                                </m:e>
                                <m:sup>
                                  <m:r>
                                    <a:rPr lang="en-US" sz="2800" i="1">
                                      <a:solidFill>
                                        <a:schemeClr val="tx1"/>
                                      </a:solidFill>
                                      <a:latin typeface="Cambria Math" panose="02040503050406030204" pitchFamily="18" charset="0"/>
                                    </a:rPr>
                                    <m:t>2</m:t>
                                  </m:r>
                                </m:sup>
                              </m:sSup>
                            </m:e>
                          </m:d>
                          <m:d>
                            <m:dPr>
                              <m:begChr m:val="["/>
                              <m:endChr m:val="]"/>
                              <m:ctrlPr>
                                <a:rPr lang="en-US" sz="2800" i="1">
                                  <a:solidFill>
                                    <a:schemeClr val="tx1"/>
                                  </a:solidFill>
                                  <a:highlight>
                                    <a:srgbClr val="FFFF00"/>
                                  </a:highlight>
                                  <a:latin typeface="Cambria Math" panose="02040503050406030204" pitchFamily="18" charset="0"/>
                                </a:rPr>
                              </m:ctrlPr>
                            </m:dPr>
                            <m:e>
                              <m:r>
                                <a:rPr lang="en-US" sz="2800" i="1">
                                  <a:solidFill>
                                    <a:schemeClr val="tx1"/>
                                  </a:solidFill>
                                  <a:highlight>
                                    <a:srgbClr val="FFFF00"/>
                                  </a:highlight>
                                  <a:latin typeface="Cambria Math" panose="02040503050406030204" pitchFamily="18" charset="0"/>
                                </a:rPr>
                                <m:t>1+</m:t>
                              </m:r>
                              <m:d>
                                <m:dPr>
                                  <m:ctrlPr>
                                    <a:rPr lang="en-US" sz="2800" i="1">
                                      <a:solidFill>
                                        <a:schemeClr val="tx1"/>
                                      </a:solidFill>
                                      <a:highlight>
                                        <a:srgbClr val="FFFF00"/>
                                      </a:highlight>
                                      <a:latin typeface="Cambria Math" panose="02040503050406030204" pitchFamily="18" charset="0"/>
                                    </a:rPr>
                                  </m:ctrlPr>
                                </m:dPr>
                                <m:e>
                                  <m:r>
                                    <a:rPr lang="en-US" sz="2800" i="1">
                                      <a:solidFill>
                                        <a:schemeClr val="tx1"/>
                                      </a:solidFill>
                                      <a:highlight>
                                        <a:srgbClr val="FFFF00"/>
                                      </a:highlight>
                                      <a:latin typeface="Cambria Math" panose="02040503050406030204" pitchFamily="18" charset="0"/>
                                    </a:rPr>
                                    <m:t>𝑚</m:t>
                                  </m:r>
                                  <m:r>
                                    <a:rPr lang="en-US" sz="2800" i="1">
                                      <a:solidFill>
                                        <a:schemeClr val="tx1"/>
                                      </a:solidFill>
                                      <a:highlight>
                                        <a:srgbClr val="FFFF00"/>
                                      </a:highlight>
                                      <a:latin typeface="Cambria Math" panose="02040503050406030204" pitchFamily="18" charset="0"/>
                                    </a:rPr>
                                    <m:t>−1</m:t>
                                  </m:r>
                                </m:e>
                              </m:d>
                              <m:r>
                                <a:rPr lang="en-US" sz="2800" i="1">
                                  <a:solidFill>
                                    <a:schemeClr val="tx1"/>
                                  </a:solidFill>
                                  <a:highlight>
                                    <a:srgbClr val="FFFF00"/>
                                  </a:highlight>
                                  <a:latin typeface="Cambria Math" panose="02040503050406030204" pitchFamily="18" charset="0"/>
                                </a:rPr>
                                <m:t>𝜌</m:t>
                              </m:r>
                            </m:e>
                          </m:d>
                        </m:num>
                        <m:den>
                          <m:sSup>
                            <m:sSupPr>
                              <m:ctrlPr>
                                <a:rPr lang="en-US" sz="2800" i="1">
                                  <a:solidFill>
                                    <a:schemeClr val="tx1"/>
                                  </a:solidFill>
                                  <a:latin typeface="Cambria Math" panose="02040503050406030204" pitchFamily="18" charset="0"/>
                                </a:rPr>
                              </m:ctrlPr>
                            </m:sSupPr>
                            <m:e>
                              <m:d>
                                <m:dPr>
                                  <m:ctrlPr>
                                    <a:rPr lang="en-US" sz="2800" i="1">
                                      <a:solidFill>
                                        <a:schemeClr val="tx1"/>
                                      </a:solidFill>
                                      <a:latin typeface="Cambria Math" panose="02040503050406030204" pitchFamily="18" charset="0"/>
                                    </a:rPr>
                                  </m:ctrlPr>
                                </m:dPr>
                                <m:e>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𝜇</m:t>
                                      </m:r>
                                    </m:e>
                                    <m:sub>
                                      <m:r>
                                        <a:rPr lang="en-US" sz="2800" b="0" i="1" smtClean="0">
                                          <a:solidFill>
                                            <a:schemeClr val="tx1"/>
                                          </a:solidFill>
                                          <a:latin typeface="Cambria Math" panose="02040503050406030204" pitchFamily="18" charset="0"/>
                                        </a:rPr>
                                        <m:t>1</m:t>
                                      </m:r>
                                    </m:sub>
                                  </m:sSub>
                                  <m:r>
                                    <a:rPr lang="en-US" sz="280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𝜇</m:t>
                                      </m:r>
                                    </m:e>
                                    <m:sub>
                                      <m:r>
                                        <a:rPr lang="en-US" sz="2800" i="1">
                                          <a:solidFill>
                                            <a:schemeClr val="tx1"/>
                                          </a:solidFill>
                                          <a:latin typeface="Cambria Math" panose="02040503050406030204" pitchFamily="18" charset="0"/>
                                        </a:rPr>
                                        <m:t>2</m:t>
                                      </m:r>
                                    </m:sub>
                                  </m:sSub>
                                </m:e>
                              </m:d>
                            </m:e>
                            <m:sup>
                              <m:r>
                                <a:rPr lang="en-US" sz="2800" i="1">
                                  <a:solidFill>
                                    <a:schemeClr val="tx1"/>
                                  </a:solidFill>
                                  <a:latin typeface="Cambria Math" panose="02040503050406030204" pitchFamily="18" charset="0"/>
                                </a:rPr>
                                <m:t>2</m:t>
                              </m:r>
                            </m:sup>
                          </m:sSup>
                        </m:den>
                      </m:f>
                      <m:r>
                        <a:rPr lang="en-US" sz="2800" b="0" i="1" smtClean="0">
                          <a:solidFill>
                            <a:schemeClr val="tx1"/>
                          </a:solidFill>
                          <a:latin typeface="Cambria Math" panose="02040503050406030204" pitchFamily="18" charset="0"/>
                        </a:rPr>
                        <m:t>,  </m:t>
                      </m:r>
                      <m:r>
                        <a:rPr lang="en-US" sz="2800" b="0" i="1" smtClean="0">
                          <a:solidFill>
                            <a:schemeClr val="tx1"/>
                          </a:solidFill>
                          <a:latin typeface="Cambria Math" panose="02040503050406030204" pitchFamily="18" charset="0"/>
                        </a:rPr>
                        <m:t>𝑖</m:t>
                      </m:r>
                      <m:r>
                        <a:rPr lang="en-US" sz="2800" b="0" i="1" smtClean="0">
                          <a:solidFill>
                            <a:schemeClr val="tx1"/>
                          </a:solidFill>
                          <a:latin typeface="Cambria Math" panose="02040503050406030204" pitchFamily="18" charset="0"/>
                        </a:rPr>
                        <m:t>=1,2 </m:t>
                      </m:r>
                    </m:oMath>
                  </m:oMathPara>
                </a14:m>
                <a:endParaRPr lang="en-US" sz="2800" dirty="0">
                  <a:solidFill>
                    <a:schemeClr val="tx1"/>
                  </a:solidFill>
                </a:endParaRPr>
              </a:p>
              <a:p>
                <a:pPr algn="ctr"/>
                <a:endParaRPr lang="en-US" sz="2800" dirty="0">
                  <a:solidFill>
                    <a:schemeClr val="tx1"/>
                  </a:solidFill>
                </a:endParaRPr>
              </a:p>
              <a:p>
                <a:r>
                  <a:rPr lang="en-US" sz="2800" dirty="0"/>
                  <a:t>where </a:t>
                </a:r>
                <a14:m>
                  <m:oMath xmlns:m="http://schemas.openxmlformats.org/officeDocument/2006/math">
                    <m:sSup>
                      <m:sSupPr>
                        <m:ctrlPr>
                          <a:rPr lang="en-US" sz="2800" i="1" smtClean="0">
                            <a:solidFill>
                              <a:schemeClr val="tx1"/>
                            </a:solidFill>
                            <a:latin typeface="Cambria Math" panose="02040503050406030204" pitchFamily="18" charset="0"/>
                          </a:rPr>
                        </m:ctrlPr>
                      </m:sSupPr>
                      <m:e>
                        <m:r>
                          <a:rPr lang="en-US" sz="2800" i="1">
                            <a:solidFill>
                              <a:schemeClr val="tx1"/>
                            </a:solidFill>
                            <a:latin typeface="Cambria Math" panose="02040503050406030204" pitchFamily="18" charset="0"/>
                          </a:rPr>
                          <m:t>𝜎</m:t>
                        </m:r>
                      </m:e>
                      <m:sup>
                        <m:r>
                          <a:rPr lang="en-US" sz="2800" i="1">
                            <a:solidFill>
                              <a:schemeClr val="tx1"/>
                            </a:solidFill>
                            <a:latin typeface="Cambria Math" panose="02040503050406030204" pitchFamily="18" charset="0"/>
                          </a:rPr>
                          <m:t>2</m:t>
                        </m:r>
                      </m:sup>
                    </m:sSup>
                    <m:r>
                      <a:rPr lang="en-US" sz="2800" i="1">
                        <a:solidFill>
                          <a:schemeClr val="tx1"/>
                        </a:solidFill>
                        <a:latin typeface="Cambria Math" panose="02040503050406030204" pitchFamily="18" charset="0"/>
                      </a:rPr>
                      <m:t> = </m:t>
                    </m:r>
                    <m:sSubSup>
                      <m:sSubSupPr>
                        <m:ctrlPr>
                          <a:rPr lang="en-US" sz="2800" i="1">
                            <a:solidFill>
                              <a:schemeClr val="tx1"/>
                            </a:solidFill>
                            <a:latin typeface="Cambria Math" panose="02040503050406030204" pitchFamily="18" charset="0"/>
                          </a:rPr>
                        </m:ctrlPr>
                      </m:sSubSupPr>
                      <m:e>
                        <m:r>
                          <a:rPr lang="en-US" sz="2800" i="1">
                            <a:solidFill>
                              <a:schemeClr val="tx1"/>
                            </a:solidFill>
                            <a:latin typeface="Cambria Math" panose="02040503050406030204" pitchFamily="18" charset="0"/>
                          </a:rPr>
                          <m:t>𝜎</m:t>
                        </m:r>
                      </m:e>
                      <m:sub>
                        <m:r>
                          <a:rPr lang="en-US" sz="2800" i="1">
                            <a:solidFill>
                              <a:schemeClr val="tx1"/>
                            </a:solidFill>
                            <a:latin typeface="Cambria Math" panose="02040503050406030204" pitchFamily="18" charset="0"/>
                          </a:rPr>
                          <m:t>𝐵</m:t>
                        </m:r>
                      </m:sub>
                      <m:sup>
                        <m:r>
                          <a:rPr lang="en-US" sz="2800" i="1">
                            <a:solidFill>
                              <a:schemeClr val="tx1"/>
                            </a:solidFill>
                            <a:latin typeface="Cambria Math" panose="02040503050406030204" pitchFamily="18" charset="0"/>
                          </a:rPr>
                          <m:t>2</m:t>
                        </m:r>
                      </m:sup>
                    </m:sSubSup>
                    <m:r>
                      <a:rPr lang="en-US" sz="2800" i="1">
                        <a:solidFill>
                          <a:schemeClr val="tx1"/>
                        </a:solidFill>
                        <a:latin typeface="Cambria Math" panose="02040503050406030204" pitchFamily="18" charset="0"/>
                      </a:rPr>
                      <m:t>+</m:t>
                    </m:r>
                    <m:sSubSup>
                      <m:sSubSupPr>
                        <m:ctrlPr>
                          <a:rPr lang="en-US" sz="2800" i="1">
                            <a:solidFill>
                              <a:schemeClr val="tx1"/>
                            </a:solidFill>
                            <a:latin typeface="Cambria Math" panose="02040503050406030204" pitchFamily="18" charset="0"/>
                          </a:rPr>
                        </m:ctrlPr>
                      </m:sSubSupPr>
                      <m:e>
                        <m:r>
                          <a:rPr lang="en-US" sz="2800" i="1">
                            <a:solidFill>
                              <a:schemeClr val="tx1"/>
                            </a:solidFill>
                            <a:latin typeface="Cambria Math" panose="02040503050406030204" pitchFamily="18" charset="0"/>
                          </a:rPr>
                          <m:t>𝜎</m:t>
                        </m:r>
                      </m:e>
                      <m:sub>
                        <m:r>
                          <a:rPr lang="en-US" sz="2800" i="1">
                            <a:solidFill>
                              <a:schemeClr val="tx1"/>
                            </a:solidFill>
                            <a:latin typeface="Cambria Math" panose="02040503050406030204" pitchFamily="18" charset="0"/>
                          </a:rPr>
                          <m:t>𝑊</m:t>
                        </m:r>
                      </m:sub>
                      <m:sup>
                        <m:r>
                          <a:rPr lang="en-US" sz="2800" i="1">
                            <a:solidFill>
                              <a:schemeClr val="tx1"/>
                            </a:solidFill>
                            <a:latin typeface="Cambria Math" panose="02040503050406030204" pitchFamily="18" charset="0"/>
                          </a:rPr>
                          <m:t>2</m:t>
                        </m:r>
                      </m:sup>
                    </m:sSubSup>
                  </m:oMath>
                </a14:m>
                <a:r>
                  <a:rPr lang="en-US" sz="2800" dirty="0"/>
                  <a:t> and </a:t>
                </a:r>
                <a14:m>
                  <m:oMath xmlns:m="http://schemas.openxmlformats.org/officeDocument/2006/math">
                    <m:sSup>
                      <m:sSupPr>
                        <m:ctrlPr>
                          <a:rPr lang="en-US" sz="2800" i="1">
                            <a:latin typeface="Cambria Math" panose="02040503050406030204" pitchFamily="18" charset="0"/>
                            <a:ea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𝛽</m:t>
                        </m:r>
                        <m:r>
                          <m:rPr>
                            <m:nor/>
                          </m:rPr>
                          <a:rPr lang="en-US" sz="2800" i="0" dirty="0"/>
                          <m:t> </m:t>
                        </m:r>
                      </m:e>
                      <m:sup>
                        <m:r>
                          <a:rPr lang="en-US" sz="2800" i="1">
                            <a:latin typeface="Cambria Math" panose="02040503050406030204" pitchFamily="18" charset="0"/>
                            <a:ea typeface="Cambria Math" panose="02040503050406030204" pitchFamily="18" charset="0"/>
                          </a:rPr>
                          <m:t>∗</m:t>
                        </m:r>
                      </m:sup>
                    </m:sSup>
                    <m:r>
                      <a:rPr lang="en-US" sz="2800" i="1">
                        <a:latin typeface="Cambria Math" panose="02040503050406030204" pitchFamily="18" charset="0"/>
                        <a:ea typeface="Cambria Math" panose="02040503050406030204" pitchFamily="18" charset="0"/>
                      </a:rPr>
                      <m:t>=</m:t>
                    </m:r>
                  </m:oMath>
                </a14:m>
                <a:r>
                  <a:rPr lang="en-US" sz="2800" dirty="0"/>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𝜇</m:t>
                        </m:r>
                      </m:e>
                      <m:sub>
                        <m:r>
                          <a:rPr lang="en-US" sz="2800" i="1">
                            <a:latin typeface="Cambria Math" panose="02040503050406030204" pitchFamily="18" charset="0"/>
                          </a:rPr>
                          <m:t>1</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𝜇</m:t>
                        </m:r>
                      </m:e>
                      <m:sub>
                        <m:r>
                          <a:rPr lang="en-US" sz="2800" i="1">
                            <a:latin typeface="Cambria Math" panose="02040503050406030204" pitchFamily="18" charset="0"/>
                          </a:rPr>
                          <m:t>2</m:t>
                        </m:r>
                      </m:sub>
                    </m:sSub>
                    <m:r>
                      <a:rPr lang="en-US" sz="2800" b="0" i="0" smtClean="0">
                        <a:latin typeface="Cambria Math" panose="02040503050406030204" pitchFamily="18" charset="0"/>
                      </a:rPr>
                      <m:t>.</m:t>
                    </m:r>
                  </m:oMath>
                </a14:m>
                <a:endParaRPr lang="en-US" sz="2800" dirty="0"/>
              </a:p>
              <a:p>
                <a:endParaRPr lang="en-US" sz="2800" dirty="0"/>
              </a:p>
              <a:p>
                <a:r>
                  <a:rPr lang="en-US" sz="2800" dirty="0"/>
                  <a:t>Then, the number of required clusters per group is given by obtaining </a:t>
                </a:r>
                <a14:m>
                  <m:oMath xmlns:m="http://schemas.openxmlformats.org/officeDocument/2006/math">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𝑛</m:t>
                        </m:r>
                      </m:e>
                      <m:sub>
                        <m:r>
                          <a:rPr lang="en-US" sz="2800" b="0" i="1" smtClean="0">
                            <a:solidFill>
                              <a:schemeClr val="tx1"/>
                            </a:solidFill>
                            <a:latin typeface="Cambria Math" panose="02040503050406030204" pitchFamily="18" charset="0"/>
                          </a:rPr>
                          <m:t>𝑖</m:t>
                        </m:r>
                      </m:sub>
                    </m:sSub>
                    <m:r>
                      <a:rPr lang="en-US" sz="2800" b="0" i="1" smtClean="0">
                        <a:solidFill>
                          <a:schemeClr val="tx1"/>
                        </a:solidFill>
                        <a:latin typeface="Cambria Math" panose="02040503050406030204" pitchFamily="18" charset="0"/>
                      </a:rPr>
                      <m:t> </m:t>
                    </m:r>
                    <m:r>
                      <m:rPr>
                        <m:sty m:val="p"/>
                      </m:rPr>
                      <a:rPr lang="en-US" sz="2800" b="0" i="0" smtClean="0">
                        <a:solidFill>
                          <a:schemeClr val="tx1"/>
                        </a:solidFill>
                        <a:latin typeface="Cambria Math" panose="02040503050406030204" pitchFamily="18" charset="0"/>
                      </a:rPr>
                      <m:t>and</m:t>
                    </m:r>
                    <m:r>
                      <a:rPr lang="en-US" sz="2800" b="0" i="0" smtClean="0">
                        <a:solidFill>
                          <a:schemeClr val="tx1"/>
                        </a:solidFill>
                        <a:latin typeface="Cambria Math" panose="02040503050406030204" pitchFamily="18" charset="0"/>
                      </a:rPr>
                      <m:t> </m:t>
                    </m:r>
                    <m:r>
                      <m:rPr>
                        <m:sty m:val="p"/>
                      </m:rPr>
                      <a:rPr lang="en-US" sz="2800" b="0" i="0" smtClean="0">
                        <a:solidFill>
                          <a:schemeClr val="tx1"/>
                        </a:solidFill>
                        <a:latin typeface="Cambria Math" panose="02040503050406030204" pitchFamily="18" charset="0"/>
                      </a:rPr>
                      <m:t>then</m:t>
                    </m:r>
                    <m:r>
                      <a:rPr lang="en-US" sz="2800" b="0" i="0" smtClean="0">
                        <a:solidFill>
                          <a:schemeClr val="tx1"/>
                        </a:solidFill>
                        <a:latin typeface="Cambria Math" panose="02040503050406030204" pitchFamily="18" charset="0"/>
                      </a:rPr>
                      <m:t> </m:t>
                    </m:r>
                    <m:r>
                      <m:rPr>
                        <m:sty m:val="p"/>
                      </m:rPr>
                      <a:rPr lang="en-US" sz="2800" b="0" i="0" smtClean="0">
                        <a:solidFill>
                          <a:schemeClr val="tx1"/>
                        </a:solidFill>
                        <a:latin typeface="Cambria Math" panose="02040503050406030204" pitchFamily="18" charset="0"/>
                      </a:rPr>
                      <m:t>solving</m:t>
                    </m:r>
                    <m:r>
                      <a:rPr lang="en-US" sz="2800" b="0" i="0" smtClean="0">
                        <a:solidFill>
                          <a:schemeClr val="tx1"/>
                        </a:solidFill>
                        <a:latin typeface="Cambria Math" panose="02040503050406030204" pitchFamily="18" charset="0"/>
                      </a:rPr>
                      <m:t> </m:t>
                    </m:r>
                    <m:r>
                      <m:rPr>
                        <m:sty m:val="p"/>
                      </m:rPr>
                      <a:rPr lang="en-US" sz="2800" b="0" i="0" smtClean="0">
                        <a:solidFill>
                          <a:schemeClr val="tx1"/>
                        </a:solidFill>
                        <a:latin typeface="Cambria Math" panose="02040503050406030204" pitchFamily="18" charset="0"/>
                      </a:rPr>
                      <m:t>for</m:t>
                    </m:r>
                    <m:r>
                      <a:rPr lang="en-US" sz="2800" b="0" i="0" smtClean="0">
                        <a:solidFill>
                          <a:schemeClr val="tx1"/>
                        </a:solidFill>
                        <a:latin typeface="Cambria Math" panose="02040503050406030204" pitchFamily="18" charset="0"/>
                      </a:rPr>
                      <m:t> </m:t>
                    </m:r>
                    <m:r>
                      <a:rPr lang="en-US" sz="2800" b="0" i="1" smtClean="0">
                        <a:solidFill>
                          <a:schemeClr val="tx1"/>
                        </a:solidFill>
                        <a:latin typeface="Cambria Math" panose="02040503050406030204" pitchFamily="18" charset="0"/>
                      </a:rPr>
                      <m:t>𝐾</m:t>
                    </m:r>
                    <m:r>
                      <a:rPr lang="en-US" sz="2800" i="1" smtClean="0">
                        <a:solidFill>
                          <a:schemeClr val="tx1"/>
                        </a:solidFill>
                        <a:latin typeface="Cambria Math" panose="02040503050406030204" pitchFamily="18" charset="0"/>
                      </a:rPr>
                      <m:t>=</m:t>
                    </m:r>
                    <m:sSub>
                      <m:sSubPr>
                        <m:ctrlPr>
                          <a:rPr lang="en-US" altLang="en-US" sz="2800" i="1">
                            <a:latin typeface="Cambria Math" panose="02040503050406030204" pitchFamily="18" charset="0"/>
                          </a:rPr>
                        </m:ctrlPr>
                      </m:sSubPr>
                      <m:e>
                        <m:r>
                          <a:rPr lang="en-US" altLang="en-US" sz="2800" i="1">
                            <a:latin typeface="Cambria Math" panose="02040503050406030204" pitchFamily="18" charset="0"/>
                          </a:rPr>
                          <m:t>𝑛</m:t>
                        </m:r>
                      </m:e>
                      <m:sub>
                        <m:r>
                          <a:rPr lang="en-US" altLang="en-US" sz="2800" i="1">
                            <a:latin typeface="Cambria Math" panose="02040503050406030204" pitchFamily="18" charset="0"/>
                          </a:rPr>
                          <m:t>1</m:t>
                        </m:r>
                      </m:sub>
                    </m:sSub>
                    <m:r>
                      <a:rPr lang="en-US" sz="2800" i="1" smtClean="0">
                        <a:solidFill>
                          <a:schemeClr val="tx1"/>
                        </a:solidFill>
                        <a:latin typeface="Cambria Math" panose="02040503050406030204" pitchFamily="18" charset="0"/>
                      </a:rPr>
                      <m:t>/</m:t>
                    </m:r>
                    <m:r>
                      <a:rPr lang="en-US" sz="2800" i="1" smtClean="0">
                        <a:solidFill>
                          <a:schemeClr val="tx1"/>
                        </a:solidFill>
                        <a:latin typeface="Cambria Math" panose="02040503050406030204" pitchFamily="18" charset="0"/>
                      </a:rPr>
                      <m:t>𝑚</m:t>
                    </m:r>
                  </m:oMath>
                </a14:m>
                <a:r>
                  <a:rPr lang="en-US" sz="2800" dirty="0"/>
                  <a:t> = </a:t>
                </a:r>
                <a14:m>
                  <m:oMath xmlns:m="http://schemas.openxmlformats.org/officeDocument/2006/math">
                    <m:sSub>
                      <m:sSubPr>
                        <m:ctrlPr>
                          <a:rPr lang="en-US" altLang="en-US" sz="2800" i="1">
                            <a:latin typeface="Cambria Math" panose="02040503050406030204" pitchFamily="18" charset="0"/>
                          </a:rPr>
                        </m:ctrlPr>
                      </m:sSubPr>
                      <m:e>
                        <m:r>
                          <a:rPr lang="en-US" altLang="en-US" sz="2800" i="1">
                            <a:latin typeface="Cambria Math" panose="02040503050406030204" pitchFamily="18" charset="0"/>
                          </a:rPr>
                          <m:t>𝑛</m:t>
                        </m:r>
                      </m:e>
                      <m:sub>
                        <m:r>
                          <a:rPr lang="en-US" altLang="en-US" sz="2800" b="0" i="1" smtClean="0">
                            <a:latin typeface="Cambria Math" panose="02040503050406030204" pitchFamily="18" charset="0"/>
                          </a:rPr>
                          <m:t>2</m:t>
                        </m:r>
                      </m:sub>
                    </m:sSub>
                    <m:r>
                      <a:rPr lang="en-US" sz="2800" i="1">
                        <a:latin typeface="Cambria Math" panose="02040503050406030204" pitchFamily="18" charset="0"/>
                      </a:rPr>
                      <m:t>/</m:t>
                    </m:r>
                    <m:r>
                      <a:rPr lang="en-US" sz="2800" i="1">
                        <a:latin typeface="Cambria Math" panose="02040503050406030204" pitchFamily="18" charset="0"/>
                      </a:rPr>
                      <m:t>𝑚</m:t>
                    </m:r>
                  </m:oMath>
                </a14:m>
                <a:r>
                  <a:rPr lang="en-US" sz="2800" dirty="0"/>
                  <a:t>. </a:t>
                </a:r>
              </a:p>
              <a:p>
                <a:r>
                  <a:rPr lang="en-US" sz="2800" dirty="0"/>
                  <a:t>Solving for </a:t>
                </a:r>
                <a14:m>
                  <m:oMath xmlns:m="http://schemas.openxmlformats.org/officeDocument/2006/math">
                    <m:r>
                      <a:rPr lang="en-US" sz="2800" b="0" i="1" smtClean="0">
                        <a:latin typeface="Cambria Math" panose="02040503050406030204" pitchFamily="18" charset="0"/>
                      </a:rPr>
                      <m:t>𝑚</m:t>
                    </m:r>
                  </m:oMath>
                </a14:m>
                <a:r>
                  <a:rPr lang="en-US" sz="2800" dirty="0"/>
                  <a:t> in the above, </a:t>
                </a:r>
                <a14:m>
                  <m:oMath xmlns:m="http://schemas.openxmlformats.org/officeDocument/2006/math">
                    <m:r>
                      <a:rPr lang="en-US" altLang="en-US" sz="2800" b="0" i="1" smtClean="0">
                        <a:latin typeface="Cambria Math" panose="02040503050406030204" pitchFamily="18" charset="0"/>
                      </a:rPr>
                      <m:t>𝑚</m:t>
                    </m:r>
                    <m:r>
                      <a:rPr lang="en-US" sz="2800" i="1" smtClean="0">
                        <a:solidFill>
                          <a:schemeClr val="tx1"/>
                        </a:solidFill>
                        <a:latin typeface="Cambria Math" panose="02040503050406030204" pitchFamily="18" charset="0"/>
                      </a:rPr>
                      <m:t>=</m:t>
                    </m:r>
                    <m:f>
                      <m:fPr>
                        <m:ctrlPr>
                          <a:rPr lang="en-US" sz="2800" i="1" smtClean="0">
                            <a:solidFill>
                              <a:schemeClr val="tx1"/>
                            </a:solidFill>
                            <a:latin typeface="Cambria Math" panose="02040503050406030204" pitchFamily="18" charset="0"/>
                          </a:rPr>
                        </m:ctrlPr>
                      </m:fPr>
                      <m:num>
                        <m:d>
                          <m:dPr>
                            <m:begChr m:val="["/>
                            <m:endChr m:val="]"/>
                            <m:ctrlPr>
                              <a:rPr lang="en-US" sz="2800" i="1">
                                <a:latin typeface="Cambria Math" panose="02040503050406030204" pitchFamily="18" charset="0"/>
                              </a:rPr>
                            </m:ctrlPr>
                          </m:dPr>
                          <m:e>
                            <m:r>
                              <a:rPr lang="en-US" sz="2800" b="0" i="1" smtClean="0">
                                <a:latin typeface="Cambria Math" panose="02040503050406030204" pitchFamily="18" charset="0"/>
                              </a:rPr>
                              <m:t>1−</m:t>
                            </m:r>
                            <m:r>
                              <a:rPr lang="en-US" sz="2800" i="1">
                                <a:latin typeface="Cambria Math" panose="02040503050406030204" pitchFamily="18" charset="0"/>
                              </a:rPr>
                              <m:t>𝜌</m:t>
                            </m:r>
                          </m:e>
                        </m:d>
                        <m:f>
                          <m:fPr>
                            <m:ctrlPr>
                              <a:rPr lang="en-US" sz="2800" i="1">
                                <a:latin typeface="Cambria Math" panose="02040503050406030204" pitchFamily="18" charset="0"/>
                              </a:rPr>
                            </m:ctrlPr>
                          </m:fPr>
                          <m:num>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m:rPr>
                                            <m:sty m:val="p"/>
                                          </m:rPr>
                                          <a:rPr lang="en-US" sz="2800" i="1">
                                            <a:latin typeface="Cambria Math" panose="02040503050406030204" pitchFamily="18" charset="0"/>
                                          </a:rPr>
                                          <m:t>Ζ</m:t>
                                        </m:r>
                                      </m:e>
                                      <m:sub>
                                        <m:r>
                                          <a:rPr lang="en-US" sz="2800" i="1">
                                            <a:latin typeface="Cambria Math" panose="02040503050406030204" pitchFamily="18" charset="0"/>
                                          </a:rPr>
                                          <m:t>𝛼</m:t>
                                        </m:r>
                                        <m:r>
                                          <a:rPr lang="en-US" sz="2800" i="1">
                                            <a:latin typeface="Cambria Math" panose="02040503050406030204" pitchFamily="18" charset="0"/>
                                          </a:rPr>
                                          <m:t>/2</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m:rPr>
                                            <m:sty m:val="p"/>
                                          </m:rPr>
                                          <a:rPr lang="en-US" sz="2800" i="1">
                                            <a:latin typeface="Cambria Math" panose="02040503050406030204" pitchFamily="18" charset="0"/>
                                          </a:rPr>
                                          <m:t>Ζ</m:t>
                                        </m:r>
                                      </m:e>
                                      <m:sub>
                                        <m:r>
                                          <a:rPr lang="en-US" sz="2800" i="1">
                                            <a:latin typeface="Cambria Math" panose="02040503050406030204" pitchFamily="18" charset="0"/>
                                          </a:rPr>
                                          <m:t>𝛽</m:t>
                                        </m:r>
                                      </m:sub>
                                    </m:sSub>
                                  </m:e>
                                </m:d>
                              </m:e>
                              <m:sup>
                                <m:r>
                                  <a:rPr lang="en-US" sz="2800" i="1">
                                    <a:latin typeface="Cambria Math" panose="02040503050406030204" pitchFamily="18" charset="0"/>
                                  </a:rPr>
                                  <m:t>2</m:t>
                                </m:r>
                              </m:sup>
                            </m:sSup>
                            <m:d>
                              <m:dPr>
                                <m:ctrlPr>
                                  <a:rPr lang="en-US" sz="2800" i="1">
                                    <a:latin typeface="Cambria Math" panose="02040503050406030204" pitchFamily="18" charset="0"/>
                                  </a:rPr>
                                </m:ctrlPr>
                              </m:dPr>
                              <m:e>
                                <m:r>
                                  <a:rPr lang="en-US" sz="2800" i="1">
                                    <a:latin typeface="Cambria Math" panose="02040503050406030204" pitchFamily="18" charset="0"/>
                                  </a:rPr>
                                  <m:t>2</m:t>
                                </m:r>
                                <m:sSup>
                                  <m:sSupPr>
                                    <m:ctrlPr>
                                      <a:rPr lang="en-US" sz="2800" i="1">
                                        <a:latin typeface="Cambria Math" panose="02040503050406030204" pitchFamily="18" charset="0"/>
                                      </a:rPr>
                                    </m:ctrlPr>
                                  </m:sSupPr>
                                  <m:e>
                                    <m:r>
                                      <a:rPr lang="en-US" sz="2800" i="1">
                                        <a:latin typeface="Cambria Math" panose="02040503050406030204" pitchFamily="18" charset="0"/>
                                      </a:rPr>
                                      <m:t>𝜎</m:t>
                                    </m:r>
                                  </m:e>
                                  <m:sup>
                                    <m:r>
                                      <a:rPr lang="en-US" sz="2800" i="1">
                                        <a:latin typeface="Cambria Math" panose="02040503050406030204" pitchFamily="18" charset="0"/>
                                      </a:rPr>
                                      <m:t>2</m:t>
                                    </m:r>
                                  </m:sup>
                                </m:sSup>
                              </m:e>
                            </m:d>
                          </m:num>
                          <m:den>
                            <m:r>
                              <a:rPr lang="en-US" sz="2800" i="1">
                                <a:latin typeface="Cambria Math" panose="02040503050406030204" pitchFamily="18" charset="0"/>
                              </a:rPr>
                              <m:t>𝐾</m:t>
                            </m:r>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𝜇</m:t>
                                        </m:r>
                                      </m:e>
                                      <m:sub>
                                        <m:r>
                                          <a:rPr lang="en-US" sz="2800" i="1">
                                            <a:latin typeface="Cambria Math" panose="02040503050406030204" pitchFamily="18" charset="0"/>
                                          </a:rPr>
                                          <m:t>2</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𝜇</m:t>
                                        </m:r>
                                      </m:e>
                                      <m:sub>
                                        <m:r>
                                          <a:rPr lang="en-US" sz="2800" i="1">
                                            <a:latin typeface="Cambria Math" panose="02040503050406030204" pitchFamily="18" charset="0"/>
                                          </a:rPr>
                                          <m:t>1</m:t>
                                        </m:r>
                                      </m:sub>
                                    </m:sSub>
                                  </m:e>
                                </m:d>
                              </m:e>
                              <m:sup>
                                <m:r>
                                  <a:rPr lang="en-US" sz="2800" i="1">
                                    <a:latin typeface="Cambria Math" panose="02040503050406030204" pitchFamily="18" charset="0"/>
                                  </a:rPr>
                                  <m:t>2</m:t>
                                </m:r>
                              </m:sup>
                            </m:sSup>
                          </m:den>
                        </m:f>
                      </m:num>
                      <m:den>
                        <m:r>
                          <a:rPr lang="en-US" sz="2800" b="0" i="1" smtClean="0">
                            <a:latin typeface="Cambria Math" panose="02040503050406030204" pitchFamily="18" charset="0"/>
                          </a:rPr>
                          <m:t>1 − </m:t>
                        </m:r>
                        <m:f>
                          <m:fPr>
                            <m:ctrlPr>
                              <a:rPr lang="en-US" sz="2800" i="1">
                                <a:latin typeface="Cambria Math" panose="02040503050406030204" pitchFamily="18" charset="0"/>
                              </a:rPr>
                            </m:ctrlPr>
                          </m:fPr>
                          <m:num>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m:rPr>
                                            <m:sty m:val="p"/>
                                          </m:rPr>
                                          <a:rPr lang="en-US" sz="2800" i="1">
                                            <a:latin typeface="Cambria Math" panose="02040503050406030204" pitchFamily="18" charset="0"/>
                                          </a:rPr>
                                          <m:t>Ζ</m:t>
                                        </m:r>
                                      </m:e>
                                      <m:sub>
                                        <m:r>
                                          <a:rPr lang="en-US" sz="2800" i="1">
                                            <a:latin typeface="Cambria Math" panose="02040503050406030204" pitchFamily="18" charset="0"/>
                                          </a:rPr>
                                          <m:t>𝛼</m:t>
                                        </m:r>
                                        <m:r>
                                          <a:rPr lang="en-US" sz="2800" i="1">
                                            <a:latin typeface="Cambria Math" panose="02040503050406030204" pitchFamily="18" charset="0"/>
                                          </a:rPr>
                                          <m:t>/2</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m:rPr>
                                            <m:sty m:val="p"/>
                                          </m:rPr>
                                          <a:rPr lang="en-US" sz="2800" i="1">
                                            <a:latin typeface="Cambria Math" panose="02040503050406030204" pitchFamily="18" charset="0"/>
                                          </a:rPr>
                                          <m:t>Ζ</m:t>
                                        </m:r>
                                      </m:e>
                                      <m:sub>
                                        <m:r>
                                          <a:rPr lang="en-US" sz="2800" i="1">
                                            <a:latin typeface="Cambria Math" panose="02040503050406030204" pitchFamily="18" charset="0"/>
                                          </a:rPr>
                                          <m:t>𝛽</m:t>
                                        </m:r>
                                      </m:sub>
                                    </m:sSub>
                                  </m:e>
                                </m:d>
                              </m:e>
                              <m:sup>
                                <m:r>
                                  <a:rPr lang="en-US" sz="2800" i="1">
                                    <a:latin typeface="Cambria Math" panose="02040503050406030204" pitchFamily="18" charset="0"/>
                                  </a:rPr>
                                  <m:t>2</m:t>
                                </m:r>
                              </m:sup>
                            </m:sSup>
                            <m:d>
                              <m:dPr>
                                <m:ctrlPr>
                                  <a:rPr lang="en-US" sz="2800" i="1">
                                    <a:latin typeface="Cambria Math" panose="02040503050406030204" pitchFamily="18" charset="0"/>
                                  </a:rPr>
                                </m:ctrlPr>
                              </m:dPr>
                              <m:e>
                                <m:r>
                                  <a:rPr lang="en-US" sz="2800" i="1">
                                    <a:latin typeface="Cambria Math" panose="02040503050406030204" pitchFamily="18" charset="0"/>
                                  </a:rPr>
                                  <m:t>2</m:t>
                                </m:r>
                                <m:sSup>
                                  <m:sSupPr>
                                    <m:ctrlPr>
                                      <a:rPr lang="en-US" sz="2800" i="1">
                                        <a:latin typeface="Cambria Math" panose="02040503050406030204" pitchFamily="18" charset="0"/>
                                      </a:rPr>
                                    </m:ctrlPr>
                                  </m:sSupPr>
                                  <m:e>
                                    <m:r>
                                      <a:rPr lang="en-US" sz="2800" i="1">
                                        <a:latin typeface="Cambria Math" panose="02040503050406030204" pitchFamily="18" charset="0"/>
                                      </a:rPr>
                                      <m:t>𝜎</m:t>
                                    </m:r>
                                  </m:e>
                                  <m:sup>
                                    <m:r>
                                      <a:rPr lang="en-US" sz="2800" i="1">
                                        <a:latin typeface="Cambria Math" panose="02040503050406030204" pitchFamily="18" charset="0"/>
                                      </a:rPr>
                                      <m:t>2</m:t>
                                    </m:r>
                                  </m:sup>
                                </m:sSup>
                              </m:e>
                            </m:d>
                            <m:r>
                              <a:rPr lang="en-US" sz="2800" i="1">
                                <a:latin typeface="Cambria Math" panose="02040503050406030204" pitchFamily="18" charset="0"/>
                              </a:rPr>
                              <m:t>𝜌</m:t>
                            </m:r>
                          </m:num>
                          <m:den>
                            <m:r>
                              <a:rPr lang="en-US" sz="2800" i="1">
                                <a:latin typeface="Cambria Math" panose="02040503050406030204" pitchFamily="18" charset="0"/>
                              </a:rPr>
                              <m:t>𝐾</m:t>
                            </m:r>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𝜇</m:t>
                                        </m:r>
                                      </m:e>
                                      <m:sub>
                                        <m:r>
                                          <a:rPr lang="en-US" sz="2800" i="1">
                                            <a:latin typeface="Cambria Math" panose="02040503050406030204" pitchFamily="18" charset="0"/>
                                          </a:rPr>
                                          <m:t>2</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𝜇</m:t>
                                        </m:r>
                                      </m:e>
                                      <m:sub>
                                        <m:r>
                                          <a:rPr lang="en-US" sz="2800" i="1">
                                            <a:latin typeface="Cambria Math" panose="02040503050406030204" pitchFamily="18" charset="0"/>
                                          </a:rPr>
                                          <m:t>1</m:t>
                                        </m:r>
                                      </m:sub>
                                    </m:sSub>
                                  </m:e>
                                </m:d>
                              </m:e>
                              <m:sup>
                                <m:r>
                                  <a:rPr lang="en-US" sz="2800" i="1">
                                    <a:latin typeface="Cambria Math" panose="02040503050406030204" pitchFamily="18" charset="0"/>
                                  </a:rPr>
                                  <m:t>2</m:t>
                                </m:r>
                              </m:sup>
                            </m:sSup>
                          </m:den>
                        </m:f>
                        <m:r>
                          <a:rPr lang="en-US" sz="2800" b="0" i="1" smtClean="0">
                            <a:latin typeface="Cambria Math" panose="02040503050406030204" pitchFamily="18" charset="0"/>
                          </a:rPr>
                          <m:t> </m:t>
                        </m:r>
                      </m:den>
                    </m:f>
                  </m:oMath>
                </a14:m>
                <a:r>
                  <a:rPr lang="en-US" sz="2800" dirty="0"/>
                  <a:t> = </a:t>
                </a:r>
                <a14:m>
                  <m:oMath xmlns:m="http://schemas.openxmlformats.org/officeDocument/2006/math">
                    <m:f>
                      <m:fPr>
                        <m:ctrlPr>
                          <a:rPr lang="en-US" sz="2800" i="1">
                            <a:solidFill>
                              <a:srgbClr val="000000"/>
                            </a:solidFill>
                            <a:latin typeface="Cambria Math" panose="02040503050406030204" pitchFamily="18" charset="0"/>
                            <a:ea typeface="Cambria Math" panose="02040503050406030204" pitchFamily="18" charset="0"/>
                          </a:rPr>
                        </m:ctrlPr>
                      </m:fPr>
                      <m:num>
                        <m:r>
                          <a:rPr lang="en-US" sz="2800" i="1">
                            <a:solidFill>
                              <a:srgbClr val="000000"/>
                            </a:solidFill>
                            <a:latin typeface="Cambria Math" panose="02040503050406030204" pitchFamily="18" charset="0"/>
                            <a:ea typeface="Cambria Math" panose="02040503050406030204" pitchFamily="18" charset="0"/>
                          </a:rPr>
                          <m:t>2</m:t>
                        </m:r>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m:rPr>
                                        <m:sty m:val="p"/>
                                      </m:rPr>
                                      <a:rPr lang="en-US" sz="2800" i="1">
                                        <a:latin typeface="Cambria Math" panose="02040503050406030204" pitchFamily="18" charset="0"/>
                                      </a:rPr>
                                      <m:t>Ζ</m:t>
                                    </m:r>
                                  </m:e>
                                  <m:sub>
                                    <m:r>
                                      <a:rPr lang="en-US" sz="2800" i="1">
                                        <a:latin typeface="Cambria Math" panose="02040503050406030204" pitchFamily="18" charset="0"/>
                                        <a:ea typeface="Cambria Math" panose="02040503050406030204" pitchFamily="18" charset="0"/>
                                      </a:rPr>
                                      <m:t>𝛼</m:t>
                                    </m:r>
                                    <m:r>
                                      <a:rPr lang="en-US" sz="2800" i="1">
                                        <a:latin typeface="Cambria Math" panose="02040503050406030204" pitchFamily="18" charset="0"/>
                                        <a:ea typeface="Cambria Math" panose="02040503050406030204" pitchFamily="18" charset="0"/>
                                      </a:rPr>
                                      <m:t>/2</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m:rPr>
                                        <m:sty m:val="p"/>
                                      </m:rPr>
                                      <a:rPr lang="en-US" sz="2800" i="1">
                                        <a:latin typeface="Cambria Math" panose="02040503050406030204" pitchFamily="18" charset="0"/>
                                      </a:rPr>
                                      <m:t>Ζ</m:t>
                                    </m:r>
                                  </m:e>
                                  <m:sub>
                                    <m:r>
                                      <a:rPr lang="en-US" sz="2800" i="1">
                                        <a:latin typeface="Cambria Math" panose="02040503050406030204" pitchFamily="18" charset="0"/>
                                      </a:rPr>
                                      <m:t>𝛽</m:t>
                                    </m:r>
                                  </m:sub>
                                </m:sSub>
                              </m:e>
                            </m:d>
                          </m:e>
                          <m:sup>
                            <m:r>
                              <a:rPr lang="en-US" sz="2800" i="1">
                                <a:latin typeface="Cambria Math" panose="02040503050406030204" pitchFamily="18" charset="0"/>
                              </a:rPr>
                              <m:t>2</m:t>
                            </m:r>
                          </m:sup>
                        </m:sSup>
                        <m:sSup>
                          <m:sSupPr>
                            <m:ctrlPr>
                              <a:rPr lang="en-US" sz="2800" i="1">
                                <a:latin typeface="Cambria Math" panose="02040503050406030204" pitchFamily="18" charset="0"/>
                              </a:rPr>
                            </m:ctrlPr>
                          </m:sSupPr>
                          <m:e>
                            <m:r>
                              <a:rPr lang="en-US" sz="2800" i="1">
                                <a:latin typeface="Cambria Math" panose="02040503050406030204" pitchFamily="18" charset="0"/>
                              </a:rPr>
                              <m:t>𝜎</m:t>
                            </m:r>
                          </m:e>
                          <m:sup>
                            <m:r>
                              <a:rPr lang="en-US" sz="2800" i="1">
                                <a:latin typeface="Cambria Math" panose="02040503050406030204" pitchFamily="18" charset="0"/>
                              </a:rPr>
                              <m:t>2</m:t>
                            </m:r>
                          </m:sup>
                        </m:sSup>
                        <m:r>
                          <a:rPr lang="en-US" sz="2800" i="1">
                            <a:latin typeface="Cambria Math" panose="02040503050406030204" pitchFamily="18" charset="0"/>
                          </a:rPr>
                          <m:t>[1−</m:t>
                        </m:r>
                        <m:r>
                          <a:rPr lang="en-US" sz="2800" i="1">
                            <a:latin typeface="Cambria Math" panose="02040503050406030204" pitchFamily="18" charset="0"/>
                            <a:ea typeface="Cambria Math" panose="02040503050406030204" pitchFamily="18" charset="0"/>
                          </a:rPr>
                          <m:t>𝜌</m:t>
                        </m:r>
                        <m:r>
                          <a:rPr lang="en-US" sz="2800" i="1">
                            <a:latin typeface="Cambria Math" panose="02040503050406030204" pitchFamily="18" charset="0"/>
                            <a:ea typeface="Cambria Math" panose="02040503050406030204" pitchFamily="18" charset="0"/>
                          </a:rPr>
                          <m:t>]</m:t>
                        </m:r>
                      </m:num>
                      <m:den>
                        <m:r>
                          <a:rPr lang="en-US" sz="2800" i="1">
                            <a:solidFill>
                              <a:srgbClr val="000000"/>
                            </a:solidFill>
                            <a:latin typeface="Cambria Math" panose="02040503050406030204" pitchFamily="18" charset="0"/>
                            <a:ea typeface="Cambria Math" panose="02040503050406030204" pitchFamily="18" charset="0"/>
                          </a:rPr>
                          <m:t>𝐾</m:t>
                        </m:r>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𝜇</m:t>
                                    </m:r>
                                  </m:e>
                                  <m:sub>
                                    <m:r>
                                      <a:rPr lang="en-US" sz="2800" i="1">
                                        <a:latin typeface="Cambria Math" panose="02040503050406030204" pitchFamily="18" charset="0"/>
                                      </a:rPr>
                                      <m:t>2</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𝜇</m:t>
                                    </m:r>
                                  </m:e>
                                  <m:sub>
                                    <m:r>
                                      <a:rPr lang="en-US" sz="2800" i="1">
                                        <a:latin typeface="Cambria Math" panose="02040503050406030204" pitchFamily="18" charset="0"/>
                                      </a:rPr>
                                      <m:t>1</m:t>
                                    </m:r>
                                  </m:sub>
                                </m:sSub>
                              </m:e>
                            </m:d>
                          </m:e>
                          <m:sup>
                            <m:r>
                              <a:rPr lang="en-US" sz="2800" i="1">
                                <a:latin typeface="Cambria Math" panose="02040503050406030204" pitchFamily="18" charset="0"/>
                              </a:rPr>
                              <m:t>2</m:t>
                            </m:r>
                          </m:sup>
                        </m:sSup>
                        <m:r>
                          <a:rPr lang="en-US" sz="2800" i="1">
                            <a:latin typeface="Cambria Math" panose="02040503050406030204" pitchFamily="18" charset="0"/>
                          </a:rPr>
                          <m:t>−</m:t>
                        </m:r>
                        <m:r>
                          <a:rPr lang="en-US" sz="2800" i="1">
                            <a:solidFill>
                              <a:srgbClr val="000000"/>
                            </a:solidFill>
                            <a:latin typeface="Cambria Math" panose="02040503050406030204" pitchFamily="18" charset="0"/>
                            <a:ea typeface="Cambria Math" panose="02040503050406030204" pitchFamily="18" charset="0"/>
                          </a:rPr>
                          <m:t>2</m:t>
                        </m:r>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m:rPr>
                                        <m:sty m:val="p"/>
                                      </m:rPr>
                                      <a:rPr lang="en-US" sz="2800" i="1">
                                        <a:latin typeface="Cambria Math" panose="02040503050406030204" pitchFamily="18" charset="0"/>
                                      </a:rPr>
                                      <m:t>Ζ</m:t>
                                    </m:r>
                                  </m:e>
                                  <m:sub>
                                    <m:r>
                                      <a:rPr lang="en-US" sz="2800" i="1">
                                        <a:latin typeface="Cambria Math" panose="02040503050406030204" pitchFamily="18" charset="0"/>
                                        <a:ea typeface="Cambria Math" panose="02040503050406030204" pitchFamily="18" charset="0"/>
                                      </a:rPr>
                                      <m:t>𝛼</m:t>
                                    </m:r>
                                    <m:r>
                                      <a:rPr lang="en-US" sz="2800" i="1">
                                        <a:latin typeface="Cambria Math" panose="02040503050406030204" pitchFamily="18" charset="0"/>
                                        <a:ea typeface="Cambria Math" panose="02040503050406030204" pitchFamily="18" charset="0"/>
                                      </a:rPr>
                                      <m:t>/2</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m:rPr>
                                        <m:sty m:val="p"/>
                                      </m:rPr>
                                      <a:rPr lang="en-US" sz="2800" i="1">
                                        <a:latin typeface="Cambria Math" panose="02040503050406030204" pitchFamily="18" charset="0"/>
                                      </a:rPr>
                                      <m:t>Ζ</m:t>
                                    </m:r>
                                  </m:e>
                                  <m:sub>
                                    <m:r>
                                      <a:rPr lang="en-US" sz="2800" i="1">
                                        <a:latin typeface="Cambria Math" panose="02040503050406030204" pitchFamily="18" charset="0"/>
                                      </a:rPr>
                                      <m:t>𝛽</m:t>
                                    </m:r>
                                  </m:sub>
                                </m:sSub>
                              </m:e>
                            </m:d>
                          </m:e>
                          <m:sup>
                            <m:r>
                              <a:rPr lang="en-US" sz="2800" i="1">
                                <a:latin typeface="Cambria Math" panose="02040503050406030204" pitchFamily="18" charset="0"/>
                              </a:rPr>
                              <m:t>2</m:t>
                            </m:r>
                          </m:sup>
                        </m:sSup>
                        <m:sSup>
                          <m:sSupPr>
                            <m:ctrlPr>
                              <a:rPr lang="en-US" sz="2800" i="1">
                                <a:latin typeface="Cambria Math" panose="02040503050406030204" pitchFamily="18" charset="0"/>
                              </a:rPr>
                            </m:ctrlPr>
                          </m:sSupPr>
                          <m:e>
                            <m:r>
                              <a:rPr lang="en-US" sz="2800" i="1">
                                <a:latin typeface="Cambria Math" panose="02040503050406030204" pitchFamily="18" charset="0"/>
                              </a:rPr>
                              <m:t>𝜎</m:t>
                            </m:r>
                          </m:e>
                          <m:sup>
                            <m:r>
                              <a:rPr lang="en-US" sz="2800" i="1">
                                <a:latin typeface="Cambria Math" panose="02040503050406030204" pitchFamily="18" charset="0"/>
                              </a:rPr>
                              <m:t>2</m:t>
                            </m:r>
                          </m:sup>
                        </m:sSup>
                        <m:r>
                          <a:rPr lang="en-US" sz="2800" i="1">
                            <a:latin typeface="Cambria Math" panose="02040503050406030204" pitchFamily="18" charset="0"/>
                            <a:ea typeface="Cambria Math" panose="02040503050406030204" pitchFamily="18" charset="0"/>
                          </a:rPr>
                          <m:t>𝜌</m:t>
                        </m:r>
                      </m:den>
                    </m:f>
                  </m:oMath>
                </a14:m>
                <a:endParaRPr lang="en-US" sz="2800" dirty="0"/>
              </a:p>
              <a:p>
                <a:endParaRPr lang="en-US" sz="2800" dirty="0"/>
              </a:p>
            </p:txBody>
          </p:sp>
        </mc:Choice>
        <mc:Fallback xmlns="">
          <p:sp>
            <p:nvSpPr>
              <p:cNvPr id="2" name="TextBox 1">
                <a:extLst>
                  <a:ext uri="{FF2B5EF4-FFF2-40B4-BE49-F238E27FC236}">
                    <a16:creationId xmlns:a16="http://schemas.microsoft.com/office/drawing/2014/main" id="{03549310-25AE-42A8-911A-336D23532843}"/>
                  </a:ext>
                </a:extLst>
              </p:cNvPr>
              <p:cNvSpPr txBox="1">
                <a:spLocks noRot="1" noChangeAspect="1" noMove="1" noResize="1" noEditPoints="1" noAdjustHandles="1" noChangeArrowheads="1" noChangeShapeType="1" noTextEdit="1"/>
              </p:cNvSpPr>
              <p:nvPr/>
            </p:nvSpPr>
            <p:spPr>
              <a:xfrm>
                <a:off x="10510" y="207034"/>
                <a:ext cx="12192000" cy="7066999"/>
              </a:xfrm>
              <a:prstGeom prst="rect">
                <a:avLst/>
              </a:prstGeom>
              <a:blipFill>
                <a:blip r:embed="rId4"/>
                <a:stretch>
                  <a:fillRect l="-1050" t="-863" r="-20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E8434590-0637-C95E-147B-6C2D53739212}"/>
              </a:ext>
            </a:extLst>
          </p:cNvPr>
          <p:cNvSpPr>
            <a:spLocks noGrp="1"/>
          </p:cNvSpPr>
          <p:nvPr>
            <p:ph type="sldNum" sz="quarter" idx="12"/>
          </p:nvPr>
        </p:nvSpPr>
        <p:spPr/>
        <p:txBody>
          <a:bodyPr/>
          <a:lstStyle/>
          <a:p>
            <a:fld id="{77C6A7FE-225D-49F1-B302-AA37EA92BB49}" type="slidenum">
              <a:rPr lang="en-US" smtClean="0"/>
              <a:t>34</a:t>
            </a:fld>
            <a:endParaRPr lang="en-US"/>
          </a:p>
        </p:txBody>
      </p:sp>
    </p:spTree>
    <p:extLst>
      <p:ext uri="{BB962C8B-B14F-4D97-AF65-F5344CB8AC3E}">
        <p14:creationId xmlns:p14="http://schemas.microsoft.com/office/powerpoint/2010/main" val="425983293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3549310-25AE-42A8-911A-336D23532843}"/>
                  </a:ext>
                </a:extLst>
              </p:cNvPr>
              <p:cNvSpPr txBox="1"/>
              <p:nvPr/>
            </p:nvSpPr>
            <p:spPr>
              <a:xfrm>
                <a:off x="0" y="207034"/>
                <a:ext cx="12192000" cy="5676297"/>
              </a:xfrm>
              <a:prstGeom prst="rect">
                <a:avLst/>
              </a:prstGeom>
              <a:noFill/>
            </p:spPr>
            <p:txBody>
              <a:bodyPr wrap="square" rtlCol="0">
                <a:spAutoFit/>
              </a:bodyPr>
              <a:lstStyle/>
              <a:p>
                <a:r>
                  <a:rPr lang="en-US" sz="2800" dirty="0"/>
                  <a:t>For variable sized clusters, a</a:t>
                </a:r>
                <a14:m>
                  <m:oMath xmlns:m="http://schemas.openxmlformats.org/officeDocument/2006/math">
                    <m:r>
                      <m:rPr>
                        <m:sty m:val="p"/>
                      </m:rPr>
                      <a:rPr lang="en-US" sz="2800" b="0" i="0" smtClean="0">
                        <a:solidFill>
                          <a:srgbClr val="000000"/>
                        </a:solidFill>
                        <a:latin typeface="Cambria Math" panose="02040503050406030204" pitchFamily="18" charset="0"/>
                      </a:rPr>
                      <m:t>djust</m:t>
                    </m:r>
                    <m:r>
                      <a:rPr lang="en-US" sz="2800" b="0" i="0" smtClean="0">
                        <a:solidFill>
                          <a:srgbClr val="000000"/>
                        </a:solidFill>
                        <a:latin typeface="Cambria Math" panose="02040503050406030204" pitchFamily="18" charset="0"/>
                      </a:rPr>
                      <m:t> </m:t>
                    </m:r>
                    <m:r>
                      <m:rPr>
                        <m:sty m:val="p"/>
                      </m:rPr>
                      <a:rPr lang="en-US" sz="2800" b="0" i="0" smtClean="0">
                        <a:solidFill>
                          <a:srgbClr val="000000"/>
                        </a:solidFill>
                        <a:latin typeface="Cambria Math" panose="02040503050406030204" pitchFamily="18" charset="0"/>
                      </a:rPr>
                      <m:t>formulas</m:t>
                    </m:r>
                    <m:r>
                      <a:rPr lang="en-US" sz="2800" b="0" i="0" smtClean="0">
                        <a:solidFill>
                          <a:srgbClr val="000000"/>
                        </a:solidFill>
                        <a:latin typeface="Cambria Math" panose="02040503050406030204" pitchFamily="18" charset="0"/>
                      </a:rPr>
                      <m:t> </m:t>
                    </m:r>
                    <m:r>
                      <m:rPr>
                        <m:sty m:val="p"/>
                      </m:rPr>
                      <a:rPr lang="en-US" sz="2800" b="0" i="0" smtClean="0">
                        <a:solidFill>
                          <a:srgbClr val="000000"/>
                        </a:solidFill>
                        <a:latin typeface="Cambria Math" panose="02040503050406030204" pitchFamily="18" charset="0"/>
                      </a:rPr>
                      <m:t>by</m:t>
                    </m:r>
                    <m:r>
                      <a:rPr lang="en-US" sz="2800" b="0" i="0" smtClean="0">
                        <a:solidFill>
                          <a:srgbClr val="000000"/>
                        </a:solidFill>
                        <a:latin typeface="Cambria Math" panose="02040503050406030204" pitchFamily="18" charset="0"/>
                      </a:rPr>
                      <m:t> </m:t>
                    </m:r>
                    <m:r>
                      <a:rPr lang="en-US" sz="2800" i="1">
                        <a:solidFill>
                          <a:srgbClr val="000000"/>
                        </a:solidFill>
                        <a:latin typeface="Cambria Math" panose="02040503050406030204" pitchFamily="18" charset="0"/>
                      </a:rPr>
                      <m:t>(1+</m:t>
                    </m:r>
                    <m:sSubSup>
                      <m:sSubSupPr>
                        <m:ctrlPr>
                          <a:rPr lang="en-US" sz="2800" i="1" smtClean="0">
                            <a:solidFill>
                              <a:srgbClr val="000000"/>
                            </a:solidFill>
                            <a:latin typeface="Cambria Math" panose="02040503050406030204" pitchFamily="18" charset="0"/>
                          </a:rPr>
                        </m:ctrlPr>
                      </m:sSubSupPr>
                      <m:e>
                        <m:r>
                          <a:rPr lang="en-US" sz="2800" b="0" i="1" smtClean="0">
                            <a:solidFill>
                              <a:srgbClr val="000000"/>
                            </a:solidFill>
                            <a:latin typeface="Cambria Math" panose="02040503050406030204" pitchFamily="18" charset="0"/>
                          </a:rPr>
                          <m:t>𝐶𝑉</m:t>
                        </m:r>
                      </m:e>
                      <m:sub>
                        <m:r>
                          <a:rPr lang="en-US" sz="2800" b="0" i="1" smtClean="0">
                            <a:solidFill>
                              <a:srgbClr val="000000"/>
                            </a:solidFill>
                            <a:latin typeface="Cambria Math" panose="02040503050406030204" pitchFamily="18" charset="0"/>
                          </a:rPr>
                          <m:t>𝑚</m:t>
                        </m:r>
                      </m:sub>
                      <m:sup>
                        <m:r>
                          <a:rPr lang="en-US" sz="2800" b="0" i="1" smtClean="0">
                            <a:solidFill>
                              <a:srgbClr val="000000"/>
                            </a:solidFill>
                            <a:latin typeface="Cambria Math" panose="02040503050406030204" pitchFamily="18" charset="0"/>
                          </a:rPr>
                          <m:t>2</m:t>
                        </m:r>
                      </m:sup>
                    </m:sSubSup>
                    <m:r>
                      <a:rPr lang="en-US" sz="2800" i="1">
                        <a:solidFill>
                          <a:srgbClr val="000000"/>
                        </a:solidFill>
                        <a:latin typeface="Cambria Math" panose="02040503050406030204" pitchFamily="18" charset="0"/>
                      </a:rPr>
                      <m:t>),</m:t>
                    </m:r>
                  </m:oMath>
                </a14:m>
                <a:r>
                  <a:rPr lang="en-US" sz="2800" dirty="0"/>
                  <a:t> where </a:t>
                </a:r>
                <a14:m>
                  <m:oMath xmlns:m="http://schemas.openxmlformats.org/officeDocument/2006/math">
                    <m:sSub>
                      <m:sSubPr>
                        <m:ctrlPr>
                          <a:rPr lang="en-US" sz="2800" i="1" dirty="0" smtClean="0">
                            <a:latin typeface="Cambria Math" panose="02040503050406030204" pitchFamily="18" charset="0"/>
                          </a:rPr>
                        </m:ctrlPr>
                      </m:sSubPr>
                      <m:e>
                        <m:r>
                          <a:rPr lang="en-US" sz="2800" b="0" i="1" dirty="0" smtClean="0">
                            <a:latin typeface="Cambria Math" panose="02040503050406030204" pitchFamily="18" charset="0"/>
                          </a:rPr>
                          <m:t>𝐶𝑉</m:t>
                        </m:r>
                      </m:e>
                      <m:sub>
                        <m:r>
                          <a:rPr lang="en-US" sz="2800" b="0" i="1" dirty="0" smtClean="0">
                            <a:latin typeface="Cambria Math" panose="02040503050406030204" pitchFamily="18" charset="0"/>
                          </a:rPr>
                          <m:t>𝑚</m:t>
                        </m:r>
                      </m:sub>
                    </m:sSub>
                  </m:oMath>
                </a14:m>
                <a:r>
                  <a:rPr lang="en-US" sz="2800" i="1" dirty="0"/>
                  <a:t> </a:t>
                </a:r>
                <a:r>
                  <a:rPr lang="en-US" sz="2800" dirty="0"/>
                  <a:t>= coefficient of variation of the cluster sizes (Manatunga et al [2001]). Then,</a:t>
                </a:r>
              </a:p>
              <a:p>
                <a:endParaRPr lang="en-US" sz="2800" dirty="0"/>
              </a:p>
              <a:p>
                <a:pPr algn="ctr"/>
                <a14:m>
                  <m:oMathPara xmlns:m="http://schemas.openxmlformats.org/officeDocument/2006/math">
                    <m:oMathParaPr>
                      <m:jc m:val="centerGroup"/>
                    </m:oMathParaPr>
                    <m:oMath xmlns:m="http://schemas.openxmlformats.org/officeDocument/2006/math">
                      <m:r>
                        <a:rPr lang="en-US" altLang="en-US" sz="2800" b="0" i="1" smtClean="0">
                          <a:latin typeface="Cambria Math" panose="02040503050406030204" pitchFamily="18" charset="0"/>
                        </a:rPr>
                        <m:t>𝐾</m:t>
                      </m:r>
                      <m:r>
                        <a:rPr lang="en-US" altLang="en-US" sz="2800" i="1">
                          <a:latin typeface="Cambria Math" panose="02040503050406030204" pitchFamily="18" charset="0"/>
                        </a:rPr>
                        <m:t> </m:t>
                      </m:r>
                      <m:r>
                        <a:rPr lang="en-US" sz="2800" i="1" smtClean="0">
                          <a:solidFill>
                            <a:schemeClr val="tx1"/>
                          </a:solidFill>
                          <a:latin typeface="Cambria Math" panose="02040503050406030204" pitchFamily="18" charset="0"/>
                        </a:rPr>
                        <m:t>=</m:t>
                      </m:r>
                      <m:f>
                        <m:fPr>
                          <m:ctrlPr>
                            <a:rPr lang="en-US" sz="2800" i="1">
                              <a:solidFill>
                                <a:schemeClr val="tx1"/>
                              </a:solidFill>
                              <a:latin typeface="Cambria Math" panose="02040503050406030204" pitchFamily="18" charset="0"/>
                            </a:rPr>
                          </m:ctrlPr>
                        </m:fPr>
                        <m:num>
                          <m:sSup>
                            <m:sSupPr>
                              <m:ctrlPr>
                                <a:rPr lang="en-US" sz="2800" i="1">
                                  <a:solidFill>
                                    <a:schemeClr val="tx1"/>
                                  </a:solidFill>
                                  <a:latin typeface="Cambria Math" panose="02040503050406030204" pitchFamily="18" charset="0"/>
                                </a:rPr>
                              </m:ctrlPr>
                            </m:sSupPr>
                            <m:e>
                              <m:d>
                                <m:dPr>
                                  <m:ctrlPr>
                                    <a:rPr lang="en-US" sz="2800" i="1">
                                      <a:solidFill>
                                        <a:schemeClr val="tx1"/>
                                      </a:solidFill>
                                      <a:latin typeface="Cambria Math" panose="02040503050406030204" pitchFamily="18" charset="0"/>
                                    </a:rPr>
                                  </m:ctrlPr>
                                </m:dPr>
                                <m:e>
                                  <m:sSub>
                                    <m:sSubPr>
                                      <m:ctrlPr>
                                        <a:rPr lang="en-US" sz="2800" i="1">
                                          <a:solidFill>
                                            <a:schemeClr val="tx1"/>
                                          </a:solidFill>
                                          <a:latin typeface="Cambria Math" panose="02040503050406030204" pitchFamily="18" charset="0"/>
                                        </a:rPr>
                                      </m:ctrlPr>
                                    </m:sSubPr>
                                    <m:e>
                                      <m:r>
                                        <m:rPr>
                                          <m:sty m:val="p"/>
                                        </m:rPr>
                                        <a:rPr lang="en-US" sz="2800" i="1">
                                          <a:solidFill>
                                            <a:schemeClr val="tx1"/>
                                          </a:solidFill>
                                          <a:latin typeface="Cambria Math" panose="02040503050406030204" pitchFamily="18" charset="0"/>
                                        </a:rPr>
                                        <m:t>Ζ</m:t>
                                      </m:r>
                                    </m:e>
                                    <m:sub>
                                      <m:r>
                                        <a:rPr lang="en-US" sz="2800" i="1">
                                          <a:solidFill>
                                            <a:schemeClr val="tx1"/>
                                          </a:solidFill>
                                          <a:latin typeface="Cambria Math" panose="02040503050406030204" pitchFamily="18" charset="0"/>
                                        </a:rPr>
                                        <m:t>𝛼</m:t>
                                      </m:r>
                                      <m:r>
                                        <a:rPr lang="en-US" sz="2800" i="1">
                                          <a:solidFill>
                                            <a:schemeClr val="tx1"/>
                                          </a:solidFill>
                                          <a:latin typeface="Cambria Math" panose="02040503050406030204" pitchFamily="18" charset="0"/>
                                        </a:rPr>
                                        <m:t>/2</m:t>
                                      </m:r>
                                    </m:sub>
                                  </m:sSub>
                                  <m:r>
                                    <a:rPr lang="en-US" sz="280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r>
                                        <m:rPr>
                                          <m:sty m:val="p"/>
                                        </m:rPr>
                                        <a:rPr lang="en-US" sz="2800" i="1">
                                          <a:solidFill>
                                            <a:schemeClr val="tx1"/>
                                          </a:solidFill>
                                          <a:latin typeface="Cambria Math" panose="02040503050406030204" pitchFamily="18" charset="0"/>
                                        </a:rPr>
                                        <m:t>Ζ</m:t>
                                      </m:r>
                                    </m:e>
                                    <m:sub>
                                      <m:r>
                                        <a:rPr lang="en-US" sz="2800" i="1">
                                          <a:solidFill>
                                            <a:schemeClr val="tx1"/>
                                          </a:solidFill>
                                          <a:latin typeface="Cambria Math" panose="02040503050406030204" pitchFamily="18" charset="0"/>
                                        </a:rPr>
                                        <m:t>𝛽</m:t>
                                      </m:r>
                                    </m:sub>
                                  </m:sSub>
                                </m:e>
                              </m:d>
                            </m:e>
                            <m:sup>
                              <m:r>
                                <a:rPr lang="en-US" sz="2800" i="1">
                                  <a:solidFill>
                                    <a:schemeClr val="tx1"/>
                                  </a:solidFill>
                                  <a:latin typeface="Cambria Math" panose="02040503050406030204" pitchFamily="18" charset="0"/>
                                </a:rPr>
                                <m:t>2</m:t>
                              </m:r>
                            </m:sup>
                          </m:sSup>
                          <m:d>
                            <m:dPr>
                              <m:ctrlPr>
                                <a:rPr lang="en-US" sz="2800" i="1">
                                  <a:solidFill>
                                    <a:schemeClr val="tx1"/>
                                  </a:solidFill>
                                  <a:latin typeface="Cambria Math" panose="02040503050406030204" pitchFamily="18" charset="0"/>
                                </a:rPr>
                              </m:ctrlPr>
                            </m:dPr>
                            <m:e>
                              <m:r>
                                <a:rPr lang="en-US" sz="2800" i="1">
                                  <a:solidFill>
                                    <a:schemeClr val="tx1"/>
                                  </a:solidFill>
                                  <a:latin typeface="Cambria Math" panose="02040503050406030204" pitchFamily="18" charset="0"/>
                                </a:rPr>
                                <m:t>2</m:t>
                              </m:r>
                              <m:sSup>
                                <m:sSupPr>
                                  <m:ctrlPr>
                                    <a:rPr lang="en-US" sz="2800" i="1">
                                      <a:solidFill>
                                        <a:schemeClr val="tx1"/>
                                      </a:solidFill>
                                      <a:latin typeface="Cambria Math" panose="02040503050406030204" pitchFamily="18" charset="0"/>
                                    </a:rPr>
                                  </m:ctrlPr>
                                </m:sSupPr>
                                <m:e>
                                  <m:r>
                                    <a:rPr lang="en-US" sz="2800" i="1">
                                      <a:solidFill>
                                        <a:schemeClr val="tx1"/>
                                      </a:solidFill>
                                      <a:latin typeface="Cambria Math" panose="02040503050406030204" pitchFamily="18" charset="0"/>
                                    </a:rPr>
                                    <m:t>𝜎</m:t>
                                  </m:r>
                                </m:e>
                                <m:sup>
                                  <m:r>
                                    <a:rPr lang="en-US" sz="2800" i="1">
                                      <a:solidFill>
                                        <a:schemeClr val="tx1"/>
                                      </a:solidFill>
                                      <a:latin typeface="Cambria Math" panose="02040503050406030204" pitchFamily="18" charset="0"/>
                                    </a:rPr>
                                    <m:t>2</m:t>
                                  </m:r>
                                </m:sup>
                              </m:sSup>
                            </m:e>
                          </m:d>
                          <m:d>
                            <m:dPr>
                              <m:begChr m:val="["/>
                              <m:endChr m:val="]"/>
                              <m:ctrlPr>
                                <a:rPr lang="en-US" sz="2800" i="1">
                                  <a:solidFill>
                                    <a:schemeClr val="tx1"/>
                                  </a:solidFill>
                                  <a:latin typeface="Cambria Math" panose="02040503050406030204" pitchFamily="18" charset="0"/>
                                </a:rPr>
                              </m:ctrlPr>
                            </m:dPr>
                            <m:e>
                              <m:r>
                                <a:rPr lang="en-US" sz="2800" i="1">
                                  <a:solidFill>
                                    <a:schemeClr val="tx1"/>
                                  </a:solidFill>
                                  <a:latin typeface="Cambria Math" panose="02040503050406030204" pitchFamily="18" charset="0"/>
                                </a:rPr>
                                <m:t>1+</m:t>
                              </m:r>
                              <m:d>
                                <m:dPr>
                                  <m:ctrlPr>
                                    <a:rPr lang="en-US" sz="2800" i="1">
                                      <a:solidFill>
                                        <a:schemeClr val="tx1"/>
                                      </a:solidFill>
                                      <a:latin typeface="Cambria Math" panose="02040503050406030204" pitchFamily="18" charset="0"/>
                                    </a:rPr>
                                  </m:ctrlPr>
                                </m:dPr>
                                <m:e>
                                  <m:f>
                                    <m:fPr>
                                      <m:ctrlPr>
                                        <a:rPr lang="en-US" sz="2800" i="1" smtClean="0">
                                          <a:solidFill>
                                            <a:schemeClr val="tx1"/>
                                          </a:solidFill>
                                          <a:latin typeface="Cambria Math" panose="02040503050406030204" pitchFamily="18" charset="0"/>
                                        </a:rPr>
                                      </m:ctrlPr>
                                    </m:fPr>
                                    <m:num>
                                      <m:acc>
                                        <m:accPr>
                                          <m:chr m:val="̅"/>
                                          <m:ctrlPr>
                                            <a:rPr lang="en-US" altLang="en-US" sz="2800" b="0" i="1" smtClean="0">
                                              <a:solidFill>
                                                <a:schemeClr val="tx1"/>
                                              </a:solidFill>
                                              <a:latin typeface="Cambria Math" panose="02040503050406030204" pitchFamily="18" charset="0"/>
                                            </a:rPr>
                                          </m:ctrlPr>
                                        </m:accPr>
                                        <m:e>
                                          <m:r>
                                            <a:rPr lang="en-US" altLang="en-US" sz="2800" b="0" i="1" smtClean="0">
                                              <a:solidFill>
                                                <a:schemeClr val="tx1"/>
                                              </a:solidFill>
                                              <a:latin typeface="Cambria Math" panose="02040503050406030204" pitchFamily="18" charset="0"/>
                                            </a:rPr>
                                            <m:t>𝑚</m:t>
                                          </m:r>
                                        </m:e>
                                      </m:acc>
                                    </m:num>
                                    <m:den>
                                      <m:r>
                                        <a:rPr lang="en-US" sz="2800" i="1">
                                          <a:solidFill>
                                            <a:srgbClr val="000000"/>
                                          </a:solidFill>
                                          <a:latin typeface="Cambria Math" panose="02040503050406030204" pitchFamily="18" charset="0"/>
                                        </a:rPr>
                                        <m:t>1+</m:t>
                                      </m:r>
                                      <m:sSubSup>
                                        <m:sSubSupPr>
                                          <m:ctrlPr>
                                            <a:rPr lang="en-US" sz="2800" i="1">
                                              <a:solidFill>
                                                <a:srgbClr val="000000"/>
                                              </a:solidFill>
                                              <a:latin typeface="Cambria Math" panose="02040503050406030204" pitchFamily="18" charset="0"/>
                                            </a:rPr>
                                          </m:ctrlPr>
                                        </m:sSubSupPr>
                                        <m:e>
                                          <m:r>
                                            <a:rPr lang="en-US" sz="2800" i="1">
                                              <a:solidFill>
                                                <a:srgbClr val="000000"/>
                                              </a:solidFill>
                                              <a:latin typeface="Cambria Math" panose="02040503050406030204" pitchFamily="18" charset="0"/>
                                            </a:rPr>
                                            <m:t>𝐶𝑉</m:t>
                                          </m:r>
                                        </m:e>
                                        <m:sub>
                                          <m:r>
                                            <a:rPr lang="en-US" sz="2800" i="1">
                                              <a:solidFill>
                                                <a:srgbClr val="000000"/>
                                              </a:solidFill>
                                              <a:latin typeface="Cambria Math" panose="02040503050406030204" pitchFamily="18" charset="0"/>
                                            </a:rPr>
                                            <m:t>𝑚</m:t>
                                          </m:r>
                                        </m:sub>
                                        <m:sup>
                                          <m:r>
                                            <a:rPr lang="en-US" sz="2800" i="1">
                                              <a:solidFill>
                                                <a:srgbClr val="000000"/>
                                              </a:solidFill>
                                              <a:latin typeface="Cambria Math" panose="02040503050406030204" pitchFamily="18" charset="0"/>
                                            </a:rPr>
                                            <m:t>2</m:t>
                                          </m:r>
                                        </m:sup>
                                      </m:sSubSup>
                                    </m:den>
                                  </m:f>
                                  <m:r>
                                    <a:rPr lang="en-US" sz="2800" i="1">
                                      <a:solidFill>
                                        <a:schemeClr val="tx1"/>
                                      </a:solidFill>
                                      <a:latin typeface="Cambria Math" panose="02040503050406030204" pitchFamily="18" charset="0"/>
                                    </a:rPr>
                                    <m:t>−1</m:t>
                                  </m:r>
                                </m:e>
                              </m:d>
                              <m:r>
                                <a:rPr lang="en-US" sz="2800" i="1">
                                  <a:solidFill>
                                    <a:schemeClr val="tx1"/>
                                  </a:solidFill>
                                  <a:latin typeface="Cambria Math" panose="02040503050406030204" pitchFamily="18" charset="0"/>
                                </a:rPr>
                                <m:t>𝜌</m:t>
                              </m:r>
                            </m:e>
                          </m:d>
                        </m:num>
                        <m:den>
                          <m:f>
                            <m:fPr>
                              <m:ctrlPr>
                                <a:rPr lang="en-US" sz="2800" i="1">
                                  <a:latin typeface="Cambria Math" panose="02040503050406030204" pitchFamily="18" charset="0"/>
                                </a:rPr>
                              </m:ctrlPr>
                            </m:fPr>
                            <m:num>
                              <m:acc>
                                <m:accPr>
                                  <m:chr m:val="̅"/>
                                  <m:ctrlPr>
                                    <a:rPr lang="en-US" altLang="en-US" sz="2800" i="1">
                                      <a:latin typeface="Cambria Math" panose="02040503050406030204" pitchFamily="18" charset="0"/>
                                    </a:rPr>
                                  </m:ctrlPr>
                                </m:accPr>
                                <m:e>
                                  <m:r>
                                    <a:rPr lang="en-US" altLang="en-US" sz="2800" i="1">
                                      <a:latin typeface="Cambria Math" panose="02040503050406030204" pitchFamily="18" charset="0"/>
                                    </a:rPr>
                                    <m:t>𝑚</m:t>
                                  </m:r>
                                </m:e>
                              </m:acc>
                            </m:num>
                            <m:den>
                              <m:r>
                                <a:rPr lang="en-US" sz="2800" i="1">
                                  <a:solidFill>
                                    <a:srgbClr val="000000"/>
                                  </a:solidFill>
                                  <a:latin typeface="Cambria Math" panose="02040503050406030204" pitchFamily="18" charset="0"/>
                                </a:rPr>
                                <m:t>1+</m:t>
                              </m:r>
                              <m:sSubSup>
                                <m:sSubSupPr>
                                  <m:ctrlPr>
                                    <a:rPr lang="en-US" sz="2800" i="1">
                                      <a:solidFill>
                                        <a:srgbClr val="000000"/>
                                      </a:solidFill>
                                      <a:latin typeface="Cambria Math" panose="02040503050406030204" pitchFamily="18" charset="0"/>
                                    </a:rPr>
                                  </m:ctrlPr>
                                </m:sSubSupPr>
                                <m:e>
                                  <m:r>
                                    <a:rPr lang="en-US" sz="2800" i="1">
                                      <a:solidFill>
                                        <a:srgbClr val="000000"/>
                                      </a:solidFill>
                                      <a:latin typeface="Cambria Math" panose="02040503050406030204" pitchFamily="18" charset="0"/>
                                    </a:rPr>
                                    <m:t>𝐶𝑉</m:t>
                                  </m:r>
                                </m:e>
                                <m:sub>
                                  <m:r>
                                    <a:rPr lang="en-US" sz="2800" i="1">
                                      <a:solidFill>
                                        <a:srgbClr val="000000"/>
                                      </a:solidFill>
                                      <a:latin typeface="Cambria Math" panose="02040503050406030204" pitchFamily="18" charset="0"/>
                                    </a:rPr>
                                    <m:t>𝑚</m:t>
                                  </m:r>
                                </m:sub>
                                <m:sup>
                                  <m:r>
                                    <a:rPr lang="en-US" sz="2800" i="1">
                                      <a:solidFill>
                                        <a:srgbClr val="000000"/>
                                      </a:solidFill>
                                      <a:latin typeface="Cambria Math" panose="02040503050406030204" pitchFamily="18" charset="0"/>
                                    </a:rPr>
                                    <m:t>2</m:t>
                                  </m:r>
                                </m:sup>
                              </m:sSubSup>
                            </m:den>
                          </m:f>
                          <m:sSup>
                            <m:sSupPr>
                              <m:ctrlPr>
                                <a:rPr lang="en-US" sz="2800" i="1">
                                  <a:solidFill>
                                    <a:schemeClr val="tx1"/>
                                  </a:solidFill>
                                  <a:latin typeface="Cambria Math" panose="02040503050406030204" pitchFamily="18" charset="0"/>
                                </a:rPr>
                              </m:ctrlPr>
                            </m:sSupPr>
                            <m:e>
                              <m:d>
                                <m:dPr>
                                  <m:ctrlPr>
                                    <a:rPr lang="en-US" sz="2800" i="1">
                                      <a:solidFill>
                                        <a:schemeClr val="tx1"/>
                                      </a:solidFill>
                                      <a:latin typeface="Cambria Math" panose="02040503050406030204" pitchFamily="18" charset="0"/>
                                    </a:rPr>
                                  </m:ctrlPr>
                                </m:dPr>
                                <m:e>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𝜇</m:t>
                                      </m:r>
                                    </m:e>
                                    <m:sub>
                                      <m:r>
                                        <a:rPr lang="en-US" sz="2800" b="0" i="1" smtClean="0">
                                          <a:solidFill>
                                            <a:schemeClr val="tx1"/>
                                          </a:solidFill>
                                          <a:latin typeface="Cambria Math" panose="02040503050406030204" pitchFamily="18" charset="0"/>
                                        </a:rPr>
                                        <m:t>2</m:t>
                                      </m:r>
                                    </m:sub>
                                  </m:sSub>
                                  <m:r>
                                    <a:rPr lang="en-US" sz="280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𝜇</m:t>
                                      </m:r>
                                    </m:e>
                                    <m:sub>
                                      <m:r>
                                        <a:rPr lang="en-US" sz="2800" b="0" i="1" smtClean="0">
                                          <a:solidFill>
                                            <a:schemeClr val="tx1"/>
                                          </a:solidFill>
                                          <a:latin typeface="Cambria Math" panose="02040503050406030204" pitchFamily="18" charset="0"/>
                                        </a:rPr>
                                        <m:t>1</m:t>
                                      </m:r>
                                    </m:sub>
                                  </m:sSub>
                                </m:e>
                              </m:d>
                            </m:e>
                            <m:sup>
                              <m:r>
                                <a:rPr lang="en-US" sz="2800" i="1">
                                  <a:solidFill>
                                    <a:schemeClr val="tx1"/>
                                  </a:solidFill>
                                  <a:latin typeface="Cambria Math" panose="02040503050406030204" pitchFamily="18" charset="0"/>
                                </a:rPr>
                                <m:t>2</m:t>
                              </m:r>
                            </m:sup>
                          </m:sSup>
                        </m:den>
                      </m:f>
                      <m:r>
                        <a:rPr lang="en-US" sz="2800" b="0" i="1" smtClean="0">
                          <a:solidFill>
                            <a:schemeClr val="tx1"/>
                          </a:solidFill>
                          <a:latin typeface="Cambria Math" panose="02040503050406030204" pitchFamily="18" charset="0"/>
                        </a:rPr>
                        <m:t>,  </m:t>
                      </m:r>
                      <m:r>
                        <a:rPr lang="en-US" sz="2800" b="0" i="1" smtClean="0">
                          <a:solidFill>
                            <a:schemeClr val="tx1"/>
                          </a:solidFill>
                          <a:latin typeface="Cambria Math" panose="02040503050406030204" pitchFamily="18" charset="0"/>
                        </a:rPr>
                        <m:t>𝑎𝑛𝑑</m:t>
                      </m:r>
                    </m:oMath>
                  </m:oMathPara>
                </a14:m>
                <a:endParaRPr lang="en-US" sz="2800" dirty="0">
                  <a:solidFill>
                    <a:schemeClr val="tx1"/>
                  </a:solidFill>
                </a:endParaRPr>
              </a:p>
              <a:p>
                <a:pPr algn="ctr"/>
                <a:endParaRPr lang="en-US" sz="2800" dirty="0">
                  <a:solidFill>
                    <a:schemeClr val="tx1"/>
                  </a:solidFill>
                </a:endParaRPr>
              </a:p>
              <a:p>
                <a:pPr algn="ctr"/>
                <a14:m>
                  <m:oMath xmlns:m="http://schemas.openxmlformats.org/officeDocument/2006/math">
                    <m:acc>
                      <m:accPr>
                        <m:chr m:val="̅"/>
                        <m:ctrlPr>
                          <a:rPr lang="en-US" altLang="en-US" sz="2800" i="1">
                            <a:latin typeface="Cambria Math" panose="02040503050406030204" pitchFamily="18" charset="0"/>
                          </a:rPr>
                        </m:ctrlPr>
                      </m:accPr>
                      <m:e>
                        <m:r>
                          <a:rPr lang="en-US" altLang="en-US" sz="2800" i="1">
                            <a:latin typeface="Cambria Math" panose="02040503050406030204" pitchFamily="18" charset="0"/>
                          </a:rPr>
                          <m:t>𝑚</m:t>
                        </m:r>
                      </m:e>
                    </m:acc>
                    <m:r>
                      <a:rPr lang="en-US" sz="2800" i="1" smtClean="0">
                        <a:solidFill>
                          <a:schemeClr val="tx1"/>
                        </a:solidFill>
                        <a:latin typeface="Cambria Math" panose="02040503050406030204" pitchFamily="18" charset="0"/>
                      </a:rPr>
                      <m:t>=</m:t>
                    </m:r>
                    <m:f>
                      <m:fPr>
                        <m:ctrlPr>
                          <a:rPr lang="en-US" sz="2800" i="1">
                            <a:latin typeface="Cambria Math" panose="02040503050406030204" pitchFamily="18" charset="0"/>
                          </a:rPr>
                        </m:ctrlPr>
                      </m:fPr>
                      <m:num>
                        <m:d>
                          <m:dPr>
                            <m:begChr m:val="["/>
                            <m:endChr m:val="]"/>
                            <m:ctrlPr>
                              <a:rPr lang="en-US" sz="2800" i="1">
                                <a:latin typeface="Cambria Math" panose="02040503050406030204" pitchFamily="18" charset="0"/>
                              </a:rPr>
                            </m:ctrlPr>
                          </m:dPr>
                          <m:e>
                            <m:r>
                              <a:rPr lang="en-US" sz="2800" i="1">
                                <a:latin typeface="Cambria Math" panose="02040503050406030204" pitchFamily="18" charset="0"/>
                              </a:rPr>
                              <m:t>1−</m:t>
                            </m:r>
                            <m:r>
                              <a:rPr lang="en-US" sz="2800" i="1">
                                <a:latin typeface="Cambria Math" panose="02040503050406030204" pitchFamily="18" charset="0"/>
                              </a:rPr>
                              <m:t>𝜌</m:t>
                            </m:r>
                          </m:e>
                        </m:d>
                        <m:f>
                          <m:fPr>
                            <m:ctrlPr>
                              <a:rPr lang="en-US" sz="2800" i="1">
                                <a:latin typeface="Cambria Math" panose="02040503050406030204" pitchFamily="18" charset="0"/>
                              </a:rPr>
                            </m:ctrlPr>
                          </m:fPr>
                          <m:num>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m:rPr>
                                            <m:sty m:val="p"/>
                                          </m:rPr>
                                          <a:rPr lang="en-US" sz="2800" i="1">
                                            <a:latin typeface="Cambria Math" panose="02040503050406030204" pitchFamily="18" charset="0"/>
                                          </a:rPr>
                                          <m:t>Ζ</m:t>
                                        </m:r>
                                      </m:e>
                                      <m:sub>
                                        <m:r>
                                          <a:rPr lang="en-US" sz="2800" i="1">
                                            <a:latin typeface="Cambria Math" panose="02040503050406030204" pitchFamily="18" charset="0"/>
                                          </a:rPr>
                                          <m:t>𝛼</m:t>
                                        </m:r>
                                        <m:r>
                                          <a:rPr lang="en-US" sz="2800" i="1">
                                            <a:latin typeface="Cambria Math" panose="02040503050406030204" pitchFamily="18" charset="0"/>
                                          </a:rPr>
                                          <m:t>/2</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m:rPr>
                                            <m:sty m:val="p"/>
                                          </m:rPr>
                                          <a:rPr lang="en-US" sz="2800" i="1">
                                            <a:latin typeface="Cambria Math" panose="02040503050406030204" pitchFamily="18" charset="0"/>
                                          </a:rPr>
                                          <m:t>Ζ</m:t>
                                        </m:r>
                                      </m:e>
                                      <m:sub>
                                        <m:r>
                                          <a:rPr lang="en-US" sz="2800" i="1">
                                            <a:latin typeface="Cambria Math" panose="02040503050406030204" pitchFamily="18" charset="0"/>
                                          </a:rPr>
                                          <m:t>𝛽</m:t>
                                        </m:r>
                                      </m:sub>
                                    </m:sSub>
                                  </m:e>
                                </m:d>
                              </m:e>
                              <m:sup>
                                <m:r>
                                  <a:rPr lang="en-US" sz="2800" i="1">
                                    <a:latin typeface="Cambria Math" panose="02040503050406030204" pitchFamily="18" charset="0"/>
                                  </a:rPr>
                                  <m:t>2</m:t>
                                </m:r>
                              </m:sup>
                            </m:sSup>
                            <m:d>
                              <m:dPr>
                                <m:ctrlPr>
                                  <a:rPr lang="en-US" sz="2800" i="1">
                                    <a:latin typeface="Cambria Math" panose="02040503050406030204" pitchFamily="18" charset="0"/>
                                  </a:rPr>
                                </m:ctrlPr>
                              </m:dPr>
                              <m:e>
                                <m:r>
                                  <a:rPr lang="en-US" sz="2800" i="1">
                                    <a:latin typeface="Cambria Math" panose="02040503050406030204" pitchFamily="18" charset="0"/>
                                  </a:rPr>
                                  <m:t>2</m:t>
                                </m:r>
                                <m:sSup>
                                  <m:sSupPr>
                                    <m:ctrlPr>
                                      <a:rPr lang="en-US" sz="2800" i="1">
                                        <a:latin typeface="Cambria Math" panose="02040503050406030204" pitchFamily="18" charset="0"/>
                                      </a:rPr>
                                    </m:ctrlPr>
                                  </m:sSupPr>
                                  <m:e>
                                    <m:r>
                                      <a:rPr lang="en-US" sz="2800" i="1">
                                        <a:latin typeface="Cambria Math" panose="02040503050406030204" pitchFamily="18" charset="0"/>
                                      </a:rPr>
                                      <m:t>𝜎</m:t>
                                    </m:r>
                                  </m:e>
                                  <m:sup>
                                    <m:r>
                                      <a:rPr lang="en-US" sz="2800" i="1">
                                        <a:latin typeface="Cambria Math" panose="02040503050406030204" pitchFamily="18" charset="0"/>
                                      </a:rPr>
                                      <m:t>2</m:t>
                                    </m:r>
                                  </m:sup>
                                </m:sSup>
                              </m:e>
                            </m:d>
                          </m:num>
                          <m:den>
                            <m:r>
                              <a:rPr lang="en-US" sz="2800" i="1">
                                <a:latin typeface="Cambria Math" panose="02040503050406030204" pitchFamily="18" charset="0"/>
                              </a:rPr>
                              <m:t>𝐾</m:t>
                            </m:r>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𝜇</m:t>
                                        </m:r>
                                      </m:e>
                                      <m:sub>
                                        <m:r>
                                          <a:rPr lang="en-US" sz="2800" i="1">
                                            <a:latin typeface="Cambria Math" panose="02040503050406030204" pitchFamily="18" charset="0"/>
                                          </a:rPr>
                                          <m:t>2</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𝜇</m:t>
                                        </m:r>
                                      </m:e>
                                      <m:sub>
                                        <m:r>
                                          <a:rPr lang="en-US" sz="2800" i="1">
                                            <a:latin typeface="Cambria Math" panose="02040503050406030204" pitchFamily="18" charset="0"/>
                                          </a:rPr>
                                          <m:t>1</m:t>
                                        </m:r>
                                      </m:sub>
                                    </m:sSub>
                                  </m:e>
                                </m:d>
                              </m:e>
                              <m:sup>
                                <m:r>
                                  <a:rPr lang="en-US" sz="2800" i="1">
                                    <a:latin typeface="Cambria Math" panose="02040503050406030204" pitchFamily="18" charset="0"/>
                                  </a:rPr>
                                  <m:t>2</m:t>
                                </m:r>
                              </m:sup>
                            </m:sSup>
                          </m:den>
                        </m:f>
                      </m:num>
                      <m:den>
                        <m:r>
                          <a:rPr lang="en-US" sz="2800" i="1">
                            <a:latin typeface="Cambria Math" panose="02040503050406030204" pitchFamily="18" charset="0"/>
                          </a:rPr>
                          <m:t>1 − </m:t>
                        </m:r>
                        <m:f>
                          <m:fPr>
                            <m:ctrlPr>
                              <a:rPr lang="en-US" sz="2800" i="1">
                                <a:latin typeface="Cambria Math" panose="02040503050406030204" pitchFamily="18" charset="0"/>
                              </a:rPr>
                            </m:ctrlPr>
                          </m:fPr>
                          <m:num>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m:rPr>
                                            <m:sty m:val="p"/>
                                          </m:rPr>
                                          <a:rPr lang="en-US" sz="2800" i="1">
                                            <a:latin typeface="Cambria Math" panose="02040503050406030204" pitchFamily="18" charset="0"/>
                                          </a:rPr>
                                          <m:t>Ζ</m:t>
                                        </m:r>
                                      </m:e>
                                      <m:sub>
                                        <m:r>
                                          <a:rPr lang="en-US" sz="2800" i="1">
                                            <a:latin typeface="Cambria Math" panose="02040503050406030204" pitchFamily="18" charset="0"/>
                                          </a:rPr>
                                          <m:t>𝛼</m:t>
                                        </m:r>
                                        <m:r>
                                          <a:rPr lang="en-US" sz="2800" i="1">
                                            <a:latin typeface="Cambria Math" panose="02040503050406030204" pitchFamily="18" charset="0"/>
                                          </a:rPr>
                                          <m:t>/2</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m:rPr>
                                            <m:sty m:val="p"/>
                                          </m:rPr>
                                          <a:rPr lang="en-US" sz="2800" i="1">
                                            <a:latin typeface="Cambria Math" panose="02040503050406030204" pitchFamily="18" charset="0"/>
                                          </a:rPr>
                                          <m:t>Ζ</m:t>
                                        </m:r>
                                      </m:e>
                                      <m:sub>
                                        <m:r>
                                          <a:rPr lang="en-US" sz="2800" i="1">
                                            <a:latin typeface="Cambria Math" panose="02040503050406030204" pitchFamily="18" charset="0"/>
                                          </a:rPr>
                                          <m:t>𝛽</m:t>
                                        </m:r>
                                      </m:sub>
                                    </m:sSub>
                                  </m:e>
                                </m:d>
                              </m:e>
                              <m:sup>
                                <m:r>
                                  <a:rPr lang="en-US" sz="2800" i="1">
                                    <a:latin typeface="Cambria Math" panose="02040503050406030204" pitchFamily="18" charset="0"/>
                                  </a:rPr>
                                  <m:t>2</m:t>
                                </m:r>
                              </m:sup>
                            </m:sSup>
                            <m:d>
                              <m:dPr>
                                <m:ctrlPr>
                                  <a:rPr lang="en-US" sz="2800" i="1">
                                    <a:latin typeface="Cambria Math" panose="02040503050406030204" pitchFamily="18" charset="0"/>
                                  </a:rPr>
                                </m:ctrlPr>
                              </m:dPr>
                              <m:e>
                                <m:r>
                                  <a:rPr lang="en-US" sz="2800" i="1">
                                    <a:latin typeface="Cambria Math" panose="02040503050406030204" pitchFamily="18" charset="0"/>
                                  </a:rPr>
                                  <m:t>2</m:t>
                                </m:r>
                                <m:sSup>
                                  <m:sSupPr>
                                    <m:ctrlPr>
                                      <a:rPr lang="en-US" sz="2800" i="1">
                                        <a:latin typeface="Cambria Math" panose="02040503050406030204" pitchFamily="18" charset="0"/>
                                      </a:rPr>
                                    </m:ctrlPr>
                                  </m:sSupPr>
                                  <m:e>
                                    <m:r>
                                      <a:rPr lang="en-US" sz="2800" i="1">
                                        <a:latin typeface="Cambria Math" panose="02040503050406030204" pitchFamily="18" charset="0"/>
                                      </a:rPr>
                                      <m:t>𝜎</m:t>
                                    </m:r>
                                  </m:e>
                                  <m:sup>
                                    <m:r>
                                      <a:rPr lang="en-US" sz="2800" i="1">
                                        <a:latin typeface="Cambria Math" panose="02040503050406030204" pitchFamily="18" charset="0"/>
                                      </a:rPr>
                                      <m:t>2</m:t>
                                    </m:r>
                                  </m:sup>
                                </m:sSup>
                              </m:e>
                            </m:d>
                            <m:r>
                              <a:rPr lang="en-US" sz="2800" i="1">
                                <a:latin typeface="Cambria Math" panose="02040503050406030204" pitchFamily="18" charset="0"/>
                              </a:rPr>
                              <m:t>𝜌</m:t>
                            </m:r>
                          </m:num>
                          <m:den>
                            <m:r>
                              <a:rPr lang="en-US" sz="2800" i="1">
                                <a:latin typeface="Cambria Math" panose="02040503050406030204" pitchFamily="18" charset="0"/>
                              </a:rPr>
                              <m:t>𝐾</m:t>
                            </m:r>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𝜇</m:t>
                                        </m:r>
                                      </m:e>
                                      <m:sub>
                                        <m:r>
                                          <a:rPr lang="en-US" sz="2800" i="1">
                                            <a:latin typeface="Cambria Math" panose="02040503050406030204" pitchFamily="18" charset="0"/>
                                          </a:rPr>
                                          <m:t>2</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𝜇</m:t>
                                        </m:r>
                                      </m:e>
                                      <m:sub>
                                        <m:r>
                                          <a:rPr lang="en-US" sz="2800" i="1">
                                            <a:latin typeface="Cambria Math" panose="02040503050406030204" pitchFamily="18" charset="0"/>
                                          </a:rPr>
                                          <m:t>1</m:t>
                                        </m:r>
                                      </m:sub>
                                    </m:sSub>
                                  </m:e>
                                </m:d>
                              </m:e>
                              <m:sup>
                                <m:r>
                                  <a:rPr lang="en-US" sz="2800" i="1">
                                    <a:latin typeface="Cambria Math" panose="02040503050406030204" pitchFamily="18" charset="0"/>
                                  </a:rPr>
                                  <m:t>2</m:t>
                                </m:r>
                              </m:sup>
                            </m:sSup>
                          </m:den>
                        </m:f>
                        <m:r>
                          <a:rPr lang="en-US" sz="2800" i="1">
                            <a:latin typeface="Cambria Math" panose="02040503050406030204" pitchFamily="18" charset="0"/>
                          </a:rPr>
                          <m:t> </m:t>
                        </m:r>
                      </m:den>
                    </m:f>
                  </m:oMath>
                </a14:m>
                <a:r>
                  <a:rPr lang="en-US" sz="2800" dirty="0">
                    <a:solidFill>
                      <a:schemeClr val="tx1"/>
                    </a:solidFill>
                  </a:rPr>
                  <a:t> </a:t>
                </a:r>
                <a14:m>
                  <m:oMath xmlns:m="http://schemas.openxmlformats.org/officeDocument/2006/math">
                    <m:d>
                      <m:dPr>
                        <m:ctrlPr>
                          <a:rPr lang="en-US" sz="2800" i="1">
                            <a:solidFill>
                              <a:srgbClr val="000000"/>
                            </a:solidFill>
                            <a:latin typeface="Cambria Math" panose="02040503050406030204" pitchFamily="18" charset="0"/>
                          </a:rPr>
                        </m:ctrlPr>
                      </m:dPr>
                      <m:e>
                        <m:r>
                          <a:rPr lang="en-US" sz="2800" i="1">
                            <a:solidFill>
                              <a:srgbClr val="000000"/>
                            </a:solidFill>
                            <a:latin typeface="Cambria Math" panose="02040503050406030204" pitchFamily="18" charset="0"/>
                          </a:rPr>
                          <m:t>1+</m:t>
                        </m:r>
                        <m:sSubSup>
                          <m:sSubSupPr>
                            <m:ctrlPr>
                              <a:rPr lang="en-US" sz="2800" i="1">
                                <a:solidFill>
                                  <a:srgbClr val="000000"/>
                                </a:solidFill>
                                <a:latin typeface="Cambria Math" panose="02040503050406030204" pitchFamily="18" charset="0"/>
                              </a:rPr>
                            </m:ctrlPr>
                          </m:sSubSupPr>
                          <m:e>
                            <m:r>
                              <a:rPr lang="en-US" sz="2800" i="1">
                                <a:solidFill>
                                  <a:srgbClr val="000000"/>
                                </a:solidFill>
                                <a:latin typeface="Cambria Math" panose="02040503050406030204" pitchFamily="18" charset="0"/>
                              </a:rPr>
                              <m:t>𝐶𝑉</m:t>
                            </m:r>
                          </m:e>
                          <m:sub>
                            <m:r>
                              <a:rPr lang="en-US" sz="2800" i="1">
                                <a:solidFill>
                                  <a:srgbClr val="000000"/>
                                </a:solidFill>
                                <a:latin typeface="Cambria Math" panose="02040503050406030204" pitchFamily="18" charset="0"/>
                              </a:rPr>
                              <m:t>𝑚</m:t>
                            </m:r>
                          </m:sub>
                          <m:sup>
                            <m:r>
                              <a:rPr lang="en-US" sz="2800" i="1">
                                <a:solidFill>
                                  <a:srgbClr val="000000"/>
                                </a:solidFill>
                                <a:latin typeface="Cambria Math" panose="02040503050406030204" pitchFamily="18" charset="0"/>
                              </a:rPr>
                              <m:t>2</m:t>
                            </m:r>
                          </m:sup>
                        </m:sSubSup>
                      </m:e>
                    </m:d>
                    <m:r>
                      <a:rPr lang="en-US" sz="2800" b="0" i="1" smtClean="0">
                        <a:solidFill>
                          <a:srgbClr val="000000"/>
                        </a:solidFill>
                        <a:latin typeface="Cambria Math" panose="02040503050406030204" pitchFamily="18" charset="0"/>
                      </a:rPr>
                      <m:t>= </m:t>
                    </m:r>
                    <m:r>
                      <a:rPr lang="en-US" sz="2800" b="0" i="1" smtClean="0">
                        <a:solidFill>
                          <a:srgbClr val="000000"/>
                        </a:solidFill>
                        <a:latin typeface="Cambria Math" panose="02040503050406030204" pitchFamily="18" charset="0"/>
                        <a:ea typeface="Cambria Math" panose="02040503050406030204" pitchFamily="18" charset="0"/>
                      </a:rPr>
                      <m:t>∙∙∙ = </m:t>
                    </m:r>
                    <m:f>
                      <m:fPr>
                        <m:ctrlPr>
                          <a:rPr lang="en-US" sz="2800" b="0" i="1" smtClean="0">
                            <a:solidFill>
                              <a:srgbClr val="000000"/>
                            </a:solidFill>
                            <a:latin typeface="Cambria Math" panose="02040503050406030204" pitchFamily="18" charset="0"/>
                            <a:ea typeface="Cambria Math" panose="02040503050406030204" pitchFamily="18" charset="0"/>
                          </a:rPr>
                        </m:ctrlPr>
                      </m:fPr>
                      <m:num>
                        <m:r>
                          <a:rPr lang="en-US" sz="2800" b="0" i="1" smtClean="0">
                            <a:solidFill>
                              <a:srgbClr val="000000"/>
                            </a:solidFill>
                            <a:latin typeface="Cambria Math" panose="02040503050406030204" pitchFamily="18" charset="0"/>
                            <a:ea typeface="Cambria Math" panose="02040503050406030204" pitchFamily="18" charset="0"/>
                          </a:rPr>
                          <m:t>2</m:t>
                        </m:r>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m:rPr>
                                        <m:sty m:val="p"/>
                                      </m:rPr>
                                      <a:rPr lang="en-US" sz="2800" i="1">
                                        <a:latin typeface="Cambria Math" panose="02040503050406030204" pitchFamily="18" charset="0"/>
                                      </a:rPr>
                                      <m:t>Ζ</m:t>
                                    </m:r>
                                  </m:e>
                                  <m:sub>
                                    <m:r>
                                      <a:rPr lang="en-US" sz="2800" i="1" smtClean="0">
                                        <a:latin typeface="Cambria Math" panose="02040503050406030204" pitchFamily="18" charset="0"/>
                                        <a:ea typeface="Cambria Math" panose="02040503050406030204" pitchFamily="18" charset="0"/>
                                      </a:rPr>
                                      <m:t>𝛼</m:t>
                                    </m:r>
                                    <m:r>
                                      <a:rPr lang="en-US" sz="2800" b="0" i="1" smtClean="0">
                                        <a:latin typeface="Cambria Math" panose="02040503050406030204" pitchFamily="18" charset="0"/>
                                        <a:ea typeface="Cambria Math" panose="02040503050406030204" pitchFamily="18" charset="0"/>
                                      </a:rPr>
                                      <m:t>/2</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m:rPr>
                                        <m:sty m:val="p"/>
                                      </m:rPr>
                                      <a:rPr lang="en-US" sz="2800" i="1">
                                        <a:latin typeface="Cambria Math" panose="02040503050406030204" pitchFamily="18" charset="0"/>
                                      </a:rPr>
                                      <m:t>Ζ</m:t>
                                    </m:r>
                                  </m:e>
                                  <m:sub>
                                    <m:r>
                                      <a:rPr lang="en-US" sz="2800" i="1">
                                        <a:latin typeface="Cambria Math" panose="02040503050406030204" pitchFamily="18" charset="0"/>
                                      </a:rPr>
                                      <m:t>𝛽</m:t>
                                    </m:r>
                                  </m:sub>
                                </m:sSub>
                              </m:e>
                            </m:d>
                          </m:e>
                          <m:sup>
                            <m:r>
                              <a:rPr lang="en-US" sz="2800" i="1">
                                <a:latin typeface="Cambria Math" panose="02040503050406030204" pitchFamily="18" charset="0"/>
                              </a:rPr>
                              <m:t>2</m:t>
                            </m:r>
                          </m:sup>
                        </m:sSup>
                        <m:sSup>
                          <m:sSupPr>
                            <m:ctrlPr>
                              <a:rPr lang="en-US" sz="2800" i="1">
                                <a:latin typeface="Cambria Math" panose="02040503050406030204" pitchFamily="18" charset="0"/>
                              </a:rPr>
                            </m:ctrlPr>
                          </m:sSupPr>
                          <m:e>
                            <m:r>
                              <a:rPr lang="en-US" sz="2800" i="1">
                                <a:latin typeface="Cambria Math" panose="02040503050406030204" pitchFamily="18" charset="0"/>
                              </a:rPr>
                              <m:t>𝜎</m:t>
                            </m:r>
                          </m:e>
                          <m:sup>
                            <m:r>
                              <a:rPr lang="en-US" sz="2800" i="1">
                                <a:latin typeface="Cambria Math" panose="02040503050406030204" pitchFamily="18" charset="0"/>
                              </a:rPr>
                              <m:t>2</m:t>
                            </m:r>
                          </m:sup>
                        </m:sSup>
                        <m:r>
                          <a:rPr lang="en-US" sz="2800" b="0" i="1" smtClean="0">
                            <a:latin typeface="Cambria Math" panose="02040503050406030204" pitchFamily="18" charset="0"/>
                          </a:rPr>
                          <m:t>[1−</m:t>
                        </m:r>
                        <m:r>
                          <a:rPr lang="en-US" sz="2800" b="0" i="1" smtClean="0">
                            <a:latin typeface="Cambria Math" panose="02040503050406030204" pitchFamily="18" charset="0"/>
                            <a:ea typeface="Cambria Math" panose="02040503050406030204" pitchFamily="18" charset="0"/>
                          </a:rPr>
                          <m:t>𝜌</m:t>
                        </m:r>
                        <m:r>
                          <a:rPr lang="en-US" sz="2800" b="0" i="1" smtClean="0">
                            <a:latin typeface="Cambria Math" panose="02040503050406030204" pitchFamily="18" charset="0"/>
                            <a:ea typeface="Cambria Math" panose="02040503050406030204" pitchFamily="18" charset="0"/>
                          </a:rPr>
                          <m:t>]</m:t>
                        </m:r>
                      </m:num>
                      <m:den>
                        <m:r>
                          <a:rPr lang="en-US" sz="2800" b="0" i="1" smtClean="0">
                            <a:solidFill>
                              <a:srgbClr val="000000"/>
                            </a:solidFill>
                            <a:latin typeface="Cambria Math" panose="02040503050406030204" pitchFamily="18" charset="0"/>
                            <a:ea typeface="Cambria Math" panose="02040503050406030204" pitchFamily="18" charset="0"/>
                          </a:rPr>
                          <m:t>𝐾</m:t>
                        </m:r>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𝜇</m:t>
                                    </m:r>
                                  </m:e>
                                  <m:sub>
                                    <m:r>
                                      <a:rPr lang="en-US" sz="2800" i="1">
                                        <a:latin typeface="Cambria Math" panose="02040503050406030204" pitchFamily="18" charset="0"/>
                                      </a:rPr>
                                      <m:t>2</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𝜇</m:t>
                                    </m:r>
                                  </m:e>
                                  <m:sub>
                                    <m:r>
                                      <a:rPr lang="en-US" sz="2800" i="1">
                                        <a:latin typeface="Cambria Math" panose="02040503050406030204" pitchFamily="18" charset="0"/>
                                      </a:rPr>
                                      <m:t>1</m:t>
                                    </m:r>
                                  </m:sub>
                                </m:sSub>
                              </m:e>
                            </m:d>
                          </m:e>
                          <m:sup>
                            <m:r>
                              <a:rPr lang="en-US" sz="2800" i="1">
                                <a:latin typeface="Cambria Math" panose="02040503050406030204" pitchFamily="18" charset="0"/>
                              </a:rPr>
                              <m:t>2</m:t>
                            </m:r>
                          </m:sup>
                        </m:sSup>
                        <m:r>
                          <a:rPr lang="en-US" sz="2800" b="0" i="1" smtClean="0">
                            <a:latin typeface="Cambria Math" panose="02040503050406030204" pitchFamily="18" charset="0"/>
                          </a:rPr>
                          <m:t>−</m:t>
                        </m:r>
                        <m:r>
                          <a:rPr lang="en-US" sz="2800" i="1">
                            <a:solidFill>
                              <a:srgbClr val="000000"/>
                            </a:solidFill>
                            <a:latin typeface="Cambria Math" panose="02040503050406030204" pitchFamily="18" charset="0"/>
                            <a:ea typeface="Cambria Math" panose="02040503050406030204" pitchFamily="18" charset="0"/>
                          </a:rPr>
                          <m:t>2</m:t>
                        </m:r>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m:rPr>
                                        <m:sty m:val="p"/>
                                      </m:rPr>
                                      <a:rPr lang="en-US" sz="2800" i="1">
                                        <a:latin typeface="Cambria Math" panose="02040503050406030204" pitchFamily="18" charset="0"/>
                                      </a:rPr>
                                      <m:t>Ζ</m:t>
                                    </m:r>
                                  </m:e>
                                  <m:sub>
                                    <m:r>
                                      <a:rPr lang="en-US" sz="2800" i="1">
                                        <a:latin typeface="Cambria Math" panose="02040503050406030204" pitchFamily="18" charset="0"/>
                                        <a:ea typeface="Cambria Math" panose="02040503050406030204" pitchFamily="18" charset="0"/>
                                      </a:rPr>
                                      <m:t>𝛼</m:t>
                                    </m:r>
                                    <m:r>
                                      <a:rPr lang="en-US" sz="2800" i="1">
                                        <a:latin typeface="Cambria Math" panose="02040503050406030204" pitchFamily="18" charset="0"/>
                                        <a:ea typeface="Cambria Math" panose="02040503050406030204" pitchFamily="18" charset="0"/>
                                      </a:rPr>
                                      <m:t>/2</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m:rPr>
                                        <m:sty m:val="p"/>
                                      </m:rPr>
                                      <a:rPr lang="en-US" sz="2800" i="1">
                                        <a:latin typeface="Cambria Math" panose="02040503050406030204" pitchFamily="18" charset="0"/>
                                      </a:rPr>
                                      <m:t>Ζ</m:t>
                                    </m:r>
                                  </m:e>
                                  <m:sub>
                                    <m:r>
                                      <a:rPr lang="en-US" sz="2800" i="1">
                                        <a:latin typeface="Cambria Math" panose="02040503050406030204" pitchFamily="18" charset="0"/>
                                      </a:rPr>
                                      <m:t>𝛽</m:t>
                                    </m:r>
                                  </m:sub>
                                </m:sSub>
                              </m:e>
                            </m:d>
                          </m:e>
                          <m:sup>
                            <m:r>
                              <a:rPr lang="en-US" sz="2800" i="1">
                                <a:latin typeface="Cambria Math" panose="02040503050406030204" pitchFamily="18" charset="0"/>
                              </a:rPr>
                              <m:t>2</m:t>
                            </m:r>
                          </m:sup>
                        </m:sSup>
                        <m:sSup>
                          <m:sSupPr>
                            <m:ctrlPr>
                              <a:rPr lang="en-US" sz="2800" i="1">
                                <a:latin typeface="Cambria Math" panose="02040503050406030204" pitchFamily="18" charset="0"/>
                              </a:rPr>
                            </m:ctrlPr>
                          </m:sSupPr>
                          <m:e>
                            <m:r>
                              <a:rPr lang="en-US" sz="2800" i="1">
                                <a:latin typeface="Cambria Math" panose="02040503050406030204" pitchFamily="18" charset="0"/>
                              </a:rPr>
                              <m:t>𝜎</m:t>
                            </m:r>
                          </m:e>
                          <m:sup>
                            <m:r>
                              <a:rPr lang="en-US" sz="2800" i="1">
                                <a:latin typeface="Cambria Math" panose="02040503050406030204" pitchFamily="18" charset="0"/>
                              </a:rPr>
                              <m:t>2</m:t>
                            </m:r>
                          </m:sup>
                        </m:sSup>
                        <m:r>
                          <a:rPr lang="en-US" sz="2800" i="1">
                            <a:latin typeface="Cambria Math" panose="02040503050406030204" pitchFamily="18" charset="0"/>
                            <a:ea typeface="Cambria Math" panose="02040503050406030204" pitchFamily="18" charset="0"/>
                          </a:rPr>
                          <m:t>𝜌</m:t>
                        </m:r>
                      </m:den>
                    </m:f>
                  </m:oMath>
                </a14:m>
                <a:r>
                  <a:rPr lang="en-US" sz="2800" dirty="0">
                    <a:solidFill>
                      <a:srgbClr val="000000"/>
                    </a:solidFill>
                  </a:rPr>
                  <a:t> </a:t>
                </a:r>
                <a14:m>
                  <m:oMath xmlns:m="http://schemas.openxmlformats.org/officeDocument/2006/math">
                    <m:d>
                      <m:dPr>
                        <m:ctrlPr>
                          <a:rPr lang="en-US" sz="2800" i="1">
                            <a:solidFill>
                              <a:srgbClr val="000000"/>
                            </a:solidFill>
                            <a:latin typeface="Cambria Math" panose="02040503050406030204" pitchFamily="18" charset="0"/>
                          </a:rPr>
                        </m:ctrlPr>
                      </m:dPr>
                      <m:e>
                        <m:r>
                          <a:rPr lang="en-US" sz="2800" i="1">
                            <a:solidFill>
                              <a:srgbClr val="000000"/>
                            </a:solidFill>
                            <a:latin typeface="Cambria Math" panose="02040503050406030204" pitchFamily="18" charset="0"/>
                          </a:rPr>
                          <m:t>1+</m:t>
                        </m:r>
                        <m:sSubSup>
                          <m:sSubSupPr>
                            <m:ctrlPr>
                              <a:rPr lang="en-US" sz="2800" i="1">
                                <a:solidFill>
                                  <a:srgbClr val="000000"/>
                                </a:solidFill>
                                <a:latin typeface="Cambria Math" panose="02040503050406030204" pitchFamily="18" charset="0"/>
                              </a:rPr>
                            </m:ctrlPr>
                          </m:sSubSupPr>
                          <m:e>
                            <m:r>
                              <a:rPr lang="en-US" sz="2800" i="1">
                                <a:solidFill>
                                  <a:srgbClr val="000000"/>
                                </a:solidFill>
                                <a:latin typeface="Cambria Math" panose="02040503050406030204" pitchFamily="18" charset="0"/>
                              </a:rPr>
                              <m:t>𝐶𝑉</m:t>
                            </m:r>
                          </m:e>
                          <m:sub>
                            <m:r>
                              <a:rPr lang="en-US" sz="2800" i="1">
                                <a:solidFill>
                                  <a:srgbClr val="000000"/>
                                </a:solidFill>
                                <a:latin typeface="Cambria Math" panose="02040503050406030204" pitchFamily="18" charset="0"/>
                              </a:rPr>
                              <m:t>𝑚</m:t>
                            </m:r>
                          </m:sub>
                          <m:sup>
                            <m:r>
                              <a:rPr lang="en-US" sz="2800" i="1">
                                <a:solidFill>
                                  <a:srgbClr val="000000"/>
                                </a:solidFill>
                                <a:latin typeface="Cambria Math" panose="02040503050406030204" pitchFamily="18" charset="0"/>
                              </a:rPr>
                              <m:t>2</m:t>
                            </m:r>
                          </m:sup>
                        </m:sSubSup>
                      </m:e>
                    </m:d>
                  </m:oMath>
                </a14:m>
                <a:endParaRPr lang="en-US" sz="2800" dirty="0">
                  <a:solidFill>
                    <a:schemeClr val="tx1"/>
                  </a:solidFill>
                </a:endParaRPr>
              </a:p>
              <a:p>
                <a:endParaRPr lang="en-US" sz="2800" dirty="0"/>
              </a:p>
            </p:txBody>
          </p:sp>
        </mc:Choice>
        <mc:Fallback xmlns="">
          <p:sp>
            <p:nvSpPr>
              <p:cNvPr id="2" name="TextBox 1">
                <a:extLst>
                  <a:ext uri="{FF2B5EF4-FFF2-40B4-BE49-F238E27FC236}">
                    <a16:creationId xmlns:a16="http://schemas.microsoft.com/office/drawing/2014/main" id="{03549310-25AE-42A8-911A-336D23532843}"/>
                  </a:ext>
                </a:extLst>
              </p:cNvPr>
              <p:cNvSpPr txBox="1">
                <a:spLocks noRot="1" noChangeAspect="1" noMove="1" noResize="1" noEditPoints="1" noAdjustHandles="1" noChangeArrowheads="1" noChangeShapeType="1" noTextEdit="1"/>
              </p:cNvSpPr>
              <p:nvPr/>
            </p:nvSpPr>
            <p:spPr>
              <a:xfrm>
                <a:off x="0" y="207034"/>
                <a:ext cx="12192000" cy="5676297"/>
              </a:xfrm>
              <a:prstGeom prst="rect">
                <a:avLst/>
              </a:prstGeom>
              <a:blipFill>
                <a:blip r:embed="rId4"/>
                <a:stretch>
                  <a:fillRect l="-1000" t="-1074" r="-750"/>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3BB2BEBF-3F58-A04F-A788-E073C6106AD4}"/>
              </a:ext>
            </a:extLst>
          </p:cNvPr>
          <p:cNvSpPr>
            <a:spLocks noGrp="1"/>
          </p:cNvSpPr>
          <p:nvPr>
            <p:ph type="ftr" sz="quarter" idx="11"/>
          </p:nvPr>
        </p:nvSpPr>
        <p:spPr>
          <a:xfrm>
            <a:off x="381000" y="5607592"/>
            <a:ext cx="10097814" cy="201959"/>
          </a:xfrm>
        </p:spPr>
        <p:txBody>
          <a:bodyPr/>
          <a:lstStyle/>
          <a:p>
            <a:pPr algn="l"/>
            <a:r>
              <a:rPr lang="en-US" dirty="0"/>
              <a:t>Manatunga, A.K., Hudgens, M.G. and Chen, S. (2001), Sample Size Estimation in Cluster Randomized Studies with Varying Cluster Size. </a:t>
            </a:r>
            <a:r>
              <a:rPr lang="en-US" dirty="0" err="1"/>
              <a:t>Biom</a:t>
            </a:r>
            <a:r>
              <a:rPr lang="en-US" dirty="0"/>
              <a:t>. J., 43: 75-86. </a:t>
            </a:r>
            <a:r>
              <a:rPr lang="en-US" dirty="0">
                <a:hlinkClick r:id="rId5"/>
              </a:rPr>
              <a:t>https://doi.org/10.1002/1521-4036(200102)43:1&lt;75::AID-BIMJ75&gt;3.0.CO;2-N</a:t>
            </a:r>
            <a:endParaRPr lang="en-US" dirty="0"/>
          </a:p>
        </p:txBody>
      </p:sp>
      <p:sp>
        <p:nvSpPr>
          <p:cNvPr id="4" name="Slide Number Placeholder 3">
            <a:extLst>
              <a:ext uri="{FF2B5EF4-FFF2-40B4-BE49-F238E27FC236}">
                <a16:creationId xmlns:a16="http://schemas.microsoft.com/office/drawing/2014/main" id="{E8434590-0637-C95E-147B-6C2D53739212}"/>
              </a:ext>
            </a:extLst>
          </p:cNvPr>
          <p:cNvSpPr>
            <a:spLocks noGrp="1"/>
          </p:cNvSpPr>
          <p:nvPr>
            <p:ph type="sldNum" sz="quarter" idx="12"/>
          </p:nvPr>
        </p:nvSpPr>
        <p:spPr/>
        <p:txBody>
          <a:bodyPr/>
          <a:lstStyle/>
          <a:p>
            <a:fld id="{77C6A7FE-225D-49F1-B302-AA37EA92BB49}" type="slidenum">
              <a:rPr lang="en-US" smtClean="0"/>
              <a:t>35</a:t>
            </a:fld>
            <a:endParaRPr lang="en-US"/>
          </a:p>
        </p:txBody>
      </p:sp>
    </p:spTree>
    <p:extLst>
      <p:ext uri="{BB962C8B-B14F-4D97-AF65-F5344CB8AC3E}">
        <p14:creationId xmlns:p14="http://schemas.microsoft.com/office/powerpoint/2010/main" val="2467687965"/>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019D1-4010-75B8-E620-F5955140B80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0576D50-8077-C5DE-2029-DD606411CD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D7F2BA7-C02D-D6D6-3802-4E3178888C63}"/>
                  </a:ext>
                </a:extLst>
              </p:cNvPr>
              <p:cNvSpPr txBox="1"/>
              <p:nvPr/>
            </p:nvSpPr>
            <p:spPr>
              <a:xfrm>
                <a:off x="0" y="207034"/>
                <a:ext cx="12192000" cy="5002267"/>
              </a:xfrm>
              <a:prstGeom prst="rect">
                <a:avLst/>
              </a:prstGeom>
              <a:noFill/>
            </p:spPr>
            <p:txBody>
              <a:bodyPr wrap="square" rtlCol="0">
                <a:spAutoFit/>
              </a:bodyPr>
              <a:lstStyle/>
              <a:p>
                <a:r>
                  <a:rPr lang="en-US" sz="2800" dirty="0"/>
                  <a:t>Alternatively and, in general, more accurately, for variable sized clusters, we can adjust the study design formulas as given by Van </a:t>
                </a:r>
                <a:r>
                  <a:rPr lang="en-US" sz="2800" dirty="0" err="1"/>
                  <a:t>Brukelen</a:t>
                </a:r>
                <a:r>
                  <a:rPr lang="en-US" sz="2800" dirty="0"/>
                  <a:t> et al [2007]. </a:t>
                </a:r>
              </a:p>
              <a:p>
                <a:endParaRPr lang="en-US" sz="2800" dirty="0"/>
              </a:p>
              <a:p>
                <a:r>
                  <a:rPr lang="en-US" sz="2800" dirty="0"/>
                  <a:t>Then,</a:t>
                </a:r>
              </a:p>
              <a:p>
                <a:endParaRPr lang="en-US" sz="2800" dirty="0"/>
              </a:p>
              <a:p>
                <a:pPr algn="ctr"/>
                <a14:m>
                  <m:oMathPara xmlns:m="http://schemas.openxmlformats.org/officeDocument/2006/math">
                    <m:oMathParaPr>
                      <m:jc m:val="centerGroup"/>
                    </m:oMathParaPr>
                    <m:oMath xmlns:m="http://schemas.openxmlformats.org/officeDocument/2006/math">
                      <m:r>
                        <a:rPr lang="en-US" altLang="en-US" sz="2800" b="0" i="1" smtClean="0">
                          <a:latin typeface="Cambria Math" panose="02040503050406030204" pitchFamily="18" charset="0"/>
                        </a:rPr>
                        <m:t>𝐾</m:t>
                      </m:r>
                      <m:r>
                        <a:rPr lang="en-US" altLang="en-US" sz="2800" i="1">
                          <a:latin typeface="Cambria Math" panose="02040503050406030204" pitchFamily="18" charset="0"/>
                        </a:rPr>
                        <m:t> </m:t>
                      </m:r>
                      <m:r>
                        <a:rPr lang="en-US" sz="2800" i="1" smtClean="0">
                          <a:solidFill>
                            <a:schemeClr val="tx1"/>
                          </a:solidFill>
                          <a:latin typeface="Cambria Math" panose="02040503050406030204" pitchFamily="18" charset="0"/>
                        </a:rPr>
                        <m:t>=</m:t>
                      </m:r>
                      <m:f>
                        <m:fPr>
                          <m:ctrlPr>
                            <a:rPr lang="en-US" sz="2800" i="1">
                              <a:solidFill>
                                <a:schemeClr val="tx1"/>
                              </a:solidFill>
                              <a:latin typeface="Cambria Math" panose="02040503050406030204" pitchFamily="18" charset="0"/>
                            </a:rPr>
                          </m:ctrlPr>
                        </m:fPr>
                        <m:num>
                          <m:sSup>
                            <m:sSupPr>
                              <m:ctrlPr>
                                <a:rPr lang="en-US" sz="2800" i="1">
                                  <a:solidFill>
                                    <a:schemeClr val="tx1"/>
                                  </a:solidFill>
                                  <a:latin typeface="Cambria Math" panose="02040503050406030204" pitchFamily="18" charset="0"/>
                                </a:rPr>
                              </m:ctrlPr>
                            </m:sSupPr>
                            <m:e>
                              <m:d>
                                <m:dPr>
                                  <m:ctrlPr>
                                    <a:rPr lang="en-US" sz="2800" i="1">
                                      <a:solidFill>
                                        <a:schemeClr val="tx1"/>
                                      </a:solidFill>
                                      <a:latin typeface="Cambria Math" panose="02040503050406030204" pitchFamily="18" charset="0"/>
                                    </a:rPr>
                                  </m:ctrlPr>
                                </m:dPr>
                                <m:e>
                                  <m:sSub>
                                    <m:sSubPr>
                                      <m:ctrlPr>
                                        <a:rPr lang="en-US" sz="2800" i="1">
                                          <a:solidFill>
                                            <a:schemeClr val="tx1"/>
                                          </a:solidFill>
                                          <a:latin typeface="Cambria Math" panose="02040503050406030204" pitchFamily="18" charset="0"/>
                                        </a:rPr>
                                      </m:ctrlPr>
                                    </m:sSubPr>
                                    <m:e>
                                      <m:r>
                                        <m:rPr>
                                          <m:sty m:val="p"/>
                                        </m:rPr>
                                        <a:rPr lang="en-US" sz="2800" i="1">
                                          <a:solidFill>
                                            <a:schemeClr val="tx1"/>
                                          </a:solidFill>
                                          <a:latin typeface="Cambria Math" panose="02040503050406030204" pitchFamily="18" charset="0"/>
                                        </a:rPr>
                                        <m:t>Ζ</m:t>
                                      </m:r>
                                    </m:e>
                                    <m:sub>
                                      <m:r>
                                        <a:rPr lang="en-US" sz="2800" i="1">
                                          <a:solidFill>
                                            <a:schemeClr val="tx1"/>
                                          </a:solidFill>
                                          <a:latin typeface="Cambria Math" panose="02040503050406030204" pitchFamily="18" charset="0"/>
                                        </a:rPr>
                                        <m:t>𝛼</m:t>
                                      </m:r>
                                      <m:r>
                                        <a:rPr lang="en-US" sz="2800" i="1">
                                          <a:solidFill>
                                            <a:schemeClr val="tx1"/>
                                          </a:solidFill>
                                          <a:latin typeface="Cambria Math" panose="02040503050406030204" pitchFamily="18" charset="0"/>
                                        </a:rPr>
                                        <m:t>/2</m:t>
                                      </m:r>
                                    </m:sub>
                                  </m:sSub>
                                  <m:r>
                                    <a:rPr lang="en-US" sz="280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r>
                                        <m:rPr>
                                          <m:sty m:val="p"/>
                                        </m:rPr>
                                        <a:rPr lang="en-US" sz="2800" i="1">
                                          <a:solidFill>
                                            <a:schemeClr val="tx1"/>
                                          </a:solidFill>
                                          <a:latin typeface="Cambria Math" panose="02040503050406030204" pitchFamily="18" charset="0"/>
                                        </a:rPr>
                                        <m:t>Ζ</m:t>
                                      </m:r>
                                    </m:e>
                                    <m:sub>
                                      <m:r>
                                        <a:rPr lang="en-US" sz="2800" i="1">
                                          <a:solidFill>
                                            <a:schemeClr val="tx1"/>
                                          </a:solidFill>
                                          <a:latin typeface="Cambria Math" panose="02040503050406030204" pitchFamily="18" charset="0"/>
                                        </a:rPr>
                                        <m:t>𝛽</m:t>
                                      </m:r>
                                    </m:sub>
                                  </m:sSub>
                                </m:e>
                              </m:d>
                            </m:e>
                            <m:sup>
                              <m:r>
                                <a:rPr lang="en-US" sz="2800" i="1">
                                  <a:solidFill>
                                    <a:schemeClr val="tx1"/>
                                  </a:solidFill>
                                  <a:latin typeface="Cambria Math" panose="02040503050406030204" pitchFamily="18" charset="0"/>
                                </a:rPr>
                                <m:t>2</m:t>
                              </m:r>
                            </m:sup>
                          </m:sSup>
                          <m:d>
                            <m:dPr>
                              <m:ctrlPr>
                                <a:rPr lang="en-US" sz="2800" i="1">
                                  <a:solidFill>
                                    <a:schemeClr val="tx1"/>
                                  </a:solidFill>
                                  <a:latin typeface="Cambria Math" panose="02040503050406030204" pitchFamily="18" charset="0"/>
                                </a:rPr>
                              </m:ctrlPr>
                            </m:dPr>
                            <m:e>
                              <m:r>
                                <a:rPr lang="en-US" sz="2800" i="1">
                                  <a:solidFill>
                                    <a:schemeClr val="tx1"/>
                                  </a:solidFill>
                                  <a:latin typeface="Cambria Math" panose="02040503050406030204" pitchFamily="18" charset="0"/>
                                </a:rPr>
                                <m:t>2</m:t>
                              </m:r>
                              <m:sSup>
                                <m:sSupPr>
                                  <m:ctrlPr>
                                    <a:rPr lang="en-US" sz="2800" i="1">
                                      <a:solidFill>
                                        <a:schemeClr val="tx1"/>
                                      </a:solidFill>
                                      <a:latin typeface="Cambria Math" panose="02040503050406030204" pitchFamily="18" charset="0"/>
                                    </a:rPr>
                                  </m:ctrlPr>
                                </m:sSupPr>
                                <m:e>
                                  <m:r>
                                    <a:rPr lang="en-US" sz="2800" i="1">
                                      <a:solidFill>
                                        <a:schemeClr val="tx1"/>
                                      </a:solidFill>
                                      <a:latin typeface="Cambria Math" panose="02040503050406030204" pitchFamily="18" charset="0"/>
                                    </a:rPr>
                                    <m:t>𝜎</m:t>
                                  </m:r>
                                </m:e>
                                <m:sup>
                                  <m:r>
                                    <a:rPr lang="en-US" sz="2800" i="1">
                                      <a:solidFill>
                                        <a:schemeClr val="tx1"/>
                                      </a:solidFill>
                                      <a:latin typeface="Cambria Math" panose="02040503050406030204" pitchFamily="18" charset="0"/>
                                    </a:rPr>
                                    <m:t>2</m:t>
                                  </m:r>
                                </m:sup>
                              </m:sSup>
                            </m:e>
                          </m:d>
                          <m:d>
                            <m:dPr>
                              <m:begChr m:val="["/>
                              <m:endChr m:val="]"/>
                              <m:ctrlPr>
                                <a:rPr lang="en-US" sz="2800" i="1">
                                  <a:solidFill>
                                    <a:schemeClr val="tx1"/>
                                  </a:solidFill>
                                  <a:latin typeface="Cambria Math" panose="02040503050406030204" pitchFamily="18" charset="0"/>
                                </a:rPr>
                              </m:ctrlPr>
                            </m:dPr>
                            <m:e>
                              <m:r>
                                <a:rPr lang="en-US" sz="2800" i="1">
                                  <a:solidFill>
                                    <a:schemeClr val="tx1"/>
                                  </a:solidFill>
                                  <a:latin typeface="Cambria Math" panose="02040503050406030204" pitchFamily="18" charset="0"/>
                                </a:rPr>
                                <m:t>1+</m:t>
                              </m:r>
                              <m:d>
                                <m:dPr>
                                  <m:ctrlPr>
                                    <a:rPr lang="en-US" sz="2800" i="1">
                                      <a:solidFill>
                                        <a:schemeClr val="tx1"/>
                                      </a:solidFill>
                                      <a:latin typeface="Cambria Math" panose="02040503050406030204" pitchFamily="18" charset="0"/>
                                    </a:rPr>
                                  </m:ctrlPr>
                                </m:dPr>
                                <m:e>
                                  <m:acc>
                                    <m:accPr>
                                      <m:chr m:val="̅"/>
                                      <m:ctrlPr>
                                        <a:rPr lang="en-US" sz="2800" b="0" i="1" smtClean="0">
                                          <a:solidFill>
                                            <a:schemeClr val="tx1"/>
                                          </a:solidFill>
                                          <a:latin typeface="Cambria Math" panose="02040503050406030204" pitchFamily="18" charset="0"/>
                                        </a:rPr>
                                      </m:ctrlPr>
                                    </m:accPr>
                                    <m:e>
                                      <m:r>
                                        <a:rPr lang="en-US" sz="2800" b="0" i="1" smtClean="0">
                                          <a:solidFill>
                                            <a:schemeClr val="tx1"/>
                                          </a:solidFill>
                                          <a:latin typeface="Cambria Math" panose="02040503050406030204" pitchFamily="18" charset="0"/>
                                        </a:rPr>
                                        <m:t>𝑚</m:t>
                                      </m:r>
                                    </m:e>
                                  </m:acc>
                                  <m:r>
                                    <a:rPr lang="en-US" sz="2800" i="1">
                                      <a:solidFill>
                                        <a:schemeClr val="tx1"/>
                                      </a:solidFill>
                                      <a:latin typeface="Cambria Math" panose="02040503050406030204" pitchFamily="18" charset="0"/>
                                    </a:rPr>
                                    <m:t>−1</m:t>
                                  </m:r>
                                </m:e>
                              </m:d>
                              <m:r>
                                <a:rPr lang="en-US" sz="2800" i="1">
                                  <a:solidFill>
                                    <a:schemeClr val="tx1"/>
                                  </a:solidFill>
                                  <a:latin typeface="Cambria Math" panose="02040503050406030204" pitchFamily="18" charset="0"/>
                                </a:rPr>
                                <m:t>𝜌</m:t>
                              </m:r>
                            </m:e>
                          </m:d>
                          <m:r>
                            <a:rPr lang="en-US" sz="2800" b="0" i="1" smtClean="0">
                              <a:solidFill>
                                <a:schemeClr val="tx1"/>
                              </a:solidFill>
                              <a:latin typeface="Cambria Math" panose="02040503050406030204" pitchFamily="18" charset="0"/>
                            </a:rPr>
                            <m:t>𝑅𝐸</m:t>
                          </m:r>
                        </m:num>
                        <m:den>
                          <m:acc>
                            <m:accPr>
                              <m:chr m:val="̅"/>
                              <m:ctrlPr>
                                <a:rPr lang="en-US" sz="2800" b="0" i="1" smtClean="0">
                                  <a:solidFill>
                                    <a:schemeClr val="tx1"/>
                                  </a:solidFill>
                                  <a:latin typeface="Cambria Math" panose="02040503050406030204" pitchFamily="18" charset="0"/>
                                </a:rPr>
                              </m:ctrlPr>
                            </m:accPr>
                            <m:e>
                              <m:r>
                                <a:rPr lang="en-US" sz="2800" b="0" i="1" smtClean="0">
                                  <a:solidFill>
                                    <a:schemeClr val="tx1"/>
                                  </a:solidFill>
                                  <a:latin typeface="Cambria Math" panose="02040503050406030204" pitchFamily="18" charset="0"/>
                                </a:rPr>
                                <m:t>𝑚</m:t>
                              </m:r>
                            </m:e>
                          </m:acc>
                          <m:sSup>
                            <m:sSupPr>
                              <m:ctrlPr>
                                <a:rPr lang="en-US" sz="2800" i="1">
                                  <a:solidFill>
                                    <a:schemeClr val="tx1"/>
                                  </a:solidFill>
                                  <a:latin typeface="Cambria Math" panose="02040503050406030204" pitchFamily="18" charset="0"/>
                                </a:rPr>
                              </m:ctrlPr>
                            </m:sSupPr>
                            <m:e>
                              <m:d>
                                <m:dPr>
                                  <m:ctrlPr>
                                    <a:rPr lang="en-US" sz="2800" i="1">
                                      <a:solidFill>
                                        <a:schemeClr val="tx1"/>
                                      </a:solidFill>
                                      <a:latin typeface="Cambria Math" panose="02040503050406030204" pitchFamily="18" charset="0"/>
                                    </a:rPr>
                                  </m:ctrlPr>
                                </m:dPr>
                                <m:e>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𝜇</m:t>
                                      </m:r>
                                    </m:e>
                                    <m:sub>
                                      <m:r>
                                        <a:rPr lang="en-US" sz="2800" b="0" i="1" smtClean="0">
                                          <a:solidFill>
                                            <a:schemeClr val="tx1"/>
                                          </a:solidFill>
                                          <a:latin typeface="Cambria Math" panose="02040503050406030204" pitchFamily="18" charset="0"/>
                                        </a:rPr>
                                        <m:t>2</m:t>
                                      </m:r>
                                    </m:sub>
                                  </m:sSub>
                                  <m:r>
                                    <a:rPr lang="en-US" sz="280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𝜇</m:t>
                                      </m:r>
                                    </m:e>
                                    <m:sub>
                                      <m:r>
                                        <a:rPr lang="en-US" sz="2800" b="0" i="1" smtClean="0">
                                          <a:solidFill>
                                            <a:schemeClr val="tx1"/>
                                          </a:solidFill>
                                          <a:latin typeface="Cambria Math" panose="02040503050406030204" pitchFamily="18" charset="0"/>
                                        </a:rPr>
                                        <m:t>1</m:t>
                                      </m:r>
                                    </m:sub>
                                  </m:sSub>
                                </m:e>
                              </m:d>
                            </m:e>
                            <m:sup>
                              <m:r>
                                <a:rPr lang="en-US" sz="2800" i="1">
                                  <a:solidFill>
                                    <a:schemeClr val="tx1"/>
                                  </a:solidFill>
                                  <a:latin typeface="Cambria Math" panose="02040503050406030204" pitchFamily="18" charset="0"/>
                                </a:rPr>
                                <m:t>2</m:t>
                              </m:r>
                            </m:sup>
                          </m:sSup>
                        </m:den>
                      </m:f>
                      <m:r>
                        <a:rPr lang="en-US" sz="2800" b="0" i="1" smtClean="0">
                          <a:solidFill>
                            <a:schemeClr val="tx1"/>
                          </a:solidFill>
                          <a:latin typeface="Cambria Math" panose="02040503050406030204" pitchFamily="18" charset="0"/>
                        </a:rPr>
                        <m:t>,  </m:t>
                      </m:r>
                      <m:r>
                        <m:rPr>
                          <m:sty m:val="p"/>
                        </m:rPr>
                        <a:rPr lang="en-US" sz="2800" b="0" i="0" smtClean="0">
                          <a:solidFill>
                            <a:schemeClr val="tx1"/>
                          </a:solidFill>
                          <a:latin typeface="Cambria Math" panose="02040503050406030204" pitchFamily="18" charset="0"/>
                        </a:rPr>
                        <m:t>where</m:t>
                      </m:r>
                    </m:oMath>
                  </m:oMathPara>
                </a14:m>
                <a:endParaRPr lang="en-US" sz="2800" dirty="0">
                  <a:solidFill>
                    <a:schemeClr val="tx1"/>
                  </a:solidFill>
                </a:endParaRPr>
              </a:p>
              <a:p>
                <a:endParaRPr lang="en-US" sz="2800" dirty="0"/>
              </a:p>
              <a:p>
                <a:pPr algn="ctr"/>
                <a14:m>
                  <m:oMath xmlns:m="http://schemas.openxmlformats.org/officeDocument/2006/math">
                    <m:r>
                      <a:rPr lang="en-US" sz="2800" i="1" smtClean="0">
                        <a:latin typeface="Cambria Math" panose="02040503050406030204" pitchFamily="18" charset="0"/>
                      </a:rPr>
                      <m:t>𝑅𝐸</m:t>
                    </m:r>
                    <m:r>
                      <a:rPr lang="en-US" sz="2800" i="1" smtClean="0">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1</m:t>
                        </m:r>
                      </m:num>
                      <m:den>
                        <m:r>
                          <a:rPr lang="en-US" sz="2800" i="1">
                            <a:latin typeface="Cambria Math" panose="02040503050406030204" pitchFamily="18" charset="0"/>
                          </a:rPr>
                          <m:t>1−</m:t>
                        </m:r>
                        <m:r>
                          <a:rPr lang="en-US" sz="2800" i="1">
                            <a:latin typeface="Cambria Math" panose="02040503050406030204" pitchFamily="18" charset="0"/>
                          </a:rPr>
                          <m:t>𝐶</m:t>
                        </m:r>
                        <m:sSubSup>
                          <m:sSubSupPr>
                            <m:ctrlPr>
                              <a:rPr lang="en-US" sz="2800" b="0" i="1" smtClean="0">
                                <a:latin typeface="Cambria Math" panose="02040503050406030204" pitchFamily="18" charset="0"/>
                              </a:rPr>
                            </m:ctrlPr>
                          </m:sSubSupPr>
                          <m:e>
                            <m:r>
                              <a:rPr lang="en-US" sz="2800" b="0" i="1" smtClean="0">
                                <a:latin typeface="Cambria Math" panose="02040503050406030204" pitchFamily="18" charset="0"/>
                              </a:rPr>
                              <m:t>𝑉</m:t>
                            </m:r>
                          </m:e>
                          <m:sub>
                            <m:r>
                              <a:rPr lang="en-US" sz="2800" b="0" i="1" smtClean="0">
                                <a:latin typeface="Cambria Math" panose="02040503050406030204" pitchFamily="18" charset="0"/>
                              </a:rPr>
                              <m:t>𝑚</m:t>
                            </m:r>
                          </m:sub>
                          <m:sup>
                            <m:r>
                              <a:rPr lang="en-US" sz="2800" b="0" i="1" smtClean="0">
                                <a:latin typeface="Cambria Math" panose="02040503050406030204" pitchFamily="18" charset="0"/>
                              </a:rPr>
                              <m:t>2</m:t>
                            </m:r>
                          </m:sup>
                        </m:sSubSup>
                        <m:f>
                          <m:fPr>
                            <m:ctrlPr>
                              <a:rPr lang="en-US" sz="2800" i="1">
                                <a:latin typeface="Cambria Math" panose="02040503050406030204" pitchFamily="18" charset="0"/>
                              </a:rPr>
                            </m:ctrlPr>
                          </m:fPr>
                          <m:num>
                            <m:r>
                              <a:rPr lang="en-US" sz="2800" i="1">
                                <a:latin typeface="Cambria Math" panose="02040503050406030204" pitchFamily="18" charset="0"/>
                              </a:rPr>
                              <m:t>𝜌</m:t>
                            </m:r>
                            <m:acc>
                              <m:accPr>
                                <m:chr m:val="̅"/>
                                <m:ctrlPr>
                                  <a:rPr lang="en-US" sz="2800" i="1">
                                    <a:latin typeface="Cambria Math" panose="02040503050406030204" pitchFamily="18" charset="0"/>
                                  </a:rPr>
                                </m:ctrlPr>
                              </m:accPr>
                              <m:e>
                                <m:r>
                                  <a:rPr lang="en-US" sz="2800" i="1">
                                    <a:latin typeface="Cambria Math" panose="02040503050406030204" pitchFamily="18" charset="0"/>
                                  </a:rPr>
                                  <m:t>𝑚</m:t>
                                </m:r>
                              </m:e>
                            </m:acc>
                          </m:num>
                          <m:den>
                            <m:r>
                              <a:rPr lang="en-US" sz="2800" i="1">
                                <a:latin typeface="Cambria Math" panose="02040503050406030204" pitchFamily="18" charset="0"/>
                              </a:rPr>
                              <m:t>𝜌</m:t>
                            </m:r>
                            <m:acc>
                              <m:accPr>
                                <m:chr m:val="̅"/>
                                <m:ctrlPr>
                                  <a:rPr lang="en-US" sz="2800" i="1">
                                    <a:latin typeface="Cambria Math" panose="02040503050406030204" pitchFamily="18" charset="0"/>
                                  </a:rPr>
                                </m:ctrlPr>
                              </m:accPr>
                              <m:e>
                                <m:r>
                                  <a:rPr lang="en-US" sz="2800" i="1">
                                    <a:latin typeface="Cambria Math" panose="02040503050406030204" pitchFamily="18" charset="0"/>
                                  </a:rPr>
                                  <m:t>𝑚</m:t>
                                </m:r>
                              </m:e>
                            </m:acc>
                            <m:r>
                              <a:rPr lang="en-US" sz="2800" i="1">
                                <a:latin typeface="Cambria Math" panose="02040503050406030204" pitchFamily="18" charset="0"/>
                              </a:rPr>
                              <m:t>+1−</m:t>
                            </m:r>
                            <m:r>
                              <a:rPr lang="en-US" sz="2800" i="1">
                                <a:latin typeface="Cambria Math" panose="02040503050406030204" pitchFamily="18" charset="0"/>
                              </a:rPr>
                              <m:t>𝜌</m:t>
                            </m:r>
                          </m:den>
                        </m:f>
                        <m:d>
                          <m:dPr>
                            <m:begChr m:val="["/>
                            <m:endChr m:val="]"/>
                            <m:ctrlPr>
                              <a:rPr lang="en-US" sz="2800" i="1">
                                <a:latin typeface="Cambria Math" panose="02040503050406030204" pitchFamily="18" charset="0"/>
                              </a:rPr>
                            </m:ctrlPr>
                          </m:dPr>
                          <m:e>
                            <m:r>
                              <a:rPr lang="en-US" sz="2800" i="1">
                                <a:latin typeface="Cambria Math" panose="02040503050406030204" pitchFamily="18" charset="0"/>
                              </a:rPr>
                              <m:t>1−</m:t>
                            </m:r>
                            <m:f>
                              <m:fPr>
                                <m:ctrlPr>
                                  <a:rPr lang="en-US" sz="2800" i="1">
                                    <a:latin typeface="Cambria Math" panose="02040503050406030204" pitchFamily="18" charset="0"/>
                                  </a:rPr>
                                </m:ctrlPr>
                              </m:fPr>
                              <m:num>
                                <m:r>
                                  <a:rPr lang="en-US" sz="2800" i="1">
                                    <a:latin typeface="Cambria Math" panose="02040503050406030204" pitchFamily="18" charset="0"/>
                                  </a:rPr>
                                  <m:t>𝜌</m:t>
                                </m:r>
                                <m:acc>
                                  <m:accPr>
                                    <m:chr m:val="̅"/>
                                    <m:ctrlPr>
                                      <a:rPr lang="en-US" sz="2800" i="1">
                                        <a:latin typeface="Cambria Math" panose="02040503050406030204" pitchFamily="18" charset="0"/>
                                      </a:rPr>
                                    </m:ctrlPr>
                                  </m:accPr>
                                  <m:e>
                                    <m:r>
                                      <a:rPr lang="en-US" sz="2800" i="1">
                                        <a:latin typeface="Cambria Math" panose="02040503050406030204" pitchFamily="18" charset="0"/>
                                      </a:rPr>
                                      <m:t>𝑚</m:t>
                                    </m:r>
                                  </m:e>
                                </m:acc>
                              </m:num>
                              <m:den>
                                <m:r>
                                  <a:rPr lang="en-US" sz="2800" i="1">
                                    <a:latin typeface="Cambria Math" panose="02040503050406030204" pitchFamily="18" charset="0"/>
                                  </a:rPr>
                                  <m:t>𝜌</m:t>
                                </m:r>
                                <m:acc>
                                  <m:accPr>
                                    <m:chr m:val="̅"/>
                                    <m:ctrlPr>
                                      <a:rPr lang="en-US" sz="2800" i="1">
                                        <a:latin typeface="Cambria Math" panose="02040503050406030204" pitchFamily="18" charset="0"/>
                                      </a:rPr>
                                    </m:ctrlPr>
                                  </m:accPr>
                                  <m:e>
                                    <m:r>
                                      <a:rPr lang="en-US" sz="2800" i="1">
                                        <a:latin typeface="Cambria Math" panose="02040503050406030204" pitchFamily="18" charset="0"/>
                                      </a:rPr>
                                      <m:t>𝑚</m:t>
                                    </m:r>
                                  </m:e>
                                </m:acc>
                                <m:r>
                                  <a:rPr lang="en-US" sz="2800" i="1">
                                    <a:latin typeface="Cambria Math" panose="02040503050406030204" pitchFamily="18" charset="0"/>
                                  </a:rPr>
                                  <m:t>+1−</m:t>
                                </m:r>
                                <m:r>
                                  <a:rPr lang="en-US" sz="2800" i="1">
                                    <a:latin typeface="Cambria Math" panose="02040503050406030204" pitchFamily="18" charset="0"/>
                                  </a:rPr>
                                  <m:t>𝜌</m:t>
                                </m:r>
                              </m:den>
                            </m:f>
                          </m:e>
                        </m:d>
                      </m:den>
                    </m:f>
                  </m:oMath>
                </a14:m>
                <a:r>
                  <a:rPr lang="en-US" sz="2800" dirty="0"/>
                  <a:t> &gt; 0</a:t>
                </a:r>
              </a:p>
              <a:p>
                <a:endParaRPr lang="en-US" sz="2800" dirty="0"/>
              </a:p>
            </p:txBody>
          </p:sp>
        </mc:Choice>
        <mc:Fallback xmlns="">
          <p:sp>
            <p:nvSpPr>
              <p:cNvPr id="2" name="TextBox 1">
                <a:extLst>
                  <a:ext uri="{FF2B5EF4-FFF2-40B4-BE49-F238E27FC236}">
                    <a16:creationId xmlns:a16="http://schemas.microsoft.com/office/drawing/2014/main" id="{1D7F2BA7-C02D-D6D6-3802-4E3178888C63}"/>
                  </a:ext>
                </a:extLst>
              </p:cNvPr>
              <p:cNvSpPr txBox="1">
                <a:spLocks noRot="1" noChangeAspect="1" noMove="1" noResize="1" noEditPoints="1" noAdjustHandles="1" noChangeArrowheads="1" noChangeShapeType="1" noTextEdit="1"/>
              </p:cNvSpPr>
              <p:nvPr/>
            </p:nvSpPr>
            <p:spPr>
              <a:xfrm>
                <a:off x="0" y="207034"/>
                <a:ext cx="12192000" cy="5002267"/>
              </a:xfrm>
              <a:prstGeom prst="rect">
                <a:avLst/>
              </a:prstGeom>
              <a:blipFill>
                <a:blip r:embed="rId4"/>
                <a:stretch>
                  <a:fillRect l="-1000" t="-121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37DBDB62-3E35-7F27-F3DF-0A28A4CB4265}"/>
              </a:ext>
            </a:extLst>
          </p:cNvPr>
          <p:cNvSpPr>
            <a:spLocks noGrp="1"/>
          </p:cNvSpPr>
          <p:nvPr>
            <p:ph type="sldNum" sz="quarter" idx="12"/>
          </p:nvPr>
        </p:nvSpPr>
        <p:spPr/>
        <p:txBody>
          <a:bodyPr/>
          <a:lstStyle/>
          <a:p>
            <a:fld id="{77C6A7FE-225D-49F1-B302-AA37EA92BB49}" type="slidenum">
              <a:rPr lang="en-US" smtClean="0"/>
              <a:t>36</a:t>
            </a:fld>
            <a:endParaRPr lang="en-US"/>
          </a:p>
        </p:txBody>
      </p:sp>
      <p:sp>
        <p:nvSpPr>
          <p:cNvPr id="5" name="Footer Placeholder 2">
            <a:extLst>
              <a:ext uri="{FF2B5EF4-FFF2-40B4-BE49-F238E27FC236}">
                <a16:creationId xmlns:a16="http://schemas.microsoft.com/office/drawing/2014/main" id="{D876E1BC-0F35-AF7A-BE2B-9CAAFBB19942}"/>
              </a:ext>
            </a:extLst>
          </p:cNvPr>
          <p:cNvSpPr txBox="1">
            <a:spLocks/>
          </p:cNvSpPr>
          <p:nvPr/>
        </p:nvSpPr>
        <p:spPr>
          <a:xfrm>
            <a:off x="533400" y="5759992"/>
            <a:ext cx="10097814" cy="20195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t>van </a:t>
            </a:r>
            <a:r>
              <a:rPr lang="en-US" dirty="0" err="1"/>
              <a:t>Breukelen</a:t>
            </a:r>
            <a:r>
              <a:rPr lang="en-US" dirty="0"/>
              <a:t>, G. J. P., Candel, M. J. J. M., &amp; Berger, M. P. F. (2007). Relative efficiency of unequal versus equal cluster sizes in cluster randomized and </a:t>
            </a:r>
            <a:r>
              <a:rPr lang="en-US" dirty="0" err="1"/>
              <a:t>multicentre</a:t>
            </a:r>
            <a:r>
              <a:rPr lang="en-US" dirty="0"/>
              <a:t> trials. Statistics in Medicine, 26(13), 2589-2603. https://doi.org/10.1002/sim.2740</a:t>
            </a:r>
          </a:p>
        </p:txBody>
      </p:sp>
    </p:spTree>
    <p:extLst>
      <p:ext uri="{BB962C8B-B14F-4D97-AF65-F5344CB8AC3E}">
        <p14:creationId xmlns:p14="http://schemas.microsoft.com/office/powerpoint/2010/main" val="177675417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407B2-D3CB-41A4-5728-41474B17EA5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53A8E67-6940-6F22-CE55-B8A81D542D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8A14A2D-E655-BFE2-D66E-994A53C56F55}"/>
                  </a:ext>
                </a:extLst>
              </p:cNvPr>
              <p:cNvSpPr txBox="1"/>
              <p:nvPr/>
            </p:nvSpPr>
            <p:spPr>
              <a:xfrm>
                <a:off x="69743" y="0"/>
                <a:ext cx="12192000" cy="6084486"/>
              </a:xfrm>
              <a:prstGeom prst="rect">
                <a:avLst/>
              </a:prstGeom>
              <a:noFill/>
            </p:spPr>
            <p:txBody>
              <a:bodyPr wrap="square" rtlCol="0">
                <a:spAutoFit/>
              </a:bodyPr>
              <a:lstStyle/>
              <a:p>
                <a:pPr marL="457200" indent="-457200">
                  <a:buFont typeface="Arial" panose="020B0604020202020204" pitchFamily="34" charset="0"/>
                  <a:buChar char="•"/>
                </a:pPr>
                <a:r>
                  <a:rPr lang="en-US" sz="2000" dirty="0"/>
                  <a:t>To solve for </a:t>
                </a:r>
                <a14:m>
                  <m:oMath xmlns:m="http://schemas.openxmlformats.org/officeDocument/2006/math">
                    <m:acc>
                      <m:accPr>
                        <m:chr m:val="̅"/>
                        <m:ctrlPr>
                          <a:rPr lang="en-US" sz="2000" b="0" i="1" smtClean="0">
                            <a:latin typeface="Cambria Math" panose="02040503050406030204" pitchFamily="18" charset="0"/>
                          </a:rPr>
                        </m:ctrlPr>
                      </m:accPr>
                      <m:e>
                        <m:r>
                          <a:rPr lang="en-US" sz="2000" i="1">
                            <a:latin typeface="Cambria Math" panose="02040503050406030204" pitchFamily="18" charset="0"/>
                          </a:rPr>
                          <m:t>𝑚</m:t>
                        </m:r>
                      </m:e>
                    </m:acc>
                    <m:r>
                      <a:rPr lang="en-US" sz="2000" i="1">
                        <a:latin typeface="Cambria Math" panose="02040503050406030204" pitchFamily="18" charset="0"/>
                      </a:rPr>
                      <m:t> </m:t>
                    </m:r>
                  </m:oMath>
                </a14:m>
                <a:r>
                  <a:rPr lang="en-US" sz="2000" dirty="0"/>
                  <a:t>with </a:t>
                </a:r>
                <a14:m>
                  <m:oMath xmlns:m="http://schemas.openxmlformats.org/officeDocument/2006/math">
                    <m:r>
                      <a:rPr lang="en-US" sz="2000" i="1">
                        <a:latin typeface="Cambria Math" panose="02040503050406030204" pitchFamily="18" charset="0"/>
                      </a:rPr>
                      <m:t>𝐾</m:t>
                    </m:r>
                  </m:oMath>
                </a14:m>
                <a:r>
                  <a:rPr lang="en-US" sz="2000" dirty="0"/>
                  <a:t> fixed, we must solve a cubic </a:t>
                </a:r>
                <a14:m>
                  <m:oMath xmlns:m="http://schemas.openxmlformats.org/officeDocument/2006/math">
                    <m:r>
                      <a:rPr lang="en-US" sz="2000" b="0" i="1" smtClean="0">
                        <a:latin typeface="Cambria Math" panose="02040503050406030204" pitchFamily="18" charset="0"/>
                      </a:rPr>
                      <m:t>𝑎</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𝑚</m:t>
                        </m:r>
                      </m:e>
                      <m:sup>
                        <m:r>
                          <a:rPr lang="en-US" sz="2000" b="0" i="1" smtClean="0">
                            <a:latin typeface="Cambria Math" panose="02040503050406030204" pitchFamily="18" charset="0"/>
                          </a:rPr>
                          <m:t>3</m:t>
                        </m:r>
                      </m:sup>
                    </m:sSup>
                    <m:r>
                      <a:rPr lang="en-US" sz="2000" b="0" i="1" smtClean="0">
                        <a:latin typeface="Cambria Math" panose="02040503050406030204" pitchFamily="18" charset="0"/>
                      </a:rPr>
                      <m:t>+</m:t>
                    </m:r>
                    <m:r>
                      <a:rPr lang="en-US" sz="2000" b="0" i="1" smtClean="0">
                        <a:latin typeface="Cambria Math" panose="02040503050406030204" pitchFamily="18" charset="0"/>
                      </a:rPr>
                      <m:t>𝑏</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𝑚</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r>
                      <a:rPr lang="en-US" sz="2000" b="0" i="1" smtClean="0">
                        <a:latin typeface="Cambria Math" panose="02040503050406030204" pitchFamily="18" charset="0"/>
                      </a:rPr>
                      <m:t>𝑐𝑚</m:t>
                    </m:r>
                    <m:r>
                      <a:rPr lang="en-US" sz="2000" b="0" i="1" smtClean="0">
                        <a:latin typeface="Cambria Math" panose="02040503050406030204" pitchFamily="18" charset="0"/>
                      </a:rPr>
                      <m:t>+</m:t>
                    </m:r>
                    <m:r>
                      <a:rPr lang="en-US" sz="2000" b="0" i="1" smtClean="0">
                        <a:latin typeface="Cambria Math" panose="02040503050406030204" pitchFamily="18" charset="0"/>
                      </a:rPr>
                      <m:t>𝑑</m:t>
                    </m:r>
                    <m:r>
                      <a:rPr lang="en-US" sz="2000" b="0" i="1" smtClean="0">
                        <a:latin typeface="Cambria Math" panose="02040503050406030204" pitchFamily="18" charset="0"/>
                      </a:rPr>
                      <m:t>=0</m:t>
                    </m:r>
                  </m:oMath>
                </a14:m>
                <a:r>
                  <a:rPr lang="en-US" sz="2000" dirty="0"/>
                  <a:t>, where </a:t>
                </a:r>
                <a14:m>
                  <m:oMath xmlns:m="http://schemas.openxmlformats.org/officeDocument/2006/math">
                    <m:r>
                      <a:rPr lang="en-US" sz="2000" i="1">
                        <a:latin typeface="Cambria Math" panose="02040503050406030204" pitchFamily="18" charset="0"/>
                      </a:rPr>
                      <m:t>𝑎</m:t>
                    </m:r>
                    <m:r>
                      <a:rPr lang="en-US" sz="2000" i="1">
                        <a:latin typeface="Cambria Math" panose="02040503050406030204" pitchFamily="18" charset="0"/>
                      </a:rPr>
                      <m:t>=</m:t>
                    </m:r>
                    <m:d>
                      <m:dPr>
                        <m:ctrlPr>
                          <a:rPr lang="en-US" sz="2000" i="1">
                            <a:latin typeface="Cambria Math" panose="02040503050406030204" pitchFamily="18" charset="0"/>
                          </a:rPr>
                        </m:ctrlPr>
                      </m:dPr>
                      <m:e>
                        <m:r>
                          <a:rPr lang="en-US" sz="2000" i="1">
                            <a:latin typeface="Cambria Math" panose="02040503050406030204" pitchFamily="18" charset="0"/>
                          </a:rPr>
                          <m:t>𝐿</m:t>
                        </m:r>
                        <m:r>
                          <a:rPr lang="en-US" sz="2000" i="1">
                            <a:latin typeface="Cambria Math" panose="02040503050406030204" pitchFamily="18" charset="0"/>
                          </a:rPr>
                          <m:t>−</m:t>
                        </m:r>
                        <m:r>
                          <a:rPr lang="en-US" sz="2000" i="1">
                            <a:latin typeface="Cambria Math" panose="02040503050406030204" pitchFamily="18" charset="0"/>
                          </a:rPr>
                          <m:t>𝜌</m:t>
                        </m:r>
                      </m:e>
                    </m:d>
                    <m:sSup>
                      <m:sSupPr>
                        <m:ctrlPr>
                          <a:rPr lang="en-US" sz="2000" i="1">
                            <a:latin typeface="Cambria Math" panose="02040503050406030204" pitchFamily="18" charset="0"/>
                          </a:rPr>
                        </m:ctrlPr>
                      </m:sSupPr>
                      <m:e>
                        <m:r>
                          <a:rPr lang="en-US" sz="2000" i="1">
                            <a:latin typeface="Cambria Math" panose="02040503050406030204" pitchFamily="18" charset="0"/>
                          </a:rPr>
                          <m:t>𝜌</m:t>
                        </m:r>
                      </m:e>
                      <m:sup>
                        <m:r>
                          <a:rPr lang="en-US" sz="2000" i="1">
                            <a:latin typeface="Cambria Math" panose="02040503050406030204" pitchFamily="18" charset="0"/>
                          </a:rPr>
                          <m:t>2</m:t>
                        </m:r>
                      </m:sup>
                    </m:sSup>
                    <m:r>
                      <a:rPr lang="en-US" sz="2000" i="1">
                        <a:latin typeface="Cambria Math" panose="02040503050406030204" pitchFamily="18" charset="0"/>
                      </a:rPr>
                      <m:t>, </m:t>
                    </m:r>
                    <m:r>
                      <a:rPr lang="en-US" sz="2000" b="0" i="1" smtClean="0">
                        <a:latin typeface="Cambria Math" panose="02040503050406030204" pitchFamily="18" charset="0"/>
                      </a:rPr>
                      <m:t>𝑏</m:t>
                    </m:r>
                    <m:r>
                      <a:rPr lang="en-US" sz="2000" b="0" i="1" smtClean="0">
                        <a:latin typeface="Cambria Math" panose="02040503050406030204" pitchFamily="18" charset="0"/>
                      </a:rPr>
                      <m:t>=2</m:t>
                    </m:r>
                    <m:r>
                      <a:rPr lang="en-US" sz="2000" b="0" i="1" smtClean="0">
                        <a:latin typeface="Cambria Math" panose="02040503050406030204" pitchFamily="18" charset="0"/>
                      </a:rPr>
                      <m:t>𝜌</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r>
                          <a:rPr lang="en-US" sz="2000" b="0" i="1" smtClean="0">
                            <a:latin typeface="Cambria Math" panose="02040503050406030204" pitchFamily="18" charset="0"/>
                          </a:rPr>
                          <m:t>𝜌</m:t>
                        </m:r>
                      </m:e>
                    </m:d>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𝐿</m:t>
                        </m:r>
                        <m:r>
                          <a:rPr lang="en-US" sz="2000" b="0" i="1" smtClean="0">
                            <a:latin typeface="Cambria Math" panose="02040503050406030204" pitchFamily="18" charset="0"/>
                          </a:rPr>
                          <m:t>−</m:t>
                        </m:r>
                        <m:r>
                          <a:rPr lang="en-US" sz="2000" b="0" i="1" smtClean="0">
                            <a:latin typeface="Cambria Math" panose="02040503050406030204" pitchFamily="18" charset="0"/>
                          </a:rPr>
                          <m:t>𝜌</m:t>
                        </m:r>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r>
                          <a:rPr lang="en-US" sz="2000" b="0" i="1" smtClean="0">
                            <a:latin typeface="Cambria Math" panose="02040503050406030204" pitchFamily="18" charset="0"/>
                          </a:rPr>
                          <m:t>𝜌</m:t>
                        </m:r>
                      </m:e>
                    </m:d>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𝜌</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r>
                      <a:rPr lang="en-US" sz="2000" b="0" i="1" smtClean="0">
                        <a:latin typeface="Cambria Math" panose="02040503050406030204" pitchFamily="18" charset="0"/>
                      </a:rPr>
                      <m:t>𝐿</m:t>
                    </m:r>
                    <m:r>
                      <a:rPr lang="en-US" sz="2000" b="0" i="1" smtClean="0">
                        <a:latin typeface="Cambria Math" panose="02040503050406030204" pitchFamily="18" charset="0"/>
                      </a:rPr>
                      <m:t> </m:t>
                    </m:r>
                    <m:r>
                      <a:rPr lang="en-US" sz="2000" b="0" i="1" smtClean="0">
                        <a:latin typeface="Cambria Math" panose="02040503050406030204" pitchFamily="18" charset="0"/>
                      </a:rPr>
                      <m:t>𝐶</m:t>
                    </m:r>
                    <m:sSubSup>
                      <m:sSubSupPr>
                        <m:ctrlPr>
                          <a:rPr lang="en-US" sz="2000" i="1">
                            <a:latin typeface="Cambria Math" panose="02040503050406030204" pitchFamily="18" charset="0"/>
                          </a:rPr>
                        </m:ctrlPr>
                      </m:sSubSupPr>
                      <m:e>
                        <m:r>
                          <a:rPr lang="en-US" sz="2000" i="1">
                            <a:latin typeface="Cambria Math" panose="02040503050406030204" pitchFamily="18" charset="0"/>
                          </a:rPr>
                          <m:t>𝑉</m:t>
                        </m:r>
                      </m:e>
                      <m:sub>
                        <m:r>
                          <a:rPr lang="en-US" sz="2000" i="1">
                            <a:latin typeface="Cambria Math" panose="02040503050406030204" pitchFamily="18" charset="0"/>
                          </a:rPr>
                          <m:t>𝑚</m:t>
                        </m:r>
                      </m:sub>
                      <m:sup>
                        <m:r>
                          <a:rPr lang="en-US" sz="2000" i="1">
                            <a:latin typeface="Cambria Math" panose="02040503050406030204" pitchFamily="18" charset="0"/>
                          </a:rPr>
                          <m:t>2</m:t>
                        </m:r>
                      </m:sup>
                    </m:sSubSup>
                    <m:r>
                      <a:rPr lang="en-US" sz="2000" b="0" i="1" smtClean="0">
                        <a:latin typeface="Cambria Math" panose="02040503050406030204" pitchFamily="18" charset="0"/>
                      </a:rPr>
                      <m:t> </m:t>
                    </m:r>
                    <m:r>
                      <a:rPr lang="en-US" sz="2000" b="0" i="1" smtClean="0">
                        <a:latin typeface="Cambria Math" panose="02040503050406030204" pitchFamily="18" charset="0"/>
                      </a:rPr>
                      <m:t>𝜌</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r>
                          <a:rPr lang="en-US" sz="2000" b="0" i="1" smtClean="0">
                            <a:latin typeface="Cambria Math" panose="02040503050406030204" pitchFamily="18" charset="0"/>
                          </a:rPr>
                          <m:t>𝜌</m:t>
                        </m:r>
                      </m:e>
                    </m:d>
                    <m:r>
                      <a:rPr lang="en-US" sz="2000" b="0" i="1" smtClean="0">
                        <a:latin typeface="Cambria Math" panose="02040503050406030204" pitchFamily="18" charset="0"/>
                      </a:rPr>
                      <m:t>, </m:t>
                    </m:r>
                    <m:r>
                      <a:rPr lang="en-US" sz="2000" b="0" i="1" smtClean="0">
                        <a:latin typeface="Cambria Math" panose="02040503050406030204" pitchFamily="18" charset="0"/>
                      </a:rPr>
                      <m:t>𝑐</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r>
                              <a:rPr lang="en-US" sz="2000" b="0" i="1" smtClean="0">
                                <a:latin typeface="Cambria Math" panose="02040503050406030204" pitchFamily="18" charset="0"/>
                              </a:rPr>
                              <m:t>𝜌</m:t>
                            </m:r>
                          </m:e>
                        </m:d>
                      </m:e>
                      <m:sup>
                        <m:r>
                          <a:rPr lang="en-US" sz="2000" b="0" i="1" smtClean="0">
                            <a:latin typeface="Cambria Math" panose="02040503050406030204" pitchFamily="18" charset="0"/>
                          </a:rPr>
                          <m:t>2</m:t>
                        </m:r>
                      </m:sup>
                    </m:sSup>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𝐿</m:t>
                        </m:r>
                        <m:r>
                          <a:rPr lang="en-US" sz="2000" b="0" i="1" smtClean="0">
                            <a:latin typeface="Cambria Math" panose="02040503050406030204" pitchFamily="18" charset="0"/>
                          </a:rPr>
                          <m:t>−3</m:t>
                        </m:r>
                        <m:r>
                          <a:rPr lang="en-US" sz="2000" b="0" i="1" smtClean="0">
                            <a:latin typeface="Cambria Math" panose="02040503050406030204" pitchFamily="18" charset="0"/>
                          </a:rPr>
                          <m:t>𝜌</m:t>
                        </m:r>
                      </m:e>
                    </m:d>
                    <m:r>
                      <a:rPr lang="en-US" sz="2000" b="0" i="1" smtClean="0">
                        <a:latin typeface="Cambria Math" panose="02040503050406030204" pitchFamily="18" charset="0"/>
                      </a:rPr>
                      <m:t>, </m:t>
                    </m:r>
                    <m:r>
                      <a:rPr lang="en-US" sz="2000" b="0" i="1" smtClean="0">
                        <a:latin typeface="Cambria Math" panose="02040503050406030204" pitchFamily="18" charset="0"/>
                      </a:rPr>
                      <m:t>𝑑</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r>
                              <a:rPr lang="en-US" sz="2000" b="0" i="1" smtClean="0">
                                <a:latin typeface="Cambria Math" panose="02040503050406030204" pitchFamily="18" charset="0"/>
                              </a:rPr>
                              <m:t>𝜌</m:t>
                            </m:r>
                          </m:e>
                        </m:d>
                      </m:e>
                      <m:sup>
                        <m:r>
                          <a:rPr lang="en-US" sz="2000" b="0" i="1" smtClean="0">
                            <a:latin typeface="Cambria Math" panose="02040503050406030204" pitchFamily="18" charset="0"/>
                          </a:rPr>
                          <m:t>3</m:t>
                        </m:r>
                      </m:sup>
                    </m:sSup>
                    <m:r>
                      <a:rPr lang="en-US" sz="2000" b="0" i="0" smtClean="0">
                        <a:latin typeface="Cambria Math" panose="02040503050406030204" pitchFamily="18" charset="0"/>
                      </a:rPr>
                      <m:t>,</m:t>
                    </m:r>
                    <m:r>
                      <m:rPr>
                        <m:nor/>
                      </m:rPr>
                      <a:rPr lang="en-US" sz="2000" b="0" i="0" smtClean="0">
                        <a:latin typeface="Cambria Math" panose="02040503050406030204" pitchFamily="18" charset="0"/>
                      </a:rPr>
                      <m:t>and</m:t>
                    </m:r>
                    <m:r>
                      <m:rPr>
                        <m:nor/>
                      </m:rPr>
                      <a:rPr lang="en-US" sz="2000" b="0" i="0" dirty="0" smtClean="0"/>
                      <m:t> </m:t>
                    </m:r>
                    <m:r>
                      <a:rPr lang="en-US" sz="2000" i="1">
                        <a:latin typeface="Cambria Math" panose="02040503050406030204" pitchFamily="18" charset="0"/>
                      </a:rPr>
                      <m:t>𝐿</m:t>
                    </m:r>
                    <m:r>
                      <a:rPr lang="en-US" sz="2000" i="1">
                        <a:latin typeface="Cambria Math" panose="02040503050406030204" pitchFamily="18" charset="0"/>
                      </a:rPr>
                      <m:t>=</m:t>
                    </m:r>
                    <m:r>
                      <a:rPr lang="en-US" sz="2000" i="1">
                        <a:latin typeface="Cambria Math" panose="02040503050406030204" pitchFamily="18" charset="0"/>
                      </a:rPr>
                      <m:t>𝐾</m:t>
                    </m:r>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𝜇</m:t>
                                </m:r>
                              </m:e>
                              <m:sub>
                                <m:r>
                                  <a:rPr lang="en-US" sz="2000" i="1">
                                    <a:latin typeface="Cambria Math" panose="02040503050406030204" pitchFamily="18" charset="0"/>
                                  </a:rPr>
                                  <m:t>2</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𝜇</m:t>
                                </m:r>
                              </m:e>
                              <m:sub>
                                <m:r>
                                  <a:rPr lang="en-US" sz="2000" i="1">
                                    <a:latin typeface="Cambria Math" panose="02040503050406030204" pitchFamily="18" charset="0"/>
                                  </a:rPr>
                                  <m:t>1</m:t>
                                </m:r>
                              </m:sub>
                            </m:sSub>
                          </m:e>
                        </m:d>
                      </m:e>
                      <m:sup>
                        <m:r>
                          <a:rPr lang="en-US" sz="2000" i="1">
                            <a:latin typeface="Cambria Math" panose="02040503050406030204" pitchFamily="18" charset="0"/>
                          </a:rPr>
                          <m:t>2</m:t>
                        </m:r>
                      </m:sup>
                    </m:sSup>
                    <m:r>
                      <a:rPr lang="en-US" sz="2000" i="1">
                        <a:latin typeface="Cambria Math" panose="02040503050406030204" pitchFamily="18" charset="0"/>
                      </a:rPr>
                      <m:t>/{</m:t>
                    </m:r>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m:rPr>
                                    <m:sty m:val="p"/>
                                  </m:rPr>
                                  <a:rPr lang="en-US" sz="2000" i="1">
                                    <a:latin typeface="Cambria Math" panose="02040503050406030204" pitchFamily="18" charset="0"/>
                                  </a:rPr>
                                  <m:t>Ζ</m:t>
                                </m:r>
                              </m:e>
                              <m:sub>
                                <m:r>
                                  <a:rPr lang="en-US" sz="2000" i="1">
                                    <a:latin typeface="Cambria Math" panose="02040503050406030204" pitchFamily="18" charset="0"/>
                                  </a:rPr>
                                  <m:t>𝛼</m:t>
                                </m:r>
                                <m:r>
                                  <a:rPr lang="en-US" sz="2000" i="1">
                                    <a:latin typeface="Cambria Math" panose="02040503050406030204" pitchFamily="18" charset="0"/>
                                  </a:rPr>
                                  <m:t>/2</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m:rPr>
                                    <m:sty m:val="p"/>
                                  </m:rPr>
                                  <a:rPr lang="en-US" sz="2000" i="1">
                                    <a:latin typeface="Cambria Math" panose="02040503050406030204" pitchFamily="18" charset="0"/>
                                  </a:rPr>
                                  <m:t>Ζ</m:t>
                                </m:r>
                              </m:e>
                              <m:sub>
                                <m:r>
                                  <a:rPr lang="en-US" sz="2000" i="1">
                                    <a:latin typeface="Cambria Math" panose="02040503050406030204" pitchFamily="18" charset="0"/>
                                  </a:rPr>
                                  <m:t>𝛽</m:t>
                                </m:r>
                              </m:sub>
                            </m:sSub>
                          </m:e>
                        </m:d>
                      </m:e>
                      <m:sup>
                        <m:r>
                          <a:rPr lang="en-US" sz="2000" i="1">
                            <a:latin typeface="Cambria Math" panose="02040503050406030204" pitchFamily="18" charset="0"/>
                          </a:rPr>
                          <m:t>2</m:t>
                        </m:r>
                      </m:sup>
                    </m:sSup>
                    <m:d>
                      <m:dPr>
                        <m:ctrlPr>
                          <a:rPr lang="en-US" sz="2000" i="1">
                            <a:latin typeface="Cambria Math" panose="02040503050406030204" pitchFamily="18" charset="0"/>
                          </a:rPr>
                        </m:ctrlPr>
                      </m:dPr>
                      <m:e>
                        <m:r>
                          <a:rPr lang="en-US" sz="2000" i="1">
                            <a:latin typeface="Cambria Math" panose="02040503050406030204" pitchFamily="18" charset="0"/>
                          </a:rPr>
                          <m:t>2</m:t>
                        </m:r>
                        <m:sSup>
                          <m:sSupPr>
                            <m:ctrlPr>
                              <a:rPr lang="en-US" sz="2000" i="1">
                                <a:latin typeface="Cambria Math" panose="02040503050406030204" pitchFamily="18" charset="0"/>
                              </a:rPr>
                            </m:ctrlPr>
                          </m:sSupPr>
                          <m:e>
                            <m:r>
                              <a:rPr lang="en-US" sz="2000" i="1">
                                <a:latin typeface="Cambria Math" panose="02040503050406030204" pitchFamily="18" charset="0"/>
                              </a:rPr>
                              <m:t>𝜎</m:t>
                            </m:r>
                          </m:e>
                          <m:sup>
                            <m:r>
                              <a:rPr lang="en-US" sz="2000" i="1">
                                <a:latin typeface="Cambria Math" panose="02040503050406030204" pitchFamily="18" charset="0"/>
                              </a:rPr>
                              <m:t>2</m:t>
                            </m:r>
                          </m:sup>
                        </m:sSup>
                      </m:e>
                    </m:d>
                    <m:r>
                      <a:rPr lang="en-US" sz="2000" i="1">
                        <a:latin typeface="Cambria Math" panose="02040503050406030204" pitchFamily="18" charset="0"/>
                      </a:rPr>
                      <m:t>} </m:t>
                    </m:r>
                    <m:r>
                      <m:rPr>
                        <m:nor/>
                      </m:rPr>
                      <a:rPr lang="en-US" sz="2000" i="0" dirty="0"/>
                      <m:t>.</m:t>
                    </m:r>
                    <m:r>
                      <m:rPr>
                        <m:nor/>
                      </m:rPr>
                      <a:rPr lang="en-US" sz="2000" b="0" i="0" dirty="0" smtClean="0"/>
                      <m:t> </m:t>
                    </m:r>
                  </m:oMath>
                </a14:m>
                <a:endParaRPr lang="en-US" sz="2000" dirty="0"/>
              </a:p>
              <a:p>
                <a:pPr marL="457200" indent="-457200">
                  <a:buFont typeface="Arial" panose="020B0604020202020204" pitchFamily="34" charset="0"/>
                  <a:buChar char="•"/>
                </a:pPr>
                <a:endParaRPr lang="en-US" sz="2000" dirty="0"/>
              </a:p>
              <a:p>
                <a:pPr marL="457200" indent="-457200">
                  <a:buFont typeface="Arial" panose="020B0604020202020204" pitchFamily="34" charset="0"/>
                  <a:buChar char="•"/>
                </a:pPr>
                <a:r>
                  <a:rPr lang="en-US" sz="2000" dirty="0"/>
                  <a:t>Then,</a:t>
                </a:r>
                <a:br>
                  <a:rPr lang="en-US" sz="2000" dirty="0"/>
                </a:br>
                <a14:m>
                  <m:oMath xmlns:m="http://schemas.openxmlformats.org/officeDocument/2006/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𝑚</m:t>
                        </m:r>
                      </m:e>
                    </m:acc>
                    <m:r>
                      <a:rPr lang="en-US" sz="2000" b="0" i="1" dirty="0" smtClean="0">
                        <a:latin typeface="Cambria Math" panose="02040503050406030204" pitchFamily="18" charset="0"/>
                      </a:rPr>
                      <m:t>=−</m:t>
                    </m:r>
                    <m:f>
                      <m:fPr>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𝑏</m:t>
                        </m:r>
                      </m:num>
                      <m:den>
                        <m:r>
                          <a:rPr lang="en-US" sz="2000" b="0" i="1" dirty="0" smtClean="0">
                            <a:latin typeface="Cambria Math" panose="02040503050406030204" pitchFamily="18" charset="0"/>
                          </a:rPr>
                          <m:t>3</m:t>
                        </m:r>
                        <m:r>
                          <a:rPr lang="en-US" sz="2000" b="0" i="1" dirty="0" smtClean="0">
                            <a:latin typeface="Cambria Math" panose="02040503050406030204" pitchFamily="18" charset="0"/>
                          </a:rPr>
                          <m:t>𝑎</m:t>
                        </m:r>
                      </m:den>
                    </m:f>
                    <m:r>
                      <a:rPr lang="en-US" sz="2000" b="0" i="1" dirty="0" smtClean="0">
                        <a:latin typeface="Cambria Math" panose="02040503050406030204" pitchFamily="18" charset="0"/>
                      </a:rPr>
                      <m:t>+</m:t>
                    </m:r>
                    <m:rad>
                      <m:radPr>
                        <m:ctrlPr>
                          <a:rPr lang="en-US" sz="2000" b="0" i="1" dirty="0" smtClean="0">
                            <a:latin typeface="Cambria Math" panose="02040503050406030204" pitchFamily="18" charset="0"/>
                          </a:rPr>
                        </m:ctrlPr>
                      </m:radPr>
                      <m:deg>
                        <m:r>
                          <m:rPr>
                            <m:brk m:alnAt="7"/>
                          </m:rPr>
                          <a:rPr lang="en-US" sz="2000" b="0" i="1" dirty="0" smtClean="0">
                            <a:latin typeface="Cambria Math" panose="02040503050406030204" pitchFamily="18" charset="0"/>
                          </a:rPr>
                          <m:t>3</m:t>
                        </m:r>
                      </m:deg>
                      <m:e>
                        <m:r>
                          <a:rPr lang="en-US" sz="2000" b="0" i="1" dirty="0" smtClean="0">
                            <a:latin typeface="Cambria Math" panose="02040503050406030204" pitchFamily="18" charset="0"/>
                          </a:rPr>
                          <m:t>−</m:t>
                        </m:r>
                        <m:f>
                          <m:fPr>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𝑞</m:t>
                            </m:r>
                          </m:num>
                          <m:den>
                            <m:r>
                              <a:rPr lang="en-US" sz="2000" b="0" i="1" dirty="0" smtClean="0">
                                <a:latin typeface="Cambria Math" panose="02040503050406030204" pitchFamily="18" charset="0"/>
                              </a:rPr>
                              <m:t>2</m:t>
                            </m:r>
                          </m:den>
                        </m:f>
                        <m:r>
                          <a:rPr lang="en-US" sz="2000" b="0" i="1" dirty="0" smtClean="0">
                            <a:latin typeface="Cambria Math" panose="02040503050406030204" pitchFamily="18" charset="0"/>
                          </a:rPr>
                          <m:t>+</m:t>
                        </m:r>
                        <m:rad>
                          <m:radPr>
                            <m:degHide m:val="on"/>
                            <m:ctrlPr>
                              <a:rPr lang="en-US" sz="2000" b="0" i="1" dirty="0" smtClean="0">
                                <a:latin typeface="Cambria Math" panose="02040503050406030204" pitchFamily="18" charset="0"/>
                              </a:rPr>
                            </m:ctrlPr>
                          </m:radPr>
                          <m:deg/>
                          <m:e>
                            <m:r>
                              <m:rPr>
                                <m:sty m:val="p"/>
                              </m:rPr>
                              <a:rPr lang="en-US" sz="2000" b="0" i="0" dirty="0" smtClean="0">
                                <a:latin typeface="Cambria Math" panose="02040503050406030204" pitchFamily="18" charset="0"/>
                              </a:rPr>
                              <m:t>Δ</m:t>
                            </m:r>
                          </m:e>
                        </m:rad>
                      </m:e>
                    </m:rad>
                    <m:r>
                      <a:rPr lang="en-US" sz="2000" b="0" i="1" dirty="0" smtClean="0">
                        <a:latin typeface="Cambria Math" panose="02040503050406030204" pitchFamily="18" charset="0"/>
                      </a:rPr>
                      <m:t>+</m:t>
                    </m:r>
                    <m:rad>
                      <m:radPr>
                        <m:ctrlPr>
                          <a:rPr lang="en-US" sz="2000" i="1" dirty="0">
                            <a:latin typeface="Cambria Math" panose="02040503050406030204" pitchFamily="18" charset="0"/>
                          </a:rPr>
                        </m:ctrlPr>
                      </m:radPr>
                      <m:deg>
                        <m:r>
                          <m:rPr>
                            <m:brk m:alnAt="7"/>
                          </m:rPr>
                          <a:rPr lang="en-US" sz="2000" i="1" dirty="0">
                            <a:latin typeface="Cambria Math" panose="02040503050406030204" pitchFamily="18" charset="0"/>
                          </a:rPr>
                          <m:t>3</m:t>
                        </m:r>
                      </m:deg>
                      <m:e>
                        <m:r>
                          <a:rPr lang="en-US" sz="2000" i="1" dirty="0">
                            <a:latin typeface="Cambria Math" panose="02040503050406030204" pitchFamily="18" charset="0"/>
                          </a:rPr>
                          <m:t>−</m:t>
                        </m:r>
                        <m:f>
                          <m:fPr>
                            <m:ctrlPr>
                              <a:rPr lang="en-US" sz="2000" i="1" dirty="0">
                                <a:latin typeface="Cambria Math" panose="02040503050406030204" pitchFamily="18" charset="0"/>
                              </a:rPr>
                            </m:ctrlPr>
                          </m:fPr>
                          <m:num>
                            <m:r>
                              <a:rPr lang="en-US" sz="2000" i="1" dirty="0">
                                <a:latin typeface="Cambria Math" panose="02040503050406030204" pitchFamily="18" charset="0"/>
                              </a:rPr>
                              <m:t>𝑞</m:t>
                            </m:r>
                          </m:num>
                          <m:den>
                            <m:r>
                              <a:rPr lang="en-US" sz="2000" i="1" dirty="0">
                                <a:latin typeface="Cambria Math" panose="02040503050406030204" pitchFamily="18" charset="0"/>
                              </a:rPr>
                              <m:t>2</m:t>
                            </m:r>
                          </m:den>
                        </m:f>
                        <m:r>
                          <a:rPr lang="en-US" sz="2000" b="0" i="1" dirty="0" smtClean="0">
                            <a:latin typeface="Cambria Math" panose="02040503050406030204" pitchFamily="18" charset="0"/>
                          </a:rPr>
                          <m:t>−</m:t>
                        </m:r>
                        <m:rad>
                          <m:radPr>
                            <m:degHide m:val="on"/>
                            <m:ctrlPr>
                              <a:rPr lang="en-US" sz="2000" i="1" dirty="0">
                                <a:latin typeface="Cambria Math" panose="02040503050406030204" pitchFamily="18" charset="0"/>
                              </a:rPr>
                            </m:ctrlPr>
                          </m:radPr>
                          <m:deg/>
                          <m:e>
                            <m:r>
                              <m:rPr>
                                <m:sty m:val="p"/>
                              </m:rPr>
                              <a:rPr lang="en-US" sz="2000" dirty="0">
                                <a:latin typeface="Cambria Math" panose="02040503050406030204" pitchFamily="18" charset="0"/>
                              </a:rPr>
                              <m:t>Δ</m:t>
                            </m:r>
                          </m:e>
                        </m:rad>
                      </m:e>
                    </m:rad>
                    <m:r>
                      <a:rPr lang="en-US" sz="2000" b="0" i="1" dirty="0" smtClean="0">
                        <a:latin typeface="Cambria Math" panose="02040503050406030204" pitchFamily="18" charset="0"/>
                      </a:rPr>
                      <m:t>, </m:t>
                    </m:r>
                  </m:oMath>
                </a14:m>
                <a:br>
                  <a:rPr lang="en-US" sz="2000" dirty="0"/>
                </a:br>
                <a:r>
                  <a:rPr lang="en-US" sz="2000" dirty="0"/>
                  <a:t>where </a:t>
                </a:r>
                <a14:m>
                  <m:oMath xmlns:m="http://schemas.openxmlformats.org/officeDocument/2006/math">
                    <m:r>
                      <a:rPr lang="en-US" sz="2000" b="0" i="1" smtClean="0">
                        <a:latin typeface="Cambria Math" panose="02040503050406030204" pitchFamily="18" charset="0"/>
                      </a:rPr>
                      <m:t>𝑝</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3</m:t>
                        </m:r>
                        <m:r>
                          <a:rPr lang="en-US" sz="2000" b="0" i="1" smtClean="0">
                            <a:latin typeface="Cambria Math" panose="02040503050406030204" pitchFamily="18" charset="0"/>
                          </a:rPr>
                          <m:t>𝑎𝑐</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𝑏</m:t>
                            </m:r>
                          </m:e>
                          <m:sup>
                            <m:r>
                              <a:rPr lang="en-US" sz="2000" b="0" i="1" smtClean="0">
                                <a:latin typeface="Cambria Math" panose="02040503050406030204" pitchFamily="18" charset="0"/>
                              </a:rPr>
                              <m:t>2</m:t>
                            </m:r>
                          </m:sup>
                        </m:sSup>
                      </m:num>
                      <m:den>
                        <m:r>
                          <a:rPr lang="en-US" sz="2000" b="0" i="1" smtClean="0">
                            <a:latin typeface="Cambria Math" panose="02040503050406030204" pitchFamily="18" charset="0"/>
                          </a:rPr>
                          <m:t>3</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𝑎</m:t>
                            </m:r>
                          </m:e>
                          <m:sup>
                            <m:r>
                              <a:rPr lang="en-US" sz="2000" b="0" i="1" smtClean="0">
                                <a:latin typeface="Cambria Math" panose="02040503050406030204" pitchFamily="18" charset="0"/>
                              </a:rPr>
                              <m:t>2</m:t>
                            </m:r>
                          </m:sup>
                        </m:sSup>
                      </m:den>
                    </m:f>
                    <m:r>
                      <a:rPr lang="en-US" sz="2000" b="0" i="1" smtClean="0">
                        <a:latin typeface="Cambria Math" panose="02040503050406030204" pitchFamily="18" charset="0"/>
                      </a:rPr>
                      <m:t>, </m:t>
                    </m:r>
                    <m:r>
                      <a:rPr lang="en-US" sz="2000" b="0" i="1" smtClean="0">
                        <a:latin typeface="Cambria Math" panose="02040503050406030204" pitchFamily="18" charset="0"/>
                      </a:rPr>
                      <m:t>𝑞</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27</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𝑎</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𝑑</m:t>
                        </m:r>
                        <m:r>
                          <a:rPr lang="en-US" sz="2000" b="0" i="1" smtClean="0">
                            <a:latin typeface="Cambria Math" panose="02040503050406030204" pitchFamily="18" charset="0"/>
                          </a:rPr>
                          <m:t>−9</m:t>
                        </m:r>
                        <m:r>
                          <a:rPr lang="en-US" sz="2000" b="0" i="1" smtClean="0">
                            <a:latin typeface="Cambria Math" panose="02040503050406030204" pitchFamily="18" charset="0"/>
                          </a:rPr>
                          <m:t>𝑎𝑏𝑐</m:t>
                        </m:r>
                        <m:r>
                          <a:rPr lang="en-US" sz="2000" b="0" i="1" smtClean="0">
                            <a:latin typeface="Cambria Math" panose="02040503050406030204" pitchFamily="18" charset="0"/>
                          </a:rPr>
                          <m:t>+2</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𝑏</m:t>
                            </m:r>
                          </m:e>
                          <m:sup>
                            <m:r>
                              <a:rPr lang="en-US" sz="2000" b="0" i="1" smtClean="0">
                                <a:latin typeface="Cambria Math" panose="02040503050406030204" pitchFamily="18" charset="0"/>
                              </a:rPr>
                              <m:t>3</m:t>
                            </m:r>
                          </m:sup>
                        </m:sSup>
                      </m:num>
                      <m:den>
                        <m:r>
                          <a:rPr lang="en-US" sz="2000" b="0" i="1" smtClean="0">
                            <a:latin typeface="Cambria Math" panose="02040503050406030204" pitchFamily="18" charset="0"/>
                          </a:rPr>
                          <m:t>27</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𝑎</m:t>
                            </m:r>
                          </m:e>
                          <m:sup>
                            <m:r>
                              <a:rPr lang="en-US" sz="2000" b="0" i="1" smtClean="0">
                                <a:latin typeface="Cambria Math" panose="02040503050406030204" pitchFamily="18" charset="0"/>
                              </a:rPr>
                              <m:t>3</m:t>
                            </m:r>
                          </m:sup>
                        </m:sSup>
                      </m:den>
                    </m:f>
                    <m:r>
                      <a:rPr lang="en-US" sz="2000" b="0" i="1" smtClean="0">
                        <a:latin typeface="Cambria Math" panose="02040503050406030204" pitchFamily="18" charset="0"/>
                      </a:rPr>
                      <m:t>, </m:t>
                    </m:r>
                    <m:r>
                      <m:rPr>
                        <m:sty m:val="p"/>
                      </m:rPr>
                      <a:rPr lang="en-US" sz="2000" b="0" i="0" smtClean="0">
                        <a:latin typeface="Cambria Math" panose="02040503050406030204" pitchFamily="18" charset="0"/>
                      </a:rPr>
                      <m:t>Δ</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𝑞</m:t>
                                </m:r>
                              </m:num>
                              <m:den>
                                <m:r>
                                  <a:rPr lang="en-US" sz="2000" b="0" i="1" smtClean="0">
                                    <a:latin typeface="Cambria Math" panose="02040503050406030204" pitchFamily="18" charset="0"/>
                                  </a:rPr>
                                  <m:t>2</m:t>
                                </m:r>
                              </m:den>
                            </m:f>
                          </m:e>
                        </m:d>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𝑝</m:t>
                                </m:r>
                              </m:num>
                              <m:den>
                                <m:r>
                                  <a:rPr lang="en-US" sz="2000" b="0" i="1" smtClean="0">
                                    <a:latin typeface="Cambria Math" panose="02040503050406030204" pitchFamily="18" charset="0"/>
                                  </a:rPr>
                                  <m:t>3</m:t>
                                </m:r>
                              </m:den>
                            </m:f>
                          </m:e>
                        </m:d>
                      </m:e>
                      <m:sup>
                        <m:r>
                          <a:rPr lang="en-US" sz="2000" b="0" i="1" smtClean="0">
                            <a:latin typeface="Cambria Math" panose="02040503050406030204" pitchFamily="18" charset="0"/>
                          </a:rPr>
                          <m:t>3</m:t>
                        </m:r>
                      </m:sup>
                    </m:sSup>
                  </m:oMath>
                </a14:m>
                <a:r>
                  <a:rPr lang="en-US" sz="2000" dirty="0"/>
                  <a:t>.</a:t>
                </a:r>
              </a:p>
              <a:p>
                <a:pPr marL="457200" indent="-457200">
                  <a:buFont typeface="Arial" panose="020B0604020202020204" pitchFamily="34" charset="0"/>
                  <a:buChar char="•"/>
                </a:pPr>
                <a:r>
                  <a:rPr lang="en-US" sz="2000" dirty="0"/>
                  <a:t>To ensure </a:t>
                </a:r>
                <a14:m>
                  <m:oMath xmlns:m="http://schemas.openxmlformats.org/officeDocument/2006/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𝑚</m:t>
                        </m:r>
                      </m:e>
                    </m:acc>
                    <m:r>
                      <a:rPr lang="en-US" sz="2000" b="0" i="0" dirty="0" smtClean="0">
                        <a:latin typeface="Cambria Math" panose="02040503050406030204" pitchFamily="18" charset="0"/>
                      </a:rPr>
                      <m:t> </m:t>
                    </m:r>
                  </m:oMath>
                </a14:m>
                <a:r>
                  <a:rPr lang="en-US" sz="2000" dirty="0"/>
                  <a:t>is a positive real number, either</a:t>
                </a:r>
              </a:p>
              <a:p>
                <a:pPr marL="914400" lvl="1" indent="-457200">
                  <a:buFont typeface="Arial" panose="020B0604020202020204" pitchFamily="34" charset="0"/>
                  <a:buChar char="•"/>
                </a:pPr>
                <a14:m>
                  <m:oMath xmlns:m="http://schemas.openxmlformats.org/officeDocument/2006/math">
                    <m:r>
                      <a:rPr lang="en-US" sz="2000" i="1">
                        <a:latin typeface="Cambria Math" panose="02040503050406030204" pitchFamily="18" charset="0"/>
                      </a:rPr>
                      <m:t>𝐶</m:t>
                    </m:r>
                    <m:sSubSup>
                      <m:sSubSupPr>
                        <m:ctrlPr>
                          <a:rPr lang="en-US" sz="2000" i="1">
                            <a:latin typeface="Cambria Math" panose="02040503050406030204" pitchFamily="18" charset="0"/>
                          </a:rPr>
                        </m:ctrlPr>
                      </m:sSubSupPr>
                      <m:e>
                        <m:r>
                          <a:rPr lang="en-US" sz="2000" i="1">
                            <a:latin typeface="Cambria Math" panose="02040503050406030204" pitchFamily="18" charset="0"/>
                          </a:rPr>
                          <m:t>𝑉</m:t>
                        </m:r>
                      </m:e>
                      <m:sub>
                        <m:r>
                          <a:rPr lang="en-US" sz="2000" i="1">
                            <a:latin typeface="Cambria Math" panose="02040503050406030204" pitchFamily="18" charset="0"/>
                          </a:rPr>
                          <m:t>𝑚</m:t>
                        </m:r>
                      </m:sub>
                      <m:sup>
                        <m:r>
                          <a:rPr lang="en-US" sz="2000" i="1">
                            <a:latin typeface="Cambria Math" panose="02040503050406030204" pitchFamily="18" charset="0"/>
                          </a:rPr>
                          <m:t>2</m:t>
                        </m:r>
                      </m:sup>
                    </m:sSubSup>
                    <m:r>
                      <a:rPr lang="en-US" sz="2000" b="0" i="1" smtClean="0">
                        <a:latin typeface="Cambria Math" panose="02040503050406030204" pitchFamily="18" charset="0"/>
                      </a:rPr>
                      <m:t>&lt;4</m:t>
                    </m:r>
                  </m:oMath>
                </a14:m>
                <a:r>
                  <a:rPr lang="en-US" sz="2000" dirty="0"/>
                  <a:t>, </a:t>
                </a:r>
              </a:p>
              <a:p>
                <a:pPr marL="914400" lvl="1" indent="-457200">
                  <a:buFont typeface="Arial" panose="020B0604020202020204" pitchFamily="34" charset="0"/>
                  <a:buChar char="•"/>
                </a:pPr>
                <a:r>
                  <a:rPr lang="en-US" sz="2000" dirty="0"/>
                  <a:t>Or [</a:t>
                </a:r>
                <a14:m>
                  <m:oMath xmlns:m="http://schemas.openxmlformats.org/officeDocument/2006/math">
                    <m:r>
                      <a:rPr lang="en-US" sz="2000" i="1">
                        <a:latin typeface="Cambria Math" panose="02040503050406030204" pitchFamily="18" charset="0"/>
                      </a:rPr>
                      <m:t>𝑅𝐸</m:t>
                    </m:r>
                    <m:r>
                      <a:rPr lang="en-US" sz="2000" b="0" i="1" smtClean="0">
                        <a:latin typeface="Cambria Math" panose="02040503050406030204" pitchFamily="18" charset="0"/>
                      </a:rPr>
                      <m:t>(</m:t>
                    </m:r>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𝑚</m:t>
                        </m:r>
                      </m:e>
                    </m:acc>
                    <m:r>
                      <m:rPr>
                        <m:nor/>
                      </m:rPr>
                      <a:rPr lang="en-US" sz="2000" b="0" i="0" dirty="0" smtClean="0"/>
                      <m:t>)</m:t>
                    </m:r>
                    <m:r>
                      <a:rPr lang="en-US" sz="2000" i="1">
                        <a:latin typeface="Cambria Math" panose="02040503050406030204" pitchFamily="18" charset="0"/>
                      </a:rPr>
                      <m:t>&gt;0</m:t>
                    </m:r>
                    <m:r>
                      <a:rPr lang="en-US" sz="2000" b="0" i="1" smtClean="0">
                        <a:latin typeface="Cambria Math" panose="02040503050406030204" pitchFamily="18" charset="0"/>
                      </a:rPr>
                      <m:t> </m:t>
                    </m:r>
                    <m:r>
                      <a:rPr lang="en-US" sz="2000" b="0" i="1" smtClean="0">
                        <a:latin typeface="Cambria Math" panose="02040503050406030204" pitchFamily="18" charset="0"/>
                      </a:rPr>
                      <m:t>𝐴𝑁𝐷</m:t>
                    </m:r>
                    <m:r>
                      <a:rPr lang="en-US" sz="2000" b="0" i="1" smtClean="0">
                        <a:latin typeface="Cambria Math" panose="02040503050406030204" pitchFamily="18" charset="0"/>
                      </a:rPr>
                      <m:t> </m:t>
                    </m:r>
                  </m:oMath>
                </a14:m>
                <a:r>
                  <a:rPr lang="en-US" sz="2000" dirty="0"/>
                  <a:t> </a:t>
                </a:r>
                <a14:m>
                  <m:oMath xmlns:m="http://schemas.openxmlformats.org/officeDocument/2006/math">
                    <m:acc>
                      <m:accPr>
                        <m:chr m:val="̅"/>
                        <m:ctrlPr>
                          <a:rPr lang="en-US" sz="2000" b="0" i="1" dirty="0" smtClean="0">
                            <a:latin typeface="Cambria Math" panose="02040503050406030204" pitchFamily="18" charset="0"/>
                          </a:rPr>
                        </m:ctrlPr>
                      </m:accPr>
                      <m:e>
                        <m:r>
                          <a:rPr lang="en-US" sz="2000" b="0" i="1" dirty="0" smtClean="0">
                            <a:latin typeface="Cambria Math" panose="02040503050406030204" pitchFamily="18" charset="0"/>
                          </a:rPr>
                          <m:t>𝑚</m:t>
                        </m:r>
                      </m:e>
                    </m:acc>
                    <m:r>
                      <a:rPr lang="en-US" sz="2000" b="0" i="1" dirty="0" smtClean="0">
                        <a:latin typeface="Cambria Math" panose="02040503050406030204" pitchFamily="18" charset="0"/>
                      </a:rPr>
                      <m:t>∉(</m:t>
                    </m:r>
                    <m:f>
                      <m:fPr>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1−</m:t>
                        </m:r>
                        <m:r>
                          <a:rPr lang="en-US" sz="2000" b="0" i="1" dirty="0" smtClean="0">
                            <a:latin typeface="Cambria Math" panose="02040503050406030204" pitchFamily="18" charset="0"/>
                          </a:rPr>
                          <m:t>𝜌</m:t>
                        </m:r>
                      </m:num>
                      <m:den>
                        <m:r>
                          <a:rPr lang="en-US" sz="2000" b="0" i="1" dirty="0" smtClean="0">
                            <a:latin typeface="Cambria Math" panose="02040503050406030204" pitchFamily="18" charset="0"/>
                          </a:rPr>
                          <m:t>𝜌</m:t>
                        </m:r>
                      </m:den>
                    </m:f>
                    <m:f>
                      <m:fPr>
                        <m:ctrlPr>
                          <a:rPr lang="en-US" sz="2000" b="0" i="1" dirty="0" smtClean="0">
                            <a:latin typeface="Cambria Math" panose="02040503050406030204" pitchFamily="18" charset="0"/>
                          </a:rPr>
                        </m:ctrlPr>
                      </m:fPr>
                      <m:num>
                        <m:r>
                          <a:rPr lang="en-US" sz="2000" i="1">
                            <a:latin typeface="Cambria Math" panose="02040503050406030204" pitchFamily="18" charset="0"/>
                          </a:rPr>
                          <m:t>𝐶</m:t>
                        </m:r>
                        <m:sSubSup>
                          <m:sSubSupPr>
                            <m:ctrlPr>
                              <a:rPr lang="en-US" sz="2000" i="1">
                                <a:latin typeface="Cambria Math" panose="02040503050406030204" pitchFamily="18" charset="0"/>
                              </a:rPr>
                            </m:ctrlPr>
                          </m:sSubSupPr>
                          <m:e>
                            <m:r>
                              <a:rPr lang="en-US" sz="2000" i="1">
                                <a:latin typeface="Cambria Math" panose="02040503050406030204" pitchFamily="18" charset="0"/>
                              </a:rPr>
                              <m:t>𝑉</m:t>
                            </m:r>
                          </m:e>
                          <m:sub>
                            <m:r>
                              <a:rPr lang="en-US" sz="2000" i="1">
                                <a:latin typeface="Cambria Math" panose="02040503050406030204" pitchFamily="18" charset="0"/>
                              </a:rPr>
                              <m:t>𝑚</m:t>
                            </m:r>
                          </m:sub>
                          <m:sup>
                            <m:r>
                              <a:rPr lang="en-US" sz="2000" i="1">
                                <a:latin typeface="Cambria Math" panose="02040503050406030204" pitchFamily="18" charset="0"/>
                              </a:rPr>
                              <m:t>2</m:t>
                            </m:r>
                          </m:sup>
                        </m:sSubSup>
                        <m:r>
                          <a:rPr lang="en-US" sz="2000" b="0" i="1" dirty="0" smtClean="0">
                            <a:latin typeface="Cambria Math" panose="02040503050406030204" pitchFamily="18" charset="0"/>
                          </a:rPr>
                          <m:t>−2 −</m:t>
                        </m:r>
                        <m:rad>
                          <m:radPr>
                            <m:degHide m:val="on"/>
                            <m:ctrlPr>
                              <a:rPr lang="en-US" sz="2000" i="1" dirty="0">
                                <a:latin typeface="Cambria Math" panose="02040503050406030204" pitchFamily="18" charset="0"/>
                              </a:rPr>
                            </m:ctrlPr>
                          </m:radPr>
                          <m:deg/>
                          <m:e>
                            <m:r>
                              <a:rPr lang="en-US" sz="2000" i="1">
                                <a:latin typeface="Cambria Math" panose="02040503050406030204" pitchFamily="18" charset="0"/>
                              </a:rPr>
                              <m:t>𝐶</m:t>
                            </m:r>
                            <m:sSubSup>
                              <m:sSubSupPr>
                                <m:ctrlPr>
                                  <a:rPr lang="en-US" sz="2000" i="1">
                                    <a:latin typeface="Cambria Math" panose="02040503050406030204" pitchFamily="18" charset="0"/>
                                  </a:rPr>
                                </m:ctrlPr>
                              </m:sSubSupPr>
                              <m:e>
                                <m:r>
                                  <a:rPr lang="en-US" sz="2000" i="1">
                                    <a:latin typeface="Cambria Math" panose="02040503050406030204" pitchFamily="18" charset="0"/>
                                  </a:rPr>
                                  <m:t>𝑉</m:t>
                                </m:r>
                              </m:e>
                              <m:sub>
                                <m:r>
                                  <a:rPr lang="en-US" sz="2000" i="1">
                                    <a:latin typeface="Cambria Math" panose="02040503050406030204" pitchFamily="18" charset="0"/>
                                  </a:rPr>
                                  <m:t>𝑚</m:t>
                                </m:r>
                              </m:sub>
                              <m:sup>
                                <m:r>
                                  <a:rPr lang="en-US" sz="2000" i="1">
                                    <a:latin typeface="Cambria Math" panose="02040503050406030204" pitchFamily="18" charset="0"/>
                                  </a:rPr>
                                  <m:t>2</m:t>
                                </m:r>
                              </m:sup>
                            </m:sSubSup>
                            <m:d>
                              <m:dPr>
                                <m:ctrlPr>
                                  <a:rPr lang="en-US" sz="2000" b="0" i="1" dirty="0" smtClean="0">
                                    <a:latin typeface="Cambria Math" panose="02040503050406030204" pitchFamily="18" charset="0"/>
                                  </a:rPr>
                                </m:ctrlPr>
                              </m:dPr>
                              <m:e>
                                <m:r>
                                  <a:rPr lang="en-US" sz="2000" i="1">
                                    <a:latin typeface="Cambria Math" panose="02040503050406030204" pitchFamily="18" charset="0"/>
                                  </a:rPr>
                                  <m:t>𝐶</m:t>
                                </m:r>
                                <m:sSubSup>
                                  <m:sSubSupPr>
                                    <m:ctrlPr>
                                      <a:rPr lang="en-US" sz="2000" i="1">
                                        <a:latin typeface="Cambria Math" panose="02040503050406030204" pitchFamily="18" charset="0"/>
                                      </a:rPr>
                                    </m:ctrlPr>
                                  </m:sSubSupPr>
                                  <m:e>
                                    <m:r>
                                      <a:rPr lang="en-US" sz="2000" i="1">
                                        <a:latin typeface="Cambria Math" panose="02040503050406030204" pitchFamily="18" charset="0"/>
                                      </a:rPr>
                                      <m:t>𝑉</m:t>
                                    </m:r>
                                  </m:e>
                                  <m:sub>
                                    <m:r>
                                      <a:rPr lang="en-US" sz="2000" i="1">
                                        <a:latin typeface="Cambria Math" panose="02040503050406030204" pitchFamily="18" charset="0"/>
                                      </a:rPr>
                                      <m:t>𝑚</m:t>
                                    </m:r>
                                  </m:sub>
                                  <m:sup>
                                    <m:r>
                                      <a:rPr lang="en-US" sz="2000" i="1">
                                        <a:latin typeface="Cambria Math" panose="02040503050406030204" pitchFamily="18" charset="0"/>
                                      </a:rPr>
                                      <m:t>2</m:t>
                                    </m:r>
                                  </m:sup>
                                </m:sSubSup>
                                <m:r>
                                  <a:rPr lang="en-US" sz="2000" b="0" i="1" dirty="0" smtClean="0">
                                    <a:latin typeface="Cambria Math" panose="02040503050406030204" pitchFamily="18" charset="0"/>
                                  </a:rPr>
                                  <m:t>−4</m:t>
                                </m:r>
                              </m:e>
                            </m:d>
                          </m:e>
                        </m:rad>
                      </m:num>
                      <m:den>
                        <m:r>
                          <a:rPr lang="en-US" sz="2000" b="0" i="1" dirty="0" smtClean="0">
                            <a:latin typeface="Cambria Math" panose="02040503050406030204" pitchFamily="18" charset="0"/>
                          </a:rPr>
                          <m:t>2</m:t>
                        </m:r>
                      </m:den>
                    </m:f>
                    <m:r>
                      <a:rPr lang="en-US" sz="2000" b="0" i="1" dirty="0" smtClean="0">
                        <a:latin typeface="Cambria Math" panose="02040503050406030204" pitchFamily="18" charset="0"/>
                      </a:rPr>
                      <m:t>,</m:t>
                    </m:r>
                    <m:f>
                      <m:fPr>
                        <m:ctrlPr>
                          <a:rPr lang="en-US" sz="2000" i="1" dirty="0">
                            <a:latin typeface="Cambria Math" panose="02040503050406030204" pitchFamily="18" charset="0"/>
                          </a:rPr>
                        </m:ctrlPr>
                      </m:fPr>
                      <m:num>
                        <m:r>
                          <a:rPr lang="en-US" sz="2000" i="1" dirty="0">
                            <a:latin typeface="Cambria Math" panose="02040503050406030204" pitchFamily="18" charset="0"/>
                          </a:rPr>
                          <m:t>1−</m:t>
                        </m:r>
                        <m:r>
                          <a:rPr lang="en-US" sz="2000" i="1" dirty="0">
                            <a:latin typeface="Cambria Math" panose="02040503050406030204" pitchFamily="18" charset="0"/>
                          </a:rPr>
                          <m:t>𝜌</m:t>
                        </m:r>
                      </m:num>
                      <m:den>
                        <m:r>
                          <a:rPr lang="en-US" sz="2000" i="1" dirty="0">
                            <a:latin typeface="Cambria Math" panose="02040503050406030204" pitchFamily="18" charset="0"/>
                          </a:rPr>
                          <m:t>𝜌</m:t>
                        </m:r>
                      </m:den>
                    </m:f>
                    <m:f>
                      <m:fPr>
                        <m:ctrlPr>
                          <a:rPr lang="en-US" sz="2000" i="1" dirty="0">
                            <a:latin typeface="Cambria Math" panose="02040503050406030204" pitchFamily="18" charset="0"/>
                          </a:rPr>
                        </m:ctrlPr>
                      </m:fPr>
                      <m:num>
                        <m:r>
                          <a:rPr lang="en-US" sz="2000" i="1">
                            <a:latin typeface="Cambria Math" panose="02040503050406030204" pitchFamily="18" charset="0"/>
                          </a:rPr>
                          <m:t>𝐶</m:t>
                        </m:r>
                        <m:sSubSup>
                          <m:sSubSupPr>
                            <m:ctrlPr>
                              <a:rPr lang="en-US" sz="2000" i="1">
                                <a:latin typeface="Cambria Math" panose="02040503050406030204" pitchFamily="18" charset="0"/>
                              </a:rPr>
                            </m:ctrlPr>
                          </m:sSubSupPr>
                          <m:e>
                            <m:r>
                              <a:rPr lang="en-US" sz="2000" i="1">
                                <a:latin typeface="Cambria Math" panose="02040503050406030204" pitchFamily="18" charset="0"/>
                              </a:rPr>
                              <m:t>𝑉</m:t>
                            </m:r>
                          </m:e>
                          <m:sub>
                            <m:r>
                              <a:rPr lang="en-US" sz="2000" i="1">
                                <a:latin typeface="Cambria Math" panose="02040503050406030204" pitchFamily="18" charset="0"/>
                              </a:rPr>
                              <m:t>𝑚</m:t>
                            </m:r>
                          </m:sub>
                          <m:sup>
                            <m:r>
                              <a:rPr lang="en-US" sz="2000" i="1">
                                <a:latin typeface="Cambria Math" panose="02040503050406030204" pitchFamily="18" charset="0"/>
                              </a:rPr>
                              <m:t>2</m:t>
                            </m:r>
                          </m:sup>
                        </m:sSubSup>
                        <m:r>
                          <a:rPr lang="en-US" sz="2000" i="1" dirty="0">
                            <a:latin typeface="Cambria Math" panose="02040503050406030204" pitchFamily="18" charset="0"/>
                          </a:rPr>
                          <m:t>−2</m:t>
                        </m:r>
                        <m:r>
                          <a:rPr lang="en-US" sz="2000" b="0" i="1" dirty="0" smtClean="0">
                            <a:latin typeface="Cambria Math" panose="02040503050406030204" pitchFamily="18" charset="0"/>
                          </a:rPr>
                          <m:t>+</m:t>
                        </m:r>
                        <m:rad>
                          <m:radPr>
                            <m:degHide m:val="on"/>
                            <m:ctrlPr>
                              <a:rPr lang="en-US" sz="2000" i="1" dirty="0">
                                <a:latin typeface="Cambria Math" panose="02040503050406030204" pitchFamily="18" charset="0"/>
                              </a:rPr>
                            </m:ctrlPr>
                          </m:radPr>
                          <m:deg/>
                          <m:e>
                            <m:r>
                              <a:rPr lang="en-US" sz="2000" i="1">
                                <a:latin typeface="Cambria Math" panose="02040503050406030204" pitchFamily="18" charset="0"/>
                              </a:rPr>
                              <m:t>𝐶</m:t>
                            </m:r>
                            <m:sSubSup>
                              <m:sSubSupPr>
                                <m:ctrlPr>
                                  <a:rPr lang="en-US" sz="2000" i="1">
                                    <a:latin typeface="Cambria Math" panose="02040503050406030204" pitchFamily="18" charset="0"/>
                                  </a:rPr>
                                </m:ctrlPr>
                              </m:sSubSupPr>
                              <m:e>
                                <m:r>
                                  <a:rPr lang="en-US" sz="2000" i="1">
                                    <a:latin typeface="Cambria Math" panose="02040503050406030204" pitchFamily="18" charset="0"/>
                                  </a:rPr>
                                  <m:t>𝑉</m:t>
                                </m:r>
                              </m:e>
                              <m:sub>
                                <m:r>
                                  <a:rPr lang="en-US" sz="2000" i="1">
                                    <a:latin typeface="Cambria Math" panose="02040503050406030204" pitchFamily="18" charset="0"/>
                                  </a:rPr>
                                  <m:t>𝑚</m:t>
                                </m:r>
                              </m:sub>
                              <m:sup>
                                <m:r>
                                  <a:rPr lang="en-US" sz="2000" i="1">
                                    <a:latin typeface="Cambria Math" panose="02040503050406030204" pitchFamily="18" charset="0"/>
                                  </a:rPr>
                                  <m:t>2</m:t>
                                </m:r>
                              </m:sup>
                            </m:sSubSup>
                            <m:d>
                              <m:dPr>
                                <m:ctrlPr>
                                  <a:rPr lang="en-US" sz="2000" i="1" dirty="0">
                                    <a:latin typeface="Cambria Math" panose="02040503050406030204" pitchFamily="18" charset="0"/>
                                  </a:rPr>
                                </m:ctrlPr>
                              </m:dPr>
                              <m:e>
                                <m:r>
                                  <a:rPr lang="en-US" sz="2000" i="1">
                                    <a:latin typeface="Cambria Math" panose="02040503050406030204" pitchFamily="18" charset="0"/>
                                  </a:rPr>
                                  <m:t>𝐶</m:t>
                                </m:r>
                                <m:sSubSup>
                                  <m:sSubSupPr>
                                    <m:ctrlPr>
                                      <a:rPr lang="en-US" sz="2000" i="1">
                                        <a:latin typeface="Cambria Math" panose="02040503050406030204" pitchFamily="18" charset="0"/>
                                      </a:rPr>
                                    </m:ctrlPr>
                                  </m:sSubSupPr>
                                  <m:e>
                                    <m:r>
                                      <a:rPr lang="en-US" sz="2000" i="1">
                                        <a:latin typeface="Cambria Math" panose="02040503050406030204" pitchFamily="18" charset="0"/>
                                      </a:rPr>
                                      <m:t>𝑉</m:t>
                                    </m:r>
                                  </m:e>
                                  <m:sub>
                                    <m:r>
                                      <a:rPr lang="en-US" sz="2000" i="1">
                                        <a:latin typeface="Cambria Math" panose="02040503050406030204" pitchFamily="18" charset="0"/>
                                      </a:rPr>
                                      <m:t>𝑚</m:t>
                                    </m:r>
                                  </m:sub>
                                  <m:sup>
                                    <m:r>
                                      <a:rPr lang="en-US" sz="2000" i="1">
                                        <a:latin typeface="Cambria Math" panose="02040503050406030204" pitchFamily="18" charset="0"/>
                                      </a:rPr>
                                      <m:t>2</m:t>
                                    </m:r>
                                  </m:sup>
                                </m:sSubSup>
                                <m:r>
                                  <a:rPr lang="en-US" sz="2000" i="1" dirty="0">
                                    <a:latin typeface="Cambria Math" panose="02040503050406030204" pitchFamily="18" charset="0"/>
                                  </a:rPr>
                                  <m:t>−4</m:t>
                                </m:r>
                              </m:e>
                            </m:d>
                          </m:e>
                        </m:rad>
                      </m:num>
                      <m:den>
                        <m:r>
                          <a:rPr lang="en-US" sz="2000" i="1" dirty="0">
                            <a:latin typeface="Cambria Math" panose="02040503050406030204" pitchFamily="18" charset="0"/>
                          </a:rPr>
                          <m:t>2</m:t>
                        </m:r>
                      </m:den>
                    </m:f>
                    <m:r>
                      <a:rPr lang="en-US" sz="2000" b="0" i="1" dirty="0" smtClean="0">
                        <a:latin typeface="Cambria Math" panose="02040503050406030204" pitchFamily="18" charset="0"/>
                      </a:rPr>
                      <m:t>).</m:t>
                    </m:r>
                  </m:oMath>
                </a14:m>
                <a:endParaRPr lang="en-US" sz="2000" dirty="0"/>
              </a:p>
              <a:p>
                <a:pPr marL="1371600" lvl="2" indent="-457200">
                  <a:buFont typeface="Arial" panose="020B0604020202020204" pitchFamily="34" charset="0"/>
                  <a:buChar char="•"/>
                </a:pPr>
                <a:endParaRPr lang="en-US" sz="2000" dirty="0"/>
              </a:p>
              <a:p>
                <a:pPr marL="457200" indent="-457200">
                  <a:buFont typeface="Arial" panose="020B0604020202020204" pitchFamily="34" charset="0"/>
                  <a:buChar char="•"/>
                </a:pPr>
                <a:r>
                  <a:rPr lang="en-US" sz="2000" dirty="0"/>
                  <a:t>Special cases:</a:t>
                </a:r>
              </a:p>
              <a:p>
                <a:pPr marL="914400" lvl="1" indent="-457200">
                  <a:buFont typeface="Arial" panose="020B0604020202020204" pitchFamily="34" charset="0"/>
                  <a:buChar char="•"/>
                </a:pPr>
                <a:r>
                  <a:rPr lang="en-US" sz="2000" dirty="0"/>
                  <a:t>When cluster sizes are constant, </a:t>
                </a:r>
                <a14:m>
                  <m:oMath xmlns:m="http://schemas.openxmlformats.org/officeDocument/2006/math">
                    <m:r>
                      <a:rPr lang="en-US" sz="2000" i="1">
                        <a:latin typeface="Cambria Math" panose="02040503050406030204" pitchFamily="18" charset="0"/>
                      </a:rPr>
                      <m:t>𝐶</m:t>
                    </m:r>
                    <m:sSubSup>
                      <m:sSubSupPr>
                        <m:ctrlPr>
                          <a:rPr lang="en-US" sz="2000" i="1">
                            <a:latin typeface="Cambria Math" panose="02040503050406030204" pitchFamily="18" charset="0"/>
                          </a:rPr>
                        </m:ctrlPr>
                      </m:sSubSupPr>
                      <m:e>
                        <m:r>
                          <a:rPr lang="en-US" sz="2000" i="1">
                            <a:latin typeface="Cambria Math" panose="02040503050406030204" pitchFamily="18" charset="0"/>
                          </a:rPr>
                          <m:t>𝑉</m:t>
                        </m:r>
                      </m:e>
                      <m:sub>
                        <m:r>
                          <a:rPr lang="en-US" sz="2000" i="1">
                            <a:latin typeface="Cambria Math" panose="02040503050406030204" pitchFamily="18" charset="0"/>
                          </a:rPr>
                          <m:t>𝑚</m:t>
                        </m:r>
                      </m:sub>
                      <m:sup>
                        <m:r>
                          <a:rPr lang="en-US" sz="2000" i="1">
                            <a:latin typeface="Cambria Math" panose="02040503050406030204" pitchFamily="18" charset="0"/>
                          </a:rPr>
                          <m:t>2</m:t>
                        </m:r>
                      </m:sup>
                    </m:sSubSup>
                    <m:r>
                      <a:rPr lang="en-US" sz="2000" b="0" i="1" smtClean="0">
                        <a:latin typeface="Cambria Math" panose="02040503050406030204" pitchFamily="18" charset="0"/>
                      </a:rPr>
                      <m:t>=0</m:t>
                    </m:r>
                  </m:oMath>
                </a14:m>
                <a:r>
                  <a:rPr lang="en-US" sz="2000" dirty="0"/>
                  <a:t>, and the formulas for </a:t>
                </a:r>
                <a14:m>
                  <m:oMath xmlns:m="http://schemas.openxmlformats.org/officeDocument/2006/math">
                    <m:r>
                      <a:rPr lang="en-US" sz="2000" i="1">
                        <a:solidFill>
                          <a:prstClr val="black"/>
                        </a:solidFill>
                        <a:latin typeface="Cambria Math" panose="02040503050406030204" pitchFamily="18" charset="0"/>
                      </a:rPr>
                      <m:t>𝐾</m:t>
                    </m:r>
                  </m:oMath>
                </a14:m>
                <a:r>
                  <a:rPr lang="en-US" sz="2000" dirty="0"/>
                  <a:t> and </a:t>
                </a:r>
                <a14:m>
                  <m:oMath xmlns:m="http://schemas.openxmlformats.org/officeDocument/2006/math">
                    <m:acc>
                      <m:accPr>
                        <m:chr m:val="̅"/>
                        <m:ctrlPr>
                          <a:rPr lang="en-US" sz="2000" b="0" i="1" smtClean="0">
                            <a:solidFill>
                              <a:prstClr val="black"/>
                            </a:solidFill>
                            <a:latin typeface="Cambria Math" panose="02040503050406030204" pitchFamily="18" charset="0"/>
                          </a:rPr>
                        </m:ctrlPr>
                      </m:accPr>
                      <m:e>
                        <m:r>
                          <a:rPr lang="en-US" sz="2000" b="0" i="1" smtClean="0">
                            <a:solidFill>
                              <a:prstClr val="black"/>
                            </a:solidFill>
                            <a:latin typeface="Cambria Math" panose="02040503050406030204" pitchFamily="18" charset="0"/>
                          </a:rPr>
                          <m:t>𝑚</m:t>
                        </m:r>
                      </m:e>
                    </m:acc>
                  </m:oMath>
                </a14:m>
                <a:r>
                  <a:rPr lang="en-US" sz="2000" dirty="0"/>
                  <a:t> both reduce to the formula on slide 34 </a:t>
                </a:r>
              </a:p>
              <a:p>
                <a:pPr marL="914400" lvl="1" indent="-457200">
                  <a:buFont typeface="Arial" panose="020B0604020202020204" pitchFamily="34" charset="0"/>
                  <a:buChar char="•"/>
                </a:pPr>
                <a:r>
                  <a:rPr lang="en-US" sz="2000" dirty="0"/>
                  <a:t>As  expected, when </a:t>
                </a:r>
                <a14:m>
                  <m:oMath xmlns:m="http://schemas.openxmlformats.org/officeDocument/2006/math">
                    <m:r>
                      <a:rPr lang="en-US" sz="2000" i="1">
                        <a:latin typeface="Cambria Math" panose="02040503050406030204" pitchFamily="18" charset="0"/>
                      </a:rPr>
                      <m:t>𝜌</m:t>
                    </m:r>
                    <m:r>
                      <a:rPr lang="en-US" sz="2000" b="0" i="1" smtClean="0">
                        <a:latin typeface="Cambria Math" panose="02040503050406030204" pitchFamily="18" charset="0"/>
                      </a:rPr>
                      <m:t>=</m:t>
                    </m:r>
                    <m:r>
                      <a:rPr lang="en-US" sz="2000" i="1">
                        <a:latin typeface="Cambria Math" panose="02040503050406030204" pitchFamily="18" charset="0"/>
                      </a:rPr>
                      <m:t>0</m:t>
                    </m:r>
                  </m:oMath>
                </a14:m>
                <a:r>
                  <a:rPr lang="en-US" sz="2000" dirty="0"/>
                  <a:t>, the formulas for </a:t>
                </a:r>
                <a14:m>
                  <m:oMath xmlns:m="http://schemas.openxmlformats.org/officeDocument/2006/math">
                    <m:r>
                      <a:rPr lang="en-US" sz="2000" i="1">
                        <a:solidFill>
                          <a:prstClr val="black"/>
                        </a:solidFill>
                        <a:latin typeface="Cambria Math" panose="02040503050406030204" pitchFamily="18" charset="0"/>
                      </a:rPr>
                      <m:t>𝐾</m:t>
                    </m:r>
                  </m:oMath>
                </a14:m>
                <a:r>
                  <a:rPr lang="en-US" sz="2000" dirty="0"/>
                  <a:t> and </a:t>
                </a:r>
                <a14:m>
                  <m:oMath xmlns:m="http://schemas.openxmlformats.org/officeDocument/2006/math">
                    <m:acc>
                      <m:accPr>
                        <m:chr m:val="̅"/>
                        <m:ctrlPr>
                          <a:rPr lang="en-US" sz="2000" i="1">
                            <a:solidFill>
                              <a:prstClr val="black"/>
                            </a:solidFill>
                            <a:latin typeface="Cambria Math" panose="02040503050406030204" pitchFamily="18" charset="0"/>
                          </a:rPr>
                        </m:ctrlPr>
                      </m:accPr>
                      <m:e>
                        <m:r>
                          <a:rPr lang="en-US" sz="2000" i="1">
                            <a:solidFill>
                              <a:prstClr val="black"/>
                            </a:solidFill>
                            <a:latin typeface="Cambria Math" panose="02040503050406030204" pitchFamily="18" charset="0"/>
                          </a:rPr>
                          <m:t>𝑚</m:t>
                        </m:r>
                      </m:e>
                    </m:acc>
                  </m:oMath>
                </a14:m>
                <a:r>
                  <a:rPr lang="en-US" sz="2000" dirty="0"/>
                  <a:t> both reduce to the standard formula independent data, where  </a:t>
                </a:r>
                <a14:m>
                  <m:oMath xmlns:m="http://schemas.openxmlformats.org/officeDocument/2006/math">
                    <m:r>
                      <a:rPr lang="en-US" sz="2000" i="1">
                        <a:latin typeface="Cambria Math" panose="02040503050406030204" pitchFamily="18" charset="0"/>
                      </a:rPr>
                      <m:t>𝐾𝑚</m:t>
                    </m:r>
                    <m:r>
                      <a:rPr lang="en-US" sz="2000" i="1">
                        <a:latin typeface="Cambria Math" panose="02040503050406030204" pitchFamily="18" charset="0"/>
                      </a:rPr>
                      <m:t>=</m:t>
                    </m:r>
                    <m:r>
                      <a:rPr lang="en-US" sz="2000" i="1">
                        <a:latin typeface="Cambria Math" panose="02040503050406030204" pitchFamily="18" charset="0"/>
                      </a:rPr>
                      <m:t>𝑛</m:t>
                    </m:r>
                  </m:oMath>
                </a14:m>
                <a:r>
                  <a:rPr lang="en-US" sz="2000" dirty="0"/>
                  <a:t>.</a:t>
                </a:r>
              </a:p>
            </p:txBody>
          </p:sp>
        </mc:Choice>
        <mc:Fallback xmlns="">
          <p:sp>
            <p:nvSpPr>
              <p:cNvPr id="2" name="TextBox 1">
                <a:extLst>
                  <a:ext uri="{FF2B5EF4-FFF2-40B4-BE49-F238E27FC236}">
                    <a16:creationId xmlns:a16="http://schemas.microsoft.com/office/drawing/2014/main" id="{C8A14A2D-E655-BFE2-D66E-994A53C56F55}"/>
                  </a:ext>
                </a:extLst>
              </p:cNvPr>
              <p:cNvSpPr txBox="1">
                <a:spLocks noRot="1" noChangeAspect="1" noMove="1" noResize="1" noEditPoints="1" noAdjustHandles="1" noChangeArrowheads="1" noChangeShapeType="1" noTextEdit="1"/>
              </p:cNvSpPr>
              <p:nvPr/>
            </p:nvSpPr>
            <p:spPr>
              <a:xfrm>
                <a:off x="69743" y="0"/>
                <a:ext cx="12192000" cy="6084486"/>
              </a:xfrm>
              <a:prstGeom prst="rect">
                <a:avLst/>
              </a:prstGeom>
              <a:blipFill>
                <a:blip r:embed="rId4"/>
                <a:stretch>
                  <a:fillRect l="-450" t="-3106" b="-90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BC3184AD-34F3-842F-49BA-FFF047BC97E1}"/>
              </a:ext>
            </a:extLst>
          </p:cNvPr>
          <p:cNvSpPr>
            <a:spLocks noGrp="1"/>
          </p:cNvSpPr>
          <p:nvPr>
            <p:ph type="sldNum" sz="quarter" idx="12"/>
          </p:nvPr>
        </p:nvSpPr>
        <p:spPr/>
        <p:txBody>
          <a:bodyPr/>
          <a:lstStyle/>
          <a:p>
            <a:fld id="{77C6A7FE-225D-49F1-B302-AA37EA92BB49}" type="slidenum">
              <a:rPr lang="en-US" smtClean="0"/>
              <a:t>37</a:t>
            </a:fld>
            <a:endParaRPr lang="en-US" dirty="0"/>
          </a:p>
        </p:txBody>
      </p:sp>
      <p:sp>
        <p:nvSpPr>
          <p:cNvPr id="5" name="Footer Placeholder 2">
            <a:extLst>
              <a:ext uri="{FF2B5EF4-FFF2-40B4-BE49-F238E27FC236}">
                <a16:creationId xmlns:a16="http://schemas.microsoft.com/office/drawing/2014/main" id="{A5B55131-AD43-0CF7-A12A-DDA2BDA8C163}"/>
              </a:ext>
            </a:extLst>
          </p:cNvPr>
          <p:cNvSpPr txBox="1">
            <a:spLocks/>
          </p:cNvSpPr>
          <p:nvPr/>
        </p:nvSpPr>
        <p:spPr>
          <a:xfrm>
            <a:off x="533400" y="5759992"/>
            <a:ext cx="10097814" cy="20195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dirty="0"/>
          </a:p>
        </p:txBody>
      </p:sp>
    </p:spTree>
    <p:extLst>
      <p:ext uri="{BB962C8B-B14F-4D97-AF65-F5344CB8AC3E}">
        <p14:creationId xmlns:p14="http://schemas.microsoft.com/office/powerpoint/2010/main" val="342807497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11924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600" dirty="0">
                    <a:solidFill>
                      <a:schemeClr val="bg1"/>
                    </a:solidFill>
                    <a:latin typeface="Arial" panose="020B0604020202020204" pitchFamily="34" charset="0"/>
                    <a:cs typeface="Arial" panose="020B0604020202020204" pitchFamily="34" charset="0"/>
                  </a:rPr>
                  <a:t>Familia Salama: quantifying variation in cluster size through </a:t>
                </a:r>
                <a14:m>
                  <m:oMath xmlns:m="http://schemas.openxmlformats.org/officeDocument/2006/math">
                    <m:sSub>
                      <m:sSubPr>
                        <m:ctrlPr>
                          <a:rPr lang="en-US" altLang="en-US" sz="3600" b="0" i="1" smtClean="0">
                            <a:solidFill>
                              <a:schemeClr val="bg1"/>
                            </a:solidFill>
                            <a:latin typeface="Cambria Math" panose="02040503050406030204" pitchFamily="18" charset="0"/>
                            <a:cs typeface="Arial" panose="020B0604020202020204" pitchFamily="34" charset="0"/>
                          </a:rPr>
                        </m:ctrlPr>
                      </m:sSubPr>
                      <m:e>
                        <m:r>
                          <a:rPr lang="en-US" altLang="en-US" sz="3600" b="0" i="1" smtClean="0">
                            <a:solidFill>
                              <a:schemeClr val="bg1"/>
                            </a:solidFill>
                            <a:latin typeface="Cambria Math" panose="02040503050406030204" pitchFamily="18" charset="0"/>
                            <a:cs typeface="Arial" panose="020B0604020202020204" pitchFamily="34" charset="0"/>
                          </a:rPr>
                          <m:t>𝐶𝑉</m:t>
                        </m:r>
                      </m:e>
                      <m:sub>
                        <m:r>
                          <a:rPr lang="en-US" altLang="en-US" sz="3600" b="0" i="1" smtClean="0">
                            <a:solidFill>
                              <a:schemeClr val="bg1"/>
                            </a:solidFill>
                            <a:latin typeface="Cambria Math" panose="02040503050406030204" pitchFamily="18" charset="0"/>
                            <a:cs typeface="Arial" panose="020B0604020202020204" pitchFamily="34" charset="0"/>
                          </a:rPr>
                          <m:t>𝑚</m:t>
                        </m:r>
                      </m:sub>
                    </m:sSub>
                  </m:oMath>
                </a14:m>
                <a:endParaRPr lang="en-US" altLang="en-US" sz="3600" dirty="0">
                  <a:solidFill>
                    <a:schemeClr val="bg1"/>
                  </a:solidFill>
                  <a:latin typeface="Arial" panose="020B0604020202020204" pitchFamily="34" charset="0"/>
                  <a:cs typeface="Arial" panose="020B0604020202020204" pitchFamily="34" charset="0"/>
                </a:endParaRPr>
              </a:p>
            </p:txBody>
          </p:sp>
        </mc:Choice>
        <mc:Fallback xmlns="">
          <p:sp>
            <p:nvSpPr>
              <p:cNvPr id="4" name="Rectangle 3">
                <a:extLst>
                  <a:ext uri="{FF2B5EF4-FFF2-40B4-BE49-F238E27FC236}">
                    <a16:creationId xmlns:a16="http://schemas.microsoft.com/office/drawing/2014/main" id="{FA2AFBA0-B906-4A1A-8F2B-7DABBA8D5113}"/>
                  </a:ext>
                </a:extLst>
              </p:cNvPr>
              <p:cNvSpPr>
                <a:spLocks noRot="1" noChangeAspect="1" noMove="1" noResize="1" noEditPoints="1" noAdjustHandles="1" noChangeArrowheads="1" noChangeShapeType="1" noTextEdit="1"/>
              </p:cNvSpPr>
              <p:nvPr/>
            </p:nvSpPr>
            <p:spPr>
              <a:xfrm>
                <a:off x="0" y="-18029"/>
                <a:ext cx="12192000" cy="1119242"/>
              </a:xfrm>
              <a:prstGeom prst="rect">
                <a:avLst/>
              </a:prstGeom>
              <a:blipFill>
                <a:blip r:embed="rId3"/>
                <a:stretch>
                  <a:fillRect t="-11413" b="-23370"/>
                </a:stretch>
              </a:blipFill>
              <a:ln>
                <a:noFill/>
              </a:ln>
            </p:spPr>
            <p:txBody>
              <a:bodyPr/>
              <a:lstStyle/>
              <a:p>
                <a:r>
                  <a:rPr lang="en-US">
                    <a:noFill/>
                  </a:rPr>
                  <a:t> </a:t>
                </a:r>
              </a:p>
            </p:txBody>
          </p:sp>
        </mc:Fallback>
      </mc:AlternateContent>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graphicFrame>
        <p:nvGraphicFramePr>
          <p:cNvPr id="7" name="Table 6">
            <a:extLst>
              <a:ext uri="{FF2B5EF4-FFF2-40B4-BE49-F238E27FC236}">
                <a16:creationId xmlns:a16="http://schemas.microsoft.com/office/drawing/2014/main" id="{B5B9F70E-756F-4E0D-AFDF-0329A525E9FE}"/>
              </a:ext>
            </a:extLst>
          </p:cNvPr>
          <p:cNvGraphicFramePr>
            <a:graphicFrameLocks noGrp="1"/>
          </p:cNvGraphicFramePr>
          <p:nvPr/>
        </p:nvGraphicFramePr>
        <p:xfrm>
          <a:off x="8254321" y="1253325"/>
          <a:ext cx="3846835" cy="4302750"/>
        </p:xfrm>
        <a:graphic>
          <a:graphicData uri="http://schemas.openxmlformats.org/drawingml/2006/table">
            <a:tbl>
              <a:tblPr>
                <a:tableStyleId>{5C22544A-7EE6-4342-B048-85BDC9FD1C3A}</a:tableStyleId>
              </a:tblPr>
              <a:tblGrid>
                <a:gridCol w="1040537">
                  <a:extLst>
                    <a:ext uri="{9D8B030D-6E8A-4147-A177-3AD203B41FA5}">
                      <a16:colId xmlns:a16="http://schemas.microsoft.com/office/drawing/2014/main" val="3539176533"/>
                    </a:ext>
                  </a:extLst>
                </a:gridCol>
                <a:gridCol w="1166663">
                  <a:extLst>
                    <a:ext uri="{9D8B030D-6E8A-4147-A177-3AD203B41FA5}">
                      <a16:colId xmlns:a16="http://schemas.microsoft.com/office/drawing/2014/main" val="2602704495"/>
                    </a:ext>
                  </a:extLst>
                </a:gridCol>
                <a:gridCol w="567566">
                  <a:extLst>
                    <a:ext uri="{9D8B030D-6E8A-4147-A177-3AD203B41FA5}">
                      <a16:colId xmlns:a16="http://schemas.microsoft.com/office/drawing/2014/main" val="2410436494"/>
                    </a:ext>
                  </a:extLst>
                </a:gridCol>
                <a:gridCol w="599097">
                  <a:extLst>
                    <a:ext uri="{9D8B030D-6E8A-4147-A177-3AD203B41FA5}">
                      <a16:colId xmlns:a16="http://schemas.microsoft.com/office/drawing/2014/main" val="4277509210"/>
                    </a:ext>
                  </a:extLst>
                </a:gridCol>
                <a:gridCol w="472972">
                  <a:extLst>
                    <a:ext uri="{9D8B030D-6E8A-4147-A177-3AD203B41FA5}">
                      <a16:colId xmlns:a16="http://schemas.microsoft.com/office/drawing/2014/main" val="844500173"/>
                    </a:ext>
                  </a:extLst>
                </a:gridCol>
              </a:tblGrid>
              <a:tr h="137825">
                <a:tc>
                  <a:txBody>
                    <a:bodyPr/>
                    <a:lstStyle/>
                    <a:p>
                      <a:pPr marL="0" marR="0">
                        <a:lnSpc>
                          <a:spcPct val="107000"/>
                        </a:lnSpc>
                        <a:spcBef>
                          <a:spcPts val="0"/>
                        </a:spcBef>
                        <a:spcAft>
                          <a:spcPts val="800"/>
                        </a:spcAft>
                      </a:pPr>
                      <a:r>
                        <a:rPr lang="en-US" sz="900" b="1" dirty="0">
                          <a:effectLst/>
                        </a:rPr>
                        <a:t>DISTRICT</a:t>
                      </a:r>
                      <a:endParaRPr lang="en-US" sz="900" b="1" dirty="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b="1">
                          <a:effectLst/>
                        </a:rPr>
                        <a:t>WARD</a:t>
                      </a:r>
                      <a:endParaRPr lang="en-US" sz="900" b="1">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b="1">
                          <a:effectLst/>
                        </a:rPr>
                        <a:t>pmtct</a:t>
                      </a:r>
                      <a:endParaRPr lang="en-US" sz="900" b="1">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b="1">
                          <a:effectLst/>
                        </a:rPr>
                        <a:t>chw</a:t>
                      </a:r>
                      <a:endParaRPr lang="en-US" sz="900" b="1">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b="1" dirty="0">
                          <a:effectLst/>
                        </a:rPr>
                        <a:t>NPREG</a:t>
                      </a:r>
                      <a:endParaRPr lang="en-US" sz="900" b="1" dirty="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462529031"/>
                  </a:ext>
                </a:extLst>
              </a:tr>
              <a:tr h="137825">
                <a:tc>
                  <a:txBody>
                    <a:bodyPr/>
                    <a:lstStyle/>
                    <a:p>
                      <a:pPr marL="0" marR="0">
                        <a:lnSpc>
                          <a:spcPct val="107000"/>
                        </a:lnSpc>
                        <a:spcBef>
                          <a:spcPts val="0"/>
                        </a:spcBef>
                        <a:spcAft>
                          <a:spcPts val="800"/>
                        </a:spcAft>
                      </a:pPr>
                      <a:r>
                        <a:rPr lang="en-US" sz="900" dirty="0">
                          <a:effectLst/>
                        </a:rPr>
                        <a:t>ILALA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BUGURUNI</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SoC</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398</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2546946315"/>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CHANIKA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B</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CHW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98</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412096554"/>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GEREZANI</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B</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SoC</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37</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234452646"/>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GONGO LA MBOTO</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B</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CHW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165</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4191651729"/>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CHW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220</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3370663296"/>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JANGWANI</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B</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CHW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39</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2578617150"/>
                  </a:ext>
                </a:extLst>
              </a:tr>
              <a:tr h="137825">
                <a:tc>
                  <a:txBody>
                    <a:bodyPr/>
                    <a:lstStyle/>
                    <a:p>
                      <a:pPr marL="0" marR="0">
                        <a:lnSpc>
                          <a:spcPct val="107000"/>
                        </a:lnSpc>
                        <a:spcBef>
                          <a:spcPts val="0"/>
                        </a:spcBef>
                        <a:spcAft>
                          <a:spcPts val="800"/>
                        </a:spcAft>
                      </a:pPr>
                      <a:r>
                        <a:rPr lang="en-US" sz="900" dirty="0">
                          <a:effectLst/>
                        </a:rPr>
                        <a:t>ILALA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KARIAKOO</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CHW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7</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545950798"/>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KIMANGA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B</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SoC</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79</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3038779598"/>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KINYEREZI</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SoC</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50</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410349174"/>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KIPAWA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CHW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105</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3420991234"/>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KISUTU</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B</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CHW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75</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556064498"/>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KITUNDA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B</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CHW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140</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3127985027"/>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KIVUKONI</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B</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CHW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154</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2773319236"/>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KIVULE</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CHW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94</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1564189127"/>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KIWALANI</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B</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SoC</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397</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2039522067"/>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MAJOHE</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B</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CHW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118</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641071762"/>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MCHAFUKOGE</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SoC</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527</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3385430529"/>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MCHIKICHINI</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SoC</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0</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155263536"/>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MSONGOLA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B</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SoC</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77</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842488116"/>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PUGU</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B</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CHW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72</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1872425229"/>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dirty="0">
                          <a:effectLst/>
                        </a:rPr>
                        <a:t>SEGEREA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B</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SoC</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137</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2866986349"/>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TABATA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CHW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247</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2876352576"/>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UKONGA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SoC</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275</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502342262"/>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UPANGA EAST</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CHW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40</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2676088897"/>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UPANGA WEST</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B</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SoC</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498</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1733421945"/>
                  </a:ext>
                </a:extLst>
              </a:tr>
              <a:tr h="137825">
                <a:tc>
                  <a:txBody>
                    <a:bodyPr/>
                    <a:lstStyle/>
                    <a:p>
                      <a:pPr marL="0" marR="0">
                        <a:lnSpc>
                          <a:spcPct val="107000"/>
                        </a:lnSpc>
                        <a:spcBef>
                          <a:spcPts val="0"/>
                        </a:spcBef>
                        <a:spcAft>
                          <a:spcPts val="800"/>
                        </a:spcAft>
                      </a:pPr>
                      <a:r>
                        <a:rPr lang="en-US" sz="900">
                          <a:effectLst/>
                        </a:rPr>
                        <a:t>ILALA</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VINGUNGUTI</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B</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CHW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164</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2980405161"/>
                  </a:ext>
                </a:extLst>
              </a:tr>
              <a:tr h="137825">
                <a:tc>
                  <a:txBody>
                    <a:bodyPr/>
                    <a:lstStyle/>
                    <a:p>
                      <a:pPr>
                        <a:lnSpc>
                          <a:spcPct val="107000"/>
                        </a:lnSpc>
                      </a:pPr>
                      <a:endParaRPr lang="en-US" sz="900">
                        <a:effectLst/>
                        <a:latin typeface="Calibri" panose="020F0502020204030204" pitchFamily="34" charset="0"/>
                        <a:cs typeface="Times New Roman" panose="02020603050405020304" pitchFamily="18" charset="0"/>
                      </a:endParaRPr>
                    </a:p>
                  </a:txBody>
                  <a:tcPr marL="3153" marR="3153" marT="3153" marB="0" anchor="b"/>
                </a:tc>
                <a:tc>
                  <a:txBody>
                    <a:bodyPr/>
                    <a:lstStyle/>
                    <a:p>
                      <a:pPr>
                        <a:lnSpc>
                          <a:spcPct val="107000"/>
                        </a:lnSpc>
                      </a:pPr>
                      <a:endParaRPr lang="en-US" sz="900">
                        <a:effectLst/>
                        <a:latin typeface="Calibri" panose="020F0502020204030204" pitchFamily="34" charset="0"/>
                        <a:cs typeface="Times New Roman" panose="02020603050405020304" pitchFamily="18" charset="0"/>
                      </a:endParaRPr>
                    </a:p>
                  </a:txBody>
                  <a:tcPr marL="3153" marR="3153" marT="3153" marB="0" anchor="b"/>
                </a:tc>
                <a:tc>
                  <a:txBody>
                    <a:bodyPr/>
                    <a:lstStyle/>
                    <a:p>
                      <a:pPr>
                        <a:lnSpc>
                          <a:spcPct val="107000"/>
                        </a:lnSpc>
                      </a:pPr>
                      <a:endParaRPr lang="en-US" sz="900">
                        <a:effectLst/>
                        <a:latin typeface="Calibri" panose="020F0502020204030204" pitchFamily="34" charset="0"/>
                        <a:cs typeface="Times New Roman" panose="02020603050405020304" pitchFamily="18" charset="0"/>
                      </a:endParaRPr>
                    </a:p>
                  </a:txBody>
                  <a:tcPr marL="3153" marR="3153" marT="3153" marB="0" anchor="b"/>
                </a:tc>
                <a:tc>
                  <a:txBody>
                    <a:bodyPr/>
                    <a:lstStyle/>
                    <a:p>
                      <a:pPr>
                        <a:lnSpc>
                          <a:spcPct val="107000"/>
                        </a:lnSpc>
                      </a:pPr>
                      <a:endParaRPr lang="en-US" sz="900">
                        <a:effectLst/>
                        <a:latin typeface="Calibri" panose="020F0502020204030204" pitchFamily="34" charset="0"/>
                        <a:cs typeface="Times New Roman" panose="02020603050405020304" pitchFamily="18" charset="0"/>
                      </a:endParaRPr>
                    </a:p>
                  </a:txBody>
                  <a:tcPr marL="3153" marR="3153" marT="3153" marB="0" anchor="b"/>
                </a:tc>
                <a:tc>
                  <a:txBody>
                    <a:bodyPr/>
                    <a:lstStyle/>
                    <a:p>
                      <a:pPr>
                        <a:lnSpc>
                          <a:spcPct val="107000"/>
                        </a:lnSpc>
                      </a:pPr>
                      <a:endParaRPr lang="en-US" sz="900">
                        <a:effectLst/>
                        <a:latin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4077336848"/>
                  </a:ext>
                </a:extLst>
              </a:tr>
              <a:tr h="137825">
                <a:tc>
                  <a:txBody>
                    <a:bodyPr/>
                    <a:lstStyle/>
                    <a:p>
                      <a:pPr>
                        <a:lnSpc>
                          <a:spcPct val="107000"/>
                        </a:lnSpc>
                      </a:pPr>
                      <a:endParaRPr lang="en-US" sz="900">
                        <a:effectLst/>
                        <a:latin typeface="Calibri" panose="020F0502020204030204" pitchFamily="34" charset="0"/>
                        <a:cs typeface="Times New Roman" panose="02020603050405020304" pitchFamily="18" charset="0"/>
                      </a:endParaRPr>
                    </a:p>
                  </a:txBody>
                  <a:tcPr marL="3153" marR="3153" marT="3153" marB="0" anchor="b"/>
                </a:tc>
                <a:tc>
                  <a:txBody>
                    <a:bodyPr/>
                    <a:lstStyle/>
                    <a:p>
                      <a:pPr>
                        <a:lnSpc>
                          <a:spcPct val="107000"/>
                        </a:lnSpc>
                      </a:pPr>
                      <a:endParaRPr lang="en-US" sz="900">
                        <a:effectLst/>
                        <a:latin typeface="Calibri" panose="020F0502020204030204" pitchFamily="34" charset="0"/>
                        <a:cs typeface="Times New Roman" panose="02020603050405020304" pitchFamily="18" charset="0"/>
                      </a:endParaRPr>
                    </a:p>
                  </a:txBody>
                  <a:tcPr marL="3153" marR="3153" marT="3153" marB="0" anchor="b"/>
                </a:tc>
                <a:tc>
                  <a:txBody>
                    <a:bodyPr/>
                    <a:lstStyle/>
                    <a:p>
                      <a:pPr>
                        <a:lnSpc>
                          <a:spcPct val="107000"/>
                        </a:lnSpc>
                      </a:pPr>
                      <a:endParaRPr lang="en-US" sz="900">
                        <a:effectLst/>
                        <a:latin typeface="Calibri" panose="020F0502020204030204" pitchFamily="34" charset="0"/>
                        <a:cs typeface="Times New Roman" panose="02020603050405020304" pitchFamily="18" charset="0"/>
                      </a:endParaRPr>
                    </a:p>
                  </a:txBody>
                  <a:tcPr marL="3153" marR="3153" marT="3153" marB="0" anchor="b"/>
                </a:tc>
                <a:tc>
                  <a:txBody>
                    <a:bodyPr/>
                    <a:lstStyle/>
                    <a:p>
                      <a:pPr>
                        <a:lnSpc>
                          <a:spcPct val="107000"/>
                        </a:lnSpc>
                      </a:pPr>
                      <a:endParaRPr lang="en-US" sz="900">
                        <a:effectLst/>
                        <a:latin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a:effectLst/>
                        </a:rPr>
                        <a:t>137.7097</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73765246"/>
                  </a:ext>
                </a:extLst>
              </a:tr>
              <a:tr h="137825">
                <a:tc>
                  <a:txBody>
                    <a:bodyPr/>
                    <a:lstStyle/>
                    <a:p>
                      <a:pPr>
                        <a:lnSpc>
                          <a:spcPct val="107000"/>
                        </a:lnSpc>
                      </a:pPr>
                      <a:endParaRPr lang="en-US" sz="900">
                        <a:effectLst/>
                        <a:latin typeface="Calibri" panose="020F0502020204030204" pitchFamily="34" charset="0"/>
                        <a:cs typeface="Times New Roman" panose="02020603050405020304" pitchFamily="18" charset="0"/>
                      </a:endParaRPr>
                    </a:p>
                  </a:txBody>
                  <a:tcPr marL="3153" marR="3153" marT="3153" marB="0" anchor="b"/>
                </a:tc>
                <a:tc>
                  <a:txBody>
                    <a:bodyPr/>
                    <a:lstStyle/>
                    <a:p>
                      <a:pPr>
                        <a:lnSpc>
                          <a:spcPct val="107000"/>
                        </a:lnSpc>
                      </a:pPr>
                      <a:endParaRPr lang="en-US" sz="900">
                        <a:effectLst/>
                        <a:latin typeface="Calibri" panose="020F0502020204030204" pitchFamily="34" charset="0"/>
                        <a:cs typeface="Times New Roman" panose="02020603050405020304" pitchFamily="18" charset="0"/>
                      </a:endParaRPr>
                    </a:p>
                  </a:txBody>
                  <a:tcPr marL="3153" marR="3153" marT="3153" marB="0" anchor="b"/>
                </a:tc>
                <a:tc>
                  <a:txBody>
                    <a:bodyPr/>
                    <a:lstStyle/>
                    <a:p>
                      <a:pPr>
                        <a:lnSpc>
                          <a:spcPct val="107000"/>
                        </a:lnSpc>
                      </a:pPr>
                      <a:endParaRPr lang="en-US" sz="900">
                        <a:effectLst/>
                        <a:latin typeface="Calibri" panose="020F0502020204030204" pitchFamily="34" charset="0"/>
                        <a:cs typeface="Times New Roman" panose="02020603050405020304" pitchFamily="18" charset="0"/>
                      </a:endParaRPr>
                    </a:p>
                  </a:txBody>
                  <a:tcPr marL="3153" marR="3153" marT="3153" marB="0" anchor="b"/>
                </a:tc>
                <a:tc>
                  <a:txBody>
                    <a:bodyPr/>
                    <a:lstStyle/>
                    <a:p>
                      <a:pPr>
                        <a:lnSpc>
                          <a:spcPct val="107000"/>
                        </a:lnSpc>
                      </a:pPr>
                      <a:endParaRPr lang="en-US" sz="900">
                        <a:effectLst/>
                        <a:latin typeface="Calibri" panose="020F0502020204030204" pitchFamily="34" charset="0"/>
                        <a:cs typeface="Times New Roman" panose="02020603050405020304" pitchFamily="18" charset="0"/>
                      </a:endParaRPr>
                    </a:p>
                  </a:txBody>
                  <a:tcPr marL="3153" marR="3153" marT="3153" marB="0" anchor="b"/>
                </a:tc>
                <a:tc>
                  <a:txBody>
                    <a:bodyPr/>
                    <a:lstStyle/>
                    <a:p>
                      <a:pPr marL="0" marR="0">
                        <a:lnSpc>
                          <a:spcPct val="107000"/>
                        </a:lnSpc>
                        <a:spcBef>
                          <a:spcPts val="0"/>
                        </a:spcBef>
                        <a:spcAft>
                          <a:spcPts val="800"/>
                        </a:spcAft>
                      </a:pPr>
                      <a:r>
                        <a:rPr lang="en-US" sz="900" dirty="0">
                          <a:effectLst/>
                        </a:rPr>
                        <a:t>131.4348</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153" marR="3153" marT="3153" marB="0" anchor="b"/>
                </a:tc>
                <a:extLst>
                  <a:ext uri="{0D108BD9-81ED-4DB2-BD59-A6C34878D82A}">
                    <a16:rowId xmlns:a16="http://schemas.microsoft.com/office/drawing/2014/main" val="3065808297"/>
                  </a:ext>
                </a:extLst>
              </a:tr>
            </a:tbl>
          </a:graphicData>
        </a:graphic>
      </p:graphicFrame>
      <p:graphicFrame>
        <p:nvGraphicFramePr>
          <p:cNvPr id="8" name="Table 7">
            <a:extLst>
              <a:ext uri="{FF2B5EF4-FFF2-40B4-BE49-F238E27FC236}">
                <a16:creationId xmlns:a16="http://schemas.microsoft.com/office/drawing/2014/main" id="{DED4902F-1743-4F52-9CC3-8EE77A1EFDA7}"/>
              </a:ext>
            </a:extLst>
          </p:cNvPr>
          <p:cNvGraphicFramePr>
            <a:graphicFrameLocks noGrp="1"/>
          </p:cNvGraphicFramePr>
          <p:nvPr/>
        </p:nvGraphicFramePr>
        <p:xfrm>
          <a:off x="4045153" y="1169465"/>
          <a:ext cx="3692834" cy="5507228"/>
        </p:xfrm>
        <a:graphic>
          <a:graphicData uri="http://schemas.openxmlformats.org/drawingml/2006/table">
            <a:tbl>
              <a:tblPr>
                <a:tableStyleId>{5C22544A-7EE6-4342-B048-85BDC9FD1C3A}</a:tableStyleId>
              </a:tblPr>
              <a:tblGrid>
                <a:gridCol w="998881">
                  <a:extLst>
                    <a:ext uri="{9D8B030D-6E8A-4147-A177-3AD203B41FA5}">
                      <a16:colId xmlns:a16="http://schemas.microsoft.com/office/drawing/2014/main" val="2461388110"/>
                    </a:ext>
                  </a:extLst>
                </a:gridCol>
                <a:gridCol w="1119958">
                  <a:extLst>
                    <a:ext uri="{9D8B030D-6E8A-4147-A177-3AD203B41FA5}">
                      <a16:colId xmlns:a16="http://schemas.microsoft.com/office/drawing/2014/main" val="3018915107"/>
                    </a:ext>
                  </a:extLst>
                </a:gridCol>
                <a:gridCol w="544844">
                  <a:extLst>
                    <a:ext uri="{9D8B030D-6E8A-4147-A177-3AD203B41FA5}">
                      <a16:colId xmlns:a16="http://schemas.microsoft.com/office/drawing/2014/main" val="1504623973"/>
                    </a:ext>
                  </a:extLst>
                </a:gridCol>
                <a:gridCol w="575114">
                  <a:extLst>
                    <a:ext uri="{9D8B030D-6E8A-4147-A177-3AD203B41FA5}">
                      <a16:colId xmlns:a16="http://schemas.microsoft.com/office/drawing/2014/main" val="2055096607"/>
                    </a:ext>
                  </a:extLst>
                </a:gridCol>
                <a:gridCol w="454037">
                  <a:extLst>
                    <a:ext uri="{9D8B030D-6E8A-4147-A177-3AD203B41FA5}">
                      <a16:colId xmlns:a16="http://schemas.microsoft.com/office/drawing/2014/main" val="2675139326"/>
                    </a:ext>
                  </a:extLst>
                </a:gridCol>
              </a:tblGrid>
              <a:tr h="148844">
                <a:tc>
                  <a:txBody>
                    <a:bodyPr/>
                    <a:lstStyle/>
                    <a:p>
                      <a:pPr marL="0" marR="0">
                        <a:lnSpc>
                          <a:spcPct val="107000"/>
                        </a:lnSpc>
                        <a:spcBef>
                          <a:spcPts val="0"/>
                        </a:spcBef>
                        <a:spcAft>
                          <a:spcPts val="800"/>
                        </a:spcAft>
                      </a:pPr>
                      <a:r>
                        <a:rPr lang="en-US" sz="700" b="1" dirty="0">
                          <a:effectLst/>
                        </a:rPr>
                        <a:t>DISTRICT</a:t>
                      </a:r>
                      <a:endParaRPr lang="en-US" sz="700" b="1" dirty="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b="1">
                          <a:effectLst/>
                        </a:rPr>
                        <a:t>WARD</a:t>
                      </a:r>
                      <a:endParaRPr lang="en-US" sz="700" b="1">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b="1">
                          <a:effectLst/>
                        </a:rPr>
                        <a:t>pmtct</a:t>
                      </a:r>
                      <a:endParaRPr lang="en-US" sz="700" b="1">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b="1">
                          <a:effectLst/>
                        </a:rPr>
                        <a:t>chw</a:t>
                      </a:r>
                      <a:endParaRPr lang="en-US" sz="700" b="1">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b="1" dirty="0">
                          <a:effectLst/>
                        </a:rPr>
                        <a:t>NPREG</a:t>
                      </a:r>
                      <a:endParaRPr lang="en-US" sz="700" b="1" dirty="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345312646"/>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BUNJU</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131</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3921885314"/>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GOBA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50</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2850559006"/>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HANANASIF</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56</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3918758983"/>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KAWE</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168</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1813895705"/>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KIBAMBA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229</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4101685865"/>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KIGOGO</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SoC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144</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4156875178"/>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KIJITONYAMA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SoC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153</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3598320056"/>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KIMARA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SoC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18</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1395352796"/>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SoC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20</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2226584070"/>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KUNDUCHI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SoC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310</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1951985712"/>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KWEMBE</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SoC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42</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3685188148"/>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KWEZI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0</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1299438541"/>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MABIBO</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49</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1349741169"/>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MABWEPANDE</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SoC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27</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1550337555"/>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MAKONGO</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SoC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10</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3746912857"/>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MAKONGO JUU</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SoC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272</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2219197627"/>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MAKUBURI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93</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1020850720"/>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MAKUMBUSHO</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SoC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39</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739832420"/>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MAKURUMLA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212</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159932786"/>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dirty="0">
                          <a:effectLst/>
                        </a:rPr>
                        <a:t>MANZESE</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SoC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57</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1286720101"/>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MAVURUNZA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SoC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28</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547228973"/>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MBEZI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207</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1095592551"/>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MBEZI JUU</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SoC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125</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31198532"/>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dirty="0">
                          <a:effectLst/>
                        </a:rPr>
                        <a:t>MBURAHATI</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8</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3907068110"/>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MBWENI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50</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2101464344"/>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MIKOCHENI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86</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3196540747"/>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MSASANI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166</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1355897027"/>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MSIGANI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SoC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0</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3704496123"/>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MWANANYAMALA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62</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4104940333"/>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MZIMUNI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30</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4155346217"/>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NDUGUMBI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SoC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360</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2515124496"/>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SALANGA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247</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2333637005"/>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SINZA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SoC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540</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3110912642"/>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TANDALE</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193</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760134302"/>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UBUNGO</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B</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CHW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81</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3960392252"/>
                  </a:ext>
                </a:extLst>
              </a:tr>
              <a:tr h="148844">
                <a:tc>
                  <a:txBody>
                    <a:bodyPr/>
                    <a:lstStyle/>
                    <a:p>
                      <a:pPr marL="0" marR="0">
                        <a:lnSpc>
                          <a:spcPct val="107000"/>
                        </a:lnSpc>
                        <a:spcBef>
                          <a:spcPts val="0"/>
                        </a:spcBef>
                        <a:spcAft>
                          <a:spcPts val="800"/>
                        </a:spcAft>
                      </a:pPr>
                      <a:r>
                        <a:rPr lang="en-US" sz="700">
                          <a:effectLst/>
                        </a:rPr>
                        <a:t>KINONDONI</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WAZO</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a:effectLst/>
                        </a:rPr>
                        <a:t>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dirty="0">
                          <a:effectLst/>
                        </a:rPr>
                        <a:t>CHW</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tc>
                  <a:txBody>
                    <a:bodyPr/>
                    <a:lstStyle/>
                    <a:p>
                      <a:pPr marL="0" marR="0">
                        <a:lnSpc>
                          <a:spcPct val="107000"/>
                        </a:lnSpc>
                        <a:spcBef>
                          <a:spcPts val="0"/>
                        </a:spcBef>
                        <a:spcAft>
                          <a:spcPts val="800"/>
                        </a:spcAft>
                      </a:pPr>
                      <a:r>
                        <a:rPr lang="en-US" sz="700" dirty="0">
                          <a:effectLst/>
                        </a:rPr>
                        <a:t>62</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557" marR="2557" marT="2557" marB="0" anchor="b"/>
                </a:tc>
                <a:extLst>
                  <a:ext uri="{0D108BD9-81ED-4DB2-BD59-A6C34878D82A}">
                    <a16:rowId xmlns:a16="http://schemas.microsoft.com/office/drawing/2014/main" val="4056154352"/>
                  </a:ext>
                </a:extLst>
              </a:tr>
            </a:tbl>
          </a:graphicData>
        </a:graphic>
      </p:graphicFrame>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EF87BA4-3F40-4695-82B8-39588A61CF29}"/>
                  </a:ext>
                </a:extLst>
              </p:cNvPr>
              <p:cNvSpPr txBox="1"/>
              <p:nvPr/>
            </p:nvSpPr>
            <p:spPr>
              <a:xfrm>
                <a:off x="90844" y="1465456"/>
                <a:ext cx="3411794" cy="9233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a:rPr>
                            <m:t>𝑚</m:t>
                          </m:r>
                        </m:e>
                      </m:acc>
                      <m:r>
                        <a:rPr lang="en-US" b="0" i="1" smtClean="0">
                          <a:latin typeface="Cambria Math"/>
                        </a:rPr>
                        <m:t>=137</m:t>
                      </m:r>
                    </m:oMath>
                  </m:oMathPara>
                </a14:m>
                <a:endParaRPr lang="en-US" b="0" dirty="0"/>
              </a:p>
              <a:p>
                <a:pPr/>
                <a14:m>
                  <m:oMathPara xmlns:m="http://schemas.openxmlformats.org/officeDocument/2006/math">
                    <m:oMathParaPr>
                      <m:jc m:val="centerGroup"/>
                    </m:oMathParaPr>
                    <m:oMath xmlns:m="http://schemas.openxmlformats.org/officeDocument/2006/math">
                      <m:r>
                        <a:rPr lang="en-US" b="0" i="1" smtClean="0">
                          <a:latin typeface="Cambria Math"/>
                        </a:rPr>
                        <m:t>𝑆𝐷</m:t>
                      </m:r>
                      <m:r>
                        <a:rPr lang="en-US" b="0" i="1" smtClean="0">
                          <a:latin typeface="Cambria Math"/>
                        </a:rPr>
                        <m:t>=131</m:t>
                      </m:r>
                    </m:oMath>
                  </m:oMathPara>
                </a14:m>
                <a:endParaRPr lang="en-US" b="0" dirty="0"/>
              </a:p>
              <a:p>
                <a:pPr/>
                <a14:m>
                  <m:oMathPara xmlns:m="http://schemas.openxmlformats.org/officeDocument/2006/math">
                    <m:oMathParaPr>
                      <m:jc m:val="centerGroup"/>
                    </m:oMathParaPr>
                    <m:oMath xmlns:m="http://schemas.openxmlformats.org/officeDocument/2006/math">
                      <m:r>
                        <a:rPr lang="en-US" b="0" i="1" smtClean="0">
                          <a:latin typeface="Cambria Math"/>
                        </a:rPr>
                        <m:t>𝐶𝑉</m:t>
                      </m:r>
                      <m:r>
                        <a:rPr lang="en-US" b="0" i="1" smtClean="0">
                          <a:latin typeface="Cambria Math"/>
                        </a:rPr>
                        <m:t>=0.96</m:t>
                      </m:r>
                    </m:oMath>
                  </m:oMathPara>
                </a14:m>
                <a:endParaRPr lang="en-US" b="0" dirty="0"/>
              </a:p>
            </p:txBody>
          </p:sp>
        </mc:Choice>
        <mc:Fallback xmlns="">
          <p:sp>
            <p:nvSpPr>
              <p:cNvPr id="10" name="TextBox 9">
                <a:extLst>
                  <a:ext uri="{FF2B5EF4-FFF2-40B4-BE49-F238E27FC236}">
                    <a16:creationId xmlns:a16="http://schemas.microsoft.com/office/drawing/2014/main" id="{BEF87BA4-3F40-4695-82B8-39588A61CF29}"/>
                  </a:ext>
                </a:extLst>
              </p:cNvPr>
              <p:cNvSpPr txBox="1">
                <a:spLocks noRot="1" noChangeAspect="1" noMove="1" noResize="1" noEditPoints="1" noAdjustHandles="1" noChangeArrowheads="1" noChangeShapeType="1" noTextEdit="1"/>
              </p:cNvSpPr>
              <p:nvPr/>
            </p:nvSpPr>
            <p:spPr>
              <a:xfrm>
                <a:off x="90844" y="1465456"/>
                <a:ext cx="3411794" cy="923330"/>
              </a:xfrm>
              <a:prstGeom prst="rect">
                <a:avLst/>
              </a:prstGeom>
              <a:blipFill>
                <a:blip r:embed="rId5"/>
                <a:stretch>
                  <a:fillRect/>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B2EE37C4-678A-FC44-9E1F-A964D9F5D0F0}"/>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8CD8D027-0699-C2FF-5466-A5C75AD58A5E}"/>
              </a:ext>
            </a:extLst>
          </p:cNvPr>
          <p:cNvSpPr>
            <a:spLocks noGrp="1"/>
          </p:cNvSpPr>
          <p:nvPr>
            <p:ph type="sldNum" sz="quarter" idx="12"/>
          </p:nvPr>
        </p:nvSpPr>
        <p:spPr/>
        <p:txBody>
          <a:bodyPr/>
          <a:lstStyle/>
          <a:p>
            <a:fld id="{77C6A7FE-225D-49F1-B302-AA37EA92BB49}" type="slidenum">
              <a:rPr lang="en-US" smtClean="0"/>
              <a:t>38</a:t>
            </a:fld>
            <a:endParaRPr lang="en-US"/>
          </a:p>
        </p:txBody>
      </p:sp>
    </p:spTree>
    <p:extLst>
      <p:ext uri="{BB962C8B-B14F-4D97-AF65-F5344CB8AC3E}">
        <p14:creationId xmlns:p14="http://schemas.microsoft.com/office/powerpoint/2010/main" val="299479750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D11F117-F315-AB45-8B08-719B5494F676}"/>
              </a:ext>
            </a:extLst>
          </p:cNvPr>
          <p:cNvSpPr/>
          <p:nvPr/>
        </p:nvSpPr>
        <p:spPr>
          <a:xfrm>
            <a:off x="0" y="-18029"/>
            <a:ext cx="12192000" cy="1537643"/>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600" dirty="0">
                <a:solidFill>
                  <a:schemeClr val="bg1"/>
                </a:solidFill>
                <a:latin typeface="Arial" panose="020B0604020202020204" pitchFamily="34" charset="0"/>
                <a:cs typeface="Arial" panose="020B0604020202020204" pitchFamily="34" charset="0"/>
              </a:rPr>
              <a:t>IMPACT ON POWER OF INCREASING THE NUMBER OF CLUSTERS VS. INCREASING CLUSTER SIZE:</a:t>
            </a:r>
            <a:endParaRPr lang="en-US" sz="2000" dirty="0">
              <a:solidFill>
                <a:schemeClr val="bg1"/>
              </a:solidFill>
            </a:endParaRPr>
          </a:p>
        </p:txBody>
      </p:sp>
      <p:pic>
        <p:nvPicPr>
          <p:cNvPr id="11" name="Picture 10">
            <a:extLst>
              <a:ext uri="{FF2B5EF4-FFF2-40B4-BE49-F238E27FC236}">
                <a16:creationId xmlns:a16="http://schemas.microsoft.com/office/drawing/2014/main" id="{2BAB74F1-E8C7-294C-9B25-2602B242DE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C5FA5D7-E129-9349-BEB7-299643DEB262}"/>
                  </a:ext>
                </a:extLst>
              </p:cNvPr>
              <p:cNvSpPr txBox="1"/>
              <p:nvPr/>
            </p:nvSpPr>
            <p:spPr>
              <a:xfrm>
                <a:off x="1168048" y="1534358"/>
                <a:ext cx="8152370" cy="1984646"/>
              </a:xfrm>
              <a:prstGeom prst="rect">
                <a:avLst/>
              </a:prstGeom>
              <a:noFill/>
            </p:spPr>
            <p:txBody>
              <a:bodyPr wrap="square">
                <a:spAutoFit/>
              </a:bodyPr>
              <a:lstStyle/>
              <a:p>
                <a:r>
                  <a:rPr lang="en-US" altLang="en-US" sz="2000" dirty="0">
                    <a:solidFill>
                      <a:schemeClr val="tx1"/>
                    </a:solidFill>
                  </a:rPr>
                  <a:t>Let</a:t>
                </a:r>
                <a14:m>
                  <m:oMath xmlns:m="http://schemas.openxmlformats.org/officeDocument/2006/math">
                    <m:sSup>
                      <m:sSupPr>
                        <m:ctrlPr>
                          <a:rPr lang="en-US" sz="2000" i="1">
                            <a:latin typeface="Cambria Math" panose="02040503050406030204" pitchFamily="18" charset="0"/>
                            <a:ea typeface="Cambria Math" panose="02040503050406030204" pitchFamily="18" charset="0"/>
                          </a:rPr>
                        </m:ctrlPr>
                      </m:sSupPr>
                      <m:e>
                        <m:acc>
                          <m:accPr>
                            <m:chr m:val="̂"/>
                            <m:ctrlPr>
                              <a:rPr lang="en-US" sz="200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𝛽</m:t>
                            </m:r>
                          </m:e>
                        </m:acc>
                      </m:e>
                      <m:sup>
                        <m:r>
                          <a:rPr lang="en-US" sz="2000" i="1">
                            <a:latin typeface="Cambria Math" panose="02040503050406030204" pitchFamily="18" charset="0"/>
                            <a:ea typeface="Cambria Math" panose="02040503050406030204" pitchFamily="18" charset="0"/>
                          </a:rPr>
                          <m:t>∗</m:t>
                        </m:r>
                      </m:sup>
                    </m:sSup>
                    <m:r>
                      <a:rPr lang="en-US" altLang="en-US" sz="2000" b="0" i="1" smtClean="0">
                        <a:solidFill>
                          <a:schemeClr val="tx1"/>
                        </a:solidFill>
                        <a:latin typeface="Cambria Math" panose="02040503050406030204" pitchFamily="18" charset="0"/>
                      </a:rPr>
                      <m:t>=</m:t>
                    </m:r>
                    <m:sSub>
                      <m:sSubPr>
                        <m:ctrlPr>
                          <a:rPr lang="en-US" sz="2000" i="1" smtClean="0">
                            <a:solidFill>
                              <a:schemeClr val="tx1"/>
                            </a:solidFill>
                            <a:latin typeface="Cambria Math" panose="02040503050406030204" pitchFamily="18" charset="0"/>
                          </a:rPr>
                        </m:ctrlPr>
                      </m:sSubPr>
                      <m:e>
                        <m:acc>
                          <m:accPr>
                            <m:chr m:val="̄"/>
                            <m:ctrlPr>
                              <a:rPr lang="en-US" sz="2000" i="1">
                                <a:solidFill>
                                  <a:schemeClr val="tx1"/>
                                </a:solidFill>
                                <a:latin typeface="Cambria Math" panose="02040503050406030204" pitchFamily="18" charset="0"/>
                              </a:rPr>
                            </m:ctrlPr>
                          </m:accPr>
                          <m:e>
                            <m:r>
                              <a:rPr lang="en-US" sz="2000" b="0" i="1" smtClean="0">
                                <a:solidFill>
                                  <a:schemeClr val="tx1"/>
                                </a:solidFill>
                                <a:latin typeface="Cambria Math" panose="02040503050406030204" pitchFamily="18" charset="0"/>
                              </a:rPr>
                              <m:t>𝑌</m:t>
                            </m:r>
                          </m:e>
                        </m:acc>
                      </m:e>
                      <m:sub>
                        <m:r>
                          <a:rPr lang="en-US" sz="2000" b="0" i="1" smtClean="0">
                            <a:solidFill>
                              <a:schemeClr val="tx1"/>
                            </a:solidFill>
                            <a:latin typeface="Cambria Math" panose="02040503050406030204" pitchFamily="18" charset="0"/>
                          </a:rPr>
                          <m:t>2</m:t>
                        </m:r>
                      </m:sub>
                    </m:sSub>
                    <m:r>
                      <a:rPr lang="en-US" sz="2000" i="1">
                        <a:solidFill>
                          <a:schemeClr val="tx1"/>
                        </a:solidFill>
                        <a:latin typeface="Cambria Math" panose="02040503050406030204" pitchFamily="18" charset="0"/>
                      </a:rPr>
                      <m:t>−</m:t>
                    </m:r>
                    <m:sSub>
                      <m:sSubPr>
                        <m:ctrlPr>
                          <a:rPr lang="en-US" sz="2000" i="1">
                            <a:solidFill>
                              <a:schemeClr val="tx1"/>
                            </a:solidFill>
                            <a:latin typeface="Cambria Math" panose="02040503050406030204" pitchFamily="18" charset="0"/>
                          </a:rPr>
                        </m:ctrlPr>
                      </m:sSubPr>
                      <m:e>
                        <m:acc>
                          <m:accPr>
                            <m:chr m:val="̅"/>
                            <m:ctrlPr>
                              <a:rPr lang="en-US" altLang="en-US" sz="2000" i="1" smtClean="0">
                                <a:solidFill>
                                  <a:schemeClr val="tx1"/>
                                </a:solidFill>
                                <a:latin typeface="Cambria Math" panose="02040503050406030204" pitchFamily="18" charset="0"/>
                              </a:rPr>
                            </m:ctrlPr>
                          </m:accPr>
                          <m:e>
                            <m:r>
                              <a:rPr lang="en-US" altLang="en-US" sz="2000" b="0" i="1" smtClean="0">
                                <a:solidFill>
                                  <a:schemeClr val="tx1"/>
                                </a:solidFill>
                                <a:latin typeface="Cambria Math" panose="02040503050406030204" pitchFamily="18" charset="0"/>
                              </a:rPr>
                              <m:t>𝑌</m:t>
                            </m:r>
                          </m:e>
                        </m:acc>
                      </m:e>
                      <m:sub>
                        <m:r>
                          <a:rPr lang="en-US" altLang="en-US" sz="2000" b="0" i="1" smtClean="0">
                            <a:solidFill>
                              <a:schemeClr val="tx1"/>
                            </a:solidFill>
                            <a:latin typeface="Cambria Math" panose="02040503050406030204" pitchFamily="18" charset="0"/>
                          </a:rPr>
                          <m:t>1</m:t>
                        </m:r>
                      </m:sub>
                    </m:sSub>
                    <m:r>
                      <a:rPr lang="en-US" altLang="en-US" sz="2000" b="0" i="1" smtClean="0">
                        <a:solidFill>
                          <a:schemeClr val="tx1"/>
                        </a:solidFill>
                        <a:latin typeface="Cambria Math" panose="02040503050406030204" pitchFamily="18" charset="0"/>
                      </a:rPr>
                      <m:t> </m:t>
                    </m:r>
                  </m:oMath>
                </a14:m>
                <a:r>
                  <a:rPr lang="en-US" sz="2000" dirty="0">
                    <a:solidFill>
                      <a:schemeClr val="tx1"/>
                    </a:solidFill>
                    <a:latin typeface="Cambria Math" panose="02040503050406030204" pitchFamily="18" charset="0"/>
                  </a:rPr>
                  <a:t>and </a:t>
                </a:r>
                <a14:m>
                  <m:oMath xmlns:m="http://schemas.openxmlformats.org/officeDocument/2006/math">
                    <m:r>
                      <m:rPr>
                        <m:nor/>
                      </m:rPr>
                      <a:rPr lang="en-US" sz="2000" i="0" smtClean="0">
                        <a:solidFill>
                          <a:schemeClr val="tx1"/>
                        </a:solidFill>
                        <a:latin typeface="Cambria Math" panose="02040503050406030204" pitchFamily="18" charset="0"/>
                      </a:rPr>
                      <m:t>Var</m:t>
                    </m:r>
                    <m:d>
                      <m:dPr>
                        <m:ctrlPr>
                          <a:rPr lang="en-US" sz="2000" i="1">
                            <a:solidFill>
                              <a:schemeClr val="tx1"/>
                            </a:solidFill>
                            <a:latin typeface="Cambria Math" panose="02040503050406030204" pitchFamily="18" charset="0"/>
                          </a:rPr>
                        </m:ctrlPr>
                      </m:dPr>
                      <m:e>
                        <m:sSup>
                          <m:sSupPr>
                            <m:ctrlPr>
                              <a:rPr lang="en-US" sz="2000" i="1">
                                <a:latin typeface="Cambria Math" panose="02040503050406030204" pitchFamily="18" charset="0"/>
                                <a:ea typeface="Cambria Math" panose="02040503050406030204" pitchFamily="18" charset="0"/>
                              </a:rPr>
                            </m:ctrlPr>
                          </m:sSupPr>
                          <m:e>
                            <m:acc>
                              <m:accPr>
                                <m:chr m:val="̂"/>
                                <m:ctrlPr>
                                  <a:rPr lang="en-US" sz="2000" i="1">
                                    <a:latin typeface="Cambria Math" panose="02040503050406030204" pitchFamily="18" charset="0"/>
                                    <a:ea typeface="Cambria Math" panose="02040503050406030204" pitchFamily="18" charset="0"/>
                                  </a:rPr>
                                </m:ctrlPr>
                              </m:accPr>
                              <m:e>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𝛽</m:t>
                                </m:r>
                              </m:e>
                            </m:acc>
                            <m:r>
                              <m:rPr>
                                <m:nor/>
                              </m:rPr>
                              <a:rPr lang="en-US" sz="2000" i="0" dirty="0"/>
                              <m:t> </m:t>
                            </m:r>
                          </m:e>
                          <m:sup>
                            <m:r>
                              <a:rPr lang="en-US" sz="2000" i="1">
                                <a:latin typeface="Cambria Math" panose="02040503050406030204" pitchFamily="18" charset="0"/>
                                <a:ea typeface="Cambria Math" panose="02040503050406030204" pitchFamily="18" charset="0"/>
                              </a:rPr>
                              <m:t>∗</m:t>
                            </m:r>
                          </m:sup>
                        </m:sSup>
                      </m:e>
                    </m:d>
                    <m:r>
                      <a:rPr lang="en-US" sz="2000" i="1">
                        <a:solidFill>
                          <a:schemeClr val="tx1"/>
                        </a:solidFill>
                        <a:latin typeface="Cambria Math" panose="02040503050406030204" pitchFamily="18" charset="0"/>
                      </a:rPr>
                      <m:t>=</m:t>
                    </m:r>
                    <m:f>
                      <m:fPr>
                        <m:ctrlPr>
                          <a:rPr lang="en-US" sz="2000" i="1">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rPr>
                          <m:t>2</m:t>
                        </m:r>
                        <m:sSup>
                          <m:sSupPr>
                            <m:ctrlPr>
                              <a:rPr lang="en-US" sz="2000" i="1">
                                <a:solidFill>
                                  <a:schemeClr val="tx1"/>
                                </a:solidFill>
                                <a:latin typeface="Cambria Math" panose="02040503050406030204" pitchFamily="18" charset="0"/>
                              </a:rPr>
                            </m:ctrlPr>
                          </m:sSupPr>
                          <m:e>
                            <m:r>
                              <a:rPr lang="en-US" sz="2000" i="1">
                                <a:solidFill>
                                  <a:schemeClr val="tx1"/>
                                </a:solidFill>
                                <a:latin typeface="Cambria Math" panose="02040503050406030204" pitchFamily="18" charset="0"/>
                              </a:rPr>
                              <m:t>𝜎</m:t>
                            </m:r>
                          </m:e>
                          <m:sup>
                            <m:r>
                              <a:rPr lang="en-US" sz="2000" i="1">
                                <a:solidFill>
                                  <a:schemeClr val="tx1"/>
                                </a:solidFill>
                                <a:latin typeface="Cambria Math" panose="02040503050406030204" pitchFamily="18" charset="0"/>
                              </a:rPr>
                              <m:t>2</m:t>
                            </m:r>
                          </m:sup>
                        </m:sSup>
                      </m:num>
                      <m:den>
                        <m:r>
                          <a:rPr lang="en-US" sz="2000" b="0" i="1" smtClean="0">
                            <a:solidFill>
                              <a:schemeClr val="tx1"/>
                            </a:solidFill>
                            <a:latin typeface="Cambria Math" panose="02040503050406030204" pitchFamily="18" charset="0"/>
                          </a:rPr>
                          <m:t>𝐾</m:t>
                        </m:r>
                        <m:r>
                          <a:rPr lang="en-US" sz="2000" i="1">
                            <a:solidFill>
                              <a:schemeClr val="tx1"/>
                            </a:solidFill>
                            <a:latin typeface="Cambria Math" panose="02040503050406030204" pitchFamily="18" charset="0"/>
                          </a:rPr>
                          <m:t>𝑚</m:t>
                        </m:r>
                      </m:den>
                    </m:f>
                    <m:d>
                      <m:dPr>
                        <m:begChr m:val="["/>
                        <m:endChr m:val="]"/>
                        <m:ctrlPr>
                          <a:rPr lang="en-US" sz="2000" i="1">
                            <a:solidFill>
                              <a:schemeClr val="tx1"/>
                            </a:solidFill>
                            <a:latin typeface="Cambria Math" panose="02040503050406030204" pitchFamily="18" charset="0"/>
                          </a:rPr>
                        </m:ctrlPr>
                      </m:dPr>
                      <m:e>
                        <m:r>
                          <a:rPr lang="en-US" sz="2000" i="1">
                            <a:solidFill>
                              <a:schemeClr val="tx1"/>
                            </a:solidFill>
                            <a:latin typeface="Cambria Math" panose="02040503050406030204" pitchFamily="18" charset="0"/>
                          </a:rPr>
                          <m:t>1+</m:t>
                        </m:r>
                        <m:d>
                          <m:dPr>
                            <m:ctrlPr>
                              <a:rPr lang="en-US" sz="2000" i="1">
                                <a:solidFill>
                                  <a:schemeClr val="tx1"/>
                                </a:solidFill>
                                <a:latin typeface="Cambria Math" panose="02040503050406030204" pitchFamily="18" charset="0"/>
                              </a:rPr>
                            </m:ctrlPr>
                          </m:dPr>
                          <m:e>
                            <m:r>
                              <a:rPr lang="en-US" sz="2000" i="1">
                                <a:solidFill>
                                  <a:schemeClr val="tx1"/>
                                </a:solidFill>
                                <a:latin typeface="Cambria Math" panose="02040503050406030204" pitchFamily="18" charset="0"/>
                              </a:rPr>
                              <m:t>𝑚</m:t>
                            </m:r>
                            <m:r>
                              <a:rPr lang="en-US" sz="2000" i="1">
                                <a:solidFill>
                                  <a:schemeClr val="tx1"/>
                                </a:solidFill>
                                <a:latin typeface="Cambria Math" panose="02040503050406030204" pitchFamily="18" charset="0"/>
                              </a:rPr>
                              <m:t>−1</m:t>
                            </m:r>
                          </m:e>
                        </m:d>
                        <m:r>
                          <a:rPr lang="en-US" sz="2000" i="1">
                            <a:solidFill>
                              <a:schemeClr val="tx1"/>
                            </a:solidFill>
                            <a:latin typeface="Cambria Math" panose="02040503050406030204" pitchFamily="18" charset="0"/>
                          </a:rPr>
                          <m:t>𝜌</m:t>
                        </m:r>
                      </m:e>
                    </m:d>
                  </m:oMath>
                </a14:m>
                <a:endParaRPr lang="en-US" altLang="en-US" sz="2000" dirty="0">
                  <a:solidFill>
                    <a:schemeClr val="tx1"/>
                  </a:solidFill>
                </a:endParaRPr>
              </a:p>
              <a:p>
                <a:pPr eaLnBrk="1" hangingPunct="1"/>
                <a:r>
                  <a:rPr lang="en-US" altLang="en-US" sz="2000" dirty="0">
                    <a:solidFill>
                      <a:schemeClr val="tx1"/>
                    </a:solidFill>
                  </a:rPr>
                  <a:t>		</a:t>
                </a:r>
              </a:p>
              <a:p>
                <a:r>
                  <a:rPr lang="en-US" altLang="en-US" sz="2000" dirty="0">
                    <a:solidFill>
                      <a:schemeClr val="tx1"/>
                    </a:solidFill>
                  </a:rPr>
                  <a:t>As K</a:t>
                </a:r>
                <a14:m>
                  <m:oMath xmlns:m="http://schemas.openxmlformats.org/officeDocument/2006/math">
                    <m:r>
                      <a:rPr lang="en-US" sz="2000" i="1" smtClean="0">
                        <a:solidFill>
                          <a:schemeClr val="tx1"/>
                        </a:solidFill>
                        <a:latin typeface="Cambria Math" panose="02040503050406030204" pitchFamily="18" charset="0"/>
                      </a:rPr>
                      <m:t>→∞,</m:t>
                    </m:r>
                    <m:r>
                      <m:rPr>
                        <m:nor/>
                      </m:rPr>
                      <a:rPr lang="en-US" sz="2000" i="0">
                        <a:solidFill>
                          <a:schemeClr val="tx1"/>
                        </a:solidFill>
                        <a:latin typeface="Cambria Math" panose="02040503050406030204" pitchFamily="18" charset="0"/>
                      </a:rPr>
                      <m:t>Var</m:t>
                    </m:r>
                    <m:d>
                      <m:dPr>
                        <m:ctrlPr>
                          <a:rPr lang="en-US" sz="2000" i="1">
                            <a:solidFill>
                              <a:schemeClr val="tx1"/>
                            </a:solidFill>
                            <a:latin typeface="Cambria Math" panose="02040503050406030204" pitchFamily="18" charset="0"/>
                          </a:rPr>
                        </m:ctrlPr>
                      </m:dPr>
                      <m:e>
                        <m:sSup>
                          <m:sSupPr>
                            <m:ctrlPr>
                              <a:rPr lang="en-US" sz="2000" i="1">
                                <a:latin typeface="Cambria Math" panose="02040503050406030204" pitchFamily="18" charset="0"/>
                                <a:ea typeface="Cambria Math" panose="02040503050406030204" pitchFamily="18" charset="0"/>
                              </a:rPr>
                            </m:ctrlPr>
                          </m:sSupPr>
                          <m:e>
                            <m:acc>
                              <m:accPr>
                                <m:chr m:val="̂"/>
                                <m:ctrlPr>
                                  <a:rPr lang="en-US" sz="2000" i="1">
                                    <a:latin typeface="Cambria Math" panose="02040503050406030204" pitchFamily="18" charset="0"/>
                                    <a:ea typeface="Cambria Math" panose="02040503050406030204" pitchFamily="18" charset="0"/>
                                  </a:rPr>
                                </m:ctrlPr>
                              </m:accPr>
                              <m:e>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𝛽</m:t>
                                </m:r>
                              </m:e>
                            </m:acc>
                            <m:r>
                              <m:rPr>
                                <m:nor/>
                              </m:rPr>
                              <a:rPr lang="en-US" sz="2000" i="0" dirty="0"/>
                              <m:t> </m:t>
                            </m:r>
                          </m:e>
                          <m:sup>
                            <m:r>
                              <a:rPr lang="en-US" sz="2000" i="1">
                                <a:latin typeface="Cambria Math" panose="02040503050406030204" pitchFamily="18" charset="0"/>
                                <a:ea typeface="Cambria Math" panose="02040503050406030204" pitchFamily="18" charset="0"/>
                              </a:rPr>
                              <m:t>∗</m:t>
                            </m:r>
                          </m:sup>
                        </m:sSup>
                      </m:e>
                    </m:d>
                    <m:r>
                      <a:rPr lang="en-US" sz="2000" i="1">
                        <a:solidFill>
                          <a:schemeClr val="tx1"/>
                        </a:solidFill>
                        <a:latin typeface="Cambria Math" panose="02040503050406030204" pitchFamily="18" charset="0"/>
                      </a:rPr>
                      <m:t>→0</m:t>
                    </m:r>
                    <m:r>
                      <a:rPr lang="zh-CN" altLang="en-US" sz="2000" b="0" i="0" smtClean="0">
                        <a:solidFill>
                          <a:schemeClr val="tx1"/>
                        </a:solidFill>
                        <a:latin typeface="Cambria Math" panose="02040503050406030204" pitchFamily="18" charset="0"/>
                      </a:rPr>
                      <m:t>  </m:t>
                    </m:r>
                  </m:oMath>
                </a14:m>
                <a:endParaRPr lang="en-US" altLang="zh-CN" sz="2000" b="0" dirty="0">
                  <a:solidFill>
                    <a:schemeClr val="tx1"/>
                  </a:solidFill>
                </a:endParaRPr>
              </a:p>
              <a:p>
                <a:r>
                  <a:rPr lang="en-US" altLang="en-US" sz="2000" dirty="0">
                    <a:solidFill>
                      <a:schemeClr val="tx1"/>
                    </a:solidFill>
                  </a:rPr>
                  <a:t>As  </a:t>
                </a:r>
                <a14:m>
                  <m:oMath xmlns:m="http://schemas.openxmlformats.org/officeDocument/2006/math">
                    <m:r>
                      <a:rPr lang="en-US" sz="2000" i="1" smtClean="0">
                        <a:solidFill>
                          <a:schemeClr val="tx1"/>
                        </a:solidFill>
                        <a:latin typeface="Cambria Math" panose="02040503050406030204" pitchFamily="18" charset="0"/>
                      </a:rPr>
                      <m:t>𝑚</m:t>
                    </m:r>
                    <m:r>
                      <a:rPr lang="en-US" sz="2000" i="1" smtClean="0">
                        <a:solidFill>
                          <a:schemeClr val="tx1"/>
                        </a:solidFill>
                        <a:latin typeface="Cambria Math" panose="02040503050406030204" pitchFamily="18" charset="0"/>
                      </a:rPr>
                      <m:t>→∞,</m:t>
                    </m:r>
                    <m:r>
                      <m:rPr>
                        <m:nor/>
                      </m:rPr>
                      <a:rPr lang="en-US" sz="2000" i="0">
                        <a:solidFill>
                          <a:schemeClr val="tx1"/>
                        </a:solidFill>
                        <a:latin typeface="Cambria Math" panose="02040503050406030204" pitchFamily="18" charset="0"/>
                      </a:rPr>
                      <m:t>Var</m:t>
                    </m:r>
                    <m:d>
                      <m:dPr>
                        <m:ctrlPr>
                          <a:rPr lang="en-US" sz="2000" i="1">
                            <a:solidFill>
                              <a:schemeClr val="tx1"/>
                            </a:solidFill>
                            <a:latin typeface="Cambria Math" panose="02040503050406030204" pitchFamily="18" charset="0"/>
                          </a:rPr>
                        </m:ctrlPr>
                      </m:dPr>
                      <m:e>
                        <m:sSup>
                          <m:sSupPr>
                            <m:ctrlPr>
                              <a:rPr lang="en-US" sz="2000" i="1">
                                <a:latin typeface="Cambria Math" panose="02040503050406030204" pitchFamily="18" charset="0"/>
                                <a:ea typeface="Cambria Math" panose="02040503050406030204" pitchFamily="18" charset="0"/>
                              </a:rPr>
                            </m:ctrlPr>
                          </m:sSupPr>
                          <m:e>
                            <m:acc>
                              <m:accPr>
                                <m:chr m:val="̂"/>
                                <m:ctrlPr>
                                  <a:rPr lang="en-US" sz="2000" i="1">
                                    <a:latin typeface="Cambria Math" panose="02040503050406030204" pitchFamily="18" charset="0"/>
                                    <a:ea typeface="Cambria Math" panose="02040503050406030204" pitchFamily="18" charset="0"/>
                                  </a:rPr>
                                </m:ctrlPr>
                              </m:accPr>
                              <m:e>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𝛽</m:t>
                                </m:r>
                              </m:e>
                            </m:acc>
                            <m:r>
                              <m:rPr>
                                <m:nor/>
                              </m:rPr>
                              <a:rPr lang="en-US" sz="2000" i="0" dirty="0"/>
                              <m:t> </m:t>
                            </m:r>
                          </m:e>
                          <m:sup>
                            <m:r>
                              <a:rPr lang="en-US" sz="2000" i="1">
                                <a:latin typeface="Cambria Math" panose="02040503050406030204" pitchFamily="18" charset="0"/>
                                <a:ea typeface="Cambria Math" panose="02040503050406030204" pitchFamily="18" charset="0"/>
                              </a:rPr>
                              <m:t>∗</m:t>
                            </m:r>
                          </m:sup>
                        </m:sSup>
                      </m:e>
                    </m:d>
                    <m:r>
                      <a:rPr lang="en-US" sz="2000" i="1">
                        <a:solidFill>
                          <a:schemeClr val="tx1"/>
                        </a:solidFill>
                        <a:latin typeface="Cambria Math" panose="02040503050406030204" pitchFamily="18" charset="0"/>
                      </a:rPr>
                      <m:t>→</m:t>
                    </m:r>
                    <m:f>
                      <m:fPr>
                        <m:ctrlPr>
                          <a:rPr lang="en-US" sz="2000" i="1">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rPr>
                          <m:t>2</m:t>
                        </m:r>
                        <m:sSup>
                          <m:sSupPr>
                            <m:ctrlPr>
                              <a:rPr lang="en-US" sz="2000" i="1">
                                <a:latin typeface="Cambria Math" panose="02040503050406030204" pitchFamily="18" charset="0"/>
                              </a:rPr>
                            </m:ctrlPr>
                          </m:sSupPr>
                          <m:e>
                            <m:r>
                              <a:rPr lang="en-US" sz="2000" i="1">
                                <a:latin typeface="Cambria Math" panose="02040503050406030204" pitchFamily="18" charset="0"/>
                              </a:rPr>
                              <m:t>𝜎</m:t>
                            </m:r>
                          </m:e>
                          <m:sup>
                            <m:r>
                              <a:rPr lang="en-US" sz="2000" i="1">
                                <a:latin typeface="Cambria Math" panose="02040503050406030204" pitchFamily="18" charset="0"/>
                              </a:rPr>
                              <m:t>2</m:t>
                            </m:r>
                          </m:sup>
                        </m:sSup>
                        <m:r>
                          <a:rPr lang="en-US" sz="2000" i="1">
                            <a:solidFill>
                              <a:schemeClr val="tx1"/>
                            </a:solidFill>
                            <a:latin typeface="Cambria Math" panose="02040503050406030204" pitchFamily="18" charset="0"/>
                          </a:rPr>
                          <m:t>𝜌</m:t>
                        </m:r>
                      </m:num>
                      <m:den>
                        <m:r>
                          <a:rPr lang="en-US" sz="2000" b="0" i="1" smtClean="0">
                            <a:solidFill>
                              <a:schemeClr val="tx1"/>
                            </a:solidFill>
                            <a:latin typeface="Cambria Math" panose="02040503050406030204" pitchFamily="18" charset="0"/>
                          </a:rPr>
                          <m:t>𝐾</m:t>
                        </m:r>
                      </m:den>
                    </m:f>
                    <m:r>
                      <a:rPr lang="en-US" sz="2000" i="1">
                        <a:solidFill>
                          <a:schemeClr val="tx1"/>
                        </a:solidFill>
                        <a:latin typeface="Cambria Math" panose="02040503050406030204" pitchFamily="18" charset="0"/>
                      </a:rPr>
                      <m:t>=2</m:t>
                    </m:r>
                    <m:sSubSup>
                      <m:sSubSupPr>
                        <m:ctrlPr>
                          <a:rPr lang="en-US" sz="2000" i="1">
                            <a:solidFill>
                              <a:schemeClr val="tx1"/>
                            </a:solidFill>
                            <a:latin typeface="Cambria Math" panose="02040503050406030204" pitchFamily="18" charset="0"/>
                          </a:rPr>
                        </m:ctrlPr>
                      </m:sSubSupPr>
                      <m:e>
                        <m:r>
                          <a:rPr lang="en-US" sz="2000" i="1">
                            <a:solidFill>
                              <a:schemeClr val="tx1"/>
                            </a:solidFill>
                            <a:latin typeface="Cambria Math" panose="02040503050406030204" pitchFamily="18" charset="0"/>
                          </a:rPr>
                          <m:t>𝜎</m:t>
                        </m:r>
                      </m:e>
                      <m:sub>
                        <m:r>
                          <a:rPr lang="en-US" sz="2000" i="1">
                            <a:solidFill>
                              <a:schemeClr val="tx1"/>
                            </a:solidFill>
                            <a:latin typeface="Cambria Math" panose="02040503050406030204" pitchFamily="18" charset="0"/>
                          </a:rPr>
                          <m:t>𝐵</m:t>
                        </m:r>
                      </m:sub>
                      <m:sup>
                        <m:r>
                          <a:rPr lang="en-US" sz="2000" i="1">
                            <a:solidFill>
                              <a:schemeClr val="tx1"/>
                            </a:solidFill>
                            <a:latin typeface="Cambria Math" panose="02040503050406030204" pitchFamily="18" charset="0"/>
                          </a:rPr>
                          <m:t>2</m:t>
                        </m:r>
                      </m:sup>
                    </m:sSubSup>
                    <m:r>
                      <a:rPr lang="en-US" sz="2000" i="1">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𝐾</m:t>
                    </m:r>
                    <m:r>
                      <a:rPr lang="en-US" sz="2000" i="1">
                        <a:solidFill>
                          <a:schemeClr val="tx1"/>
                        </a:solidFill>
                        <a:latin typeface="Cambria Math" panose="02040503050406030204" pitchFamily="18" charset="0"/>
                      </a:rPr>
                      <m:t>.</m:t>
                    </m:r>
                  </m:oMath>
                </a14:m>
                <a:r>
                  <a:rPr lang="en-US" sz="2000" dirty="0">
                    <a:solidFill>
                      <a:schemeClr val="tx1"/>
                    </a:solidFill>
                  </a:rPr>
                  <a:t> </a:t>
                </a:r>
              </a:p>
              <a:p>
                <a:pPr eaLnBrk="1" hangingPunct="1"/>
                <a:endParaRPr lang="en-CA" altLang="en-US" dirty="0">
                  <a:solidFill>
                    <a:schemeClr val="tx1"/>
                  </a:solidFill>
                </a:endParaRPr>
              </a:p>
            </p:txBody>
          </p:sp>
        </mc:Choice>
        <mc:Fallback xmlns="">
          <p:sp>
            <p:nvSpPr>
              <p:cNvPr id="12" name="TextBox 11">
                <a:extLst>
                  <a:ext uri="{FF2B5EF4-FFF2-40B4-BE49-F238E27FC236}">
                    <a16:creationId xmlns:a16="http://schemas.microsoft.com/office/drawing/2014/main" id="{2C5FA5D7-E129-9349-BEB7-299643DEB262}"/>
                  </a:ext>
                </a:extLst>
              </p:cNvPr>
              <p:cNvSpPr txBox="1">
                <a:spLocks noRot="1" noChangeAspect="1" noMove="1" noResize="1" noEditPoints="1" noAdjustHandles="1" noChangeArrowheads="1" noChangeShapeType="1" noTextEdit="1"/>
              </p:cNvSpPr>
              <p:nvPr/>
            </p:nvSpPr>
            <p:spPr>
              <a:xfrm>
                <a:off x="1168048" y="1534358"/>
                <a:ext cx="8152370" cy="1984646"/>
              </a:xfrm>
              <a:prstGeom prst="rect">
                <a:avLst/>
              </a:prstGeom>
              <a:blipFill>
                <a:blip r:embed="rId4"/>
                <a:stretch>
                  <a:fillRect l="-8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6FFCE6E-0CAE-6644-999B-BB37E8DD775E}"/>
                  </a:ext>
                </a:extLst>
              </p:cNvPr>
              <p:cNvSpPr txBox="1"/>
              <p:nvPr/>
            </p:nvSpPr>
            <p:spPr>
              <a:xfrm>
                <a:off x="2285179" y="5499646"/>
                <a:ext cx="6797887" cy="6204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sz="2000" i="1" smtClean="0">
                              <a:latin typeface="Cambria Math" panose="02040503050406030204" pitchFamily="18" charset="0"/>
                            </a:rPr>
                          </m:ctrlPr>
                        </m:funcPr>
                        <m:fName>
                          <m:limLow>
                            <m:limLowPr>
                              <m:ctrlPr>
                                <a:rPr lang="en-US" sz="2000" i="1" smtClean="0">
                                  <a:latin typeface="Cambria Math" panose="02040503050406030204" pitchFamily="18" charset="0"/>
                                </a:rPr>
                              </m:ctrlPr>
                            </m:limLowPr>
                            <m:e>
                              <m:r>
                                <m:rPr>
                                  <m:sty m:val="p"/>
                                </m:rPr>
                                <a:rPr lang="en-US" sz="2000" i="0" smtClean="0">
                                  <a:latin typeface="Cambria Math" panose="02040503050406030204" pitchFamily="18" charset="0"/>
                                </a:rPr>
                                <m:t>lim</m:t>
                              </m:r>
                            </m:e>
                            <m:lim>
                              <m:r>
                                <a:rPr lang="en-US" sz="2000" i="1">
                                  <a:latin typeface="Cambria Math" panose="02040503050406030204" pitchFamily="18" charset="0"/>
                                </a:rPr>
                                <m:t>𝑚</m:t>
                              </m:r>
                              <m:r>
                                <a:rPr lang="en-US" sz="2000" i="1">
                                  <a:latin typeface="Cambria Math" panose="02040503050406030204" pitchFamily="18" charset="0"/>
                                </a:rPr>
                                <m:t>→∞</m:t>
                              </m:r>
                            </m:lim>
                          </m:limLow>
                        </m:fName>
                        <m:e>
                          <m:r>
                            <m:rPr>
                              <m:nor/>
                            </m:rPr>
                            <a:rPr lang="en-US" sz="2000" i="0">
                              <a:latin typeface="Cambria Math" panose="02040503050406030204" pitchFamily="18" charset="0"/>
                            </a:rPr>
                            <m:t>Var</m:t>
                          </m:r>
                          <m:d>
                            <m:dPr>
                              <m:ctrlPr>
                                <a:rPr lang="en-US" sz="2000" i="1">
                                  <a:latin typeface="Cambria Math" panose="02040503050406030204" pitchFamily="18" charset="0"/>
                                </a:rPr>
                              </m:ctrlPr>
                            </m:dPr>
                            <m:e>
                              <m:sSup>
                                <m:sSupPr>
                                  <m:ctrlPr>
                                    <a:rPr lang="en-US" sz="2000" i="1">
                                      <a:latin typeface="Cambria Math" panose="02040503050406030204" pitchFamily="18" charset="0"/>
                                      <a:ea typeface="Cambria Math" panose="02040503050406030204" pitchFamily="18" charset="0"/>
                                    </a:rPr>
                                  </m:ctrlPr>
                                </m:sSupPr>
                                <m:e>
                                  <m:acc>
                                    <m:accPr>
                                      <m:chr m:val="̂"/>
                                      <m:ctrlPr>
                                        <a:rPr lang="en-US" sz="2000" i="1">
                                          <a:latin typeface="Cambria Math" panose="02040503050406030204" pitchFamily="18" charset="0"/>
                                          <a:ea typeface="Cambria Math" panose="02040503050406030204" pitchFamily="18" charset="0"/>
                                        </a:rPr>
                                      </m:ctrlPr>
                                    </m:accPr>
                                    <m:e>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𝛽</m:t>
                                      </m:r>
                                    </m:e>
                                  </m:acc>
                                </m:e>
                                <m:sup>
                                  <m:r>
                                    <a:rPr lang="en-US" sz="2000" i="1">
                                      <a:latin typeface="Cambria Math" panose="02040503050406030204" pitchFamily="18" charset="0"/>
                                      <a:ea typeface="Cambria Math" panose="02040503050406030204" pitchFamily="18" charset="0"/>
                                    </a:rPr>
                                    <m:t>∗</m:t>
                                  </m:r>
                                </m:sup>
                              </m:sSup>
                            </m:e>
                          </m:d>
                        </m:e>
                      </m:func>
                      <m:r>
                        <a:rPr lang="en-US" altLang="zh-CN" sz="2000" b="0" i="1" smtClean="0">
                          <a:latin typeface="Cambria Math" panose="02040503050406030204" pitchFamily="18" charset="0"/>
                        </a:rPr>
                        <m:t>=</m:t>
                      </m:r>
                      <m:func>
                        <m:funcPr>
                          <m:ctrlPr>
                            <a:rPr lang="en-US" sz="2000" i="1">
                              <a:latin typeface="Cambria Math" panose="02040503050406030204" pitchFamily="18" charset="0"/>
                            </a:rPr>
                          </m:ctrlPr>
                        </m:funcPr>
                        <m:fName>
                          <m:limLow>
                            <m:limLowPr>
                              <m:ctrlPr>
                                <a:rPr lang="en-US" sz="2000" i="1">
                                  <a:latin typeface="Cambria Math" panose="02040503050406030204" pitchFamily="18" charset="0"/>
                                </a:rPr>
                              </m:ctrlPr>
                            </m:limLowPr>
                            <m:e>
                              <m:r>
                                <m:rPr>
                                  <m:sty m:val="p"/>
                                </m:rPr>
                                <a:rPr lang="en-US" sz="2000">
                                  <a:latin typeface="Cambria Math" panose="02040503050406030204" pitchFamily="18" charset="0"/>
                                </a:rPr>
                                <m:t>lim</m:t>
                              </m:r>
                            </m:e>
                            <m:lim>
                              <m:r>
                                <a:rPr lang="en-US" sz="2000" i="1">
                                  <a:latin typeface="Cambria Math" panose="02040503050406030204" pitchFamily="18" charset="0"/>
                                </a:rPr>
                                <m:t>𝑚</m:t>
                              </m:r>
                              <m:r>
                                <a:rPr lang="en-US" sz="2000" i="1">
                                  <a:latin typeface="Cambria Math" panose="02040503050406030204" pitchFamily="18" charset="0"/>
                                </a:rPr>
                                <m:t>→∞</m:t>
                              </m:r>
                            </m:lim>
                          </m:limLow>
                        </m:fName>
                        <m:e>
                          <m:f>
                            <m:fPr>
                              <m:ctrlPr>
                                <a:rPr lang="en-US" sz="2000" i="1" smtClean="0">
                                  <a:latin typeface="Cambria Math" panose="02040503050406030204" pitchFamily="18" charset="0"/>
                                </a:rPr>
                              </m:ctrlPr>
                            </m:fPr>
                            <m:num>
                              <m:r>
                                <a:rPr lang="en-US" sz="2000" i="1">
                                  <a:latin typeface="Cambria Math" panose="02040503050406030204" pitchFamily="18" charset="0"/>
                                </a:rPr>
                                <m:t>2</m:t>
                              </m:r>
                              <m:sSup>
                                <m:sSupPr>
                                  <m:ctrlPr>
                                    <a:rPr lang="en-US" sz="2000" i="1">
                                      <a:latin typeface="Cambria Math" panose="02040503050406030204" pitchFamily="18" charset="0"/>
                                    </a:rPr>
                                  </m:ctrlPr>
                                </m:sSupPr>
                                <m:e>
                                  <m:r>
                                    <a:rPr lang="en-US" sz="2000" i="1">
                                      <a:latin typeface="Cambria Math" panose="02040503050406030204" pitchFamily="18" charset="0"/>
                                    </a:rPr>
                                    <m:t>𝜎</m:t>
                                  </m:r>
                                </m:e>
                                <m:sup>
                                  <m:r>
                                    <a:rPr lang="en-US" sz="2000" i="1">
                                      <a:latin typeface="Cambria Math" panose="02040503050406030204" pitchFamily="18" charset="0"/>
                                    </a:rPr>
                                    <m:t>2</m:t>
                                  </m:r>
                                </m:sup>
                              </m:sSup>
                              <m:d>
                                <m:dPr>
                                  <m:begChr m:val="["/>
                                  <m:endChr m:val="]"/>
                                  <m:ctrlPr>
                                    <a:rPr lang="en-US" sz="2000" i="1">
                                      <a:latin typeface="Cambria Math" panose="02040503050406030204" pitchFamily="18" charset="0"/>
                                    </a:rPr>
                                  </m:ctrlPr>
                                </m:dPr>
                                <m:e>
                                  <m:r>
                                    <a:rPr lang="en-US" sz="2000" i="1">
                                      <a:latin typeface="Cambria Math" panose="02040503050406030204" pitchFamily="18" charset="0"/>
                                    </a:rPr>
                                    <m:t>1+</m:t>
                                  </m:r>
                                  <m:d>
                                    <m:dPr>
                                      <m:ctrlPr>
                                        <a:rPr lang="en-US" sz="2000" i="1">
                                          <a:latin typeface="Cambria Math" panose="02040503050406030204" pitchFamily="18" charset="0"/>
                                        </a:rPr>
                                      </m:ctrlPr>
                                    </m:dPr>
                                    <m:e>
                                      <m:r>
                                        <a:rPr lang="en-US" sz="2000" i="1">
                                          <a:latin typeface="Cambria Math" panose="02040503050406030204" pitchFamily="18" charset="0"/>
                                        </a:rPr>
                                        <m:t>𝑚</m:t>
                                      </m:r>
                                      <m:r>
                                        <a:rPr lang="en-US" sz="2000" i="1">
                                          <a:latin typeface="Cambria Math" panose="02040503050406030204" pitchFamily="18" charset="0"/>
                                        </a:rPr>
                                        <m:t>−1</m:t>
                                      </m:r>
                                    </m:e>
                                  </m:d>
                                  <m:r>
                                    <a:rPr lang="en-US" sz="2000" i="1">
                                      <a:latin typeface="Cambria Math" panose="02040503050406030204" pitchFamily="18" charset="0"/>
                                    </a:rPr>
                                    <m:t>𝜌</m:t>
                                  </m:r>
                                </m:e>
                              </m:d>
                            </m:num>
                            <m:den>
                              <m:r>
                                <a:rPr lang="en-US" sz="2000" b="0" i="1" smtClean="0">
                                  <a:latin typeface="Cambria Math" panose="02040503050406030204" pitchFamily="18" charset="0"/>
                                </a:rPr>
                                <m:t>𝐾</m:t>
                              </m:r>
                              <m:r>
                                <m:rPr>
                                  <m:sty m:val="p"/>
                                </m:rPr>
                                <a:rPr lang="en-US" sz="2000" i="1">
                                  <a:latin typeface="Cambria Math" panose="02040503050406030204" pitchFamily="18" charset="0"/>
                                </a:rPr>
                                <m:t>m</m:t>
                              </m:r>
                            </m:den>
                          </m:f>
                          <m:r>
                            <a:rPr lang="en-US" sz="2000" b="0" i="1" smtClean="0">
                              <a:latin typeface="Cambria Math" panose="02040503050406030204" pitchFamily="18" charset="0"/>
                            </a:rPr>
                            <m:t>=</m:t>
                          </m:r>
                          <m:limLow>
                            <m:limLowPr>
                              <m:ctrlPr>
                                <a:rPr lang="en-US" sz="2000" i="1">
                                  <a:latin typeface="Cambria Math" panose="02040503050406030204" pitchFamily="18" charset="0"/>
                                </a:rPr>
                              </m:ctrlPr>
                            </m:limLowPr>
                            <m:e>
                              <m:r>
                                <m:rPr>
                                  <m:sty m:val="p"/>
                                </m:rPr>
                                <a:rPr lang="en-US" sz="2000">
                                  <a:latin typeface="Cambria Math" panose="02040503050406030204" pitchFamily="18" charset="0"/>
                                </a:rPr>
                                <m:t>lim</m:t>
                              </m:r>
                            </m:e>
                            <m:lim>
                              <m:r>
                                <a:rPr lang="en-US" sz="2000" i="1">
                                  <a:latin typeface="Cambria Math" panose="02040503050406030204" pitchFamily="18" charset="0"/>
                                </a:rPr>
                                <m:t>𝑚</m:t>
                              </m:r>
                              <m:r>
                                <a:rPr lang="en-US" sz="2000" i="1">
                                  <a:latin typeface="Cambria Math" panose="02040503050406030204" pitchFamily="18" charset="0"/>
                                </a:rPr>
                                <m:t>→∞</m:t>
                              </m:r>
                            </m:lim>
                          </m:limLow>
                          <m:f>
                            <m:fPr>
                              <m:ctrlPr>
                                <a:rPr lang="en-US" sz="2000" i="1" smtClean="0">
                                  <a:latin typeface="Cambria Math" panose="02040503050406030204" pitchFamily="18" charset="0"/>
                                </a:rPr>
                              </m:ctrlPr>
                            </m:fPr>
                            <m:num>
                              <m:r>
                                <a:rPr lang="en-US" sz="2000" i="1">
                                  <a:latin typeface="Cambria Math" panose="02040503050406030204" pitchFamily="18" charset="0"/>
                                </a:rPr>
                                <m:t>2</m:t>
                              </m:r>
                              <m:sSup>
                                <m:sSupPr>
                                  <m:ctrlPr>
                                    <a:rPr lang="en-US" sz="2000" i="1">
                                      <a:latin typeface="Cambria Math" panose="02040503050406030204" pitchFamily="18" charset="0"/>
                                    </a:rPr>
                                  </m:ctrlPr>
                                </m:sSupPr>
                                <m:e>
                                  <m:r>
                                    <a:rPr lang="en-US" sz="2000" i="1">
                                      <a:latin typeface="Cambria Math" panose="02040503050406030204" pitchFamily="18" charset="0"/>
                                    </a:rPr>
                                    <m:t>𝜎</m:t>
                                  </m:r>
                                </m:e>
                                <m:sup>
                                  <m:r>
                                    <a:rPr lang="en-US" sz="2000" i="1">
                                      <a:latin typeface="Cambria Math" panose="02040503050406030204" pitchFamily="18" charset="0"/>
                                    </a:rPr>
                                    <m:t>2</m:t>
                                  </m:r>
                                </m:sup>
                              </m:sSup>
                              <m:r>
                                <a:rPr lang="en-US" sz="2000" i="1">
                                  <a:latin typeface="Cambria Math" panose="02040503050406030204" pitchFamily="18" charset="0"/>
                                </a:rPr>
                                <m:t>𝜌</m:t>
                              </m:r>
                            </m:num>
                            <m:den>
                              <m:r>
                                <a:rPr lang="en-US" sz="2000" b="0" i="1" smtClean="0">
                                  <a:latin typeface="Cambria Math" panose="02040503050406030204" pitchFamily="18" charset="0"/>
                                </a:rPr>
                                <m:t>𝐾</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i="1">
                                  <a:latin typeface="Cambria Math" panose="02040503050406030204" pitchFamily="18" charset="0"/>
                                </a:rPr>
                                <m:t>2</m:t>
                              </m:r>
                              <m:sSubSup>
                                <m:sSubSupPr>
                                  <m:ctrlPr>
                                    <a:rPr lang="en-US" sz="2000" i="1">
                                      <a:latin typeface="Cambria Math" panose="02040503050406030204" pitchFamily="18" charset="0"/>
                                    </a:rPr>
                                  </m:ctrlPr>
                                </m:sSubSupPr>
                                <m:e>
                                  <m:r>
                                    <a:rPr lang="en-US" sz="2000" i="1">
                                      <a:latin typeface="Cambria Math" panose="02040503050406030204" pitchFamily="18" charset="0"/>
                                    </a:rPr>
                                    <m:t>𝜎</m:t>
                                  </m:r>
                                </m:e>
                                <m:sub>
                                  <m:r>
                                    <a:rPr lang="en-US" sz="2000" i="1">
                                      <a:latin typeface="Cambria Math" panose="02040503050406030204" pitchFamily="18" charset="0"/>
                                    </a:rPr>
                                    <m:t>𝐵</m:t>
                                  </m:r>
                                </m:sub>
                                <m:sup>
                                  <m:r>
                                    <a:rPr lang="en-US" sz="2000" i="1">
                                      <a:latin typeface="Cambria Math" panose="02040503050406030204" pitchFamily="18" charset="0"/>
                                    </a:rPr>
                                    <m:t>2</m:t>
                                  </m:r>
                                </m:sup>
                              </m:sSubSup>
                            </m:num>
                            <m:den>
                              <m:r>
                                <a:rPr lang="en-US" sz="2000" b="0" i="1" smtClean="0">
                                  <a:latin typeface="Cambria Math" panose="02040503050406030204" pitchFamily="18" charset="0"/>
                                </a:rPr>
                                <m:t>𝐾</m:t>
                              </m:r>
                            </m:den>
                          </m:f>
                        </m:e>
                      </m:func>
                    </m:oMath>
                  </m:oMathPara>
                </a14:m>
                <a:endParaRPr lang="en-US" dirty="0"/>
              </a:p>
            </p:txBody>
          </p:sp>
        </mc:Choice>
        <mc:Fallback xmlns="">
          <p:sp>
            <p:nvSpPr>
              <p:cNvPr id="13" name="TextBox 12">
                <a:extLst>
                  <a:ext uri="{FF2B5EF4-FFF2-40B4-BE49-F238E27FC236}">
                    <a16:creationId xmlns:a16="http://schemas.microsoft.com/office/drawing/2014/main" id="{36FFCE6E-0CAE-6644-999B-BB37E8DD775E}"/>
                  </a:ext>
                </a:extLst>
              </p:cNvPr>
              <p:cNvSpPr txBox="1">
                <a:spLocks noRot="1" noChangeAspect="1" noMove="1" noResize="1" noEditPoints="1" noAdjustHandles="1" noChangeArrowheads="1" noChangeShapeType="1" noTextEdit="1"/>
              </p:cNvSpPr>
              <p:nvPr/>
            </p:nvSpPr>
            <p:spPr>
              <a:xfrm>
                <a:off x="2285179" y="5499646"/>
                <a:ext cx="6797887" cy="620491"/>
              </a:xfrm>
              <a:prstGeom prst="rect">
                <a:avLst/>
              </a:prstGeom>
              <a:blipFill>
                <a:blip r:embed="rId5"/>
                <a:stretch>
                  <a:fillRect/>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D208AEA7-B261-7B49-A4A9-8E24983B43D0}"/>
              </a:ext>
            </a:extLst>
          </p:cNvPr>
          <p:cNvSpPr txBox="1"/>
          <p:nvPr/>
        </p:nvSpPr>
        <p:spPr>
          <a:xfrm>
            <a:off x="305553" y="3769521"/>
            <a:ext cx="751231" cy="400110"/>
          </a:xfrm>
          <a:prstGeom prst="rect">
            <a:avLst/>
          </a:prstGeom>
          <a:noFill/>
        </p:spPr>
        <p:txBody>
          <a:bodyPr wrap="none" rtlCol="0">
            <a:spAutoFit/>
          </a:bodyPr>
          <a:lstStyle/>
          <a:p>
            <a:r>
              <a:rPr lang="en-US" sz="2000" dirty="0"/>
              <a:t>Proof</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6CC1991-4E1F-1A43-9AFA-8458733EFAC2}"/>
                  </a:ext>
                </a:extLst>
              </p:cNvPr>
              <p:cNvSpPr txBox="1"/>
              <p:nvPr/>
            </p:nvSpPr>
            <p:spPr>
              <a:xfrm>
                <a:off x="1168049" y="3718065"/>
                <a:ext cx="11023952" cy="1518364"/>
              </a:xfrm>
              <a:prstGeom prst="rect">
                <a:avLst/>
              </a:prstGeom>
              <a:noFill/>
            </p:spPr>
            <p:txBody>
              <a:bodyPr wrap="square" rtlCol="0">
                <a:spAutoFit/>
              </a:bodyPr>
              <a:lstStyle/>
              <a:p>
                <a:r>
                  <a:rPr lang="en-US" dirty="0"/>
                  <a:t>L‘Hôpital’s rule: For functions </a:t>
                </a:r>
                <a14:m>
                  <m:oMath xmlns:m="http://schemas.openxmlformats.org/officeDocument/2006/math">
                    <m:r>
                      <a:rPr lang="en-US" b="0" i="1" dirty="0" smtClean="0">
                        <a:latin typeface="Cambria Math" panose="02040503050406030204" pitchFamily="18" charset="0"/>
                      </a:rPr>
                      <m:t>𝑔</m:t>
                    </m:r>
                    <m:r>
                      <a:rPr lang="en-US" i="1" dirty="0" smtClean="0">
                        <a:latin typeface="Cambria Math" panose="02040503050406030204" pitchFamily="18" charset="0"/>
                      </a:rPr>
                      <m:t> </m:t>
                    </m:r>
                  </m:oMath>
                </a14:m>
                <a:r>
                  <a:rPr lang="en-US" dirty="0"/>
                  <a:t>and</a:t>
                </a:r>
                <a14:m>
                  <m:oMath xmlns:m="http://schemas.openxmlformats.org/officeDocument/2006/math">
                    <m:r>
                      <a:rPr lang="en-US" i="1" dirty="0" smtClean="0">
                        <a:latin typeface="Cambria Math" panose="02040503050406030204" pitchFamily="18" charset="0"/>
                      </a:rPr>
                      <m:t> </m:t>
                    </m:r>
                    <m:r>
                      <a:rPr lang="en-US" b="0" i="1" dirty="0" smtClean="0">
                        <a:latin typeface="Cambria Math" panose="02040503050406030204" pitchFamily="18" charset="0"/>
                      </a:rPr>
                      <m:t>h</m:t>
                    </m:r>
                  </m:oMath>
                </a14:m>
                <a:r>
                  <a:rPr lang="en-US" dirty="0"/>
                  <a:t> which are differentiable with respect to a parameter </a:t>
                </a:r>
                <a14:m>
                  <m:oMath xmlns:m="http://schemas.openxmlformats.org/officeDocument/2006/math">
                    <m:r>
                      <a:rPr lang="el-GR" i="1" dirty="0" smtClean="0">
                        <a:latin typeface="Cambria Math" panose="02040503050406030204" pitchFamily="18" charset="0"/>
                        <a:ea typeface="Cambria Math" panose="02040503050406030204" pitchFamily="18" charset="0"/>
                      </a:rPr>
                      <m:t>𝜃</m:t>
                    </m:r>
                    <m:r>
                      <a:rPr lang="el-GR" i="1">
                        <a:latin typeface="Cambria Math" panose="02040503050406030204" pitchFamily="18" charset="0"/>
                        <a:ea typeface="Cambria Math" panose="02040503050406030204" pitchFamily="18" charset="0"/>
                      </a:rPr>
                      <m:t> </m:t>
                    </m:r>
                  </m:oMath>
                </a14:m>
                <a:r>
                  <a:rPr lang="en-US" dirty="0"/>
                  <a:t>on an open  interval </a:t>
                </a:r>
                <a14:m>
                  <m:oMath xmlns:m="http://schemas.openxmlformats.org/officeDocument/2006/math">
                    <m:r>
                      <a:rPr lang="en-US" i="1">
                        <a:latin typeface="Cambria Math" panose="02040503050406030204" pitchFamily="18" charset="0"/>
                      </a:rPr>
                      <m:t>𝐼</m:t>
                    </m:r>
                    <m:r>
                      <a:rPr lang="en-US" i="1">
                        <a:latin typeface="Cambria Math" panose="02040503050406030204" pitchFamily="18" charset="0"/>
                      </a:rPr>
                      <m:t> </m:t>
                    </m:r>
                  </m:oMath>
                </a14:m>
                <a:r>
                  <a:rPr lang="en-US" dirty="0"/>
                  <a:t>except possibly at a point </a:t>
                </a:r>
                <a14:m>
                  <m:oMath xmlns:m="http://schemas.openxmlformats.org/officeDocument/2006/math">
                    <m:r>
                      <a:rPr lang="en-US" i="1" dirty="0" smtClean="0">
                        <a:latin typeface="Cambria Math" panose="02040503050406030204" pitchFamily="18" charset="0"/>
                      </a:rPr>
                      <m:t>𝑐</m:t>
                    </m:r>
                  </m:oMath>
                </a14:m>
                <a:r>
                  <a:rPr lang="en-US" dirty="0"/>
                  <a:t> contained in  </a:t>
                </a:r>
                <a14:m>
                  <m:oMath xmlns:m="http://schemas.openxmlformats.org/officeDocument/2006/math">
                    <m:r>
                      <a:rPr lang="en-US" i="1">
                        <a:latin typeface="Cambria Math" panose="02040503050406030204" pitchFamily="18" charset="0"/>
                      </a:rPr>
                      <m:t>𝐼</m:t>
                    </m:r>
                  </m:oMath>
                </a14:m>
                <a:r>
                  <a:rPr lang="en-US" dirty="0"/>
                  <a:t>, if </a:t>
                </a:r>
                <a14:m>
                  <m:oMath xmlns:m="http://schemas.openxmlformats.org/officeDocument/2006/math">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lim</m:t>
                            </m:r>
                          </m:e>
                          <m:lim>
                            <m:r>
                              <m:rPr>
                                <m:sty m:val="p"/>
                              </m:rPr>
                              <a:rPr lang="el-GR" i="1">
                                <a:latin typeface="Cambria Math" panose="02040503050406030204" pitchFamily="18" charset="0"/>
                                <a:ea typeface="Cambria Math" panose="02040503050406030204" pitchFamily="18" charset="0"/>
                              </a:rPr>
                              <m:t>θ</m:t>
                            </m:r>
                            <m:r>
                              <a:rPr lang="en-US">
                                <a:latin typeface="Cambria Math" panose="02040503050406030204" pitchFamily="18" charset="0"/>
                              </a:rPr>
                              <m:t>→</m:t>
                            </m:r>
                            <m:r>
                              <a:rPr lang="en-US">
                                <a:latin typeface="Cambria Math" panose="02040503050406030204" pitchFamily="18" charset="0"/>
                              </a:rPr>
                              <m:t>𝑐</m:t>
                            </m:r>
                          </m:lim>
                        </m:limLow>
                      </m:fName>
                      <m:e>
                        <m:r>
                          <a:rPr lang="en-US" b="0" i="1" smtClean="0">
                            <a:latin typeface="Cambria Math" panose="02040503050406030204" pitchFamily="18" charset="0"/>
                          </a:rPr>
                          <m:t>𝑔</m:t>
                        </m:r>
                        <m:r>
                          <a:rPr lang="en-US">
                            <a:latin typeface="Cambria Math" panose="02040503050406030204" pitchFamily="18" charset="0"/>
                          </a:rPr>
                          <m:t>(</m:t>
                        </m:r>
                        <m:r>
                          <m:rPr>
                            <m:sty m:val="p"/>
                          </m:rPr>
                          <a:rPr lang="el-GR" i="1" smtClean="0">
                            <a:latin typeface="Cambria Math" panose="02040503050406030204" pitchFamily="18" charset="0"/>
                            <a:ea typeface="Cambria Math" panose="02040503050406030204" pitchFamily="18" charset="0"/>
                          </a:rPr>
                          <m:t>θ</m:t>
                        </m:r>
                        <m:r>
                          <a:rPr lang="en-US">
                            <a:latin typeface="Cambria Math" panose="02040503050406030204" pitchFamily="18" charset="0"/>
                          </a:rPr>
                          <m:t>)</m:t>
                        </m:r>
                      </m:e>
                    </m:func>
                    <m:r>
                      <a:rPr lang="en-US">
                        <a:latin typeface="Cambria Math" panose="02040503050406030204" pitchFamily="18" charset="0"/>
                      </a:rPr>
                      <m:t>=</m:t>
                    </m:r>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lim</m:t>
                            </m:r>
                          </m:e>
                          <m:lim>
                            <m:r>
                              <m:rPr>
                                <m:sty m:val="p"/>
                              </m:rPr>
                              <a:rPr lang="el-GR" i="1">
                                <a:latin typeface="Cambria Math" panose="02040503050406030204" pitchFamily="18" charset="0"/>
                                <a:ea typeface="Cambria Math" panose="02040503050406030204" pitchFamily="18" charset="0"/>
                              </a:rPr>
                              <m:t>θ</m:t>
                            </m:r>
                            <m:r>
                              <a:rPr lang="en-US">
                                <a:latin typeface="Cambria Math" panose="02040503050406030204" pitchFamily="18" charset="0"/>
                              </a:rPr>
                              <m:t>→</m:t>
                            </m:r>
                            <m:r>
                              <a:rPr lang="en-US">
                                <a:latin typeface="Cambria Math" panose="02040503050406030204" pitchFamily="18" charset="0"/>
                              </a:rPr>
                              <m:t>𝑐</m:t>
                            </m:r>
                          </m:lim>
                        </m:limLow>
                      </m:fName>
                      <m:e>
                        <m:r>
                          <a:rPr lang="en-US" b="0" i="1" smtClean="0">
                            <a:latin typeface="Cambria Math" panose="02040503050406030204" pitchFamily="18" charset="0"/>
                          </a:rPr>
                          <m:t>h</m:t>
                        </m:r>
                        <m:d>
                          <m:dPr>
                            <m:ctrlPr>
                              <a:rPr lang="en-US" i="1">
                                <a:latin typeface="Cambria Math" panose="02040503050406030204" pitchFamily="18" charset="0"/>
                              </a:rPr>
                            </m:ctrlPr>
                          </m:dPr>
                          <m:e>
                            <m:r>
                              <m:rPr>
                                <m:sty m:val="p"/>
                              </m:rPr>
                              <a:rPr lang="el-GR" i="1">
                                <a:latin typeface="Cambria Math" panose="02040503050406030204" pitchFamily="18" charset="0"/>
                                <a:ea typeface="Cambria Math" panose="02040503050406030204" pitchFamily="18" charset="0"/>
                              </a:rPr>
                              <m:t>θ</m:t>
                            </m:r>
                          </m:e>
                        </m:d>
                        <m:r>
                          <a:rPr lang="en-US">
                            <a:latin typeface="Cambria Math" panose="02040503050406030204" pitchFamily="18" charset="0"/>
                          </a:rPr>
                          <m:t>=0 </m:t>
                        </m:r>
                      </m:e>
                    </m:func>
                    <m:r>
                      <m:rPr>
                        <m:sty m:val="p"/>
                      </m:rPr>
                      <a:rPr lang="en-US" i="0">
                        <a:latin typeface="Cambria Math" panose="02040503050406030204" pitchFamily="18" charset="0"/>
                      </a:rPr>
                      <m:t>or</m:t>
                    </m:r>
                    <m:r>
                      <a:rPr lang="en-US" i="0">
                        <a:latin typeface="Cambria Math" panose="02040503050406030204" pitchFamily="18" charset="0"/>
                      </a:rPr>
                      <m:t> ±∞,</m:t>
                    </m:r>
                  </m:oMath>
                </a14:m>
                <a:r>
                  <a:rPr lang="en-US" dirty="0"/>
                  <a:t>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𝑔</m:t>
                        </m:r>
                        <m:r>
                          <a:rPr lang="en-US" i="1">
                            <a:latin typeface="Cambria Math" panose="02040503050406030204" pitchFamily="18" charset="0"/>
                            <a:ea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θ</m:t>
                        </m:r>
                        <m:r>
                          <a:rPr lang="en-US" i="1">
                            <a:latin typeface="Cambria Math" panose="02040503050406030204" pitchFamily="18" charset="0"/>
                            <a:ea typeface="Cambria Math" panose="02040503050406030204" pitchFamily="18" charset="0"/>
                          </a:rPr>
                          <m:t>)</m:t>
                        </m:r>
                      </m:num>
                      <m:den>
                        <m:r>
                          <a:rPr lang="en-US" i="1">
                            <a:latin typeface="Cambria Math" panose="02040503050406030204" pitchFamily="18" charset="0"/>
                            <a:ea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θ</m:t>
                        </m:r>
                      </m:den>
                    </m:f>
                    <m:r>
                      <a:rPr lang="en-US">
                        <a:latin typeface="Cambria Math" panose="02040503050406030204" pitchFamily="18" charset="0"/>
                      </a:rPr>
                      <m:t>≠0</m:t>
                    </m:r>
                  </m:oMath>
                </a14:m>
                <a:r>
                  <a:rPr lang="en-US" dirty="0"/>
                  <a:t>,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h</m:t>
                        </m:r>
                        <m:r>
                          <a:rPr lang="en-US" i="1">
                            <a:latin typeface="Cambria Math" panose="02040503050406030204" pitchFamily="18" charset="0"/>
                            <a:ea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θ</m:t>
                        </m:r>
                        <m:r>
                          <a:rPr lang="en-US" i="1">
                            <a:latin typeface="Cambria Math" panose="02040503050406030204" pitchFamily="18" charset="0"/>
                            <a:ea typeface="Cambria Math" panose="02040503050406030204" pitchFamily="18" charset="0"/>
                          </a:rPr>
                          <m:t>)</m:t>
                        </m:r>
                      </m:num>
                      <m:den>
                        <m:r>
                          <a:rPr lang="en-US" i="1">
                            <a:latin typeface="Cambria Math" panose="02040503050406030204" pitchFamily="18" charset="0"/>
                            <a:ea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θ</m:t>
                        </m:r>
                      </m:den>
                    </m:f>
                    <m:r>
                      <a:rPr lang="en-US">
                        <a:latin typeface="Cambria Math" panose="02040503050406030204" pitchFamily="18" charset="0"/>
                      </a:rPr>
                      <m:t>≠0</m:t>
                    </m:r>
                    <m:r>
                      <a:rPr lang="en-US" i="1">
                        <a:latin typeface="Cambria Math" panose="02040503050406030204" pitchFamily="18" charset="0"/>
                      </a:rPr>
                      <m:t> </m:t>
                    </m:r>
                  </m:oMath>
                </a14:m>
                <a:r>
                  <a:rPr lang="en-US" dirty="0"/>
                  <a:t>and </a:t>
                </a:r>
                <a14:m>
                  <m:oMath xmlns:m="http://schemas.openxmlformats.org/officeDocument/2006/math">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lim</m:t>
                            </m:r>
                          </m:e>
                          <m:lim>
                            <m:r>
                              <m:rPr>
                                <m:sty m:val="p"/>
                              </m:rPr>
                              <a:rPr lang="el-GR" i="1">
                                <a:latin typeface="Cambria Math" panose="02040503050406030204" pitchFamily="18" charset="0"/>
                                <a:ea typeface="Cambria Math" panose="02040503050406030204" pitchFamily="18" charset="0"/>
                              </a:rPr>
                              <m:t>θ</m:t>
                            </m:r>
                            <m:r>
                              <a:rPr lang="en-US" i="1" smtClean="0">
                                <a:latin typeface="Cambria Math" panose="02040503050406030204" pitchFamily="18" charset="0"/>
                              </a:rPr>
                              <m:t>→</m:t>
                            </m:r>
                            <m:r>
                              <a:rPr lang="en-US" i="1">
                                <a:latin typeface="Cambria Math" panose="02040503050406030204" pitchFamily="18" charset="0"/>
                              </a:rPr>
                              <m:t>𝑐</m:t>
                            </m:r>
                          </m:lim>
                        </m:limLow>
                      </m:fName>
                      <m:e>
                        <m:f>
                          <m:fPr>
                            <m:type m:val="lin"/>
                            <m:ctrlPr>
                              <a:rPr lang="en-US" i="1">
                                <a:latin typeface="Cambria Math" panose="02040503050406030204" pitchFamily="18" charset="0"/>
                              </a:rPr>
                            </m:ctrlPr>
                          </m:fPr>
                          <m:num>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h</m:t>
                                </m:r>
                                <m:r>
                                  <a:rPr lang="en-US" i="1">
                                    <a:latin typeface="Cambria Math" panose="02040503050406030204" pitchFamily="18" charset="0"/>
                                    <a:ea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θ</m:t>
                                </m:r>
                                <m:r>
                                  <a:rPr lang="en-US" i="1">
                                    <a:latin typeface="Cambria Math" panose="02040503050406030204" pitchFamily="18" charset="0"/>
                                    <a:ea typeface="Cambria Math" panose="02040503050406030204" pitchFamily="18" charset="0"/>
                                  </a:rPr>
                                  <m:t>)</m:t>
                                </m:r>
                              </m:num>
                              <m:den>
                                <m:r>
                                  <a:rPr lang="en-US" i="1">
                                    <a:latin typeface="Cambria Math" panose="02040503050406030204" pitchFamily="18" charset="0"/>
                                    <a:ea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θ</m:t>
                                </m:r>
                              </m:den>
                            </m:f>
                          </m:num>
                          <m:den>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𝑔</m:t>
                                </m:r>
                                <m:r>
                                  <a:rPr lang="en-US" i="1">
                                    <a:latin typeface="Cambria Math" panose="02040503050406030204" pitchFamily="18" charset="0"/>
                                    <a:ea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θ</m:t>
                                </m:r>
                                <m:r>
                                  <a:rPr lang="en-US" i="1">
                                    <a:latin typeface="Cambria Math" panose="02040503050406030204" pitchFamily="18" charset="0"/>
                                    <a:ea typeface="Cambria Math" panose="02040503050406030204" pitchFamily="18" charset="0"/>
                                  </a:rPr>
                                  <m:t>)</m:t>
                                </m:r>
                              </m:num>
                              <m:den>
                                <m:r>
                                  <a:rPr lang="en-US" i="1">
                                    <a:latin typeface="Cambria Math" panose="02040503050406030204" pitchFamily="18" charset="0"/>
                                    <a:ea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θ</m:t>
                                </m:r>
                              </m:den>
                            </m:f>
                            <m:r>
                              <a:rPr lang="en-US" b="0" i="1" smtClean="0">
                                <a:latin typeface="Cambria Math" panose="02040503050406030204" pitchFamily="18" charset="0"/>
                                <a:ea typeface="Cambria Math" panose="02040503050406030204" pitchFamily="18" charset="0"/>
                              </a:rPr>
                              <m:t> </m:t>
                            </m:r>
                          </m:den>
                        </m:f>
                      </m:e>
                    </m:func>
                  </m:oMath>
                </a14:m>
                <a:r>
                  <a:rPr lang="en-US" dirty="0"/>
                  <a:t>exists, then </a:t>
                </a:r>
                <a14:m>
                  <m:oMath xmlns:m="http://schemas.openxmlformats.org/officeDocument/2006/math">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lim</m:t>
                            </m:r>
                          </m:e>
                          <m:lim>
                            <m:r>
                              <m:rPr>
                                <m:sty m:val="p"/>
                              </m:rPr>
                              <a:rPr lang="el-GR" i="1">
                                <a:latin typeface="Cambria Math" panose="02040503050406030204" pitchFamily="18" charset="0"/>
                                <a:ea typeface="Cambria Math" panose="02040503050406030204" pitchFamily="18" charset="0"/>
                              </a:rPr>
                              <m:t>θ</m:t>
                            </m:r>
                            <m:r>
                              <a:rPr lang="en-US" i="1">
                                <a:latin typeface="Cambria Math" panose="02040503050406030204" pitchFamily="18" charset="0"/>
                              </a:rPr>
                              <m:t>→</m:t>
                            </m:r>
                            <m:r>
                              <a:rPr lang="en-US" i="1">
                                <a:latin typeface="Cambria Math" panose="02040503050406030204" pitchFamily="18" charset="0"/>
                              </a:rPr>
                              <m:t>𝑐</m:t>
                            </m:r>
                          </m:lim>
                        </m:limLow>
                      </m:fName>
                      <m:e>
                        <m:r>
                          <a:rPr lang="en-US" b="0" i="1" smtClean="0">
                            <a:latin typeface="Cambria Math" panose="02040503050406030204" pitchFamily="18" charset="0"/>
                          </a:rPr>
                          <m:t>h</m:t>
                        </m:r>
                        <m:r>
                          <a:rPr lang="en-US" i="1">
                            <a:latin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θ</m:t>
                        </m:r>
                        <m:r>
                          <a:rPr lang="en-US" i="1">
                            <a:latin typeface="Cambria Math" panose="02040503050406030204" pitchFamily="18" charset="0"/>
                          </a:rPr>
                          <m:t>)</m:t>
                        </m:r>
                      </m:e>
                    </m:func>
                    <m:r>
                      <a:rPr lang="en-US" i="1">
                        <a:latin typeface="Cambria Math" panose="02040503050406030204" pitchFamily="18" charset="0"/>
                      </a:rPr>
                      <m:t>/</m:t>
                    </m:r>
                    <m:r>
                      <a:rPr lang="en-US" i="1">
                        <a:latin typeface="Cambria Math" panose="02040503050406030204" pitchFamily="18" charset="0"/>
                      </a:rPr>
                      <m:t>𝑔</m:t>
                    </m:r>
                    <m:r>
                      <a:rPr lang="en-US" i="1">
                        <a:latin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θ</m:t>
                    </m:r>
                    <m:r>
                      <a:rPr lang="en-US" i="1">
                        <a:latin typeface="Cambria Math" panose="02040503050406030204" pitchFamily="18" charset="0"/>
                      </a:rPr>
                      <m:t>)</m:t>
                    </m:r>
                  </m:oMath>
                </a14:m>
                <a:r>
                  <a:rPr lang="en-US" dirty="0"/>
                  <a:t> = </a:t>
                </a:r>
                <a14:m>
                  <m:oMath xmlns:m="http://schemas.openxmlformats.org/officeDocument/2006/math">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lim</m:t>
                            </m:r>
                          </m:e>
                          <m:lim>
                            <m:r>
                              <m:rPr>
                                <m:sty m:val="p"/>
                              </m:rPr>
                              <a:rPr lang="el-GR" i="1">
                                <a:latin typeface="Cambria Math" panose="02040503050406030204" pitchFamily="18" charset="0"/>
                                <a:ea typeface="Cambria Math" panose="02040503050406030204" pitchFamily="18" charset="0"/>
                              </a:rPr>
                              <m:t>θ</m:t>
                            </m:r>
                            <m:r>
                              <a:rPr lang="en-US" i="1">
                                <a:latin typeface="Cambria Math" panose="02040503050406030204" pitchFamily="18" charset="0"/>
                              </a:rPr>
                              <m:t>→</m:t>
                            </m:r>
                            <m:r>
                              <a:rPr lang="en-US" i="1">
                                <a:latin typeface="Cambria Math" panose="02040503050406030204" pitchFamily="18" charset="0"/>
                              </a:rPr>
                              <m:t>𝑐</m:t>
                            </m:r>
                          </m:lim>
                        </m:limLow>
                      </m:fName>
                      <m:e>
                        <m:f>
                          <m:fPr>
                            <m:type m:val="lin"/>
                            <m:ctrlPr>
                              <a:rPr lang="en-US" i="1">
                                <a:latin typeface="Cambria Math" panose="02040503050406030204" pitchFamily="18" charset="0"/>
                              </a:rPr>
                            </m:ctrlPr>
                          </m:fPr>
                          <m:num>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h</m:t>
                                </m:r>
                                <m:r>
                                  <a:rPr lang="en-US" i="1">
                                    <a:latin typeface="Cambria Math" panose="02040503050406030204" pitchFamily="18" charset="0"/>
                                    <a:ea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θ</m:t>
                                </m:r>
                                <m:r>
                                  <a:rPr lang="en-US" i="1">
                                    <a:latin typeface="Cambria Math" panose="02040503050406030204" pitchFamily="18" charset="0"/>
                                    <a:ea typeface="Cambria Math" panose="02040503050406030204" pitchFamily="18" charset="0"/>
                                  </a:rPr>
                                  <m:t>)</m:t>
                                </m:r>
                              </m:num>
                              <m:den>
                                <m:r>
                                  <a:rPr lang="en-US" i="1">
                                    <a:latin typeface="Cambria Math" panose="02040503050406030204" pitchFamily="18" charset="0"/>
                                    <a:ea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θ</m:t>
                                </m:r>
                              </m:den>
                            </m:f>
                          </m:num>
                          <m:den>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𝑔</m:t>
                                </m:r>
                                <m:r>
                                  <a:rPr lang="en-US" i="1">
                                    <a:latin typeface="Cambria Math" panose="02040503050406030204" pitchFamily="18" charset="0"/>
                                    <a:ea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θ</m:t>
                                </m:r>
                                <m:r>
                                  <a:rPr lang="en-US" i="1">
                                    <a:latin typeface="Cambria Math" panose="02040503050406030204" pitchFamily="18" charset="0"/>
                                    <a:ea typeface="Cambria Math" panose="02040503050406030204" pitchFamily="18" charset="0"/>
                                  </a:rPr>
                                  <m:t>)</m:t>
                                </m:r>
                              </m:num>
                              <m:den>
                                <m:r>
                                  <a:rPr lang="en-US" i="1">
                                    <a:latin typeface="Cambria Math" panose="02040503050406030204" pitchFamily="18" charset="0"/>
                                    <a:ea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θ</m:t>
                                </m:r>
                              </m:den>
                            </m:f>
                          </m:den>
                        </m:f>
                      </m:e>
                    </m:func>
                  </m:oMath>
                </a14:m>
                <a:r>
                  <a:rPr lang="en-US" dirty="0"/>
                  <a:t>.</a:t>
                </a:r>
              </a:p>
              <a:p>
                <a:endParaRPr lang="en-US" dirty="0"/>
              </a:p>
            </p:txBody>
          </p:sp>
        </mc:Choice>
        <mc:Fallback xmlns="">
          <p:sp>
            <p:nvSpPr>
              <p:cNvPr id="15" name="TextBox 14">
                <a:extLst>
                  <a:ext uri="{FF2B5EF4-FFF2-40B4-BE49-F238E27FC236}">
                    <a16:creationId xmlns:a16="http://schemas.microsoft.com/office/drawing/2014/main" id="{C6CC1991-4E1F-1A43-9AFA-8458733EFAC2}"/>
                  </a:ext>
                </a:extLst>
              </p:cNvPr>
              <p:cNvSpPr txBox="1">
                <a:spLocks noRot="1" noChangeAspect="1" noMove="1" noResize="1" noEditPoints="1" noAdjustHandles="1" noChangeArrowheads="1" noChangeShapeType="1" noTextEdit="1"/>
              </p:cNvSpPr>
              <p:nvPr/>
            </p:nvSpPr>
            <p:spPr>
              <a:xfrm>
                <a:off x="1168049" y="3718065"/>
                <a:ext cx="11023952" cy="1518364"/>
              </a:xfrm>
              <a:prstGeom prst="rect">
                <a:avLst/>
              </a:prstGeom>
              <a:blipFill>
                <a:blip r:embed="rId6"/>
                <a:stretch>
                  <a:fillRect l="-498" t="-2410" b="-317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2AFED13-657E-324B-B9F5-4F66D990A269}"/>
                  </a:ext>
                </a:extLst>
              </p:cNvPr>
              <p:cNvSpPr txBox="1"/>
              <p:nvPr/>
            </p:nvSpPr>
            <p:spPr>
              <a:xfrm>
                <a:off x="1153080" y="4972376"/>
                <a:ext cx="9762544" cy="499560"/>
              </a:xfrm>
              <a:prstGeom prst="rect">
                <a:avLst/>
              </a:prstGeom>
              <a:noFill/>
            </p:spPr>
            <p:txBody>
              <a:bodyPr wrap="none" rtlCol="0">
                <a:spAutoFit/>
              </a:bodyPr>
              <a:lstStyle/>
              <a:p>
                <a:r>
                  <a:rPr lang="en-US" dirty="0"/>
                  <a:t>Here, we have </a:t>
                </a:r>
                <a14:m>
                  <m:oMath xmlns:m="http://schemas.openxmlformats.org/officeDocument/2006/math">
                    <m:r>
                      <a:rPr lang="en-US" i="1" dirty="0" smtClean="0">
                        <a:latin typeface="Cambria Math" panose="02040503050406030204" pitchFamily="18" charset="0"/>
                      </a:rPr>
                      <m:t>h</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e>
                    </m:d>
                    <m:r>
                      <a:rPr lang="en-US" b="0" i="1" smtClean="0">
                        <a:latin typeface="Cambria Math" panose="02040503050406030204" pitchFamily="18" charset="0"/>
                      </a:rPr>
                      <m:t>=</m:t>
                    </m:r>
                    <m:r>
                      <a:rPr lang="en-US" i="1">
                        <a:latin typeface="Cambria Math" panose="02040503050406030204" pitchFamily="18" charset="0"/>
                      </a:rPr>
                      <m:t>2</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d>
                      <m:dPr>
                        <m:begChr m:val="["/>
                        <m:endChr m:val="]"/>
                        <m:ctrlPr>
                          <a:rPr lang="en-US" i="1">
                            <a:latin typeface="Cambria Math" panose="02040503050406030204" pitchFamily="18" charset="0"/>
                          </a:rPr>
                        </m:ctrlPr>
                      </m:dPr>
                      <m:e>
                        <m:r>
                          <a:rPr lang="en-US" i="1">
                            <a:latin typeface="Cambria Math" panose="02040503050406030204" pitchFamily="18" charset="0"/>
                          </a:rPr>
                          <m:t>1+</m:t>
                        </m:r>
                        <m:d>
                          <m:dPr>
                            <m:ctrlPr>
                              <a:rPr lang="en-US" i="1">
                                <a:latin typeface="Cambria Math" panose="02040503050406030204" pitchFamily="18" charset="0"/>
                              </a:rPr>
                            </m:ctrlPr>
                          </m:dPr>
                          <m:e>
                            <m:r>
                              <a:rPr lang="en-US" i="1">
                                <a:latin typeface="Cambria Math" panose="02040503050406030204" pitchFamily="18" charset="0"/>
                              </a:rPr>
                              <m:t>𝑚</m:t>
                            </m:r>
                            <m:r>
                              <a:rPr lang="en-US" i="1">
                                <a:latin typeface="Cambria Math" panose="02040503050406030204" pitchFamily="18" charset="0"/>
                              </a:rPr>
                              <m:t>−1</m:t>
                            </m:r>
                          </m:e>
                        </m:d>
                        <m:r>
                          <a:rPr lang="en-US" i="1">
                            <a:latin typeface="Cambria Math" panose="02040503050406030204" pitchFamily="18" charset="0"/>
                          </a:rPr>
                          <m:t>𝜌</m:t>
                        </m:r>
                      </m:e>
                    </m:d>
                  </m:oMath>
                </a14:m>
                <a:r>
                  <a:rPr lang="en-US" dirty="0"/>
                  <a:t> and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h</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𝑚</m:t>
                        </m:r>
                        <m:r>
                          <a:rPr lang="en-US" i="1">
                            <a:latin typeface="Cambria Math" panose="02040503050406030204" pitchFamily="18" charset="0"/>
                            <a:ea typeface="Cambria Math" panose="02040503050406030204" pitchFamily="18" charset="0"/>
                          </a:rPr>
                          <m:t>)</m:t>
                        </m:r>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𝑚</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2</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r>
                      <a:rPr lang="en-US" i="1">
                        <a:latin typeface="Cambria Math" panose="02040503050406030204" pitchFamily="18" charset="0"/>
                      </a:rPr>
                      <m:t>𝜌</m:t>
                    </m:r>
                  </m:oMath>
                </a14:m>
                <a:r>
                  <a:rPr lang="en-US" dirty="0"/>
                  <a:t>,  </a:t>
                </a:r>
                <a14:m>
                  <m:oMath xmlns:m="http://schemas.openxmlformats.org/officeDocument/2006/math">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e>
                    </m:d>
                    <m:r>
                      <a:rPr lang="en-US" b="0" i="1" smtClean="0">
                        <a:latin typeface="Cambria Math" panose="02040503050406030204" pitchFamily="18" charset="0"/>
                      </a:rPr>
                      <m:t>=</m:t>
                    </m:r>
                    <m:r>
                      <a:rPr lang="en-US" b="0" i="1" smtClean="0">
                        <a:latin typeface="Cambria Math" panose="02040503050406030204" pitchFamily="18" charset="0"/>
                      </a:rPr>
                      <m:t>𝐾𝑚</m:t>
                    </m:r>
                  </m:oMath>
                </a14:m>
                <a:r>
                  <a:rPr lang="en-US" dirty="0"/>
                  <a:t> with </a:t>
                </a:r>
                <a14:m>
                  <m:oMath xmlns:m="http://schemas.openxmlformats.org/officeDocument/2006/math">
                    <m:f>
                      <m:fPr>
                        <m:ctrlPr>
                          <a:rPr lang="en-US" i="1">
                            <a:latin typeface="Cambria Math" panose="02040503050406030204" pitchFamily="18" charset="0"/>
                          </a:rPr>
                        </m:ctrlPr>
                      </m:fPr>
                      <m:num>
                        <m:r>
                          <a:rPr lang="en-US" b="0" i="1" smtClean="0">
                            <a:latin typeface="Cambria Math" panose="02040503050406030204" pitchFamily="18" charset="0"/>
                          </a:rPr>
                          <m:t> </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𝑔</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𝑚</m:t>
                        </m:r>
                        <m:r>
                          <a:rPr lang="en-US" i="1">
                            <a:latin typeface="Cambria Math" panose="02040503050406030204" pitchFamily="18" charset="0"/>
                            <a:ea typeface="Cambria Math" panose="02040503050406030204" pitchFamily="18" charset="0"/>
                          </a:rPr>
                          <m:t>)</m:t>
                        </m:r>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𝑚</m:t>
                        </m:r>
                      </m:den>
                    </m:f>
                    <m:r>
                      <a:rPr lang="en-US" i="1">
                        <a:latin typeface="Cambria Math" panose="02040503050406030204" pitchFamily="18" charset="0"/>
                      </a:rPr>
                      <m:t>=</m:t>
                    </m:r>
                    <m:r>
                      <a:rPr lang="en-US" b="0" i="1" smtClean="0">
                        <a:latin typeface="Cambria Math" panose="02040503050406030204" pitchFamily="18" charset="0"/>
                      </a:rPr>
                      <m:t>𝐾</m:t>
                    </m:r>
                  </m:oMath>
                </a14:m>
                <a:r>
                  <a:rPr lang="en-US" dirty="0"/>
                  <a:t> , so that</a:t>
                </a:r>
              </a:p>
            </p:txBody>
          </p:sp>
        </mc:Choice>
        <mc:Fallback xmlns="">
          <p:sp>
            <p:nvSpPr>
              <p:cNvPr id="16" name="TextBox 15">
                <a:extLst>
                  <a:ext uri="{FF2B5EF4-FFF2-40B4-BE49-F238E27FC236}">
                    <a16:creationId xmlns:a16="http://schemas.microsoft.com/office/drawing/2014/main" id="{B2AFED13-657E-324B-B9F5-4F66D990A269}"/>
                  </a:ext>
                </a:extLst>
              </p:cNvPr>
              <p:cNvSpPr txBox="1">
                <a:spLocks noRot="1" noChangeAspect="1" noMove="1" noResize="1" noEditPoints="1" noAdjustHandles="1" noChangeArrowheads="1" noChangeShapeType="1" noTextEdit="1"/>
              </p:cNvSpPr>
              <p:nvPr/>
            </p:nvSpPr>
            <p:spPr>
              <a:xfrm>
                <a:off x="1153080" y="4972376"/>
                <a:ext cx="9762544" cy="499560"/>
              </a:xfrm>
              <a:prstGeom prst="rect">
                <a:avLst/>
              </a:prstGeom>
              <a:blipFill>
                <a:blip r:embed="rId7"/>
                <a:stretch>
                  <a:fillRect l="-499" b="-7317"/>
                </a:stretch>
              </a:blipFill>
            </p:spPr>
            <p:txBody>
              <a:bodyPr/>
              <a:lstStyle/>
              <a:p>
                <a:r>
                  <a:rPr lang="en-US">
                    <a:noFill/>
                  </a:rPr>
                  <a:t> </a:t>
                </a:r>
              </a:p>
            </p:txBody>
          </p:sp>
        </mc:Fallback>
      </mc:AlternateContent>
    </p:spTree>
    <p:extLst>
      <p:ext uri="{BB962C8B-B14F-4D97-AF65-F5344CB8AC3E}">
        <p14:creationId xmlns:p14="http://schemas.microsoft.com/office/powerpoint/2010/main" val="140515992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B9605-A5C0-4345-A787-30FA23F70276}"/>
              </a:ext>
            </a:extLst>
          </p:cNvPr>
          <p:cNvSpPr>
            <a:spLocks noGrp="1"/>
          </p:cNvSpPr>
          <p:nvPr>
            <p:ph type="title"/>
          </p:nvPr>
        </p:nvSpPr>
        <p:spPr/>
        <p:txBody>
          <a:bodyPr>
            <a:normAutofit fontScale="90000"/>
          </a:bodyPr>
          <a:lstStyle/>
          <a:p>
            <a:r>
              <a:rPr lang="en-US" altLang="en-US" dirty="0">
                <a:solidFill>
                  <a:schemeClr val="bg1"/>
                </a:solidFill>
                <a:latin typeface="Arial" panose="020B0604020202020204" pitchFamily="34" charset="0"/>
                <a:cs typeface="Arial" panose="020B0604020202020204" pitchFamily="34" charset="0"/>
              </a:rPr>
              <a:t>IMPACT ON POWER OF INCREASING THE NUMBER OF CLUSTERS VS. INCREASING CLUSTER SIZE:</a:t>
            </a:r>
            <a:br>
              <a:rPr lang="en-US" sz="2800" dirty="0">
                <a:solidFill>
                  <a:schemeClr val="bg1"/>
                </a:solidFill>
              </a:rPr>
            </a:br>
            <a:endParaRPr lang="en-US" dirty="0"/>
          </a:p>
        </p:txBody>
      </p:sp>
      <p:sp>
        <p:nvSpPr>
          <p:cNvPr id="4" name="Rectangle 3">
            <a:extLst>
              <a:ext uri="{FF2B5EF4-FFF2-40B4-BE49-F238E27FC236}">
                <a16:creationId xmlns:a16="http://schemas.microsoft.com/office/drawing/2014/main" id="{F745AB70-5A35-8F48-9024-857B688AEC2B}"/>
              </a:ext>
            </a:extLst>
          </p:cNvPr>
          <p:cNvSpPr/>
          <p:nvPr/>
        </p:nvSpPr>
        <p:spPr>
          <a:xfrm>
            <a:off x="0" y="-18029"/>
            <a:ext cx="12192000" cy="1537643"/>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600" dirty="0">
                <a:solidFill>
                  <a:schemeClr val="bg1"/>
                </a:solidFill>
                <a:latin typeface="Arial" panose="020B0604020202020204" pitchFamily="34" charset="0"/>
                <a:cs typeface="Arial" panose="020B0604020202020204" pitchFamily="34" charset="0"/>
              </a:rPr>
              <a:t>IMPACT ON POWER OF INCREASING THE NUMBER OF CLUSTERS VS. INCREASING CLUSTER SIZE:</a:t>
            </a:r>
            <a:endParaRPr lang="en-US" sz="2000" dirty="0">
              <a:solidFill>
                <a:schemeClr val="bg1"/>
              </a:solidFill>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4A77222-875C-9E44-A43F-D2F1479335F7}"/>
                  </a:ext>
                </a:extLst>
              </p:cNvPr>
              <p:cNvSpPr txBox="1"/>
              <p:nvPr/>
            </p:nvSpPr>
            <p:spPr>
              <a:xfrm>
                <a:off x="0" y="1902768"/>
                <a:ext cx="5792377" cy="4385816"/>
              </a:xfrm>
              <a:prstGeom prst="rect">
                <a:avLst/>
              </a:prstGeom>
              <a:noFill/>
            </p:spPr>
            <p:txBody>
              <a:bodyPr wrap="square" rtlCol="0">
                <a:spAutoFit/>
              </a:bodyPr>
              <a:lstStyle/>
              <a:p>
                <a:pPr>
                  <a:lnSpc>
                    <a:spcPts val="3360"/>
                  </a:lnSpc>
                </a:pPr>
                <a:r>
                  <a:rPr lang="en-US" sz="2400" dirty="0"/>
                  <a:t>We set </a:t>
                </a:r>
                <a14:m>
                  <m:oMath xmlns:m="http://schemas.openxmlformats.org/officeDocument/2006/math">
                    <m:r>
                      <a:rPr lang="en-US" sz="2400" i="1" dirty="0" smtClean="0">
                        <a:latin typeface="Cambria Math" panose="02040503050406030204" pitchFamily="18" charset="0"/>
                      </a:rPr>
                      <m:t>𝐾</m:t>
                    </m:r>
                  </m:oMath>
                </a14:m>
                <a:r>
                  <a:rPr lang="en-US" sz="2400" dirty="0"/>
                  <a:t>=60,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𝜎</m:t>
                        </m:r>
                      </m:e>
                      <m:sup>
                        <m:r>
                          <a:rPr lang="en-US" sz="2400" i="1">
                            <a:latin typeface="Cambria Math" panose="02040503050406030204" pitchFamily="18" charset="0"/>
                          </a:rPr>
                          <m:t>2</m:t>
                        </m:r>
                      </m:sup>
                    </m:sSup>
                    <m:r>
                      <a:rPr lang="en-US" sz="2400" i="1">
                        <a:latin typeface="Cambria Math" panose="02040503050406030204" pitchFamily="18" charset="0"/>
                      </a:rPr>
                      <m:t> </m:t>
                    </m:r>
                  </m:oMath>
                </a14:m>
                <a:r>
                  <a:rPr lang="en-US" sz="2400" dirty="0"/>
                  <a:t>=100, and we varied</a:t>
                </a:r>
              </a:p>
              <a:p>
                <a:pPr>
                  <a:lnSpc>
                    <a:spcPts val="3360"/>
                  </a:lnSpc>
                </a:pPr>
                <a:endParaRPr lang="en-US" sz="2400" dirty="0"/>
              </a:p>
              <a:p>
                <a:pPr>
                  <a:lnSpc>
                    <a:spcPts val="3360"/>
                  </a:lnSpc>
                </a:pPr>
                <a14:m>
                  <m:oMath xmlns:m="http://schemas.openxmlformats.org/officeDocument/2006/math">
                    <m:r>
                      <a:rPr lang="en-US" sz="2400" i="1">
                        <a:latin typeface="Cambria Math" panose="02040503050406030204" pitchFamily="18" charset="0"/>
                        <a:ea typeface="Cambria Math" panose="02040503050406030204" pitchFamily="18" charset="0"/>
                      </a:rPr>
                      <m:t>𝜌</m:t>
                    </m:r>
                    <m:r>
                      <a:rPr lang="en-US" sz="2400" i="1">
                        <a:latin typeface="Cambria Math" panose="02040503050406030204" pitchFamily="18" charset="0"/>
                        <a:ea typeface="Cambria Math" panose="02040503050406030204" pitchFamily="18" charset="0"/>
                      </a:rPr>
                      <m:t>=0.2</m:t>
                    </m:r>
                  </m:oMath>
                </a14:m>
                <a:r>
                  <a:rPr lang="en-US" sz="2400" dirty="0"/>
                  <a:t>, 0.4 and 0.6</a:t>
                </a:r>
              </a:p>
              <a:p>
                <a:pPr>
                  <a:lnSpc>
                    <a:spcPts val="3360"/>
                  </a:lnSpc>
                </a:pPr>
                <a:endParaRPr lang="en-US" sz="2400" dirty="0"/>
              </a:p>
              <a:p>
                <a:pPr>
                  <a:lnSpc>
                    <a:spcPts val="3360"/>
                  </a:lnSpc>
                </a:pPr>
                <a:r>
                  <a:rPr lang="en-US" sz="2400" dirty="0"/>
                  <a:t>and  </a:t>
                </a:r>
                <a14:m>
                  <m:oMath xmlns:m="http://schemas.openxmlformats.org/officeDocument/2006/math">
                    <m:r>
                      <a:rPr lang="en-US" sz="2400" i="1" dirty="0" smtClean="0">
                        <a:latin typeface="Cambria Math" panose="02040503050406030204" pitchFamily="18" charset="0"/>
                      </a:rPr>
                      <m:t>𝑚</m:t>
                    </m:r>
                  </m:oMath>
                </a14:m>
                <a:r>
                  <a:rPr lang="en-US" sz="2400" dirty="0"/>
                  <a:t> from 10 to 500.</a:t>
                </a:r>
              </a:p>
              <a:p>
                <a:pPr>
                  <a:lnSpc>
                    <a:spcPts val="3360"/>
                  </a:lnSpc>
                </a:pPr>
                <a:endParaRPr lang="en-US" sz="2400" dirty="0"/>
              </a:p>
              <a:p>
                <a:pPr>
                  <a:lnSpc>
                    <a:spcPts val="3360"/>
                  </a:lnSpc>
                </a:pPr>
                <a:r>
                  <a:rPr lang="en-US" sz="2300" dirty="0"/>
                  <a:t>W</a:t>
                </a:r>
                <a14:m>
                  <m:oMath xmlns:m="http://schemas.openxmlformats.org/officeDocument/2006/math">
                    <m:r>
                      <m:rPr>
                        <m:sty m:val="p"/>
                      </m:rPr>
                      <a:rPr lang="en-US" sz="2300" b="0" i="0" smtClean="0">
                        <a:latin typeface="Cambria Math" panose="02040503050406030204" pitchFamily="18" charset="0"/>
                      </a:rPr>
                      <m:t>e</m:t>
                    </m:r>
                    <m:r>
                      <a:rPr lang="en-US" sz="2300" b="0" i="0" smtClean="0">
                        <a:latin typeface="Cambria Math" panose="02040503050406030204" pitchFamily="18" charset="0"/>
                      </a:rPr>
                      <m:t> </m:t>
                    </m:r>
                    <m:r>
                      <m:rPr>
                        <m:sty m:val="p"/>
                      </m:rPr>
                      <a:rPr lang="en-US" sz="2300" b="0" i="0" smtClean="0">
                        <a:latin typeface="Cambria Math" panose="02040503050406030204" pitchFamily="18" charset="0"/>
                      </a:rPr>
                      <m:t>obtain</m:t>
                    </m:r>
                    <m:r>
                      <a:rPr lang="en-US" sz="2300" b="0" i="0" smtClean="0">
                        <a:latin typeface="Cambria Math" panose="02040503050406030204" pitchFamily="18" charset="0"/>
                      </a:rPr>
                      <m:t> </m:t>
                    </m:r>
                    <m:r>
                      <m:rPr>
                        <m:sty m:val="p"/>
                      </m:rPr>
                      <a:rPr lang="en-US" sz="2300" b="0" i="0" smtClean="0">
                        <a:latin typeface="Cambria Math" panose="02040503050406030204" pitchFamily="18" charset="0"/>
                      </a:rPr>
                      <m:t>the</m:t>
                    </m:r>
                    <m:r>
                      <a:rPr lang="en-US" sz="2300" b="0" i="0" smtClean="0">
                        <a:latin typeface="Cambria Math" panose="02040503050406030204" pitchFamily="18" charset="0"/>
                      </a:rPr>
                      <m:t> </m:t>
                    </m:r>
                    <m:r>
                      <m:rPr>
                        <m:sty m:val="p"/>
                      </m:rPr>
                      <a:rPr lang="en-US" sz="2300" b="0" i="0" smtClean="0">
                        <a:latin typeface="Cambria Math" panose="02040503050406030204" pitchFamily="18" charset="0"/>
                      </a:rPr>
                      <m:t>following</m:t>
                    </m:r>
                    <m:r>
                      <a:rPr lang="en-US" sz="2300" b="0" i="0" smtClean="0">
                        <a:latin typeface="Cambria Math" panose="02040503050406030204" pitchFamily="18" charset="0"/>
                      </a:rPr>
                      <m:t> </m:t>
                    </m:r>
                    <m:r>
                      <m:rPr>
                        <m:sty m:val="p"/>
                      </m:rPr>
                      <a:rPr lang="en-US" sz="2300" b="0" i="0" smtClean="0">
                        <a:latin typeface="Cambria Math" panose="02040503050406030204" pitchFamily="18" charset="0"/>
                      </a:rPr>
                      <m:t>graph</m:t>
                    </m:r>
                    <m:r>
                      <a:rPr lang="en-US" sz="2300" b="0" i="0" smtClean="0">
                        <a:latin typeface="Cambria Math" panose="02040503050406030204" pitchFamily="18" charset="0"/>
                      </a:rPr>
                      <m:t> </m:t>
                    </m:r>
                    <m:r>
                      <m:rPr>
                        <m:sty m:val="p"/>
                      </m:rPr>
                      <a:rPr lang="en-US" sz="2300" b="0" i="0" smtClean="0">
                        <a:latin typeface="Cambria Math" panose="02040503050406030204" pitchFamily="18" charset="0"/>
                      </a:rPr>
                      <m:t>for</m:t>
                    </m:r>
                    <m:r>
                      <a:rPr lang="en-US" sz="2300" b="0" i="0" smtClean="0">
                        <a:latin typeface="Cambria Math" panose="02040503050406030204" pitchFamily="18" charset="0"/>
                      </a:rPr>
                      <m:t> </m:t>
                    </m:r>
                    <m:r>
                      <m:rPr>
                        <m:nor/>
                      </m:rPr>
                      <a:rPr lang="en-US" sz="2300" i="0"/>
                      <m:t>Var</m:t>
                    </m:r>
                    <m:d>
                      <m:dPr>
                        <m:ctrlPr>
                          <a:rPr lang="en-US" sz="2300" i="1">
                            <a:latin typeface="Cambria Math" panose="02040503050406030204" pitchFamily="18" charset="0"/>
                          </a:rPr>
                        </m:ctrlPr>
                      </m:dPr>
                      <m:e>
                        <m:sSup>
                          <m:sSupPr>
                            <m:ctrlPr>
                              <a:rPr lang="en-US" sz="2300" i="1">
                                <a:latin typeface="Cambria Math" panose="02040503050406030204" pitchFamily="18" charset="0"/>
                                <a:ea typeface="Cambria Math" panose="02040503050406030204" pitchFamily="18" charset="0"/>
                              </a:rPr>
                            </m:ctrlPr>
                          </m:sSupPr>
                          <m:e>
                            <m:acc>
                              <m:accPr>
                                <m:chr m:val="̂"/>
                                <m:ctrlPr>
                                  <a:rPr lang="en-US" sz="2300" i="1">
                                    <a:latin typeface="Cambria Math" panose="02040503050406030204" pitchFamily="18" charset="0"/>
                                    <a:ea typeface="Cambria Math" panose="02040503050406030204" pitchFamily="18" charset="0"/>
                                  </a:rPr>
                                </m:ctrlPr>
                              </m:accPr>
                              <m:e>
                                <m:r>
                                  <a:rPr lang="en-US" sz="2300" i="1">
                                    <a:latin typeface="Cambria Math" panose="02040503050406030204" pitchFamily="18" charset="0"/>
                                    <a:ea typeface="Cambria Math" panose="02040503050406030204" pitchFamily="18" charset="0"/>
                                  </a:rPr>
                                  <m:t> </m:t>
                                </m:r>
                                <m:r>
                                  <a:rPr lang="en-US" sz="2300" i="1">
                                    <a:latin typeface="Cambria Math" panose="02040503050406030204" pitchFamily="18" charset="0"/>
                                    <a:ea typeface="Cambria Math" panose="02040503050406030204" pitchFamily="18" charset="0"/>
                                  </a:rPr>
                                  <m:t>𝛽</m:t>
                                </m:r>
                              </m:e>
                            </m:acc>
                          </m:e>
                          <m:sup>
                            <m:r>
                              <a:rPr lang="en-US" sz="2300" i="1">
                                <a:latin typeface="Cambria Math" panose="02040503050406030204" pitchFamily="18" charset="0"/>
                                <a:ea typeface="Cambria Math" panose="02040503050406030204" pitchFamily="18" charset="0"/>
                              </a:rPr>
                              <m:t>∗</m:t>
                            </m:r>
                          </m:sup>
                        </m:sSup>
                      </m:e>
                    </m:d>
                    <m:r>
                      <a:rPr lang="en-US" sz="2300" b="0" i="1" smtClean="0">
                        <a:latin typeface="Cambria Math" panose="02040503050406030204" pitchFamily="18" charset="0"/>
                      </a:rPr>
                      <m:t>,</m:t>
                    </m:r>
                  </m:oMath>
                </a14:m>
                <a:endParaRPr lang="en-US" sz="2300" b="0" dirty="0"/>
              </a:p>
              <a:p>
                <a:pPr>
                  <a:lnSpc>
                    <a:spcPts val="3360"/>
                  </a:lnSpc>
                </a:pPr>
                <a:r>
                  <a:rPr lang="en-US" sz="2300" dirty="0"/>
                  <a:t>using the limiting formula  </a:t>
                </a:r>
                <a14:m>
                  <m:oMath xmlns:m="http://schemas.openxmlformats.org/officeDocument/2006/math">
                    <m:f>
                      <m:fPr>
                        <m:ctrlPr>
                          <a:rPr lang="en-US" sz="2300" b="0" i="1" smtClean="0">
                            <a:latin typeface="Cambria Math" panose="02040503050406030204" pitchFamily="18" charset="0"/>
                          </a:rPr>
                        </m:ctrlPr>
                      </m:fPr>
                      <m:num>
                        <m:r>
                          <a:rPr lang="en-US" sz="2300" i="1">
                            <a:latin typeface="Cambria Math" panose="02040503050406030204" pitchFamily="18" charset="0"/>
                          </a:rPr>
                          <m:t>2</m:t>
                        </m:r>
                        <m:sSubSup>
                          <m:sSubSupPr>
                            <m:ctrlPr>
                              <a:rPr lang="en-US" sz="2300" i="1">
                                <a:latin typeface="Cambria Math" panose="02040503050406030204" pitchFamily="18" charset="0"/>
                              </a:rPr>
                            </m:ctrlPr>
                          </m:sSubSupPr>
                          <m:e>
                            <m:r>
                              <a:rPr lang="en-US" sz="2300" i="1">
                                <a:latin typeface="Cambria Math" panose="02040503050406030204" pitchFamily="18" charset="0"/>
                              </a:rPr>
                              <m:t>𝜎</m:t>
                            </m:r>
                          </m:e>
                          <m:sub>
                            <m:r>
                              <a:rPr lang="en-US" sz="2300" i="1">
                                <a:latin typeface="Cambria Math" panose="02040503050406030204" pitchFamily="18" charset="0"/>
                              </a:rPr>
                              <m:t>𝐵</m:t>
                            </m:r>
                          </m:sub>
                          <m:sup>
                            <m:r>
                              <a:rPr lang="en-US" sz="2300" i="1">
                                <a:latin typeface="Cambria Math" panose="02040503050406030204" pitchFamily="18" charset="0"/>
                              </a:rPr>
                              <m:t>2</m:t>
                            </m:r>
                          </m:sup>
                        </m:sSubSup>
                      </m:num>
                      <m:den>
                        <m:r>
                          <a:rPr lang="en-US" sz="2300" b="0" i="1" smtClean="0">
                            <a:latin typeface="Cambria Math" panose="02040503050406030204" pitchFamily="18" charset="0"/>
                          </a:rPr>
                          <m:t>𝐾</m:t>
                        </m:r>
                      </m:den>
                    </m:f>
                  </m:oMath>
                </a14:m>
                <a:r>
                  <a:rPr lang="en-US" sz="2300" dirty="0"/>
                  <a:t> derived on slide 37</a:t>
                </a:r>
              </a:p>
              <a:p>
                <a:r>
                  <a:rPr lang="en-US" sz="2400" dirty="0"/>
                  <a:t> </a:t>
                </a:r>
              </a:p>
            </p:txBody>
          </p:sp>
        </mc:Choice>
        <mc:Fallback xmlns="">
          <p:sp>
            <p:nvSpPr>
              <p:cNvPr id="12" name="TextBox 11">
                <a:extLst>
                  <a:ext uri="{FF2B5EF4-FFF2-40B4-BE49-F238E27FC236}">
                    <a16:creationId xmlns:a16="http://schemas.microsoft.com/office/drawing/2014/main" id="{D4A77222-875C-9E44-A43F-D2F1479335F7}"/>
                  </a:ext>
                </a:extLst>
              </p:cNvPr>
              <p:cNvSpPr txBox="1">
                <a:spLocks noRot="1" noChangeAspect="1" noMove="1" noResize="1" noEditPoints="1" noAdjustHandles="1" noChangeArrowheads="1" noChangeShapeType="1" noTextEdit="1"/>
              </p:cNvSpPr>
              <p:nvPr/>
            </p:nvSpPr>
            <p:spPr>
              <a:xfrm>
                <a:off x="0" y="1902768"/>
                <a:ext cx="5792377" cy="4385816"/>
              </a:xfrm>
              <a:prstGeom prst="rect">
                <a:avLst/>
              </a:prstGeom>
              <a:blipFill>
                <a:blip r:embed="rId3"/>
                <a:stretch>
                  <a:fillRect l="-1579" t="-139"/>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C5B2B57D-BD88-5142-8740-927E16690E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04067C-7FB1-F76A-1323-DA54D8D534CE}"/>
              </a:ext>
            </a:extLst>
          </p:cNvPr>
          <p:cNvSpPr>
            <a:spLocks noGrp="1"/>
          </p:cNvSpPr>
          <p:nvPr>
            <p:ph type="sldNum" sz="quarter" idx="12"/>
          </p:nvPr>
        </p:nvSpPr>
        <p:spPr/>
        <p:txBody>
          <a:bodyPr/>
          <a:lstStyle/>
          <a:p>
            <a:fld id="{77C6A7FE-225D-49F1-B302-AA37EA92BB49}" type="slidenum">
              <a:rPr lang="en-US" smtClean="0"/>
              <a:t>40</a:t>
            </a:fld>
            <a:endParaRPr lang="en-US"/>
          </a:p>
        </p:txBody>
      </p:sp>
      <p:pic>
        <p:nvPicPr>
          <p:cNvPr id="7" name="Picture 6" descr="A graph of a graph with different colored lines&#10;&#10;AI-generated content may be incorrect.">
            <a:extLst>
              <a:ext uri="{FF2B5EF4-FFF2-40B4-BE49-F238E27FC236}">
                <a16:creationId xmlns:a16="http://schemas.microsoft.com/office/drawing/2014/main" id="{A08C1F4D-8608-4E69-E51E-B1D92D5B7FDA}"/>
              </a:ext>
            </a:extLst>
          </p:cNvPr>
          <p:cNvPicPr>
            <a:picLocks noChangeAspect="1"/>
          </p:cNvPicPr>
          <p:nvPr/>
        </p:nvPicPr>
        <p:blipFill>
          <a:blip r:embed="rId4"/>
          <a:stretch>
            <a:fillRect/>
          </a:stretch>
        </p:blipFill>
        <p:spPr>
          <a:xfrm>
            <a:off x="6013663" y="1587380"/>
            <a:ext cx="5340137" cy="4643523"/>
          </a:xfrm>
          <a:prstGeom prst="rect">
            <a:avLst/>
          </a:prstGeom>
        </p:spPr>
      </p:pic>
    </p:spTree>
    <p:extLst>
      <p:ext uri="{BB962C8B-B14F-4D97-AF65-F5344CB8AC3E}">
        <p14:creationId xmlns:p14="http://schemas.microsoft.com/office/powerpoint/2010/main" val="536913475"/>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B9605-A5C0-4345-A787-30FA23F70276}"/>
              </a:ext>
            </a:extLst>
          </p:cNvPr>
          <p:cNvSpPr>
            <a:spLocks noGrp="1"/>
          </p:cNvSpPr>
          <p:nvPr>
            <p:ph type="title"/>
          </p:nvPr>
        </p:nvSpPr>
        <p:spPr/>
        <p:txBody>
          <a:bodyPr>
            <a:normAutofit fontScale="90000"/>
          </a:bodyPr>
          <a:lstStyle/>
          <a:p>
            <a:r>
              <a:rPr lang="en-US" altLang="en-US" dirty="0">
                <a:solidFill>
                  <a:schemeClr val="bg1"/>
                </a:solidFill>
                <a:latin typeface="Arial" panose="020B0604020202020204" pitchFamily="34" charset="0"/>
                <a:cs typeface="Arial" panose="020B0604020202020204" pitchFamily="34" charset="0"/>
              </a:rPr>
              <a:t>IMPACT ON POWER OF INCREASING THE NUMBER OF CLUSTERS VS. INCREASING CLUSTER SIZE:</a:t>
            </a:r>
            <a:br>
              <a:rPr lang="en-US" sz="2800" dirty="0">
                <a:solidFill>
                  <a:schemeClr val="bg1"/>
                </a:solidFill>
              </a:rPr>
            </a:br>
            <a:endParaRPr lang="en-US" dirty="0"/>
          </a:p>
        </p:txBody>
      </p:sp>
      <p:sp>
        <p:nvSpPr>
          <p:cNvPr id="4" name="Rectangle 3">
            <a:extLst>
              <a:ext uri="{FF2B5EF4-FFF2-40B4-BE49-F238E27FC236}">
                <a16:creationId xmlns:a16="http://schemas.microsoft.com/office/drawing/2014/main" id="{F745AB70-5A35-8F48-9024-857B688AEC2B}"/>
              </a:ext>
            </a:extLst>
          </p:cNvPr>
          <p:cNvSpPr/>
          <p:nvPr/>
        </p:nvSpPr>
        <p:spPr>
          <a:xfrm>
            <a:off x="0" y="-18029"/>
            <a:ext cx="12192000" cy="1537643"/>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600" dirty="0">
                <a:solidFill>
                  <a:schemeClr val="bg1"/>
                </a:solidFill>
                <a:latin typeface="Arial" panose="020B0604020202020204" pitchFamily="34" charset="0"/>
                <a:cs typeface="Arial" panose="020B0604020202020204" pitchFamily="34" charset="0"/>
              </a:rPr>
              <a:t>IMPACT ON POWER OF INCREASING THE NUMBER OF CLUSTERS VS. INCREASING CLUSTER SIZE:</a:t>
            </a:r>
            <a:endParaRPr lang="en-US" sz="2000" dirty="0">
              <a:solidFill>
                <a:schemeClr val="bg1"/>
              </a:solidFill>
            </a:endParaRPr>
          </a:p>
        </p:txBody>
      </p:sp>
      <mc:AlternateContent xmlns:mc="http://schemas.openxmlformats.org/markup-compatibility/2006" xmlns:a14="http://schemas.microsoft.com/office/drawing/2010/main">
        <mc:Choice Requires="a14">
          <p:graphicFrame>
            <p:nvGraphicFramePr>
              <p:cNvPr id="7" name="Table 11">
                <a:extLst>
                  <a:ext uri="{FF2B5EF4-FFF2-40B4-BE49-F238E27FC236}">
                    <a16:creationId xmlns:a16="http://schemas.microsoft.com/office/drawing/2014/main" id="{9AFFB6F8-CDB0-4323-9037-4E673EC6ADDF}"/>
                  </a:ext>
                </a:extLst>
              </p:cNvPr>
              <p:cNvGraphicFramePr>
                <a:graphicFrameLocks/>
              </p:cNvGraphicFramePr>
              <p:nvPr>
                <p:extLst>
                  <p:ext uri="{D42A27DB-BD31-4B8C-83A1-F6EECF244321}">
                    <p14:modId xmlns:p14="http://schemas.microsoft.com/office/powerpoint/2010/main" val="1292515402"/>
                  </p:ext>
                </p:extLst>
              </p:nvPr>
            </p:nvGraphicFramePr>
            <p:xfrm>
              <a:off x="332509" y="2673304"/>
              <a:ext cx="10623160" cy="3511972"/>
            </p:xfrm>
            <a:graphic>
              <a:graphicData uri="http://schemas.openxmlformats.org/drawingml/2006/table">
                <a:tbl>
                  <a:tblPr firstRow="1" bandRow="1">
                    <a:tableStyleId>{5C22544A-7EE6-4342-B048-85BDC9FD1C3A}</a:tableStyleId>
                  </a:tblPr>
                  <a:tblGrid>
                    <a:gridCol w="997527">
                      <a:extLst>
                        <a:ext uri="{9D8B030D-6E8A-4147-A177-3AD203B41FA5}">
                          <a16:colId xmlns:a16="http://schemas.microsoft.com/office/drawing/2014/main" val="1642128464"/>
                        </a:ext>
                      </a:extLst>
                    </a:gridCol>
                    <a:gridCol w="415440">
                      <a:extLst>
                        <a:ext uri="{9D8B030D-6E8A-4147-A177-3AD203B41FA5}">
                          <a16:colId xmlns:a16="http://schemas.microsoft.com/office/drawing/2014/main" val="2605427750"/>
                        </a:ext>
                      </a:extLst>
                    </a:gridCol>
                    <a:gridCol w="282829">
                      <a:extLst>
                        <a:ext uri="{9D8B030D-6E8A-4147-A177-3AD203B41FA5}">
                          <a16:colId xmlns:a16="http://schemas.microsoft.com/office/drawing/2014/main" val="3249230402"/>
                        </a:ext>
                      </a:extLst>
                    </a:gridCol>
                    <a:gridCol w="873832">
                      <a:extLst>
                        <a:ext uri="{9D8B030D-6E8A-4147-A177-3AD203B41FA5}">
                          <a16:colId xmlns:a16="http://schemas.microsoft.com/office/drawing/2014/main" val="2432050778"/>
                        </a:ext>
                      </a:extLst>
                    </a:gridCol>
                    <a:gridCol w="1113939">
                      <a:extLst>
                        <a:ext uri="{9D8B030D-6E8A-4147-A177-3AD203B41FA5}">
                          <a16:colId xmlns:a16="http://schemas.microsoft.com/office/drawing/2014/main" val="2346584309"/>
                        </a:ext>
                      </a:extLst>
                    </a:gridCol>
                    <a:gridCol w="1260386">
                      <a:extLst>
                        <a:ext uri="{9D8B030D-6E8A-4147-A177-3AD203B41FA5}">
                          <a16:colId xmlns:a16="http://schemas.microsoft.com/office/drawing/2014/main" val="4022634549"/>
                        </a:ext>
                      </a:extLst>
                    </a:gridCol>
                    <a:gridCol w="1893069">
                      <a:extLst>
                        <a:ext uri="{9D8B030D-6E8A-4147-A177-3AD203B41FA5}">
                          <a16:colId xmlns:a16="http://schemas.microsoft.com/office/drawing/2014/main" val="3444306483"/>
                        </a:ext>
                      </a:extLst>
                    </a:gridCol>
                    <a:gridCol w="1893069">
                      <a:extLst>
                        <a:ext uri="{9D8B030D-6E8A-4147-A177-3AD203B41FA5}">
                          <a16:colId xmlns:a16="http://schemas.microsoft.com/office/drawing/2014/main" val="3045236109"/>
                        </a:ext>
                      </a:extLst>
                    </a:gridCol>
                    <a:gridCol w="1893069">
                      <a:extLst>
                        <a:ext uri="{9D8B030D-6E8A-4147-A177-3AD203B41FA5}">
                          <a16:colId xmlns:a16="http://schemas.microsoft.com/office/drawing/2014/main" val="3537955927"/>
                        </a:ext>
                      </a:extLst>
                    </a:gridCol>
                  </a:tblGrid>
                  <a:tr h="435991">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𝑚</m:t>
                                </m:r>
                              </m:oMath>
                            </m:oMathPara>
                          </a14:m>
                          <a:endParaRPr lang="en-US" dirty="0"/>
                        </a:p>
                      </a:txBody>
                      <a:tcPr/>
                    </a:tc>
                    <a:tc>
                      <a:txBody>
                        <a:bodyPr/>
                        <a:lstStyle/>
                        <a:p>
                          <a:pPr algn="ctr"/>
                          <a:r>
                            <a:rPr lang="en-US" dirty="0"/>
                            <a:t>2</a:t>
                          </a:r>
                        </a:p>
                      </a:txBody>
                      <a:tcPr/>
                    </a:tc>
                    <a:tc gridSpan="2">
                      <a:txBody>
                        <a:bodyPr/>
                        <a:lstStyle/>
                        <a:p>
                          <a:pPr algn="ctr"/>
                          <a:r>
                            <a:rPr lang="en-US" dirty="0"/>
                            <a:t>5</a:t>
                          </a:r>
                        </a:p>
                      </a:txBody>
                      <a:tcPr/>
                    </a:tc>
                    <a:tc hMerge="1">
                      <a:txBody>
                        <a:bodyPr/>
                        <a:lstStyle/>
                        <a:p>
                          <a:pPr algn="ctr"/>
                          <a:endParaRPr lang="en-US" dirty="0"/>
                        </a:p>
                      </a:txBody>
                      <a:tcPr/>
                    </a:tc>
                    <a:tc>
                      <a:txBody>
                        <a:bodyPr/>
                        <a:lstStyle/>
                        <a:p>
                          <a:pPr algn="ctr"/>
                          <a:r>
                            <a:rPr lang="en-US" dirty="0"/>
                            <a:t>20</a:t>
                          </a:r>
                        </a:p>
                      </a:txBody>
                      <a:tcPr/>
                    </a:tc>
                    <a:tc>
                      <a:txBody>
                        <a:bodyPr/>
                        <a:lstStyle/>
                        <a:p>
                          <a:pPr algn="ctr"/>
                          <a:r>
                            <a:rPr lang="en-US" dirty="0"/>
                            <a:t>50</a:t>
                          </a:r>
                        </a:p>
                      </a:txBody>
                      <a:tcPr/>
                    </a:tc>
                    <a:tc>
                      <a:txBody>
                        <a:bodyPr/>
                        <a:lstStyle/>
                        <a:p>
                          <a:pPr algn="ctr"/>
                          <a:r>
                            <a:rPr lang="en-US" dirty="0"/>
                            <a:t>200</a:t>
                          </a:r>
                        </a:p>
                      </a:txBody>
                      <a:tcPr/>
                    </a:tc>
                    <a:tc>
                      <a:txBody>
                        <a:bodyPr/>
                        <a:lstStyle/>
                        <a:p>
                          <a:pPr algn="ctr"/>
                          <a:r>
                            <a:rPr lang="en-US" dirty="0"/>
                            <a:t>500</a:t>
                          </a:r>
                        </a:p>
                      </a:txBody>
                      <a:tcPr/>
                    </a:tc>
                    <a:tc>
                      <a:txBody>
                        <a:bodyPr/>
                        <a:lstStyle/>
                        <a:p>
                          <a:pPr algn="ctr"/>
                          <a:r>
                            <a:rPr lang="en-US" dirty="0"/>
                            <a:t>2000</a:t>
                          </a:r>
                        </a:p>
                      </a:txBody>
                      <a:tcPr/>
                    </a:tc>
                    <a:extLst>
                      <a:ext uri="{0D108BD9-81ED-4DB2-BD59-A6C34878D82A}">
                        <a16:rowId xmlns:a16="http://schemas.microsoft.com/office/drawing/2014/main" val="3513198017"/>
                      </a:ext>
                    </a:extLst>
                  </a:tr>
                  <a:tr h="552082">
                    <a:tc gridSpan="9">
                      <a:txBody>
                        <a:bodyPr/>
                        <a:lstStyle/>
                        <a:p>
                          <a:pPr algn="ctr"/>
                          <a14:m>
                            <m:oMath xmlns:m="http://schemas.openxmlformats.org/officeDocument/2006/math">
                              <m:r>
                                <a:rPr lang="en-US" sz="1800" i="1" smtClean="0">
                                  <a:latin typeface="Cambria Math" panose="02040503050406030204" pitchFamily="18" charset="0"/>
                                  <a:ea typeface="Cambria Math" panose="02040503050406030204" pitchFamily="18" charset="0"/>
                                </a:rPr>
                                <m:t>𝜌</m:t>
                              </m:r>
                              <m:r>
                                <a:rPr lang="en-US" sz="1800" b="0" i="1" smtClean="0">
                                  <a:latin typeface="Cambria Math" panose="02040503050406030204" pitchFamily="18" charset="0"/>
                                  <a:ea typeface="Cambria Math" panose="02040503050406030204" pitchFamily="18" charset="0"/>
                                </a:rPr>
                                <m:t>=0.2 </m:t>
                              </m:r>
                              <m:r>
                                <a:rPr lang="en-US" sz="1800" b="0" i="1" smtClean="0">
                                  <a:latin typeface="Cambria Math" panose="02040503050406030204" pitchFamily="18" charset="0"/>
                                  <a:ea typeface="Cambria Math" panose="02040503050406030204" pitchFamily="18" charset="0"/>
                                </a:rPr>
                                <m:t>𝑎𝑛𝑑</m:t>
                              </m:r>
                              <m:r>
                                <a:rPr lang="en-US" sz="1800" b="0" i="1" smtClean="0">
                                  <a:latin typeface="Cambria Math" panose="02040503050406030204" pitchFamily="18" charset="0"/>
                                  <a:ea typeface="Cambria Math" panose="02040503050406030204" pitchFamily="18" charset="0"/>
                                </a:rPr>
                                <m:t> </m:t>
                              </m:r>
                              <m:func>
                                <m:funcPr>
                                  <m:ctrlPr>
                                    <a:rPr lang="en-US" sz="1800" i="1" smtClean="0">
                                      <a:latin typeface="Cambria Math" panose="02040503050406030204" pitchFamily="18" charset="0"/>
                                    </a:rPr>
                                  </m:ctrlPr>
                                </m:funcPr>
                                <m:fName>
                                  <m:limLow>
                                    <m:limLowPr>
                                      <m:ctrlPr>
                                        <a:rPr lang="en-US" sz="1800" i="1" smtClean="0">
                                          <a:latin typeface="Cambria Math" panose="02040503050406030204" pitchFamily="18" charset="0"/>
                                        </a:rPr>
                                      </m:ctrlPr>
                                    </m:limLowPr>
                                    <m:e>
                                      <m:r>
                                        <m:rPr>
                                          <m:sty m:val="p"/>
                                        </m:rPr>
                                        <a:rPr lang="en-US" sz="1800" i="0" smtClean="0">
                                          <a:latin typeface="Cambria Math" panose="02040503050406030204" pitchFamily="18" charset="0"/>
                                        </a:rPr>
                                        <m:t>lim</m:t>
                                      </m:r>
                                    </m:e>
                                    <m:lim>
                                      <m:r>
                                        <a:rPr lang="en-US" sz="1800" i="1">
                                          <a:latin typeface="Cambria Math" panose="02040503050406030204" pitchFamily="18" charset="0"/>
                                        </a:rPr>
                                        <m:t>𝑚</m:t>
                                      </m:r>
                                      <m:r>
                                        <a:rPr lang="en-US" sz="1800" i="1">
                                          <a:latin typeface="Cambria Math" panose="02040503050406030204" pitchFamily="18" charset="0"/>
                                        </a:rPr>
                                        <m:t>→∞</m:t>
                                      </m:r>
                                    </m:lim>
                                  </m:limLow>
                                </m:fName>
                                <m:e>
                                  <m:r>
                                    <m:rPr>
                                      <m:nor/>
                                    </m:rPr>
                                    <a:rPr lang="en-US" sz="1800" i="0">
                                      <a:latin typeface="Cambria Math" panose="02040503050406030204" pitchFamily="18" charset="0"/>
                                    </a:rPr>
                                    <m:t>Var</m:t>
                                  </m:r>
                                  <m:d>
                                    <m:dPr>
                                      <m:ctrlPr>
                                        <a:rPr lang="en-US" sz="1800" i="1">
                                          <a:latin typeface="Cambria Math" panose="02040503050406030204" pitchFamily="18" charset="0"/>
                                        </a:rPr>
                                      </m:ctrlPr>
                                    </m:dPr>
                                    <m:e>
                                      <m:sSup>
                                        <m:sSupPr>
                                          <m:ctrlPr>
                                            <a:rPr lang="en-US" sz="1800" i="1" smtClean="0">
                                              <a:latin typeface="Cambria Math" panose="02040503050406030204" pitchFamily="18" charset="0"/>
                                              <a:ea typeface="Cambria Math" panose="02040503050406030204" pitchFamily="18" charset="0"/>
                                            </a:rPr>
                                          </m:ctrlPr>
                                        </m:sSupPr>
                                        <m:e>
                                          <m:acc>
                                            <m:accPr>
                                              <m:chr m:val="̂"/>
                                              <m:ctrlPr>
                                                <a:rPr lang="en-US" sz="1800" i="1" smtClean="0">
                                                  <a:latin typeface="Cambria Math" panose="02040503050406030204" pitchFamily="18" charset="0"/>
                                                  <a:ea typeface="Cambria Math" panose="02040503050406030204" pitchFamily="18" charset="0"/>
                                                </a:rPr>
                                              </m:ctrlPr>
                                            </m:accPr>
                                            <m:e>
                                              <m:r>
                                                <a:rPr lang="en-US" sz="1800" b="0" i="1" smtClean="0">
                                                  <a:latin typeface="Cambria Math" panose="02040503050406030204" pitchFamily="18" charset="0"/>
                                                  <a:ea typeface="Cambria Math" panose="02040503050406030204" pitchFamily="18" charset="0"/>
                                                </a:rPr>
                                                <m:t> </m:t>
                                              </m:r>
                                              <m:r>
                                                <a:rPr lang="en-US" sz="1800" i="1">
                                                  <a:latin typeface="Cambria Math" panose="02040503050406030204" pitchFamily="18" charset="0"/>
                                                  <a:ea typeface="Cambria Math" panose="02040503050406030204" pitchFamily="18" charset="0"/>
                                                </a:rPr>
                                                <m:t>𝛽</m:t>
                                              </m:r>
                                            </m:e>
                                          </m:acc>
                                          <m:r>
                                            <m:rPr>
                                              <m:nor/>
                                            </m:rPr>
                                            <a:rPr lang="en-US" sz="1800" i="0" dirty="0"/>
                                            <m:t> </m:t>
                                          </m:r>
                                        </m:e>
                                        <m:sup>
                                          <m:r>
                                            <a:rPr lang="en-US" sz="1800" i="1">
                                              <a:latin typeface="Cambria Math" panose="02040503050406030204" pitchFamily="18" charset="0"/>
                                              <a:ea typeface="Cambria Math" panose="02040503050406030204" pitchFamily="18" charset="0"/>
                                            </a:rPr>
                                            <m:t>∗</m:t>
                                          </m:r>
                                        </m:sup>
                                      </m:sSup>
                                    </m:e>
                                  </m:d>
                                </m:e>
                              </m:func>
                            </m:oMath>
                          </a14:m>
                          <a:r>
                            <a:rPr lang="en-US" dirty="0"/>
                            <a:t>=0.667</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54117351"/>
                      </a:ext>
                    </a:extLst>
                  </a:tr>
                  <a:tr h="473245">
                    <a:tc>
                      <a:txBody>
                        <a:bodyPr/>
                        <a:lstStyle/>
                        <a:p>
                          <a:pPr algn="ctr"/>
                          <a14:m>
                            <m:oMathPara xmlns:m="http://schemas.openxmlformats.org/officeDocument/2006/math">
                              <m:oMathParaPr>
                                <m:jc m:val="centerGroup"/>
                              </m:oMathParaPr>
                              <m:oMath xmlns:m="http://schemas.openxmlformats.org/officeDocument/2006/math">
                                <m:r>
                                  <m:rPr>
                                    <m:nor/>
                                  </m:rPr>
                                  <a:rPr lang="en-US" sz="1800" i="0" smtClean="0">
                                    <a:solidFill>
                                      <a:schemeClr val="tx1"/>
                                    </a:solidFill>
                                    <a:latin typeface="Cambria Math" panose="02040503050406030204" pitchFamily="18" charset="0"/>
                                  </a:rPr>
                                  <m:t>Var</m:t>
                                </m:r>
                                <m:d>
                                  <m:dPr>
                                    <m:ctrlPr>
                                      <a:rPr lang="en-US" sz="1800" i="1">
                                        <a:solidFill>
                                          <a:schemeClr val="tx1"/>
                                        </a:solidFill>
                                        <a:latin typeface="Cambria Math" panose="02040503050406030204" pitchFamily="18" charset="0"/>
                                      </a:rPr>
                                    </m:ctrlPr>
                                  </m:dPr>
                                  <m:e>
                                    <m:sSup>
                                      <m:sSupPr>
                                        <m:ctrlPr>
                                          <a:rPr lang="en-US" sz="1800" i="1" smtClean="0">
                                            <a:latin typeface="Cambria Math" panose="02040503050406030204" pitchFamily="18" charset="0"/>
                                            <a:ea typeface="Cambria Math" panose="02040503050406030204" pitchFamily="18" charset="0"/>
                                          </a:rPr>
                                        </m:ctrlPr>
                                      </m:sSupPr>
                                      <m:e>
                                        <m:acc>
                                          <m:accPr>
                                            <m:chr m:val="̂"/>
                                            <m:ctrlPr>
                                              <a:rPr lang="en-US" sz="1800" i="1" smtClean="0">
                                                <a:latin typeface="Cambria Math" panose="02040503050406030204" pitchFamily="18" charset="0"/>
                                                <a:ea typeface="Cambria Math" panose="02040503050406030204" pitchFamily="18" charset="0"/>
                                              </a:rPr>
                                            </m:ctrlPr>
                                          </m:accPr>
                                          <m:e>
                                            <m:r>
                                              <a:rPr lang="en-US" sz="1800" b="0" i="1" smtClean="0">
                                                <a:latin typeface="Cambria Math" panose="02040503050406030204" pitchFamily="18" charset="0"/>
                                                <a:ea typeface="Cambria Math" panose="02040503050406030204" pitchFamily="18" charset="0"/>
                                              </a:rPr>
                                              <m:t> </m:t>
                                            </m:r>
                                            <m:r>
                                              <a:rPr lang="en-US" sz="1800" i="1">
                                                <a:latin typeface="Cambria Math" panose="02040503050406030204" pitchFamily="18" charset="0"/>
                                                <a:ea typeface="Cambria Math" panose="02040503050406030204" pitchFamily="18" charset="0"/>
                                              </a:rPr>
                                              <m:t>𝛽</m:t>
                                            </m:r>
                                          </m:e>
                                        </m:acc>
                                        <m:r>
                                          <m:rPr>
                                            <m:nor/>
                                          </m:rPr>
                                          <a:rPr lang="en-US" sz="1800" i="0" dirty="0"/>
                                          <m:t> </m:t>
                                        </m:r>
                                      </m:e>
                                      <m:sup>
                                        <m:r>
                                          <a:rPr lang="en-US" sz="1800" i="1">
                                            <a:latin typeface="Cambria Math" panose="02040503050406030204" pitchFamily="18" charset="0"/>
                                            <a:ea typeface="Cambria Math" panose="02040503050406030204" pitchFamily="18" charset="0"/>
                                          </a:rPr>
                                          <m:t>∗</m:t>
                                        </m:r>
                                      </m:sup>
                                    </m:sSup>
                                  </m:e>
                                </m:d>
                              </m:oMath>
                            </m:oMathPara>
                          </a14:m>
                          <a:endParaRPr lang="en-US" dirty="0"/>
                        </a:p>
                      </a:txBody>
                      <a:tcPr/>
                    </a:tc>
                    <a:tc gridSpan="2">
                      <a:txBody>
                        <a:bodyPr/>
                        <a:lstStyle/>
                        <a:p>
                          <a:pPr algn="ctr"/>
                          <a:r>
                            <a:rPr lang="en-US" dirty="0"/>
                            <a:t>2</a:t>
                          </a:r>
                        </a:p>
                      </a:txBody>
                      <a:tcPr/>
                    </a:tc>
                    <a:tc hMerge="1">
                      <a:txBody>
                        <a:bodyPr/>
                        <a:lstStyle/>
                        <a:p>
                          <a:pPr algn="ctr"/>
                          <a:r>
                            <a:rPr lang="en-US" dirty="0"/>
                            <a:t>1.2</a:t>
                          </a:r>
                        </a:p>
                      </a:txBody>
                      <a:tcPr/>
                    </a:tc>
                    <a:tc>
                      <a:txBody>
                        <a:bodyPr/>
                        <a:lstStyle/>
                        <a:p>
                          <a:pPr algn="ctr"/>
                          <a:r>
                            <a:rPr lang="en-US" dirty="0"/>
                            <a:t>1.2</a:t>
                          </a:r>
                        </a:p>
                      </a:txBody>
                      <a:tcPr/>
                    </a:tc>
                    <a:tc>
                      <a:txBody>
                        <a:bodyPr/>
                        <a:lstStyle/>
                        <a:p>
                          <a:pPr algn="ctr"/>
                          <a:r>
                            <a:rPr lang="en-US" dirty="0"/>
                            <a:t>0.8</a:t>
                          </a:r>
                        </a:p>
                      </a:txBody>
                      <a:tcPr/>
                    </a:tc>
                    <a:tc>
                      <a:txBody>
                        <a:bodyPr/>
                        <a:lstStyle/>
                        <a:p>
                          <a:pPr algn="ctr"/>
                          <a:r>
                            <a:rPr lang="en-US" dirty="0"/>
                            <a:t>0.72 </a:t>
                          </a:r>
                        </a:p>
                      </a:txBody>
                      <a:tcPr/>
                    </a:tc>
                    <a:tc>
                      <a:txBody>
                        <a:bodyPr/>
                        <a:lstStyle/>
                        <a:p>
                          <a:pPr algn="ctr"/>
                          <a:r>
                            <a:rPr lang="en-US" dirty="0">
                              <a:highlight>
                                <a:srgbClr val="FFFF00"/>
                              </a:highlight>
                            </a:rPr>
                            <a:t>0.68</a:t>
                          </a:r>
                          <a:r>
                            <a:rPr lang="en-US" dirty="0"/>
                            <a:t> </a:t>
                          </a:r>
                        </a:p>
                      </a:txBody>
                      <a:tcPr/>
                    </a:tc>
                    <a:tc>
                      <a:txBody>
                        <a:bodyPr/>
                        <a:lstStyle/>
                        <a:p>
                          <a:pPr algn="ctr"/>
                          <a:r>
                            <a:rPr lang="en-US" dirty="0"/>
                            <a:t>0.672</a:t>
                          </a:r>
                        </a:p>
                      </a:txBody>
                      <a:tcPr/>
                    </a:tc>
                    <a:tc>
                      <a:txBody>
                        <a:bodyPr/>
                        <a:lstStyle/>
                        <a:p>
                          <a:pPr algn="ctr"/>
                          <a:r>
                            <a:rPr lang="en-US" dirty="0"/>
                            <a:t>0.668</a:t>
                          </a:r>
                        </a:p>
                      </a:txBody>
                      <a:tcPr/>
                    </a:tc>
                    <a:extLst>
                      <a:ext uri="{0D108BD9-81ED-4DB2-BD59-A6C34878D82A}">
                        <a16:rowId xmlns:a16="http://schemas.microsoft.com/office/drawing/2014/main" val="4020455816"/>
                      </a:ext>
                    </a:extLst>
                  </a:tr>
                  <a:tr h="552082">
                    <a:tc gridSpan="9">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800" i="1" smtClean="0">
                                  <a:latin typeface="Cambria Math" panose="02040503050406030204" pitchFamily="18" charset="0"/>
                                  <a:ea typeface="Cambria Math" panose="02040503050406030204" pitchFamily="18" charset="0"/>
                                </a:rPr>
                                <m:t>𝜌</m:t>
                              </m:r>
                              <m:r>
                                <a:rPr lang="en-US" sz="1800" b="0" i="1" smtClean="0">
                                  <a:latin typeface="Cambria Math" panose="02040503050406030204" pitchFamily="18" charset="0"/>
                                  <a:ea typeface="Cambria Math" panose="02040503050406030204" pitchFamily="18" charset="0"/>
                                </a:rPr>
                                <m:t>=0.4 </m:t>
                              </m:r>
                              <m:r>
                                <a:rPr lang="en-US" sz="1800" b="0" i="1" smtClean="0">
                                  <a:latin typeface="Cambria Math" panose="02040503050406030204" pitchFamily="18" charset="0"/>
                                  <a:ea typeface="Cambria Math" panose="02040503050406030204" pitchFamily="18" charset="0"/>
                                </a:rPr>
                                <m:t>𝑎𝑛𝑑</m:t>
                              </m:r>
                              <m:r>
                                <a:rPr lang="en-US" sz="1800" b="0" i="1" smtClean="0">
                                  <a:latin typeface="Cambria Math" panose="02040503050406030204" pitchFamily="18" charset="0"/>
                                  <a:ea typeface="Cambria Math" panose="02040503050406030204" pitchFamily="18" charset="0"/>
                                </a:rPr>
                                <m:t> </m:t>
                              </m:r>
                              <m:func>
                                <m:funcPr>
                                  <m:ctrlPr>
                                    <a:rPr lang="en-US" sz="1800" i="1" smtClean="0">
                                      <a:latin typeface="Cambria Math" panose="02040503050406030204" pitchFamily="18" charset="0"/>
                                    </a:rPr>
                                  </m:ctrlPr>
                                </m:funcPr>
                                <m:fName>
                                  <m:limLow>
                                    <m:limLowPr>
                                      <m:ctrlPr>
                                        <a:rPr lang="en-US" sz="1800" i="1" smtClean="0">
                                          <a:latin typeface="Cambria Math" panose="02040503050406030204" pitchFamily="18" charset="0"/>
                                        </a:rPr>
                                      </m:ctrlPr>
                                    </m:limLowPr>
                                    <m:e>
                                      <m:r>
                                        <m:rPr>
                                          <m:sty m:val="p"/>
                                        </m:rPr>
                                        <a:rPr lang="en-US" sz="1800" i="0" smtClean="0">
                                          <a:latin typeface="Cambria Math" panose="02040503050406030204" pitchFamily="18" charset="0"/>
                                        </a:rPr>
                                        <m:t>lim</m:t>
                                      </m:r>
                                    </m:e>
                                    <m:lim>
                                      <m:r>
                                        <a:rPr lang="en-US" sz="1800" i="1">
                                          <a:latin typeface="Cambria Math" panose="02040503050406030204" pitchFamily="18" charset="0"/>
                                        </a:rPr>
                                        <m:t>𝑚</m:t>
                                      </m:r>
                                      <m:r>
                                        <a:rPr lang="en-US" sz="1800" i="1">
                                          <a:latin typeface="Cambria Math" panose="02040503050406030204" pitchFamily="18" charset="0"/>
                                        </a:rPr>
                                        <m:t>→∞</m:t>
                                      </m:r>
                                    </m:lim>
                                  </m:limLow>
                                </m:fName>
                                <m:e>
                                  <m:r>
                                    <m:rPr>
                                      <m:nor/>
                                    </m:rPr>
                                    <a:rPr lang="en-US" sz="1800" i="0">
                                      <a:latin typeface="Cambria Math" panose="02040503050406030204" pitchFamily="18" charset="0"/>
                                    </a:rPr>
                                    <m:t>Var</m:t>
                                  </m:r>
                                  <m:d>
                                    <m:dPr>
                                      <m:ctrlPr>
                                        <a:rPr lang="en-US" sz="1800" i="1">
                                          <a:latin typeface="Cambria Math" panose="02040503050406030204" pitchFamily="18" charset="0"/>
                                        </a:rPr>
                                      </m:ctrlPr>
                                    </m:dPr>
                                    <m:e>
                                      <m:sSup>
                                        <m:sSupPr>
                                          <m:ctrlPr>
                                            <a:rPr lang="en-US" sz="1800" i="1" smtClean="0">
                                              <a:latin typeface="Cambria Math" panose="02040503050406030204" pitchFamily="18" charset="0"/>
                                              <a:ea typeface="Cambria Math" panose="02040503050406030204" pitchFamily="18" charset="0"/>
                                            </a:rPr>
                                          </m:ctrlPr>
                                        </m:sSupPr>
                                        <m:e>
                                          <m:acc>
                                            <m:accPr>
                                              <m:chr m:val="̂"/>
                                              <m:ctrlPr>
                                                <a:rPr lang="en-US" sz="1800" i="1" smtClean="0">
                                                  <a:latin typeface="Cambria Math" panose="02040503050406030204" pitchFamily="18" charset="0"/>
                                                  <a:ea typeface="Cambria Math" panose="02040503050406030204" pitchFamily="18" charset="0"/>
                                                </a:rPr>
                                              </m:ctrlPr>
                                            </m:accPr>
                                            <m:e>
                                              <m:r>
                                                <a:rPr lang="en-US" sz="1800" b="0" i="1" smtClean="0">
                                                  <a:latin typeface="Cambria Math" panose="02040503050406030204" pitchFamily="18" charset="0"/>
                                                  <a:ea typeface="Cambria Math" panose="02040503050406030204" pitchFamily="18" charset="0"/>
                                                </a:rPr>
                                                <m:t> </m:t>
                                              </m:r>
                                              <m:r>
                                                <a:rPr lang="en-US" sz="1800" i="1">
                                                  <a:latin typeface="Cambria Math" panose="02040503050406030204" pitchFamily="18" charset="0"/>
                                                  <a:ea typeface="Cambria Math" panose="02040503050406030204" pitchFamily="18" charset="0"/>
                                                </a:rPr>
                                                <m:t>𝛽</m:t>
                                              </m:r>
                                            </m:e>
                                          </m:acc>
                                          <m:r>
                                            <m:rPr>
                                              <m:nor/>
                                            </m:rPr>
                                            <a:rPr lang="en-US" sz="1800" i="0" dirty="0"/>
                                            <m:t> </m:t>
                                          </m:r>
                                        </m:e>
                                        <m:sup>
                                          <m:r>
                                            <a:rPr lang="en-US" sz="1800" i="1">
                                              <a:latin typeface="Cambria Math" panose="02040503050406030204" pitchFamily="18" charset="0"/>
                                              <a:ea typeface="Cambria Math" panose="02040503050406030204" pitchFamily="18" charset="0"/>
                                            </a:rPr>
                                            <m:t>∗</m:t>
                                          </m:r>
                                        </m:sup>
                                      </m:sSup>
                                    </m:e>
                                  </m:d>
                                </m:e>
                              </m:func>
                            </m:oMath>
                          </a14:m>
                          <a:r>
                            <a:rPr lang="en-US" dirty="0"/>
                            <a:t>=1.3383 </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4038362107"/>
                      </a:ext>
                    </a:extLst>
                  </a:tr>
                  <a:tr h="473245">
                    <a:tc>
                      <a:txBody>
                        <a:bodyPr/>
                        <a:lstStyle/>
                        <a:p>
                          <a:pPr algn="ctr"/>
                          <a14:m>
                            <m:oMathPara xmlns:m="http://schemas.openxmlformats.org/officeDocument/2006/math">
                              <m:oMathParaPr>
                                <m:jc m:val="centerGroup"/>
                              </m:oMathParaPr>
                              <m:oMath xmlns:m="http://schemas.openxmlformats.org/officeDocument/2006/math">
                                <m:r>
                                  <m:rPr>
                                    <m:nor/>
                                  </m:rPr>
                                  <a:rPr lang="en-US" sz="1800" i="0" smtClean="0">
                                    <a:solidFill>
                                      <a:schemeClr val="tx1"/>
                                    </a:solidFill>
                                    <a:latin typeface="Cambria Math" panose="02040503050406030204" pitchFamily="18" charset="0"/>
                                  </a:rPr>
                                  <m:t>Var</m:t>
                                </m:r>
                                <m:d>
                                  <m:dPr>
                                    <m:ctrlPr>
                                      <a:rPr lang="en-US" sz="1800" i="1">
                                        <a:solidFill>
                                          <a:schemeClr val="tx1"/>
                                        </a:solidFill>
                                        <a:latin typeface="Cambria Math" panose="02040503050406030204" pitchFamily="18" charset="0"/>
                                      </a:rPr>
                                    </m:ctrlPr>
                                  </m:dPr>
                                  <m:e>
                                    <m:sSup>
                                      <m:sSupPr>
                                        <m:ctrlPr>
                                          <a:rPr lang="en-US" sz="1800" i="1" smtClean="0">
                                            <a:latin typeface="Cambria Math" panose="02040503050406030204" pitchFamily="18" charset="0"/>
                                            <a:ea typeface="Cambria Math" panose="02040503050406030204" pitchFamily="18" charset="0"/>
                                          </a:rPr>
                                        </m:ctrlPr>
                                      </m:sSupPr>
                                      <m:e>
                                        <m:acc>
                                          <m:accPr>
                                            <m:chr m:val="̂"/>
                                            <m:ctrlPr>
                                              <a:rPr lang="en-US" sz="1800" i="1" smtClean="0">
                                                <a:latin typeface="Cambria Math" panose="02040503050406030204" pitchFamily="18" charset="0"/>
                                                <a:ea typeface="Cambria Math" panose="02040503050406030204" pitchFamily="18" charset="0"/>
                                              </a:rPr>
                                            </m:ctrlPr>
                                          </m:accPr>
                                          <m:e>
                                            <m:r>
                                              <a:rPr lang="en-US" sz="1800" b="0" i="1" smtClean="0">
                                                <a:latin typeface="Cambria Math" panose="02040503050406030204" pitchFamily="18" charset="0"/>
                                                <a:ea typeface="Cambria Math" panose="02040503050406030204" pitchFamily="18" charset="0"/>
                                              </a:rPr>
                                              <m:t> </m:t>
                                            </m:r>
                                            <m:r>
                                              <a:rPr lang="en-US" sz="1800" i="1">
                                                <a:latin typeface="Cambria Math" panose="02040503050406030204" pitchFamily="18" charset="0"/>
                                                <a:ea typeface="Cambria Math" panose="02040503050406030204" pitchFamily="18" charset="0"/>
                                              </a:rPr>
                                              <m:t>𝛽</m:t>
                                            </m:r>
                                          </m:e>
                                        </m:acc>
                                        <m:r>
                                          <m:rPr>
                                            <m:nor/>
                                          </m:rPr>
                                          <a:rPr lang="en-US" sz="1800" i="0" dirty="0"/>
                                          <m:t> </m:t>
                                        </m:r>
                                      </m:e>
                                      <m:sup>
                                        <m:r>
                                          <a:rPr lang="en-US" sz="1800" i="1">
                                            <a:latin typeface="Cambria Math" panose="02040503050406030204" pitchFamily="18" charset="0"/>
                                            <a:ea typeface="Cambria Math" panose="02040503050406030204" pitchFamily="18" charset="0"/>
                                          </a:rPr>
                                          <m:t>∗</m:t>
                                        </m:r>
                                      </m:sup>
                                    </m:sSup>
                                  </m:e>
                                </m:d>
                              </m:oMath>
                            </m:oMathPara>
                          </a14:m>
                          <a:endParaRPr lang="en-US" dirty="0"/>
                        </a:p>
                      </a:txBody>
                      <a:tcPr/>
                    </a:tc>
                    <a:tc gridSpan="2">
                      <a:txBody>
                        <a:bodyPr/>
                        <a:lstStyle/>
                        <a:p>
                          <a:pPr algn="ctr"/>
                          <a:r>
                            <a:rPr lang="en-US" dirty="0"/>
                            <a:t>2.33</a:t>
                          </a:r>
                        </a:p>
                      </a:txBody>
                      <a:tcPr/>
                    </a:tc>
                    <a:tc hMerge="1">
                      <a:txBody>
                        <a:bodyPr/>
                        <a:lstStyle/>
                        <a:p>
                          <a:pPr algn="ctr"/>
                          <a:r>
                            <a:rPr lang="en-US" dirty="0"/>
                            <a:t>1.733</a:t>
                          </a:r>
                        </a:p>
                      </a:txBody>
                      <a:tcPr/>
                    </a:tc>
                    <a:tc>
                      <a:txBody>
                        <a:bodyPr/>
                        <a:lstStyle/>
                        <a:p>
                          <a:pPr algn="ctr"/>
                          <a:r>
                            <a:rPr lang="en-US" dirty="0"/>
                            <a:t>1.733</a:t>
                          </a:r>
                        </a:p>
                      </a:txBody>
                      <a:tcPr/>
                    </a:tc>
                    <a:tc>
                      <a:txBody>
                        <a:bodyPr/>
                        <a:lstStyle/>
                        <a:p>
                          <a:pPr algn="ctr"/>
                          <a:r>
                            <a:rPr lang="en-US" dirty="0"/>
                            <a:t>1.433</a:t>
                          </a:r>
                        </a:p>
                      </a:txBody>
                      <a:tcPr/>
                    </a:tc>
                    <a:tc>
                      <a:txBody>
                        <a:bodyPr/>
                        <a:lstStyle/>
                        <a:p>
                          <a:pPr algn="ctr"/>
                          <a:r>
                            <a:rPr lang="en-US" dirty="0"/>
                            <a:t>1.373 </a:t>
                          </a:r>
                        </a:p>
                      </a:txBody>
                      <a:tcPr/>
                    </a:tc>
                    <a:tc>
                      <a:txBody>
                        <a:bodyPr/>
                        <a:lstStyle/>
                        <a:p>
                          <a:pPr algn="ctr"/>
                          <a:r>
                            <a:rPr lang="en-US" dirty="0">
                              <a:highlight>
                                <a:srgbClr val="FFFF00"/>
                              </a:highlight>
                            </a:rPr>
                            <a:t>1.343</a:t>
                          </a:r>
                        </a:p>
                      </a:txBody>
                      <a:tcPr/>
                    </a:tc>
                    <a:tc>
                      <a:txBody>
                        <a:bodyPr/>
                        <a:lstStyle/>
                        <a:p>
                          <a:pPr algn="ctr"/>
                          <a:r>
                            <a:rPr lang="en-US" dirty="0"/>
                            <a:t>1.337</a:t>
                          </a:r>
                        </a:p>
                      </a:txBody>
                      <a:tcPr/>
                    </a:tc>
                    <a:tc>
                      <a:txBody>
                        <a:bodyPr/>
                        <a:lstStyle/>
                        <a:p>
                          <a:pPr algn="ctr"/>
                          <a:r>
                            <a:rPr lang="en-US" dirty="0"/>
                            <a:t>1.334</a:t>
                          </a:r>
                        </a:p>
                      </a:txBody>
                      <a:tcPr/>
                    </a:tc>
                    <a:extLst>
                      <a:ext uri="{0D108BD9-81ED-4DB2-BD59-A6C34878D82A}">
                        <a16:rowId xmlns:a16="http://schemas.microsoft.com/office/drawing/2014/main" val="3955480334"/>
                      </a:ext>
                    </a:extLst>
                  </a:tr>
                  <a:tr h="552082">
                    <a:tc gridSpan="9">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800" i="1" smtClean="0">
                                  <a:latin typeface="Cambria Math" panose="02040503050406030204" pitchFamily="18" charset="0"/>
                                  <a:ea typeface="Cambria Math" panose="02040503050406030204" pitchFamily="18" charset="0"/>
                                </a:rPr>
                                <m:t>𝜌</m:t>
                              </m:r>
                              <m:r>
                                <a:rPr lang="en-US" sz="1800" b="0" i="1" smtClean="0">
                                  <a:latin typeface="Cambria Math" panose="02040503050406030204" pitchFamily="18" charset="0"/>
                                  <a:ea typeface="Cambria Math" panose="02040503050406030204" pitchFamily="18" charset="0"/>
                                </a:rPr>
                                <m:t>=0.6 </m:t>
                              </m:r>
                              <m:r>
                                <a:rPr lang="en-US" sz="1800" b="0" i="1" smtClean="0">
                                  <a:latin typeface="Cambria Math" panose="02040503050406030204" pitchFamily="18" charset="0"/>
                                  <a:ea typeface="Cambria Math" panose="02040503050406030204" pitchFamily="18" charset="0"/>
                                </a:rPr>
                                <m:t>𝑎𝑛𝑑</m:t>
                              </m:r>
                              <m:r>
                                <a:rPr lang="en-US" sz="1800" b="0" i="1" smtClean="0">
                                  <a:latin typeface="Cambria Math" panose="02040503050406030204" pitchFamily="18" charset="0"/>
                                  <a:ea typeface="Cambria Math" panose="02040503050406030204" pitchFamily="18" charset="0"/>
                                </a:rPr>
                                <m:t> </m:t>
                              </m:r>
                              <m:func>
                                <m:funcPr>
                                  <m:ctrlPr>
                                    <a:rPr lang="en-US" sz="1800" i="1" smtClean="0">
                                      <a:latin typeface="Cambria Math" panose="02040503050406030204" pitchFamily="18" charset="0"/>
                                    </a:rPr>
                                  </m:ctrlPr>
                                </m:funcPr>
                                <m:fName>
                                  <m:limLow>
                                    <m:limLowPr>
                                      <m:ctrlPr>
                                        <a:rPr lang="en-US" sz="1800" i="1" smtClean="0">
                                          <a:latin typeface="Cambria Math" panose="02040503050406030204" pitchFamily="18" charset="0"/>
                                        </a:rPr>
                                      </m:ctrlPr>
                                    </m:limLowPr>
                                    <m:e>
                                      <m:r>
                                        <m:rPr>
                                          <m:sty m:val="p"/>
                                        </m:rPr>
                                        <a:rPr lang="en-US" sz="1800" i="0" smtClean="0">
                                          <a:latin typeface="Cambria Math" panose="02040503050406030204" pitchFamily="18" charset="0"/>
                                        </a:rPr>
                                        <m:t>lim</m:t>
                                      </m:r>
                                    </m:e>
                                    <m:lim>
                                      <m:r>
                                        <a:rPr lang="en-US" sz="1800" i="1">
                                          <a:latin typeface="Cambria Math" panose="02040503050406030204" pitchFamily="18" charset="0"/>
                                        </a:rPr>
                                        <m:t>𝑚</m:t>
                                      </m:r>
                                      <m:r>
                                        <a:rPr lang="en-US" sz="1800" i="1">
                                          <a:latin typeface="Cambria Math" panose="02040503050406030204" pitchFamily="18" charset="0"/>
                                        </a:rPr>
                                        <m:t>→∞</m:t>
                                      </m:r>
                                    </m:lim>
                                  </m:limLow>
                                </m:fName>
                                <m:e>
                                  <m:r>
                                    <m:rPr>
                                      <m:nor/>
                                    </m:rPr>
                                    <a:rPr lang="en-US" sz="1800" i="0">
                                      <a:latin typeface="Cambria Math" panose="02040503050406030204" pitchFamily="18" charset="0"/>
                                    </a:rPr>
                                    <m:t>Var</m:t>
                                  </m:r>
                                  <m:d>
                                    <m:dPr>
                                      <m:ctrlPr>
                                        <a:rPr lang="en-US" sz="1800" i="1">
                                          <a:latin typeface="Cambria Math" panose="02040503050406030204" pitchFamily="18" charset="0"/>
                                        </a:rPr>
                                      </m:ctrlPr>
                                    </m:dPr>
                                    <m:e>
                                      <m:sSup>
                                        <m:sSupPr>
                                          <m:ctrlPr>
                                            <a:rPr lang="en-US" sz="1800" i="1" smtClean="0">
                                              <a:latin typeface="Cambria Math" panose="02040503050406030204" pitchFamily="18" charset="0"/>
                                              <a:ea typeface="Cambria Math" panose="02040503050406030204" pitchFamily="18" charset="0"/>
                                            </a:rPr>
                                          </m:ctrlPr>
                                        </m:sSupPr>
                                        <m:e>
                                          <m:acc>
                                            <m:accPr>
                                              <m:chr m:val="̂"/>
                                              <m:ctrlPr>
                                                <a:rPr lang="en-US" sz="1800" i="1" smtClean="0">
                                                  <a:latin typeface="Cambria Math" panose="02040503050406030204" pitchFamily="18" charset="0"/>
                                                  <a:ea typeface="Cambria Math" panose="02040503050406030204" pitchFamily="18" charset="0"/>
                                                </a:rPr>
                                              </m:ctrlPr>
                                            </m:accPr>
                                            <m:e>
                                              <m:r>
                                                <a:rPr lang="en-US" sz="1800" b="0" i="1" smtClean="0">
                                                  <a:latin typeface="Cambria Math" panose="02040503050406030204" pitchFamily="18" charset="0"/>
                                                  <a:ea typeface="Cambria Math" panose="02040503050406030204" pitchFamily="18" charset="0"/>
                                                </a:rPr>
                                                <m:t> </m:t>
                                              </m:r>
                                              <m:r>
                                                <a:rPr lang="en-US" sz="1800" i="1">
                                                  <a:latin typeface="Cambria Math" panose="02040503050406030204" pitchFamily="18" charset="0"/>
                                                  <a:ea typeface="Cambria Math" panose="02040503050406030204" pitchFamily="18" charset="0"/>
                                                </a:rPr>
                                                <m:t>𝛽</m:t>
                                              </m:r>
                                            </m:e>
                                          </m:acc>
                                          <m:r>
                                            <m:rPr>
                                              <m:nor/>
                                            </m:rPr>
                                            <a:rPr lang="en-US" sz="1800" i="0" dirty="0"/>
                                            <m:t> </m:t>
                                          </m:r>
                                        </m:e>
                                        <m:sup>
                                          <m:r>
                                            <a:rPr lang="en-US" sz="1800" i="1">
                                              <a:latin typeface="Cambria Math" panose="02040503050406030204" pitchFamily="18" charset="0"/>
                                              <a:ea typeface="Cambria Math" panose="02040503050406030204" pitchFamily="18" charset="0"/>
                                            </a:rPr>
                                            <m:t>∗</m:t>
                                          </m:r>
                                        </m:sup>
                                      </m:sSup>
                                    </m:e>
                                  </m:d>
                                </m:e>
                              </m:func>
                            </m:oMath>
                          </a14:m>
                          <a:r>
                            <a:rPr lang="en-US" dirty="0"/>
                            <a:t>=2 </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862568545"/>
                      </a:ext>
                    </a:extLst>
                  </a:tr>
                  <a:tr h="473245">
                    <a:tc>
                      <a:txBody>
                        <a:bodyPr/>
                        <a:lstStyle/>
                        <a:p>
                          <a:pPr algn="ctr"/>
                          <a14:m>
                            <m:oMathPara xmlns:m="http://schemas.openxmlformats.org/officeDocument/2006/math">
                              <m:oMathParaPr>
                                <m:jc m:val="centerGroup"/>
                              </m:oMathParaPr>
                              <m:oMath xmlns:m="http://schemas.openxmlformats.org/officeDocument/2006/math">
                                <m:r>
                                  <m:rPr>
                                    <m:nor/>
                                  </m:rPr>
                                  <a:rPr lang="en-US" sz="1800" i="0" smtClean="0">
                                    <a:solidFill>
                                      <a:schemeClr val="tx1"/>
                                    </a:solidFill>
                                    <a:latin typeface="Cambria Math" panose="02040503050406030204" pitchFamily="18" charset="0"/>
                                  </a:rPr>
                                  <m:t>Var</m:t>
                                </m:r>
                                <m:d>
                                  <m:dPr>
                                    <m:ctrlPr>
                                      <a:rPr lang="en-US" sz="1800" i="1">
                                        <a:solidFill>
                                          <a:schemeClr val="tx1"/>
                                        </a:solidFill>
                                        <a:latin typeface="Cambria Math" panose="02040503050406030204" pitchFamily="18" charset="0"/>
                                      </a:rPr>
                                    </m:ctrlPr>
                                  </m:dPr>
                                  <m:e>
                                    <m:sSup>
                                      <m:sSupPr>
                                        <m:ctrlPr>
                                          <a:rPr lang="en-US" sz="1800" i="1" smtClean="0">
                                            <a:latin typeface="Cambria Math" panose="02040503050406030204" pitchFamily="18" charset="0"/>
                                            <a:ea typeface="Cambria Math" panose="02040503050406030204" pitchFamily="18" charset="0"/>
                                          </a:rPr>
                                        </m:ctrlPr>
                                      </m:sSupPr>
                                      <m:e>
                                        <m:acc>
                                          <m:accPr>
                                            <m:chr m:val="̂"/>
                                            <m:ctrlPr>
                                              <a:rPr lang="en-US" sz="1800" i="1" smtClean="0">
                                                <a:latin typeface="Cambria Math" panose="02040503050406030204" pitchFamily="18" charset="0"/>
                                                <a:ea typeface="Cambria Math" panose="02040503050406030204" pitchFamily="18" charset="0"/>
                                              </a:rPr>
                                            </m:ctrlPr>
                                          </m:accPr>
                                          <m:e>
                                            <m:r>
                                              <a:rPr lang="en-US" sz="1800" b="0" i="1" smtClean="0">
                                                <a:latin typeface="Cambria Math" panose="02040503050406030204" pitchFamily="18" charset="0"/>
                                                <a:ea typeface="Cambria Math" panose="02040503050406030204" pitchFamily="18" charset="0"/>
                                              </a:rPr>
                                              <m:t> </m:t>
                                            </m:r>
                                            <m:r>
                                              <a:rPr lang="en-US" sz="1800" i="1">
                                                <a:latin typeface="Cambria Math" panose="02040503050406030204" pitchFamily="18" charset="0"/>
                                                <a:ea typeface="Cambria Math" panose="02040503050406030204" pitchFamily="18" charset="0"/>
                                              </a:rPr>
                                              <m:t>𝛽</m:t>
                                            </m:r>
                                          </m:e>
                                        </m:acc>
                                        <m:r>
                                          <m:rPr>
                                            <m:nor/>
                                          </m:rPr>
                                          <a:rPr lang="en-US" sz="1800" i="0" dirty="0"/>
                                          <m:t> </m:t>
                                        </m:r>
                                      </m:e>
                                      <m:sup>
                                        <m:r>
                                          <a:rPr lang="en-US" sz="1800" i="1">
                                            <a:latin typeface="Cambria Math" panose="02040503050406030204" pitchFamily="18" charset="0"/>
                                            <a:ea typeface="Cambria Math" panose="02040503050406030204" pitchFamily="18" charset="0"/>
                                          </a:rPr>
                                          <m:t>∗</m:t>
                                        </m:r>
                                      </m:sup>
                                    </m:sSup>
                                  </m:e>
                                </m:d>
                              </m:oMath>
                            </m:oMathPara>
                          </a14:m>
                          <a:endParaRPr lang="en-US" dirty="0"/>
                        </a:p>
                      </a:txBody>
                      <a:tcPr/>
                    </a:tc>
                    <a:tc gridSpan="2">
                      <a:txBody>
                        <a:bodyPr/>
                        <a:lstStyle/>
                        <a:p>
                          <a:pPr algn="ctr"/>
                          <a:r>
                            <a:rPr lang="en-US" dirty="0"/>
                            <a:t>2.67</a:t>
                          </a:r>
                        </a:p>
                      </a:txBody>
                      <a:tcPr/>
                    </a:tc>
                    <a:tc hMerge="1">
                      <a:txBody>
                        <a:bodyPr/>
                        <a:lstStyle/>
                        <a:p>
                          <a:pPr algn="ctr"/>
                          <a:r>
                            <a:rPr lang="en-US" dirty="0"/>
                            <a:t>2.267</a:t>
                          </a:r>
                        </a:p>
                      </a:txBody>
                      <a:tcPr/>
                    </a:tc>
                    <a:tc>
                      <a:txBody>
                        <a:bodyPr/>
                        <a:lstStyle/>
                        <a:p>
                          <a:pPr algn="ctr"/>
                          <a:r>
                            <a:rPr lang="en-US" dirty="0"/>
                            <a:t>2.267</a:t>
                          </a:r>
                        </a:p>
                      </a:txBody>
                      <a:tcPr/>
                    </a:tc>
                    <a:tc>
                      <a:txBody>
                        <a:bodyPr/>
                        <a:lstStyle/>
                        <a:p>
                          <a:pPr algn="ctr"/>
                          <a:r>
                            <a:rPr lang="en-US" dirty="0">
                              <a:highlight>
                                <a:srgbClr val="FFFF00"/>
                              </a:highlight>
                            </a:rPr>
                            <a:t>2.067</a:t>
                          </a:r>
                        </a:p>
                      </a:txBody>
                      <a:tcPr/>
                    </a:tc>
                    <a:tc>
                      <a:txBody>
                        <a:bodyPr/>
                        <a:lstStyle/>
                        <a:p>
                          <a:pPr algn="ctr"/>
                          <a:r>
                            <a:rPr lang="en-US" dirty="0"/>
                            <a:t>2.033 </a:t>
                          </a:r>
                        </a:p>
                      </a:txBody>
                      <a:tcPr/>
                    </a:tc>
                    <a:tc>
                      <a:txBody>
                        <a:bodyPr/>
                        <a:lstStyle/>
                        <a:p>
                          <a:pPr algn="ctr"/>
                          <a:r>
                            <a:rPr lang="en-US" dirty="0"/>
                            <a:t>2.027</a:t>
                          </a:r>
                        </a:p>
                      </a:txBody>
                      <a:tcPr/>
                    </a:tc>
                    <a:tc>
                      <a:txBody>
                        <a:bodyPr/>
                        <a:lstStyle/>
                        <a:p>
                          <a:pPr algn="ctr"/>
                          <a:r>
                            <a:rPr lang="en-US" dirty="0"/>
                            <a:t>2.007</a:t>
                          </a:r>
                        </a:p>
                      </a:txBody>
                      <a:tcPr/>
                    </a:tc>
                    <a:tc>
                      <a:txBody>
                        <a:bodyPr/>
                        <a:lstStyle/>
                        <a:p>
                          <a:pPr algn="ctr"/>
                          <a:r>
                            <a:rPr lang="en-US" dirty="0"/>
                            <a:t>2.003</a:t>
                          </a:r>
                        </a:p>
                      </a:txBody>
                      <a:tcPr/>
                    </a:tc>
                    <a:extLst>
                      <a:ext uri="{0D108BD9-81ED-4DB2-BD59-A6C34878D82A}">
                        <a16:rowId xmlns:a16="http://schemas.microsoft.com/office/drawing/2014/main" val="101289127"/>
                      </a:ext>
                    </a:extLst>
                  </a:tr>
                </a:tbl>
              </a:graphicData>
            </a:graphic>
          </p:graphicFrame>
        </mc:Choice>
        <mc:Fallback xmlns="">
          <p:graphicFrame>
            <p:nvGraphicFramePr>
              <p:cNvPr id="7" name="Table 11">
                <a:extLst>
                  <a:ext uri="{FF2B5EF4-FFF2-40B4-BE49-F238E27FC236}">
                    <a16:creationId xmlns:a16="http://schemas.microsoft.com/office/drawing/2014/main" id="{9AFFB6F8-CDB0-4323-9037-4E673EC6ADDF}"/>
                  </a:ext>
                </a:extLst>
              </p:cNvPr>
              <p:cNvGraphicFramePr>
                <a:graphicFrameLocks/>
              </p:cNvGraphicFramePr>
              <p:nvPr>
                <p:extLst>
                  <p:ext uri="{D42A27DB-BD31-4B8C-83A1-F6EECF244321}">
                    <p14:modId xmlns:p14="http://schemas.microsoft.com/office/powerpoint/2010/main" val="1292515402"/>
                  </p:ext>
                </p:extLst>
              </p:nvPr>
            </p:nvGraphicFramePr>
            <p:xfrm>
              <a:off x="332509" y="2673304"/>
              <a:ext cx="10623160" cy="3511972"/>
            </p:xfrm>
            <a:graphic>
              <a:graphicData uri="http://schemas.openxmlformats.org/drawingml/2006/table">
                <a:tbl>
                  <a:tblPr firstRow="1" bandRow="1">
                    <a:tableStyleId>{5C22544A-7EE6-4342-B048-85BDC9FD1C3A}</a:tableStyleId>
                  </a:tblPr>
                  <a:tblGrid>
                    <a:gridCol w="997527">
                      <a:extLst>
                        <a:ext uri="{9D8B030D-6E8A-4147-A177-3AD203B41FA5}">
                          <a16:colId xmlns:a16="http://schemas.microsoft.com/office/drawing/2014/main" val="1642128464"/>
                        </a:ext>
                      </a:extLst>
                    </a:gridCol>
                    <a:gridCol w="415440">
                      <a:extLst>
                        <a:ext uri="{9D8B030D-6E8A-4147-A177-3AD203B41FA5}">
                          <a16:colId xmlns:a16="http://schemas.microsoft.com/office/drawing/2014/main" val="2605427750"/>
                        </a:ext>
                      </a:extLst>
                    </a:gridCol>
                    <a:gridCol w="282829">
                      <a:extLst>
                        <a:ext uri="{9D8B030D-6E8A-4147-A177-3AD203B41FA5}">
                          <a16:colId xmlns:a16="http://schemas.microsoft.com/office/drawing/2014/main" val="3249230402"/>
                        </a:ext>
                      </a:extLst>
                    </a:gridCol>
                    <a:gridCol w="873832">
                      <a:extLst>
                        <a:ext uri="{9D8B030D-6E8A-4147-A177-3AD203B41FA5}">
                          <a16:colId xmlns:a16="http://schemas.microsoft.com/office/drawing/2014/main" val="2432050778"/>
                        </a:ext>
                      </a:extLst>
                    </a:gridCol>
                    <a:gridCol w="1113939">
                      <a:extLst>
                        <a:ext uri="{9D8B030D-6E8A-4147-A177-3AD203B41FA5}">
                          <a16:colId xmlns:a16="http://schemas.microsoft.com/office/drawing/2014/main" val="2346584309"/>
                        </a:ext>
                      </a:extLst>
                    </a:gridCol>
                    <a:gridCol w="1260386">
                      <a:extLst>
                        <a:ext uri="{9D8B030D-6E8A-4147-A177-3AD203B41FA5}">
                          <a16:colId xmlns:a16="http://schemas.microsoft.com/office/drawing/2014/main" val="4022634549"/>
                        </a:ext>
                      </a:extLst>
                    </a:gridCol>
                    <a:gridCol w="1893069">
                      <a:extLst>
                        <a:ext uri="{9D8B030D-6E8A-4147-A177-3AD203B41FA5}">
                          <a16:colId xmlns:a16="http://schemas.microsoft.com/office/drawing/2014/main" val="3444306483"/>
                        </a:ext>
                      </a:extLst>
                    </a:gridCol>
                    <a:gridCol w="1893069">
                      <a:extLst>
                        <a:ext uri="{9D8B030D-6E8A-4147-A177-3AD203B41FA5}">
                          <a16:colId xmlns:a16="http://schemas.microsoft.com/office/drawing/2014/main" val="3045236109"/>
                        </a:ext>
                      </a:extLst>
                    </a:gridCol>
                    <a:gridCol w="1893069">
                      <a:extLst>
                        <a:ext uri="{9D8B030D-6E8A-4147-A177-3AD203B41FA5}">
                          <a16:colId xmlns:a16="http://schemas.microsoft.com/office/drawing/2014/main" val="3537955927"/>
                        </a:ext>
                      </a:extLst>
                    </a:gridCol>
                  </a:tblGrid>
                  <a:tr h="435991">
                    <a:tc>
                      <a:txBody>
                        <a:bodyPr/>
                        <a:lstStyle/>
                        <a:p>
                          <a:endParaRPr lang="en-US"/>
                        </a:p>
                      </a:txBody>
                      <a:tcPr>
                        <a:blipFill>
                          <a:blip r:embed="rId2"/>
                          <a:stretch>
                            <a:fillRect l="-610" t="-6944" r="-965854" b="-704167"/>
                          </a:stretch>
                        </a:blipFill>
                      </a:tcPr>
                    </a:tc>
                    <a:tc>
                      <a:txBody>
                        <a:bodyPr/>
                        <a:lstStyle/>
                        <a:p>
                          <a:pPr algn="ctr"/>
                          <a:r>
                            <a:rPr lang="en-US" dirty="0"/>
                            <a:t>2</a:t>
                          </a:r>
                        </a:p>
                      </a:txBody>
                      <a:tcPr/>
                    </a:tc>
                    <a:tc gridSpan="2">
                      <a:txBody>
                        <a:bodyPr/>
                        <a:lstStyle/>
                        <a:p>
                          <a:pPr algn="ctr"/>
                          <a:r>
                            <a:rPr lang="en-US" dirty="0"/>
                            <a:t>5</a:t>
                          </a:r>
                        </a:p>
                      </a:txBody>
                      <a:tcPr/>
                    </a:tc>
                    <a:tc hMerge="1">
                      <a:txBody>
                        <a:bodyPr/>
                        <a:lstStyle/>
                        <a:p>
                          <a:pPr algn="ctr"/>
                          <a:endParaRPr lang="en-US" dirty="0"/>
                        </a:p>
                      </a:txBody>
                      <a:tcPr/>
                    </a:tc>
                    <a:tc>
                      <a:txBody>
                        <a:bodyPr/>
                        <a:lstStyle/>
                        <a:p>
                          <a:pPr algn="ctr"/>
                          <a:r>
                            <a:rPr lang="en-US" dirty="0"/>
                            <a:t>20</a:t>
                          </a:r>
                        </a:p>
                      </a:txBody>
                      <a:tcPr/>
                    </a:tc>
                    <a:tc>
                      <a:txBody>
                        <a:bodyPr/>
                        <a:lstStyle/>
                        <a:p>
                          <a:pPr algn="ctr"/>
                          <a:r>
                            <a:rPr lang="en-US" dirty="0"/>
                            <a:t>50</a:t>
                          </a:r>
                        </a:p>
                      </a:txBody>
                      <a:tcPr/>
                    </a:tc>
                    <a:tc>
                      <a:txBody>
                        <a:bodyPr/>
                        <a:lstStyle/>
                        <a:p>
                          <a:pPr algn="ctr"/>
                          <a:r>
                            <a:rPr lang="en-US" dirty="0"/>
                            <a:t>200</a:t>
                          </a:r>
                        </a:p>
                      </a:txBody>
                      <a:tcPr/>
                    </a:tc>
                    <a:tc>
                      <a:txBody>
                        <a:bodyPr/>
                        <a:lstStyle/>
                        <a:p>
                          <a:pPr algn="ctr"/>
                          <a:r>
                            <a:rPr lang="en-US" dirty="0"/>
                            <a:t>500</a:t>
                          </a:r>
                        </a:p>
                      </a:txBody>
                      <a:tcPr/>
                    </a:tc>
                    <a:tc>
                      <a:txBody>
                        <a:bodyPr/>
                        <a:lstStyle/>
                        <a:p>
                          <a:pPr algn="ctr"/>
                          <a:r>
                            <a:rPr lang="en-US" dirty="0"/>
                            <a:t>2000</a:t>
                          </a:r>
                        </a:p>
                      </a:txBody>
                      <a:tcPr/>
                    </a:tc>
                    <a:extLst>
                      <a:ext uri="{0D108BD9-81ED-4DB2-BD59-A6C34878D82A}">
                        <a16:rowId xmlns:a16="http://schemas.microsoft.com/office/drawing/2014/main" val="3513198017"/>
                      </a:ext>
                    </a:extLst>
                  </a:tr>
                  <a:tr h="552082">
                    <a:tc gridSpan="9">
                      <a:txBody>
                        <a:bodyPr/>
                        <a:lstStyle/>
                        <a:p>
                          <a:endParaRPr lang="en-US"/>
                        </a:p>
                      </a:txBody>
                      <a:tcPr>
                        <a:blipFill>
                          <a:blip r:embed="rId2"/>
                          <a:stretch>
                            <a:fillRect l="-57" t="-85556" r="-229" b="-463333"/>
                          </a:stretch>
                        </a:blip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54117351"/>
                      </a:ext>
                    </a:extLst>
                  </a:tr>
                  <a:tr h="473245">
                    <a:tc>
                      <a:txBody>
                        <a:bodyPr/>
                        <a:lstStyle/>
                        <a:p>
                          <a:endParaRPr lang="en-US"/>
                        </a:p>
                      </a:txBody>
                      <a:tcPr>
                        <a:blipFill>
                          <a:blip r:embed="rId2"/>
                          <a:stretch>
                            <a:fillRect l="-610" t="-214103" r="-965854" b="-434615"/>
                          </a:stretch>
                        </a:blipFill>
                      </a:tcPr>
                    </a:tc>
                    <a:tc gridSpan="2">
                      <a:txBody>
                        <a:bodyPr/>
                        <a:lstStyle/>
                        <a:p>
                          <a:pPr algn="ctr"/>
                          <a:r>
                            <a:rPr lang="en-US" dirty="0"/>
                            <a:t>2</a:t>
                          </a:r>
                        </a:p>
                      </a:txBody>
                      <a:tcPr/>
                    </a:tc>
                    <a:tc hMerge="1">
                      <a:txBody>
                        <a:bodyPr/>
                        <a:lstStyle/>
                        <a:p>
                          <a:pPr algn="ctr"/>
                          <a:r>
                            <a:rPr lang="en-US" dirty="0"/>
                            <a:t>1.2</a:t>
                          </a:r>
                        </a:p>
                      </a:txBody>
                      <a:tcPr/>
                    </a:tc>
                    <a:tc>
                      <a:txBody>
                        <a:bodyPr/>
                        <a:lstStyle/>
                        <a:p>
                          <a:pPr algn="ctr"/>
                          <a:r>
                            <a:rPr lang="en-US" dirty="0"/>
                            <a:t>1.2</a:t>
                          </a:r>
                        </a:p>
                      </a:txBody>
                      <a:tcPr/>
                    </a:tc>
                    <a:tc>
                      <a:txBody>
                        <a:bodyPr/>
                        <a:lstStyle/>
                        <a:p>
                          <a:pPr algn="ctr"/>
                          <a:r>
                            <a:rPr lang="en-US" dirty="0"/>
                            <a:t>0.8</a:t>
                          </a:r>
                        </a:p>
                      </a:txBody>
                      <a:tcPr/>
                    </a:tc>
                    <a:tc>
                      <a:txBody>
                        <a:bodyPr/>
                        <a:lstStyle/>
                        <a:p>
                          <a:pPr algn="ctr"/>
                          <a:r>
                            <a:rPr lang="en-US" dirty="0"/>
                            <a:t>0.72 </a:t>
                          </a:r>
                        </a:p>
                      </a:txBody>
                      <a:tcPr/>
                    </a:tc>
                    <a:tc>
                      <a:txBody>
                        <a:bodyPr/>
                        <a:lstStyle/>
                        <a:p>
                          <a:pPr algn="ctr"/>
                          <a:r>
                            <a:rPr lang="en-US" dirty="0">
                              <a:highlight>
                                <a:srgbClr val="FFFF00"/>
                              </a:highlight>
                            </a:rPr>
                            <a:t>0.68</a:t>
                          </a:r>
                          <a:r>
                            <a:rPr lang="en-US" dirty="0"/>
                            <a:t> </a:t>
                          </a:r>
                        </a:p>
                      </a:txBody>
                      <a:tcPr/>
                    </a:tc>
                    <a:tc>
                      <a:txBody>
                        <a:bodyPr/>
                        <a:lstStyle/>
                        <a:p>
                          <a:pPr algn="ctr"/>
                          <a:r>
                            <a:rPr lang="en-US" dirty="0"/>
                            <a:t>0.672</a:t>
                          </a:r>
                        </a:p>
                      </a:txBody>
                      <a:tcPr/>
                    </a:tc>
                    <a:tc>
                      <a:txBody>
                        <a:bodyPr/>
                        <a:lstStyle/>
                        <a:p>
                          <a:pPr algn="ctr"/>
                          <a:r>
                            <a:rPr lang="en-US" dirty="0"/>
                            <a:t>0.668</a:t>
                          </a:r>
                        </a:p>
                      </a:txBody>
                      <a:tcPr/>
                    </a:tc>
                    <a:extLst>
                      <a:ext uri="{0D108BD9-81ED-4DB2-BD59-A6C34878D82A}">
                        <a16:rowId xmlns:a16="http://schemas.microsoft.com/office/drawing/2014/main" val="4020455816"/>
                      </a:ext>
                    </a:extLst>
                  </a:tr>
                  <a:tr h="552082">
                    <a:tc gridSpan="9">
                      <a:txBody>
                        <a:bodyPr/>
                        <a:lstStyle/>
                        <a:p>
                          <a:endParaRPr lang="en-US"/>
                        </a:p>
                      </a:txBody>
                      <a:tcPr>
                        <a:blipFill>
                          <a:blip r:embed="rId2"/>
                          <a:stretch>
                            <a:fillRect l="-57" t="-269231" r="-229" b="-272527"/>
                          </a:stretch>
                        </a:blip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4038362107"/>
                      </a:ext>
                    </a:extLst>
                  </a:tr>
                  <a:tr h="473245">
                    <a:tc>
                      <a:txBody>
                        <a:bodyPr/>
                        <a:lstStyle/>
                        <a:p>
                          <a:endParaRPr lang="en-US"/>
                        </a:p>
                      </a:txBody>
                      <a:tcPr>
                        <a:blipFill>
                          <a:blip r:embed="rId2"/>
                          <a:stretch>
                            <a:fillRect l="-610" t="-430769" r="-965854" b="-217949"/>
                          </a:stretch>
                        </a:blipFill>
                      </a:tcPr>
                    </a:tc>
                    <a:tc gridSpan="2">
                      <a:txBody>
                        <a:bodyPr/>
                        <a:lstStyle/>
                        <a:p>
                          <a:pPr algn="ctr"/>
                          <a:r>
                            <a:rPr lang="en-US" dirty="0"/>
                            <a:t>2.33</a:t>
                          </a:r>
                        </a:p>
                      </a:txBody>
                      <a:tcPr/>
                    </a:tc>
                    <a:tc hMerge="1">
                      <a:txBody>
                        <a:bodyPr/>
                        <a:lstStyle/>
                        <a:p>
                          <a:pPr algn="ctr"/>
                          <a:r>
                            <a:rPr lang="en-US" dirty="0"/>
                            <a:t>1.733</a:t>
                          </a:r>
                        </a:p>
                      </a:txBody>
                      <a:tcPr/>
                    </a:tc>
                    <a:tc>
                      <a:txBody>
                        <a:bodyPr/>
                        <a:lstStyle/>
                        <a:p>
                          <a:pPr algn="ctr"/>
                          <a:r>
                            <a:rPr lang="en-US" dirty="0"/>
                            <a:t>1.733</a:t>
                          </a:r>
                        </a:p>
                      </a:txBody>
                      <a:tcPr/>
                    </a:tc>
                    <a:tc>
                      <a:txBody>
                        <a:bodyPr/>
                        <a:lstStyle/>
                        <a:p>
                          <a:pPr algn="ctr"/>
                          <a:r>
                            <a:rPr lang="en-US" dirty="0"/>
                            <a:t>1.433</a:t>
                          </a:r>
                        </a:p>
                      </a:txBody>
                      <a:tcPr/>
                    </a:tc>
                    <a:tc>
                      <a:txBody>
                        <a:bodyPr/>
                        <a:lstStyle/>
                        <a:p>
                          <a:pPr algn="ctr"/>
                          <a:r>
                            <a:rPr lang="en-US" dirty="0"/>
                            <a:t>1.373 </a:t>
                          </a:r>
                        </a:p>
                      </a:txBody>
                      <a:tcPr/>
                    </a:tc>
                    <a:tc>
                      <a:txBody>
                        <a:bodyPr/>
                        <a:lstStyle/>
                        <a:p>
                          <a:pPr algn="ctr"/>
                          <a:r>
                            <a:rPr lang="en-US" dirty="0">
                              <a:highlight>
                                <a:srgbClr val="FFFF00"/>
                              </a:highlight>
                            </a:rPr>
                            <a:t>1.343</a:t>
                          </a:r>
                        </a:p>
                      </a:txBody>
                      <a:tcPr/>
                    </a:tc>
                    <a:tc>
                      <a:txBody>
                        <a:bodyPr/>
                        <a:lstStyle/>
                        <a:p>
                          <a:pPr algn="ctr"/>
                          <a:r>
                            <a:rPr lang="en-US" dirty="0"/>
                            <a:t>1.337</a:t>
                          </a:r>
                        </a:p>
                      </a:txBody>
                      <a:tcPr/>
                    </a:tc>
                    <a:tc>
                      <a:txBody>
                        <a:bodyPr/>
                        <a:lstStyle/>
                        <a:p>
                          <a:pPr algn="ctr"/>
                          <a:r>
                            <a:rPr lang="en-US" dirty="0"/>
                            <a:t>1.334</a:t>
                          </a:r>
                        </a:p>
                      </a:txBody>
                      <a:tcPr/>
                    </a:tc>
                    <a:extLst>
                      <a:ext uri="{0D108BD9-81ED-4DB2-BD59-A6C34878D82A}">
                        <a16:rowId xmlns:a16="http://schemas.microsoft.com/office/drawing/2014/main" val="3955480334"/>
                      </a:ext>
                    </a:extLst>
                  </a:tr>
                  <a:tr h="552082">
                    <a:tc gridSpan="9">
                      <a:txBody>
                        <a:bodyPr/>
                        <a:lstStyle/>
                        <a:p>
                          <a:endParaRPr lang="en-US"/>
                        </a:p>
                      </a:txBody>
                      <a:tcPr>
                        <a:blipFill>
                          <a:blip r:embed="rId2"/>
                          <a:stretch>
                            <a:fillRect l="-57" t="-460000" r="-229" b="-88889"/>
                          </a:stretch>
                        </a:blip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862568545"/>
                      </a:ext>
                    </a:extLst>
                  </a:tr>
                  <a:tr h="473245">
                    <a:tc>
                      <a:txBody>
                        <a:bodyPr/>
                        <a:lstStyle/>
                        <a:p>
                          <a:endParaRPr lang="en-US"/>
                        </a:p>
                      </a:txBody>
                      <a:tcPr>
                        <a:blipFill>
                          <a:blip r:embed="rId2"/>
                          <a:stretch>
                            <a:fillRect l="-610" t="-646154" r="-965854" b="-2564"/>
                          </a:stretch>
                        </a:blipFill>
                      </a:tcPr>
                    </a:tc>
                    <a:tc gridSpan="2">
                      <a:txBody>
                        <a:bodyPr/>
                        <a:lstStyle/>
                        <a:p>
                          <a:pPr algn="ctr"/>
                          <a:r>
                            <a:rPr lang="en-US" dirty="0"/>
                            <a:t>2.67</a:t>
                          </a:r>
                        </a:p>
                      </a:txBody>
                      <a:tcPr/>
                    </a:tc>
                    <a:tc hMerge="1">
                      <a:txBody>
                        <a:bodyPr/>
                        <a:lstStyle/>
                        <a:p>
                          <a:pPr algn="ctr"/>
                          <a:r>
                            <a:rPr lang="en-US" dirty="0"/>
                            <a:t>2.267</a:t>
                          </a:r>
                        </a:p>
                      </a:txBody>
                      <a:tcPr/>
                    </a:tc>
                    <a:tc>
                      <a:txBody>
                        <a:bodyPr/>
                        <a:lstStyle/>
                        <a:p>
                          <a:pPr algn="ctr"/>
                          <a:r>
                            <a:rPr lang="en-US" dirty="0"/>
                            <a:t>2.267</a:t>
                          </a:r>
                        </a:p>
                      </a:txBody>
                      <a:tcPr/>
                    </a:tc>
                    <a:tc>
                      <a:txBody>
                        <a:bodyPr/>
                        <a:lstStyle/>
                        <a:p>
                          <a:pPr algn="ctr"/>
                          <a:r>
                            <a:rPr lang="en-US" dirty="0">
                              <a:highlight>
                                <a:srgbClr val="FFFF00"/>
                              </a:highlight>
                            </a:rPr>
                            <a:t>2.067</a:t>
                          </a:r>
                        </a:p>
                      </a:txBody>
                      <a:tcPr/>
                    </a:tc>
                    <a:tc>
                      <a:txBody>
                        <a:bodyPr/>
                        <a:lstStyle/>
                        <a:p>
                          <a:pPr algn="ctr"/>
                          <a:r>
                            <a:rPr lang="en-US" dirty="0"/>
                            <a:t>2.033 </a:t>
                          </a:r>
                        </a:p>
                      </a:txBody>
                      <a:tcPr/>
                    </a:tc>
                    <a:tc>
                      <a:txBody>
                        <a:bodyPr/>
                        <a:lstStyle/>
                        <a:p>
                          <a:pPr algn="ctr"/>
                          <a:r>
                            <a:rPr lang="en-US" dirty="0"/>
                            <a:t>2.027</a:t>
                          </a:r>
                        </a:p>
                      </a:txBody>
                      <a:tcPr/>
                    </a:tc>
                    <a:tc>
                      <a:txBody>
                        <a:bodyPr/>
                        <a:lstStyle/>
                        <a:p>
                          <a:pPr algn="ctr"/>
                          <a:r>
                            <a:rPr lang="en-US" dirty="0"/>
                            <a:t>2.007</a:t>
                          </a:r>
                        </a:p>
                      </a:txBody>
                      <a:tcPr/>
                    </a:tc>
                    <a:tc>
                      <a:txBody>
                        <a:bodyPr/>
                        <a:lstStyle/>
                        <a:p>
                          <a:pPr algn="ctr"/>
                          <a:r>
                            <a:rPr lang="en-US" dirty="0"/>
                            <a:t>2.003</a:t>
                          </a:r>
                        </a:p>
                      </a:txBody>
                      <a:tcPr/>
                    </a:tc>
                    <a:extLst>
                      <a:ext uri="{0D108BD9-81ED-4DB2-BD59-A6C34878D82A}">
                        <a16:rowId xmlns:a16="http://schemas.microsoft.com/office/drawing/2014/main" val="101289127"/>
                      </a:ext>
                    </a:extLst>
                  </a:tr>
                </a:tbl>
              </a:graphicData>
            </a:graphic>
          </p:graphicFrame>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06AB707-5D46-C94C-91B5-942C13759D69}"/>
                  </a:ext>
                </a:extLst>
              </p:cNvPr>
              <p:cNvSpPr txBox="1"/>
              <p:nvPr/>
            </p:nvSpPr>
            <p:spPr>
              <a:xfrm>
                <a:off x="1138336" y="1536239"/>
                <a:ext cx="4842672" cy="1355179"/>
              </a:xfrm>
              <a:prstGeom prst="rect">
                <a:avLst/>
              </a:prstGeom>
              <a:noFill/>
            </p:spPr>
            <p:txBody>
              <a:bodyPr wrap="none" rtlCol="0">
                <a:spAutoFit/>
              </a:bodyPr>
              <a:lstStyle/>
              <a:p>
                <a:r>
                  <a:rPr lang="en-US" dirty="0">
                    <a:latin typeface="Cambria Math" panose="02040503050406030204" pitchFamily="18" charset="0"/>
                  </a:rPr>
                  <a:t>Recall that </a:t>
                </a:r>
                <a14:m>
                  <m:oMath xmlns:m="http://schemas.openxmlformats.org/officeDocument/2006/math">
                    <m:r>
                      <m:rPr>
                        <m:nor/>
                      </m:rPr>
                      <a:rPr lang="en-US" i="0">
                        <a:latin typeface="Cambria Math" panose="02040503050406030204" pitchFamily="18" charset="0"/>
                      </a:rPr>
                      <m:t>Var</m:t>
                    </m:r>
                    <m:d>
                      <m:dPr>
                        <m:ctrlPr>
                          <a:rPr lang="en-US" i="1">
                            <a:latin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𝛽</m:t>
                                </m:r>
                              </m:e>
                            </m:acc>
                            <m:r>
                              <m:rPr>
                                <m:nor/>
                              </m:rPr>
                              <a:rPr lang="en-US" i="0" dirty="0"/>
                              <m:t> </m:t>
                            </m:r>
                          </m:e>
                          <m:sup>
                            <m:r>
                              <a:rPr lang="en-US" i="1">
                                <a:latin typeface="Cambria Math" panose="02040503050406030204" pitchFamily="18" charset="0"/>
                                <a:ea typeface="Cambria Math" panose="02040503050406030204" pitchFamily="18" charset="0"/>
                              </a:rPr>
                              <m:t>∗</m:t>
                            </m:r>
                          </m:sup>
                        </m:sSup>
                      </m:e>
                    </m:d>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2</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num>
                      <m:den>
                        <m:r>
                          <a:rPr lang="en-US" i="1">
                            <a:latin typeface="Cambria Math" panose="02040503050406030204" pitchFamily="18" charset="0"/>
                          </a:rPr>
                          <m:t>𝐾𝑚</m:t>
                        </m:r>
                      </m:den>
                    </m:f>
                    <m:d>
                      <m:dPr>
                        <m:begChr m:val="["/>
                        <m:endChr m:val="]"/>
                        <m:ctrlPr>
                          <a:rPr lang="en-US" i="1">
                            <a:latin typeface="Cambria Math" panose="02040503050406030204" pitchFamily="18" charset="0"/>
                          </a:rPr>
                        </m:ctrlPr>
                      </m:dPr>
                      <m:e>
                        <m:r>
                          <a:rPr lang="en-US" i="1">
                            <a:latin typeface="Cambria Math" panose="02040503050406030204" pitchFamily="18" charset="0"/>
                          </a:rPr>
                          <m:t>1+</m:t>
                        </m:r>
                        <m:d>
                          <m:dPr>
                            <m:ctrlPr>
                              <a:rPr lang="en-US" i="1">
                                <a:latin typeface="Cambria Math" panose="02040503050406030204" pitchFamily="18" charset="0"/>
                              </a:rPr>
                            </m:ctrlPr>
                          </m:dPr>
                          <m:e>
                            <m:r>
                              <a:rPr lang="en-US" i="1">
                                <a:latin typeface="Cambria Math" panose="02040503050406030204" pitchFamily="18" charset="0"/>
                              </a:rPr>
                              <m:t>𝑚</m:t>
                            </m:r>
                            <m:r>
                              <a:rPr lang="en-US" i="1">
                                <a:latin typeface="Cambria Math" panose="02040503050406030204" pitchFamily="18" charset="0"/>
                              </a:rPr>
                              <m:t>−1</m:t>
                            </m:r>
                          </m:e>
                        </m:d>
                        <m:r>
                          <a:rPr lang="en-US" i="1">
                            <a:latin typeface="Cambria Math" panose="02040503050406030204" pitchFamily="18" charset="0"/>
                          </a:rPr>
                          <m:t>𝜌</m:t>
                        </m:r>
                      </m:e>
                    </m:d>
                  </m:oMath>
                </a14:m>
                <a:r>
                  <a:rPr lang="en-US" dirty="0"/>
                  <a:t> </a:t>
                </a:r>
              </a:p>
              <a:p>
                <a:endParaRPr lang="en-US" dirty="0"/>
              </a:p>
              <a:p>
                <a:r>
                  <a:rPr lang="en-US" dirty="0"/>
                  <a:t>We again set </a:t>
                </a:r>
                <a14:m>
                  <m:oMath xmlns:m="http://schemas.openxmlformats.org/officeDocument/2006/math">
                    <m:r>
                      <a:rPr lang="en-US" i="1" dirty="0" smtClean="0">
                        <a:latin typeface="Cambria Math" panose="02040503050406030204" pitchFamily="18" charset="0"/>
                      </a:rPr>
                      <m:t>𝐾</m:t>
                    </m:r>
                  </m:oMath>
                </a14:m>
                <a:r>
                  <a:rPr lang="en-US" dirty="0"/>
                  <a:t>=60,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r>
                      <a:rPr lang="en-US" i="1">
                        <a:latin typeface="Cambria Math" panose="02040503050406030204" pitchFamily="18" charset="0"/>
                      </a:rPr>
                      <m:t> </m:t>
                    </m:r>
                  </m:oMath>
                </a14:m>
                <a:r>
                  <a:rPr lang="en-US" dirty="0"/>
                  <a:t>=100, </a:t>
                </a:r>
                <a14:m>
                  <m:oMath xmlns:m="http://schemas.openxmlformats.org/officeDocument/2006/math">
                    <m:r>
                      <a:rPr lang="en-US" i="1">
                        <a:latin typeface="Cambria Math" panose="02040503050406030204" pitchFamily="18" charset="0"/>
                        <a:ea typeface="Cambria Math" panose="02040503050406030204" pitchFamily="18" charset="0"/>
                      </a:rPr>
                      <m:t>𝜌</m:t>
                    </m:r>
                    <m:r>
                      <a:rPr lang="en-US" i="1">
                        <a:latin typeface="Cambria Math" panose="02040503050406030204" pitchFamily="18" charset="0"/>
                        <a:ea typeface="Cambria Math" panose="02040503050406030204" pitchFamily="18" charset="0"/>
                      </a:rPr>
                      <m:t>=0.2</m:t>
                    </m:r>
                  </m:oMath>
                </a14:m>
                <a:r>
                  <a:rPr lang="en-US" dirty="0"/>
                  <a:t>, 0.4 and 0.6</a:t>
                </a:r>
              </a:p>
              <a:p>
                <a:endParaRPr lang="en-US" dirty="0"/>
              </a:p>
            </p:txBody>
          </p:sp>
        </mc:Choice>
        <mc:Fallback xmlns="">
          <p:sp>
            <p:nvSpPr>
              <p:cNvPr id="3" name="TextBox 2">
                <a:extLst>
                  <a:ext uri="{FF2B5EF4-FFF2-40B4-BE49-F238E27FC236}">
                    <a16:creationId xmlns:a16="http://schemas.microsoft.com/office/drawing/2014/main" id="{806AB707-5D46-C94C-91B5-942C13759D69}"/>
                  </a:ext>
                </a:extLst>
              </p:cNvPr>
              <p:cNvSpPr txBox="1">
                <a:spLocks noRot="1" noChangeAspect="1" noMove="1" noResize="1" noEditPoints="1" noAdjustHandles="1" noChangeArrowheads="1" noChangeShapeType="1" noTextEdit="1"/>
              </p:cNvSpPr>
              <p:nvPr/>
            </p:nvSpPr>
            <p:spPr>
              <a:xfrm>
                <a:off x="1138336" y="1536239"/>
                <a:ext cx="4842672" cy="1355179"/>
              </a:xfrm>
              <a:prstGeom prst="rect">
                <a:avLst/>
              </a:prstGeom>
              <a:blipFill>
                <a:blip r:embed="rId3"/>
                <a:stretch>
                  <a:fillRect l="-1134" r="-126"/>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F6CFD436-0B71-A45B-FFEB-A8571C963C94}"/>
              </a:ext>
            </a:extLst>
          </p:cNvPr>
          <p:cNvSpPr>
            <a:spLocks noGrp="1"/>
          </p:cNvSpPr>
          <p:nvPr>
            <p:ph type="sldNum" sz="quarter" idx="12"/>
          </p:nvPr>
        </p:nvSpPr>
        <p:spPr/>
        <p:txBody>
          <a:bodyPr/>
          <a:lstStyle/>
          <a:p>
            <a:fld id="{77C6A7FE-225D-49F1-B302-AA37EA92BB49}" type="slidenum">
              <a:rPr lang="en-US" smtClean="0"/>
              <a:t>41</a:t>
            </a:fld>
            <a:endParaRPr lang="en-US"/>
          </a:p>
        </p:txBody>
      </p:sp>
    </p:spTree>
    <p:extLst>
      <p:ext uri="{BB962C8B-B14F-4D97-AF65-F5344CB8AC3E}">
        <p14:creationId xmlns:p14="http://schemas.microsoft.com/office/powerpoint/2010/main" val="193123542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i="1" dirty="0">
                <a:latin typeface="Arial" panose="020B0604020202020204" pitchFamily="34" charset="0"/>
                <a:cs typeface="Arial" panose="020B0604020202020204" pitchFamily="34" charset="0"/>
              </a:rPr>
              <a:t>Example </a:t>
            </a:r>
            <a:endParaRPr lang="en-US" sz="2800" dirty="0">
              <a:solidFill>
                <a:schemeClr val="bg1"/>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32FA633-F561-4CDC-9247-29CB7D6F19AD}"/>
                  </a:ext>
                </a:extLst>
              </p:cNvPr>
              <p:cNvSpPr txBox="1"/>
              <p:nvPr/>
            </p:nvSpPr>
            <p:spPr>
              <a:xfrm>
                <a:off x="790832" y="2053962"/>
                <a:ext cx="10700952" cy="3548600"/>
              </a:xfrm>
              <a:prstGeom prst="rect">
                <a:avLst/>
              </a:prstGeom>
              <a:noFill/>
            </p:spPr>
            <p:txBody>
              <a:bodyPr wrap="square">
                <a:spAutoFit/>
              </a:bodyPr>
              <a:lstStyle/>
              <a:p>
                <a:r>
                  <a:rPr lang="en-US" altLang="en-US" sz="3200" dirty="0"/>
                  <a:t>Hsieh (1988) reported on the results of a pilot study for a planned 5-year trial examining cardiovascular risk factors, obtaining cholesterol levels from 754 individuals in 4 worksites.</a:t>
                </a:r>
              </a:p>
              <a:p>
                <a:endParaRPr lang="en-US" altLang="en-US" sz="3200" dirty="0"/>
              </a:p>
              <a:p>
                <a:r>
                  <a:rPr lang="en-US" altLang="en-US" sz="3200" dirty="0"/>
                  <a:t>Estimated variance components were</a:t>
                </a:r>
              </a:p>
              <a:p>
                <a:pPr/>
                <a14:m>
                  <m:oMathPara xmlns:m="http://schemas.openxmlformats.org/officeDocument/2006/math">
                    <m:oMathParaPr>
                      <m:jc m:val="centerGroup"/>
                    </m:oMathParaPr>
                    <m:oMath xmlns:m="http://schemas.openxmlformats.org/officeDocument/2006/math">
                      <m:sSubSup>
                        <m:sSubSupPr>
                          <m:ctrlPr>
                            <a:rPr lang="en-US" sz="3200" i="1" smtClean="0">
                              <a:solidFill>
                                <a:srgbClr val="000000"/>
                              </a:solidFill>
                              <a:latin typeface="Cambria Math" panose="02040503050406030204" pitchFamily="18" charset="0"/>
                            </a:rPr>
                          </m:ctrlPr>
                        </m:sSubSupPr>
                        <m:e>
                          <m:acc>
                            <m:accPr>
                              <m:chr m:val="̂"/>
                              <m:ctrlPr>
                                <a:rPr lang="en-US" sz="3200" i="1" smtClean="0">
                                  <a:solidFill>
                                    <a:srgbClr val="000000"/>
                                  </a:solidFill>
                                  <a:latin typeface="Cambria Math" panose="02040503050406030204" pitchFamily="18" charset="0"/>
                                </a:rPr>
                              </m:ctrlPr>
                            </m:accPr>
                            <m:e>
                              <m:r>
                                <a:rPr lang="en-US" sz="3200" i="1" smtClean="0">
                                  <a:solidFill>
                                    <a:srgbClr val="000000"/>
                                  </a:solidFill>
                                  <a:latin typeface="Cambria Math" panose="02040503050406030204" pitchFamily="18" charset="0"/>
                                  <a:ea typeface="Cambria Math" panose="02040503050406030204" pitchFamily="18" charset="0"/>
                                </a:rPr>
                                <m:t>𝜎</m:t>
                              </m:r>
                            </m:e>
                          </m:acc>
                        </m:e>
                        <m:sub>
                          <m:r>
                            <a:rPr lang="en-US" sz="3200" i="1">
                              <a:solidFill>
                                <a:srgbClr val="000000"/>
                              </a:solidFill>
                              <a:latin typeface="Cambria Math" panose="02040503050406030204" pitchFamily="18" charset="0"/>
                            </a:rPr>
                            <m:t>𝑊</m:t>
                          </m:r>
                        </m:sub>
                        <m:sup>
                          <m:r>
                            <a:rPr lang="en-US" sz="3200" i="1">
                              <a:solidFill>
                                <a:srgbClr val="000000"/>
                              </a:solidFill>
                              <a:latin typeface="Cambria Math" panose="02040503050406030204" pitchFamily="18" charset="0"/>
                            </a:rPr>
                            <m:t>2</m:t>
                          </m:r>
                        </m:sup>
                      </m:sSubSup>
                      <m:r>
                        <a:rPr lang="en-US" sz="3200" i="1">
                          <a:solidFill>
                            <a:srgbClr val="000000"/>
                          </a:solidFill>
                          <a:latin typeface="Cambria Math" panose="02040503050406030204" pitchFamily="18" charset="0"/>
                        </a:rPr>
                        <m:t>=2209,</m:t>
                      </m:r>
                      <m:sSubSup>
                        <m:sSubSupPr>
                          <m:ctrlPr>
                            <a:rPr lang="en-US" sz="3200" i="1">
                              <a:solidFill>
                                <a:srgbClr val="000000"/>
                              </a:solidFill>
                              <a:latin typeface="Cambria Math" panose="02040503050406030204" pitchFamily="18" charset="0"/>
                            </a:rPr>
                          </m:ctrlPr>
                        </m:sSubSupPr>
                        <m:e>
                          <m:acc>
                            <m:accPr>
                              <m:chr m:val="̂"/>
                              <m:ctrlPr>
                                <a:rPr lang="en-US" sz="3200" i="1">
                                  <a:solidFill>
                                    <a:srgbClr val="000000"/>
                                  </a:solidFill>
                                  <a:latin typeface="Cambria Math" panose="02040503050406030204" pitchFamily="18" charset="0"/>
                                </a:rPr>
                              </m:ctrlPr>
                            </m:accPr>
                            <m:e>
                              <m:r>
                                <a:rPr lang="en-US" sz="3200" i="1">
                                  <a:solidFill>
                                    <a:srgbClr val="000000"/>
                                  </a:solidFill>
                                  <a:latin typeface="Cambria Math" panose="02040503050406030204" pitchFamily="18" charset="0"/>
                                  <a:ea typeface="Cambria Math" panose="02040503050406030204" pitchFamily="18" charset="0"/>
                                </a:rPr>
                                <m:t>𝜎</m:t>
                              </m:r>
                            </m:e>
                          </m:acc>
                        </m:e>
                        <m:sub>
                          <m:r>
                            <a:rPr lang="en-US" sz="3200" i="1">
                              <a:solidFill>
                                <a:srgbClr val="000000"/>
                              </a:solidFill>
                              <a:latin typeface="Cambria Math" panose="02040503050406030204" pitchFamily="18" charset="0"/>
                            </a:rPr>
                            <m:t>𝐵</m:t>
                          </m:r>
                        </m:sub>
                        <m:sup>
                          <m:r>
                            <a:rPr lang="en-US" sz="3200" i="1">
                              <a:solidFill>
                                <a:srgbClr val="000000"/>
                              </a:solidFill>
                              <a:latin typeface="Cambria Math" panose="02040503050406030204" pitchFamily="18" charset="0"/>
                            </a:rPr>
                            <m:t>2</m:t>
                          </m:r>
                        </m:sup>
                      </m:sSubSup>
                      <m:r>
                        <a:rPr lang="en-US" sz="3200" i="1">
                          <a:solidFill>
                            <a:srgbClr val="000000"/>
                          </a:solidFill>
                          <a:latin typeface="Cambria Math" panose="02040503050406030204" pitchFamily="18" charset="0"/>
                        </a:rPr>
                        <m:t>=93.</m:t>
                      </m:r>
                    </m:oMath>
                  </m:oMathPara>
                </a14:m>
                <a:endParaRPr lang="en-US" sz="3200" dirty="0"/>
              </a:p>
              <a:p>
                <a:endParaRPr lang="en-US" altLang="en-US" sz="3200" dirty="0"/>
              </a:p>
            </p:txBody>
          </p:sp>
        </mc:Choice>
        <mc:Fallback xmlns="">
          <p:sp>
            <p:nvSpPr>
              <p:cNvPr id="5" name="TextBox 4">
                <a:extLst>
                  <a:ext uri="{FF2B5EF4-FFF2-40B4-BE49-F238E27FC236}">
                    <a16:creationId xmlns:a16="http://schemas.microsoft.com/office/drawing/2014/main" id="{732FA633-F561-4CDC-9247-29CB7D6F19AD}"/>
                  </a:ext>
                </a:extLst>
              </p:cNvPr>
              <p:cNvSpPr txBox="1">
                <a:spLocks noRot="1" noChangeAspect="1" noMove="1" noResize="1" noEditPoints="1" noAdjustHandles="1" noChangeArrowheads="1" noChangeShapeType="1" noTextEdit="1"/>
              </p:cNvSpPr>
              <p:nvPr/>
            </p:nvSpPr>
            <p:spPr>
              <a:xfrm>
                <a:off x="790832" y="2053962"/>
                <a:ext cx="10700952" cy="3548600"/>
              </a:xfrm>
              <a:prstGeom prst="rect">
                <a:avLst/>
              </a:prstGeom>
              <a:blipFill>
                <a:blip r:embed="rId4"/>
                <a:stretch>
                  <a:fillRect l="-1481" t="-2234" r="-456"/>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59F78EB1-302F-DB6C-B73F-2B0BEF2553BB}"/>
              </a:ext>
            </a:extLst>
          </p:cNvPr>
          <p:cNvSpPr>
            <a:spLocks noGrp="1"/>
          </p:cNvSpPr>
          <p:nvPr>
            <p:ph type="sldNum" sz="quarter" idx="12"/>
          </p:nvPr>
        </p:nvSpPr>
        <p:spPr/>
        <p:txBody>
          <a:bodyPr/>
          <a:lstStyle/>
          <a:p>
            <a:fld id="{77C6A7FE-225D-49F1-B302-AA37EA92BB49}" type="slidenum">
              <a:rPr lang="en-US" smtClean="0"/>
              <a:t>42</a:t>
            </a:fld>
            <a:endParaRPr lang="en-US"/>
          </a:p>
        </p:txBody>
      </p:sp>
    </p:spTree>
    <p:extLst>
      <p:ext uri="{BB962C8B-B14F-4D97-AF65-F5344CB8AC3E}">
        <p14:creationId xmlns:p14="http://schemas.microsoft.com/office/powerpoint/2010/main" val="317400949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45FB72E-756C-4179-B308-CBD1DB65EDB3}"/>
                  </a:ext>
                </a:extLst>
              </p:cNvPr>
              <p:cNvSpPr txBox="1"/>
              <p:nvPr/>
            </p:nvSpPr>
            <p:spPr>
              <a:xfrm>
                <a:off x="2851322" y="1900536"/>
                <a:ext cx="6098058" cy="354937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3200" i="1">
                          <a:solidFill>
                            <a:srgbClr val="000000"/>
                          </a:solidFill>
                          <a:latin typeface="Cambria Math" panose="02040503050406030204" pitchFamily="18" charset="0"/>
                        </a:rPr>
                        <m:t>∴</m:t>
                      </m:r>
                      <m:r>
                        <a:rPr lang="en-US" sz="3200" i="1" smtClean="0">
                          <a:solidFill>
                            <a:srgbClr val="000000"/>
                          </a:solidFill>
                          <a:latin typeface="Cambria Math" panose="02040503050406030204" pitchFamily="18" charset="0"/>
                        </a:rPr>
                        <m:t>𝜌</m:t>
                      </m:r>
                      <m:r>
                        <a:rPr lang="en-US" sz="3200" i="1" smtClean="0">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93</m:t>
                          </m:r>
                        </m:num>
                        <m:den>
                          <m:d>
                            <m:dPr>
                              <m:ctrlPr>
                                <a:rPr lang="en-US" sz="3200" i="1">
                                  <a:solidFill>
                                    <a:srgbClr val="000000"/>
                                  </a:solidFill>
                                  <a:latin typeface="Cambria Math" panose="02040503050406030204" pitchFamily="18" charset="0"/>
                                </a:rPr>
                              </m:ctrlPr>
                            </m:dPr>
                            <m:e>
                              <m:r>
                                <a:rPr lang="en-US" sz="3200" i="1">
                                  <a:solidFill>
                                    <a:srgbClr val="000000"/>
                                  </a:solidFill>
                                  <a:latin typeface="Cambria Math" panose="02040503050406030204" pitchFamily="18" charset="0"/>
                                </a:rPr>
                                <m:t>93+2209</m:t>
                              </m:r>
                            </m:e>
                          </m:d>
                        </m:den>
                      </m:f>
                      <m:r>
                        <a:rPr lang="en-US" sz="3200" i="1">
                          <a:solidFill>
                            <a:srgbClr val="000000"/>
                          </a:solidFill>
                          <a:latin typeface="Cambria Math" panose="02040503050406030204" pitchFamily="18" charset="0"/>
                        </a:rPr>
                        <m:t>=0.04</m:t>
                      </m:r>
                    </m:oMath>
                  </m:oMathPara>
                </a14:m>
                <a:endParaRPr lang="en-US" sz="3200" dirty="0"/>
              </a:p>
              <a:p>
                <a:endParaRPr lang="en-US" sz="3200" dirty="0"/>
              </a:p>
              <a:p>
                <a:r>
                  <a:rPr lang="en-US" sz="3200" dirty="0"/>
                  <a:t>Assuming </a:t>
                </a:r>
                <a14:m>
                  <m:oMath xmlns:m="http://schemas.openxmlformats.org/officeDocument/2006/math">
                    <m:acc>
                      <m:accPr>
                        <m:chr m:val="̃"/>
                        <m:ctrlPr>
                          <a:rPr lang="en-US" sz="3200" i="1" smtClean="0">
                            <a:solidFill>
                              <a:srgbClr val="000000"/>
                            </a:solidFill>
                            <a:latin typeface="Cambria Math" panose="02040503050406030204" pitchFamily="18" charset="0"/>
                          </a:rPr>
                        </m:ctrlPr>
                      </m:accPr>
                      <m:e>
                        <m:r>
                          <a:rPr lang="en-US" sz="3200" i="1">
                            <a:solidFill>
                              <a:srgbClr val="000000"/>
                            </a:solidFill>
                            <a:latin typeface="Cambria Math" panose="02040503050406030204" pitchFamily="18" charset="0"/>
                          </a:rPr>
                          <m:t>−</m:t>
                        </m:r>
                      </m:e>
                    </m:acc>
                  </m:oMath>
                </a14:m>
                <a:r>
                  <a:rPr lang="en-US" sz="3200" dirty="0"/>
                  <a:t> 70 participants/worksite, </a:t>
                </a:r>
              </a:p>
              <a:p>
                <a:endParaRPr lang="en-US" sz="3200" dirty="0"/>
              </a:p>
              <a:p>
                <a:pPr/>
                <a14:m>
                  <m:oMathPara xmlns:m="http://schemas.openxmlformats.org/officeDocument/2006/math">
                    <m:oMathParaPr>
                      <m:jc m:val="left"/>
                    </m:oMathParaPr>
                    <m:oMath xmlns:m="http://schemas.openxmlformats.org/officeDocument/2006/math">
                      <m:r>
                        <m:rPr>
                          <m:nor/>
                        </m:rPr>
                        <a:rPr lang="en-US" sz="3200" i="0" smtClean="0">
                          <a:solidFill>
                            <a:srgbClr val="000000"/>
                          </a:solidFill>
                          <a:latin typeface="Cambria Math" panose="02040503050406030204" pitchFamily="18" charset="0"/>
                        </a:rPr>
                        <m:t>IF</m:t>
                      </m:r>
                      <m:r>
                        <a:rPr lang="en-US" sz="3200" i="1">
                          <a:solidFill>
                            <a:srgbClr val="000000"/>
                          </a:solidFill>
                          <a:latin typeface="Cambria Math" panose="02040503050406030204" pitchFamily="18" charset="0"/>
                        </a:rPr>
                        <m:t>=1+</m:t>
                      </m:r>
                      <m:d>
                        <m:dPr>
                          <m:ctrlPr>
                            <a:rPr lang="en-US" sz="3200" i="1">
                              <a:solidFill>
                                <a:srgbClr val="000000"/>
                              </a:solidFill>
                              <a:latin typeface="Cambria Math" panose="02040503050406030204" pitchFamily="18" charset="0"/>
                            </a:rPr>
                          </m:ctrlPr>
                        </m:dPr>
                        <m:e>
                          <m:r>
                            <a:rPr lang="en-US" sz="3200" i="1">
                              <a:solidFill>
                                <a:srgbClr val="000000"/>
                              </a:solidFill>
                              <a:latin typeface="Cambria Math" panose="02040503050406030204" pitchFamily="18" charset="0"/>
                            </a:rPr>
                            <m:t>70−1</m:t>
                          </m:r>
                        </m:e>
                      </m:d>
                      <m:r>
                        <a:rPr lang="en-US" sz="3200" i="1">
                          <a:solidFill>
                            <a:srgbClr val="000000"/>
                          </a:solidFill>
                          <a:latin typeface="Cambria Math" panose="02040503050406030204" pitchFamily="18" charset="0"/>
                        </a:rPr>
                        <m:t>0.04=3.76</m:t>
                      </m:r>
                    </m:oMath>
                  </m:oMathPara>
                </a14:m>
                <a:endParaRPr lang="en-US" sz="3200" dirty="0"/>
              </a:p>
            </p:txBody>
          </p:sp>
        </mc:Choice>
        <mc:Fallback xmlns="">
          <p:sp>
            <p:nvSpPr>
              <p:cNvPr id="5" name="TextBox 4">
                <a:extLst>
                  <a:ext uri="{FF2B5EF4-FFF2-40B4-BE49-F238E27FC236}">
                    <a16:creationId xmlns:a16="http://schemas.microsoft.com/office/drawing/2014/main" id="{345FB72E-756C-4179-B308-CBD1DB65EDB3}"/>
                  </a:ext>
                </a:extLst>
              </p:cNvPr>
              <p:cNvSpPr txBox="1">
                <a:spLocks noRot="1" noChangeAspect="1" noMove="1" noResize="1" noEditPoints="1" noAdjustHandles="1" noChangeArrowheads="1" noChangeShapeType="1" noTextEdit="1"/>
              </p:cNvSpPr>
              <p:nvPr/>
            </p:nvSpPr>
            <p:spPr>
              <a:xfrm>
                <a:off x="2851322" y="1900536"/>
                <a:ext cx="6098058" cy="3549370"/>
              </a:xfrm>
              <a:prstGeom prst="rect">
                <a:avLst/>
              </a:prstGeom>
              <a:blipFill>
                <a:blip r:embed="rId4"/>
                <a:stretch>
                  <a:fillRect l="-2600"/>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07C3FC61-A9BC-F94F-BE9A-C64BD6EAEC7A}"/>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04A9AFEA-C3FA-05F6-5098-E11C230483DC}"/>
              </a:ext>
            </a:extLst>
          </p:cNvPr>
          <p:cNvSpPr>
            <a:spLocks noGrp="1"/>
          </p:cNvSpPr>
          <p:nvPr>
            <p:ph type="sldNum" sz="quarter" idx="12"/>
          </p:nvPr>
        </p:nvSpPr>
        <p:spPr/>
        <p:txBody>
          <a:bodyPr/>
          <a:lstStyle/>
          <a:p>
            <a:fld id="{77C6A7FE-225D-49F1-B302-AA37EA92BB49}" type="slidenum">
              <a:rPr lang="en-US" smtClean="0"/>
              <a:t>43</a:t>
            </a:fld>
            <a:endParaRPr lang="en-US"/>
          </a:p>
        </p:txBody>
      </p:sp>
    </p:spTree>
    <p:extLst>
      <p:ext uri="{BB962C8B-B14F-4D97-AF65-F5344CB8AC3E}">
        <p14:creationId xmlns:p14="http://schemas.microsoft.com/office/powerpoint/2010/main" val="18483982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0D73B20-D3B7-482A-9408-CF9E5C1B1B39}"/>
                  </a:ext>
                </a:extLst>
              </p:cNvPr>
              <p:cNvSpPr txBox="1"/>
              <p:nvPr/>
            </p:nvSpPr>
            <p:spPr>
              <a:xfrm>
                <a:off x="177800" y="181307"/>
                <a:ext cx="12192000" cy="7239995"/>
              </a:xfrm>
              <a:prstGeom prst="rect">
                <a:avLst/>
              </a:prstGeom>
              <a:noFill/>
            </p:spPr>
            <p:txBody>
              <a:bodyPr wrap="square">
                <a:spAutoFit/>
              </a:bodyPr>
              <a:lstStyle/>
              <a:p>
                <a:r>
                  <a:rPr lang="en-US" altLang="en-US" sz="2200" dirty="0">
                    <a:sym typeface="Wingdings" pitchFamily="2" charset="2"/>
                  </a:rPr>
                  <a:t>The classic </a:t>
                </a:r>
                <a:r>
                  <a:rPr lang="en-US" altLang="en-US" sz="2200" b="1" dirty="0">
                    <a:sym typeface="Wingdings" pitchFamily="2" charset="2"/>
                  </a:rPr>
                  <a:t>per group </a:t>
                </a:r>
                <a:r>
                  <a:rPr lang="en-US" altLang="en-US" sz="2200" dirty="0">
                    <a:sym typeface="Wingdings" pitchFamily="2" charset="2"/>
                  </a:rPr>
                  <a:t>sample size formula based upon the Wald test for the difference between two means is </a:t>
                </a:r>
              </a:p>
              <a:p>
                <a:endParaRPr lang="en-US" altLang="en-US" sz="2200" dirty="0">
                  <a:sym typeface="Wingdings" pitchFamily="2" charset="2"/>
                </a:endParaRPr>
              </a:p>
              <a:p>
                <a:pPr algn="ctr"/>
                <a14:m>
                  <m:oMath xmlns:m="http://schemas.openxmlformats.org/officeDocument/2006/math">
                    <m:sSub>
                      <m:sSubPr>
                        <m:ctrlPr>
                          <a:rPr lang="en-US" altLang="en-US" sz="2200" b="0" i="1" smtClean="0">
                            <a:latin typeface="Cambria Math" panose="02040503050406030204" pitchFamily="18" charset="0"/>
                            <a:sym typeface="Wingdings" pitchFamily="2" charset="2"/>
                          </a:rPr>
                        </m:ctrlPr>
                      </m:sSubPr>
                      <m:e>
                        <m:r>
                          <a:rPr lang="en-US" altLang="en-US" sz="2200" b="0" i="1" smtClean="0">
                            <a:latin typeface="Cambria Math" panose="02040503050406030204" pitchFamily="18" charset="0"/>
                            <a:sym typeface="Wingdings" pitchFamily="2" charset="2"/>
                          </a:rPr>
                          <m:t>𝑛</m:t>
                        </m:r>
                      </m:e>
                      <m:sub>
                        <m:r>
                          <a:rPr lang="en-US" altLang="en-US" sz="2200" b="0" i="1" smtClean="0">
                            <a:latin typeface="Cambria Math" panose="02040503050406030204" pitchFamily="18" charset="0"/>
                            <a:sym typeface="Wingdings" pitchFamily="2" charset="2"/>
                          </a:rPr>
                          <m:t>𝑖</m:t>
                        </m:r>
                      </m:sub>
                    </m:sSub>
                    <m:r>
                      <m:rPr>
                        <m:nor/>
                      </m:rPr>
                      <a:rPr lang="en-US" altLang="en-US" sz="2200" i="1">
                        <a:latin typeface="Cambria Math" panose="02040503050406030204" pitchFamily="18" charset="0"/>
                        <a:sym typeface="Wingdings" pitchFamily="2" charset="2"/>
                      </a:rPr>
                      <m:t>=</m:t>
                    </m:r>
                    <m:sSup>
                      <m:sSupPr>
                        <m:ctrlPr>
                          <a:rPr lang="el-GR" sz="2200" i="1" dirty="0" smtClean="0">
                            <a:solidFill>
                              <a:srgbClr val="555555"/>
                            </a:solidFill>
                            <a:latin typeface="Cambria Math" panose="02040503050406030204" pitchFamily="18" charset="0"/>
                          </a:rPr>
                        </m:ctrlPr>
                      </m:sSupPr>
                      <m:e>
                        <m:r>
                          <m:rPr>
                            <m:nor/>
                          </m:rPr>
                          <a:rPr lang="el-GR" sz="2200" i="0" dirty="0">
                            <a:solidFill>
                              <a:srgbClr val="555555"/>
                            </a:solidFill>
                            <a:latin typeface="Ubuntu"/>
                          </a:rPr>
                          <m:t>(</m:t>
                        </m:r>
                        <m:sSub>
                          <m:sSubPr>
                            <m:ctrlPr>
                              <a:rPr lang="el-GR" sz="2200" i="1" dirty="0">
                                <a:solidFill>
                                  <a:srgbClr val="555555"/>
                                </a:solidFill>
                                <a:latin typeface="Cambria Math" panose="02040503050406030204" pitchFamily="18" charset="0"/>
                              </a:rPr>
                            </m:ctrlPr>
                          </m:sSubPr>
                          <m:e>
                            <m:r>
                              <a:rPr lang="en-US" sz="2200" i="1" dirty="0">
                                <a:solidFill>
                                  <a:srgbClr val="555555"/>
                                </a:solidFill>
                                <a:latin typeface="Cambria Math" panose="02040503050406030204" pitchFamily="18" charset="0"/>
                              </a:rPr>
                              <m:t>𝑍</m:t>
                            </m:r>
                          </m:e>
                          <m:sub>
                            <m:r>
                              <a:rPr lang="el-GR" sz="2200" i="1" dirty="0">
                                <a:solidFill>
                                  <a:srgbClr val="555555"/>
                                </a:solidFill>
                                <a:latin typeface="Cambria Math" panose="02040503050406030204" pitchFamily="18" charset="0"/>
                                <a:ea typeface="Cambria Math" panose="02040503050406030204" pitchFamily="18" charset="0"/>
                              </a:rPr>
                              <m:t>𝛼</m:t>
                            </m:r>
                            <m:r>
                              <a:rPr lang="en-US" sz="2200" i="1" dirty="0">
                                <a:solidFill>
                                  <a:srgbClr val="555555"/>
                                </a:solidFill>
                                <a:latin typeface="Cambria Math" panose="02040503050406030204" pitchFamily="18" charset="0"/>
                                <a:ea typeface="Cambria Math" panose="02040503050406030204" pitchFamily="18" charset="0"/>
                              </a:rPr>
                              <m:t>/2</m:t>
                            </m:r>
                          </m:sub>
                        </m:sSub>
                        <m:r>
                          <m:rPr>
                            <m:nor/>
                          </m:rPr>
                          <a:rPr lang="en-US" sz="2200" i="0" dirty="0">
                            <a:solidFill>
                              <a:srgbClr val="555555"/>
                            </a:solidFill>
                            <a:latin typeface="Ubuntu"/>
                          </a:rPr>
                          <m:t>+</m:t>
                        </m:r>
                        <m:sSub>
                          <m:sSubPr>
                            <m:ctrlPr>
                              <a:rPr lang="en-US" sz="2200" i="1" dirty="0" smtClean="0">
                                <a:solidFill>
                                  <a:srgbClr val="555555"/>
                                </a:solidFill>
                                <a:latin typeface="Cambria Math" panose="02040503050406030204" pitchFamily="18" charset="0"/>
                              </a:rPr>
                            </m:ctrlPr>
                          </m:sSubPr>
                          <m:e>
                            <m:r>
                              <a:rPr lang="en-US" sz="2200" b="0" i="1" dirty="0" smtClean="0">
                                <a:solidFill>
                                  <a:srgbClr val="555555"/>
                                </a:solidFill>
                                <a:latin typeface="Cambria Math" panose="02040503050406030204" pitchFamily="18" charset="0"/>
                              </a:rPr>
                              <m:t>𝑍</m:t>
                            </m:r>
                          </m:e>
                          <m:sub>
                            <m:r>
                              <a:rPr lang="en-US" sz="2200" i="1" dirty="0" smtClean="0">
                                <a:solidFill>
                                  <a:srgbClr val="555555"/>
                                </a:solidFill>
                                <a:latin typeface="Cambria Math" panose="02040503050406030204" pitchFamily="18" charset="0"/>
                                <a:ea typeface="Cambria Math" panose="02040503050406030204" pitchFamily="18" charset="0"/>
                              </a:rPr>
                              <m:t>𝛽</m:t>
                            </m:r>
                          </m:sub>
                        </m:sSub>
                        <m:r>
                          <m:rPr>
                            <m:nor/>
                          </m:rPr>
                          <a:rPr lang="el-GR" sz="2200" i="0" dirty="0">
                            <a:solidFill>
                              <a:srgbClr val="555555"/>
                            </a:solidFill>
                            <a:latin typeface="Ubuntu"/>
                          </a:rPr>
                          <m:t>)</m:t>
                        </m:r>
                      </m:e>
                      <m:sup>
                        <m:r>
                          <a:rPr lang="en-US" sz="2200" b="0" i="1" dirty="0" smtClean="0">
                            <a:solidFill>
                              <a:srgbClr val="555555"/>
                            </a:solidFill>
                            <a:latin typeface="Cambria Math" panose="02040503050406030204" pitchFamily="18" charset="0"/>
                          </a:rPr>
                          <m:t>2</m:t>
                        </m:r>
                      </m:sup>
                    </m:sSup>
                    <m:r>
                      <a:rPr lang="el-GR" sz="2200" i="1" dirty="0" smtClean="0">
                        <a:solidFill>
                          <a:srgbClr val="555555"/>
                        </a:solidFill>
                        <a:latin typeface="Cambria Math" panose="02040503050406030204" pitchFamily="18" charset="0"/>
                        <a:ea typeface="Cambria Math" panose="02040503050406030204" pitchFamily="18" charset="0"/>
                      </a:rPr>
                      <m:t>×</m:t>
                    </m:r>
                    <m:r>
                      <m:rPr>
                        <m:nor/>
                      </m:rPr>
                      <a:rPr lang="en-US" sz="2200" i="0" dirty="0">
                        <a:solidFill>
                          <a:srgbClr val="555555"/>
                        </a:solidFill>
                        <a:latin typeface="Cambria Math" panose="02040503050406030204" pitchFamily="18" charset="0"/>
                      </a:rPr>
                      <m:t>2</m:t>
                    </m:r>
                    <m:sSup>
                      <m:sSupPr>
                        <m:ctrlPr>
                          <a:rPr lang="en-US" sz="2200" i="1" dirty="0" smtClean="0">
                            <a:solidFill>
                              <a:srgbClr val="555555"/>
                            </a:solidFill>
                            <a:latin typeface="Cambria Math" panose="02040503050406030204" pitchFamily="18" charset="0"/>
                          </a:rPr>
                        </m:ctrlPr>
                      </m:sSupPr>
                      <m:e>
                        <m:r>
                          <a:rPr lang="en-US" sz="2200" i="1" dirty="0" smtClean="0">
                            <a:solidFill>
                              <a:srgbClr val="555555"/>
                            </a:solidFill>
                            <a:latin typeface="Cambria Math" panose="02040503050406030204" pitchFamily="18" charset="0"/>
                            <a:ea typeface="Cambria Math" panose="02040503050406030204" pitchFamily="18" charset="0"/>
                          </a:rPr>
                          <m:t>𝜎</m:t>
                        </m:r>
                      </m:e>
                      <m:sup>
                        <m:r>
                          <a:rPr lang="en-US" sz="2200" b="0" i="1" dirty="0" smtClean="0">
                            <a:solidFill>
                              <a:srgbClr val="555555"/>
                            </a:solidFill>
                            <a:latin typeface="Cambria Math" panose="02040503050406030204" pitchFamily="18" charset="0"/>
                          </a:rPr>
                          <m:t>2</m:t>
                        </m:r>
                      </m:sup>
                    </m:sSup>
                    <m:r>
                      <m:rPr>
                        <m:nor/>
                      </m:rPr>
                      <a:rPr lang="el-GR" sz="2200" i="0" dirty="0">
                        <a:solidFill>
                          <a:srgbClr val="555555"/>
                        </a:solidFill>
                        <a:latin typeface="Ubuntu"/>
                      </a:rPr>
                      <m:t>/</m:t>
                    </m:r>
                    <m:sSup>
                      <m:sSupPr>
                        <m:ctrlPr>
                          <a:rPr lang="el-GR" sz="2200" i="1" dirty="0" smtClean="0">
                            <a:solidFill>
                              <a:srgbClr val="555555"/>
                            </a:solidFill>
                            <a:latin typeface="Cambria Math" panose="02040503050406030204" pitchFamily="18" charset="0"/>
                          </a:rPr>
                        </m:ctrlPr>
                      </m:sSupPr>
                      <m:e>
                        <m:sSup>
                          <m:sSupPr>
                            <m:ctrlPr>
                              <a:rPr lang="el-GR" sz="2200" i="1" dirty="0">
                                <a:solidFill>
                                  <a:srgbClr val="555555"/>
                                </a:solidFill>
                                <a:latin typeface="Cambria Math" panose="02040503050406030204" pitchFamily="18" charset="0"/>
                              </a:rPr>
                            </m:ctrlPr>
                          </m:sSupPr>
                          <m:e>
                            <m:r>
                              <a:rPr lang="en-US" sz="2200" i="1" dirty="0">
                                <a:solidFill>
                                  <a:srgbClr val="555555"/>
                                </a:solidFill>
                                <a:latin typeface="Cambria Math" panose="02040503050406030204" pitchFamily="18" charset="0"/>
                              </a:rPr>
                              <m:t>(</m:t>
                            </m:r>
                            <m:r>
                              <a:rPr lang="el-GR" sz="2200" i="1" dirty="0">
                                <a:solidFill>
                                  <a:srgbClr val="555555"/>
                                </a:solidFill>
                                <a:latin typeface="Cambria Math" panose="02040503050406030204" pitchFamily="18" charset="0"/>
                                <a:ea typeface="Cambria Math" panose="02040503050406030204" pitchFamily="18" charset="0"/>
                              </a:rPr>
                              <m:t>𝛽</m:t>
                            </m:r>
                          </m:e>
                          <m:sup>
                            <m:r>
                              <a:rPr lang="en-US" sz="2200" i="1" dirty="0">
                                <a:solidFill>
                                  <a:srgbClr val="555555"/>
                                </a:solidFill>
                                <a:latin typeface="Cambria Math" panose="02040503050406030204" pitchFamily="18" charset="0"/>
                              </a:rPr>
                              <m:t>∗</m:t>
                            </m:r>
                          </m:sup>
                        </m:sSup>
                        <m:r>
                          <a:rPr lang="en-US" sz="2200" i="1" dirty="0">
                            <a:solidFill>
                              <a:srgbClr val="555555"/>
                            </a:solidFill>
                            <a:latin typeface="Cambria Math" panose="02040503050406030204" pitchFamily="18" charset="0"/>
                          </a:rPr>
                          <m:t>)</m:t>
                        </m:r>
                      </m:e>
                      <m:sup>
                        <m:r>
                          <a:rPr lang="en-US" sz="2200" b="0" i="1" dirty="0" smtClean="0">
                            <a:solidFill>
                              <a:srgbClr val="555555"/>
                            </a:solidFill>
                            <a:latin typeface="Cambria Math" panose="02040503050406030204" pitchFamily="18" charset="0"/>
                          </a:rPr>
                          <m:t>2</m:t>
                        </m:r>
                      </m:sup>
                    </m:sSup>
                    <m:r>
                      <a:rPr lang="en-US" sz="2200" b="0" i="1" dirty="0" smtClean="0">
                        <a:solidFill>
                          <a:srgbClr val="555555"/>
                        </a:solidFill>
                        <a:latin typeface="Cambria Math" panose="02040503050406030204" pitchFamily="18" charset="0"/>
                      </a:rPr>
                      <m:t>, </m:t>
                    </m:r>
                    <m:r>
                      <a:rPr lang="en-US" sz="2200" b="0" i="1" dirty="0" smtClean="0">
                        <a:solidFill>
                          <a:srgbClr val="555555"/>
                        </a:solidFill>
                        <a:latin typeface="Cambria Math" panose="02040503050406030204" pitchFamily="18" charset="0"/>
                      </a:rPr>
                      <m:t>𝑖</m:t>
                    </m:r>
                    <m:r>
                      <a:rPr lang="en-US" sz="2200" b="0" i="1" dirty="0" smtClean="0">
                        <a:solidFill>
                          <a:srgbClr val="555555"/>
                        </a:solidFill>
                        <a:latin typeface="Cambria Math" panose="02040503050406030204" pitchFamily="18" charset="0"/>
                      </a:rPr>
                      <m:t>=1,2</m:t>
                    </m:r>
                    <m:r>
                      <m:rPr>
                        <m:nor/>
                      </m:rPr>
                      <a:rPr lang="en-US" sz="2200" b="0" i="0" dirty="0" smtClean="0">
                        <a:solidFill>
                          <a:srgbClr val="555555"/>
                        </a:solidFill>
                        <a:latin typeface="Cambria Math" panose="02040503050406030204" pitchFamily="18" charset="0"/>
                      </a:rPr>
                      <m:t> </m:t>
                    </m:r>
                  </m:oMath>
                </a14:m>
                <a:r>
                  <a:rPr lang="en-US" altLang="en-US" sz="2200" dirty="0">
                    <a:sym typeface="Wingdings" pitchFamily="2" charset="2"/>
                  </a:rPr>
                  <a:t>, </a:t>
                </a:r>
              </a:p>
              <a:p>
                <a:pPr algn="ctr"/>
                <a:endParaRPr lang="en-US" altLang="en-US" sz="2200" dirty="0">
                  <a:sym typeface="Wingdings" pitchFamily="2" charset="2"/>
                </a:endParaRPr>
              </a:p>
              <a:p>
                <a:r>
                  <a:rPr lang="en-US" altLang="en-US" sz="2200" dirty="0">
                    <a:sym typeface="Wingdings" pitchFamily="2" charset="2"/>
                  </a:rPr>
                  <a:t>where </a:t>
                </a:r>
                <a14:m>
                  <m:oMath xmlns:m="http://schemas.openxmlformats.org/officeDocument/2006/math">
                    <m:sSup>
                      <m:sSupPr>
                        <m:ctrlPr>
                          <a:rPr lang="el-GR" sz="2200" i="1" dirty="0" smtClean="0">
                            <a:solidFill>
                              <a:srgbClr val="555555"/>
                            </a:solidFill>
                            <a:latin typeface="Cambria Math" panose="02040503050406030204" pitchFamily="18" charset="0"/>
                          </a:rPr>
                        </m:ctrlPr>
                      </m:sSupPr>
                      <m:e>
                        <m:r>
                          <a:rPr lang="el-GR" sz="2200" i="1" dirty="0">
                            <a:solidFill>
                              <a:srgbClr val="555555"/>
                            </a:solidFill>
                            <a:latin typeface="Cambria Math" panose="02040503050406030204" pitchFamily="18" charset="0"/>
                            <a:ea typeface="Cambria Math" panose="02040503050406030204" pitchFamily="18" charset="0"/>
                          </a:rPr>
                          <m:t>𝛽</m:t>
                        </m:r>
                      </m:e>
                      <m:sup>
                        <m:r>
                          <a:rPr lang="en-US" sz="2200" i="1" dirty="0">
                            <a:solidFill>
                              <a:srgbClr val="555555"/>
                            </a:solidFill>
                            <a:latin typeface="Cambria Math" panose="02040503050406030204" pitchFamily="18" charset="0"/>
                          </a:rPr>
                          <m:t>∗</m:t>
                        </m:r>
                      </m:sup>
                    </m:sSup>
                    <m:r>
                      <a:rPr lang="en-US" sz="2200" b="0" i="1" dirty="0" smtClean="0">
                        <a:solidFill>
                          <a:srgbClr val="555555"/>
                        </a:solidFill>
                        <a:latin typeface="Cambria Math" panose="02040503050406030204" pitchFamily="18" charset="0"/>
                      </a:rPr>
                      <m:t>=</m:t>
                    </m:r>
                    <m:sSub>
                      <m:sSubPr>
                        <m:ctrlPr>
                          <a:rPr lang="en-US" sz="2200" b="0" i="1" dirty="0" smtClean="0">
                            <a:solidFill>
                              <a:srgbClr val="555555"/>
                            </a:solidFill>
                            <a:latin typeface="Cambria Math" panose="02040503050406030204" pitchFamily="18" charset="0"/>
                          </a:rPr>
                        </m:ctrlPr>
                      </m:sSubPr>
                      <m:e>
                        <m:r>
                          <a:rPr lang="en-US" sz="2200" b="0" i="1" dirty="0" smtClean="0">
                            <a:solidFill>
                              <a:srgbClr val="555555"/>
                            </a:solidFill>
                            <a:latin typeface="Cambria Math" panose="02040503050406030204" pitchFamily="18" charset="0"/>
                            <a:ea typeface="Cambria Math" panose="02040503050406030204" pitchFamily="18" charset="0"/>
                          </a:rPr>
                          <m:t>𝜇</m:t>
                        </m:r>
                      </m:e>
                      <m:sub>
                        <m:r>
                          <a:rPr lang="en-US" sz="2200" b="0" i="1" dirty="0" smtClean="0">
                            <a:solidFill>
                              <a:srgbClr val="555555"/>
                            </a:solidFill>
                            <a:latin typeface="Cambria Math" panose="02040503050406030204" pitchFamily="18" charset="0"/>
                          </a:rPr>
                          <m:t>1</m:t>
                        </m:r>
                      </m:sub>
                    </m:sSub>
                    <m:r>
                      <a:rPr lang="en-US" sz="2200" b="0" i="1" dirty="0" smtClean="0">
                        <a:solidFill>
                          <a:srgbClr val="555555"/>
                        </a:solidFill>
                        <a:latin typeface="Cambria Math" panose="02040503050406030204" pitchFamily="18" charset="0"/>
                      </a:rPr>
                      <m:t>−</m:t>
                    </m:r>
                    <m:sSub>
                      <m:sSubPr>
                        <m:ctrlPr>
                          <a:rPr lang="en-US" sz="2200" i="1" dirty="0">
                            <a:solidFill>
                              <a:srgbClr val="555555"/>
                            </a:solidFill>
                            <a:latin typeface="Cambria Math" panose="02040503050406030204" pitchFamily="18" charset="0"/>
                          </a:rPr>
                        </m:ctrlPr>
                      </m:sSubPr>
                      <m:e>
                        <m:r>
                          <a:rPr lang="en-US" sz="2200" i="1" dirty="0">
                            <a:solidFill>
                              <a:srgbClr val="555555"/>
                            </a:solidFill>
                            <a:latin typeface="Cambria Math" panose="02040503050406030204" pitchFamily="18" charset="0"/>
                            <a:ea typeface="Cambria Math" panose="02040503050406030204" pitchFamily="18" charset="0"/>
                          </a:rPr>
                          <m:t>𝜇</m:t>
                        </m:r>
                      </m:e>
                      <m:sub>
                        <m:r>
                          <a:rPr lang="en-US" sz="2200" b="0" i="1" dirty="0" smtClean="0">
                            <a:solidFill>
                              <a:srgbClr val="555555"/>
                            </a:solidFill>
                            <a:latin typeface="Cambria Math" panose="02040503050406030204" pitchFamily="18" charset="0"/>
                            <a:ea typeface="Cambria Math" panose="02040503050406030204" pitchFamily="18" charset="0"/>
                          </a:rPr>
                          <m:t>2</m:t>
                        </m:r>
                      </m:sub>
                    </m:sSub>
                  </m:oMath>
                </a14:m>
                <a:r>
                  <a:rPr lang="en-US" altLang="en-US" sz="2200" dirty="0">
                    <a:sym typeface="Wingdings" pitchFamily="2" charset="2"/>
                  </a:rPr>
                  <a:t>, the difference between the hypothesized sample means in the two intervention groups, and </a:t>
                </a:r>
                <a14:m>
                  <m:oMath xmlns:m="http://schemas.openxmlformats.org/officeDocument/2006/math">
                    <m:sSup>
                      <m:sSupPr>
                        <m:ctrlPr>
                          <a:rPr lang="en-US" sz="2200" i="1" dirty="0">
                            <a:solidFill>
                              <a:srgbClr val="555555"/>
                            </a:solidFill>
                            <a:latin typeface="Cambria Math" panose="02040503050406030204" pitchFamily="18" charset="0"/>
                          </a:rPr>
                        </m:ctrlPr>
                      </m:sSupPr>
                      <m:e>
                        <m:r>
                          <a:rPr lang="en-US" sz="2200" i="1" dirty="0">
                            <a:solidFill>
                              <a:srgbClr val="555555"/>
                            </a:solidFill>
                            <a:latin typeface="Cambria Math" panose="02040503050406030204" pitchFamily="18" charset="0"/>
                            <a:ea typeface="Cambria Math" panose="02040503050406030204" pitchFamily="18" charset="0"/>
                          </a:rPr>
                          <m:t>𝜎</m:t>
                        </m:r>
                      </m:e>
                      <m:sup>
                        <m:r>
                          <a:rPr lang="en-US" sz="2200" i="1" dirty="0">
                            <a:solidFill>
                              <a:srgbClr val="555555"/>
                            </a:solidFill>
                            <a:latin typeface="Cambria Math" panose="02040503050406030204" pitchFamily="18" charset="0"/>
                          </a:rPr>
                          <m:t>2</m:t>
                        </m:r>
                      </m:sup>
                    </m:sSup>
                  </m:oMath>
                </a14:m>
                <a:r>
                  <a:rPr lang="en-US" altLang="en-US" sz="2200" dirty="0">
                    <a:sym typeface="Wingdings" pitchFamily="2" charset="2"/>
                  </a:rPr>
                  <a:t> is the variance of a single measurement. </a:t>
                </a:r>
              </a:p>
              <a:p>
                <a:endParaRPr lang="en-US" altLang="en-US" sz="2200" dirty="0">
                  <a:sym typeface="Wingdings" pitchFamily="2" charset="2"/>
                </a:endParaRPr>
              </a:p>
              <a:p>
                <a:r>
                  <a:rPr lang="en-US" altLang="en-US" sz="2200" dirty="0">
                    <a:sym typeface="Wingdings" pitchFamily="2" charset="2"/>
                  </a:rPr>
                  <a:t>In CRTs, when </a:t>
                </a:r>
                <a:r>
                  <a:rPr lang="en-US" altLang="en-US" sz="2200" i="1" dirty="0">
                    <a:latin typeface="Cambria Math" panose="02040503050406030204" pitchFamily="18" charset="0"/>
                    <a:ea typeface="Cambria Math" panose="02040503050406030204" pitchFamily="18" charset="0"/>
                    <a:sym typeface="Wingdings" pitchFamily="2" charset="2"/>
                  </a:rPr>
                  <a:t>m</a:t>
                </a:r>
                <a:r>
                  <a:rPr lang="en-US" altLang="en-US" sz="2200" dirty="0">
                    <a:latin typeface="Cambria Math" panose="02040503050406030204" pitchFamily="18" charset="0"/>
                    <a:ea typeface="Cambria Math" panose="02040503050406030204" pitchFamily="18" charset="0"/>
                    <a:sym typeface="Wingdings" pitchFamily="2" charset="2"/>
                  </a:rPr>
                  <a:t> </a:t>
                </a:r>
                <a:r>
                  <a:rPr lang="en-US" altLang="en-US" sz="2200" dirty="0">
                    <a:sym typeface="Wingdings" pitchFamily="2" charset="2"/>
                  </a:rPr>
                  <a:t>is fixed, we solve for </a:t>
                </a:r>
                <a:r>
                  <a:rPr lang="en-US" altLang="en-US" sz="2200" i="1" dirty="0">
                    <a:latin typeface="Cambria Math" panose="02040503050406030204" pitchFamily="18" charset="0"/>
                    <a:ea typeface="Cambria Math" panose="02040503050406030204" pitchFamily="18" charset="0"/>
                    <a:sym typeface="Wingdings" pitchFamily="2" charset="2"/>
                  </a:rPr>
                  <a:t>K</a:t>
                </a:r>
                <a:r>
                  <a:rPr lang="en-US" altLang="en-US" sz="2200" dirty="0">
                    <a:sym typeface="Wingdings" pitchFamily="2" charset="2"/>
                  </a:rPr>
                  <a:t>  as </a:t>
                </a:r>
              </a:p>
              <a:p>
                <a:endParaRPr lang="en-US" altLang="en-US" sz="2200" i="1" dirty="0">
                  <a:latin typeface="Cambria Math" panose="02040503050406030204" pitchFamily="18" charset="0"/>
                  <a:sym typeface="Wingdings" pitchFamily="2" charset="2"/>
                </a:endParaRPr>
              </a:p>
              <a:p>
                <a:pPr algn="ctr"/>
                <a14:m>
                  <m:oMath xmlns:m="http://schemas.openxmlformats.org/officeDocument/2006/math">
                    <m:r>
                      <a:rPr lang="en-US" altLang="en-US" sz="2200" i="1">
                        <a:latin typeface="Cambria Math" panose="02040503050406030204" pitchFamily="18" charset="0"/>
                        <a:sym typeface="Wingdings" pitchFamily="2" charset="2"/>
                      </a:rPr>
                      <m:t>𝐾</m:t>
                    </m:r>
                    <m:r>
                      <a:rPr lang="en-US" altLang="en-US" sz="2200" i="1">
                        <a:latin typeface="Cambria Math" panose="02040503050406030204" pitchFamily="18" charset="0"/>
                        <a:sym typeface="Wingdings" pitchFamily="2" charset="2"/>
                      </a:rPr>
                      <m:t>=</m:t>
                    </m:r>
                    <m:sSup>
                      <m:sSupPr>
                        <m:ctrlPr>
                          <a:rPr lang="el-GR" sz="2200" i="1" dirty="0">
                            <a:solidFill>
                              <a:srgbClr val="555555"/>
                            </a:solidFill>
                            <a:latin typeface="Cambria Math" panose="02040503050406030204" pitchFamily="18" charset="0"/>
                          </a:rPr>
                        </m:ctrlPr>
                      </m:sSupPr>
                      <m:e>
                        <m:r>
                          <m:rPr>
                            <m:nor/>
                          </m:rPr>
                          <a:rPr lang="el-GR" sz="2200" i="0" dirty="0">
                            <a:solidFill>
                              <a:srgbClr val="555555"/>
                            </a:solidFill>
                            <a:latin typeface="Ubuntu"/>
                          </a:rPr>
                          <m:t>(</m:t>
                        </m:r>
                        <m:sSub>
                          <m:sSubPr>
                            <m:ctrlPr>
                              <a:rPr lang="el-GR" sz="2200" i="1" dirty="0">
                                <a:solidFill>
                                  <a:srgbClr val="555555"/>
                                </a:solidFill>
                                <a:latin typeface="Cambria Math" panose="02040503050406030204" pitchFamily="18" charset="0"/>
                              </a:rPr>
                            </m:ctrlPr>
                          </m:sSubPr>
                          <m:e>
                            <m:r>
                              <a:rPr lang="en-US" sz="2200" i="1" dirty="0">
                                <a:solidFill>
                                  <a:srgbClr val="555555"/>
                                </a:solidFill>
                                <a:latin typeface="Cambria Math" panose="02040503050406030204" pitchFamily="18" charset="0"/>
                              </a:rPr>
                              <m:t>𝑍</m:t>
                            </m:r>
                          </m:e>
                          <m:sub>
                            <m:r>
                              <a:rPr lang="el-GR" sz="2200" i="1" dirty="0">
                                <a:solidFill>
                                  <a:srgbClr val="555555"/>
                                </a:solidFill>
                                <a:latin typeface="Cambria Math" panose="02040503050406030204" pitchFamily="18" charset="0"/>
                                <a:ea typeface="Cambria Math" panose="02040503050406030204" pitchFamily="18" charset="0"/>
                              </a:rPr>
                              <m:t>𝛼</m:t>
                            </m:r>
                            <m:r>
                              <a:rPr lang="en-US" sz="2200" i="1" dirty="0">
                                <a:solidFill>
                                  <a:srgbClr val="555555"/>
                                </a:solidFill>
                                <a:latin typeface="Cambria Math" panose="02040503050406030204" pitchFamily="18" charset="0"/>
                                <a:ea typeface="Cambria Math" panose="02040503050406030204" pitchFamily="18" charset="0"/>
                              </a:rPr>
                              <m:t>/2</m:t>
                            </m:r>
                          </m:sub>
                        </m:sSub>
                        <m:r>
                          <m:rPr>
                            <m:nor/>
                          </m:rPr>
                          <a:rPr lang="en-US" sz="2200" i="0" dirty="0">
                            <a:solidFill>
                              <a:srgbClr val="555555"/>
                            </a:solidFill>
                            <a:latin typeface="Ubuntu"/>
                          </a:rPr>
                          <m:t>+</m:t>
                        </m:r>
                        <m:sSub>
                          <m:sSubPr>
                            <m:ctrlPr>
                              <a:rPr lang="en-US" sz="2200" i="1" dirty="0">
                                <a:solidFill>
                                  <a:srgbClr val="555555"/>
                                </a:solidFill>
                                <a:latin typeface="Cambria Math" panose="02040503050406030204" pitchFamily="18" charset="0"/>
                              </a:rPr>
                            </m:ctrlPr>
                          </m:sSubPr>
                          <m:e>
                            <m:r>
                              <a:rPr lang="en-US" sz="2200" i="1" dirty="0">
                                <a:solidFill>
                                  <a:srgbClr val="555555"/>
                                </a:solidFill>
                                <a:latin typeface="Cambria Math" panose="02040503050406030204" pitchFamily="18" charset="0"/>
                              </a:rPr>
                              <m:t>𝑍</m:t>
                            </m:r>
                          </m:e>
                          <m:sub>
                            <m:r>
                              <a:rPr lang="en-US" sz="2200" i="1" dirty="0">
                                <a:solidFill>
                                  <a:srgbClr val="555555"/>
                                </a:solidFill>
                                <a:latin typeface="Cambria Math" panose="02040503050406030204" pitchFamily="18" charset="0"/>
                                <a:ea typeface="Cambria Math" panose="02040503050406030204" pitchFamily="18" charset="0"/>
                              </a:rPr>
                              <m:t>𝛽</m:t>
                            </m:r>
                          </m:sub>
                        </m:sSub>
                        <m:r>
                          <m:rPr>
                            <m:nor/>
                          </m:rPr>
                          <a:rPr lang="el-GR" sz="2200" i="0" dirty="0">
                            <a:solidFill>
                              <a:srgbClr val="555555"/>
                            </a:solidFill>
                            <a:latin typeface="Ubuntu"/>
                          </a:rPr>
                          <m:t>)</m:t>
                        </m:r>
                      </m:e>
                      <m:sup>
                        <m:r>
                          <a:rPr lang="en-US" sz="2200" i="1" dirty="0">
                            <a:solidFill>
                              <a:srgbClr val="555555"/>
                            </a:solidFill>
                            <a:latin typeface="Cambria Math" panose="02040503050406030204" pitchFamily="18" charset="0"/>
                          </a:rPr>
                          <m:t>2</m:t>
                        </m:r>
                      </m:sup>
                    </m:sSup>
                    <m:r>
                      <a:rPr lang="el-GR" sz="2200" i="1" dirty="0">
                        <a:solidFill>
                          <a:srgbClr val="555555"/>
                        </a:solidFill>
                        <a:latin typeface="Cambria Math" panose="02040503050406030204" pitchFamily="18" charset="0"/>
                        <a:ea typeface="Cambria Math" panose="02040503050406030204" pitchFamily="18" charset="0"/>
                      </a:rPr>
                      <m:t>×</m:t>
                    </m:r>
                    <m:r>
                      <m:rPr>
                        <m:nor/>
                      </m:rPr>
                      <a:rPr lang="en-US" sz="2200" i="0" dirty="0">
                        <a:solidFill>
                          <a:srgbClr val="555555"/>
                        </a:solidFill>
                        <a:latin typeface="Cambria Math" panose="02040503050406030204" pitchFamily="18" charset="0"/>
                      </a:rPr>
                      <m:t>2</m:t>
                    </m:r>
                    <m:sSup>
                      <m:sSupPr>
                        <m:ctrlPr>
                          <a:rPr lang="en-US" sz="2200" i="1" dirty="0">
                            <a:solidFill>
                              <a:srgbClr val="555555"/>
                            </a:solidFill>
                            <a:latin typeface="Cambria Math" panose="02040503050406030204" pitchFamily="18" charset="0"/>
                          </a:rPr>
                        </m:ctrlPr>
                      </m:sSupPr>
                      <m:e>
                        <m:r>
                          <a:rPr lang="en-US" sz="2200" i="1" dirty="0">
                            <a:solidFill>
                              <a:srgbClr val="555555"/>
                            </a:solidFill>
                            <a:latin typeface="Cambria Math" panose="02040503050406030204" pitchFamily="18" charset="0"/>
                            <a:ea typeface="Cambria Math" panose="02040503050406030204" pitchFamily="18" charset="0"/>
                          </a:rPr>
                          <m:t>𝜎</m:t>
                        </m:r>
                      </m:e>
                      <m:sup>
                        <m:r>
                          <a:rPr lang="en-US" sz="2200" i="1" dirty="0">
                            <a:solidFill>
                              <a:srgbClr val="555555"/>
                            </a:solidFill>
                            <a:latin typeface="Cambria Math" panose="02040503050406030204" pitchFamily="18" charset="0"/>
                          </a:rPr>
                          <m:t>2</m:t>
                        </m:r>
                      </m:sup>
                    </m:sSup>
                    <m:r>
                      <a:rPr lang="en-US" sz="2200" i="1" dirty="0">
                        <a:solidFill>
                          <a:srgbClr val="555555"/>
                        </a:solidFill>
                        <a:latin typeface="Cambria Math" panose="02040503050406030204" pitchFamily="18" charset="0"/>
                        <a:ea typeface="Cambria Math" panose="02040503050406030204" pitchFamily="18" charset="0"/>
                      </a:rPr>
                      <m:t>×</m:t>
                    </m:r>
                    <m:r>
                      <m:rPr>
                        <m:nor/>
                      </m:rPr>
                      <a:rPr lang="en-US" altLang="en-US" sz="2200" i="0" dirty="0">
                        <a:sym typeface="Wingdings" pitchFamily="2" charset="2"/>
                      </a:rPr>
                      <m:t>(1</m:t>
                    </m:r>
                    <m:r>
                      <m:rPr>
                        <m:nor/>
                      </m:rPr>
                      <a:rPr lang="en-US" sz="2200" i="0" dirty="0"/>
                      <m:t> </m:t>
                    </m:r>
                    <m:r>
                      <a:rPr lang="en-US" sz="2200" i="1">
                        <a:latin typeface="Cambria Math" panose="02040503050406030204" pitchFamily="18" charset="0"/>
                      </a:rPr>
                      <m:t>+</m:t>
                    </m:r>
                    <m:d>
                      <m:dPr>
                        <m:ctrlPr>
                          <a:rPr lang="en-US" sz="2200" i="1">
                            <a:latin typeface="Cambria Math" panose="02040503050406030204" pitchFamily="18" charset="0"/>
                          </a:rPr>
                        </m:ctrlPr>
                      </m:dPr>
                      <m:e>
                        <m:r>
                          <a:rPr lang="en-US" sz="2200" i="1">
                            <a:latin typeface="Cambria Math" panose="02040503050406030204" pitchFamily="18" charset="0"/>
                          </a:rPr>
                          <m:t>𝑚</m:t>
                        </m:r>
                        <m:r>
                          <a:rPr lang="en-US" sz="2200" i="1">
                            <a:latin typeface="Cambria Math" panose="02040503050406030204" pitchFamily="18" charset="0"/>
                          </a:rPr>
                          <m:t>−1</m:t>
                        </m:r>
                      </m:e>
                    </m:d>
                    <m:r>
                      <a:rPr lang="en-US" sz="2200" i="1">
                        <a:latin typeface="Cambria Math" panose="02040503050406030204" pitchFamily="18" charset="0"/>
                        <a:ea typeface="Cambria Math" panose="02040503050406030204" pitchFamily="18" charset="0"/>
                      </a:rPr>
                      <m:t>𝜌</m:t>
                    </m:r>
                    <m:r>
                      <a:rPr lang="en-US" sz="2200" b="0" i="1" smtClean="0">
                        <a:latin typeface="Cambria Math" panose="02040503050406030204" pitchFamily="18" charset="0"/>
                        <a:ea typeface="Cambria Math" panose="02040503050406030204" pitchFamily="18" charset="0"/>
                      </a:rPr>
                      <m:t>]</m:t>
                    </m:r>
                    <m:r>
                      <m:rPr>
                        <m:nor/>
                      </m:rPr>
                      <a:rPr lang="el-GR" sz="2200" i="0" dirty="0">
                        <a:solidFill>
                          <a:srgbClr val="555555"/>
                        </a:solidFill>
                        <a:latin typeface="Ubuntu"/>
                      </a:rPr>
                      <m:t>/</m:t>
                    </m:r>
                    <m:r>
                      <m:rPr>
                        <m:nor/>
                      </m:rPr>
                      <a:rPr lang="en-US" sz="2200" b="0" i="0" dirty="0" smtClean="0">
                        <a:solidFill>
                          <a:srgbClr val="555555"/>
                        </a:solidFill>
                        <a:latin typeface="Ubuntu"/>
                      </a:rPr>
                      <m:t>[</m:t>
                    </m:r>
                    <m:r>
                      <m:rPr>
                        <m:nor/>
                      </m:rPr>
                      <a:rPr lang="en-US" sz="2200" b="0" i="1" dirty="0" smtClean="0">
                        <a:solidFill>
                          <a:srgbClr val="555555"/>
                        </a:solidFill>
                        <a:latin typeface="Cambria Math" panose="02040503050406030204" pitchFamily="18" charset="0"/>
                        <a:ea typeface="Cambria Math" panose="02040503050406030204" pitchFamily="18" charset="0"/>
                      </a:rPr>
                      <m:t>m</m:t>
                    </m:r>
                    <m:sSup>
                      <m:sSupPr>
                        <m:ctrlPr>
                          <a:rPr lang="el-GR" sz="2200" i="1" dirty="0">
                            <a:solidFill>
                              <a:srgbClr val="555555"/>
                            </a:solidFill>
                            <a:latin typeface="Cambria Math" panose="02040503050406030204" pitchFamily="18" charset="0"/>
                          </a:rPr>
                        </m:ctrlPr>
                      </m:sSupPr>
                      <m:e>
                        <m:sSup>
                          <m:sSupPr>
                            <m:ctrlPr>
                              <a:rPr lang="el-GR" sz="2200" i="1" dirty="0">
                                <a:solidFill>
                                  <a:srgbClr val="555555"/>
                                </a:solidFill>
                                <a:latin typeface="Cambria Math" panose="02040503050406030204" pitchFamily="18" charset="0"/>
                              </a:rPr>
                            </m:ctrlPr>
                          </m:sSupPr>
                          <m:e>
                            <m:r>
                              <a:rPr lang="en-US" sz="2200" i="1" dirty="0">
                                <a:solidFill>
                                  <a:srgbClr val="555555"/>
                                </a:solidFill>
                                <a:latin typeface="Cambria Math" panose="02040503050406030204" pitchFamily="18" charset="0"/>
                              </a:rPr>
                              <m:t>(</m:t>
                            </m:r>
                            <m:r>
                              <a:rPr lang="el-GR" sz="2200" i="1" dirty="0">
                                <a:solidFill>
                                  <a:srgbClr val="555555"/>
                                </a:solidFill>
                                <a:latin typeface="Cambria Math" panose="02040503050406030204" pitchFamily="18" charset="0"/>
                                <a:ea typeface="Cambria Math" panose="02040503050406030204" pitchFamily="18" charset="0"/>
                              </a:rPr>
                              <m:t>𝛽</m:t>
                            </m:r>
                          </m:e>
                          <m:sup>
                            <m:r>
                              <a:rPr lang="en-US" sz="2200" i="1" dirty="0">
                                <a:solidFill>
                                  <a:srgbClr val="555555"/>
                                </a:solidFill>
                                <a:latin typeface="Cambria Math" panose="02040503050406030204" pitchFamily="18" charset="0"/>
                              </a:rPr>
                              <m:t>∗</m:t>
                            </m:r>
                          </m:sup>
                        </m:sSup>
                        <m:r>
                          <a:rPr lang="en-US" sz="2200" i="1" dirty="0">
                            <a:solidFill>
                              <a:srgbClr val="555555"/>
                            </a:solidFill>
                            <a:latin typeface="Cambria Math" panose="02040503050406030204" pitchFamily="18" charset="0"/>
                          </a:rPr>
                          <m:t>)</m:t>
                        </m:r>
                      </m:e>
                      <m:sup>
                        <m:r>
                          <a:rPr lang="en-US" sz="2200" i="1" dirty="0">
                            <a:solidFill>
                              <a:srgbClr val="555555"/>
                            </a:solidFill>
                            <a:latin typeface="Cambria Math" panose="02040503050406030204" pitchFamily="18" charset="0"/>
                          </a:rPr>
                          <m:t>2</m:t>
                        </m:r>
                      </m:sup>
                    </m:sSup>
                    <m:r>
                      <a:rPr lang="en-US" sz="2200" b="0" i="1" dirty="0" smtClean="0">
                        <a:solidFill>
                          <a:srgbClr val="555555"/>
                        </a:solidFill>
                        <a:latin typeface="Cambria Math" panose="02040503050406030204" pitchFamily="18" charset="0"/>
                      </a:rPr>
                      <m:t>]</m:t>
                    </m:r>
                  </m:oMath>
                </a14:m>
                <a:r>
                  <a:rPr lang="en-US" altLang="en-US" sz="2200" dirty="0">
                    <a:sym typeface="Wingdings" pitchFamily="2" charset="2"/>
                  </a:rPr>
                  <a:t>, </a:t>
                </a:r>
              </a:p>
              <a:p>
                <a:pPr algn="ctr"/>
                <a:endParaRPr lang="en-US" altLang="en-US" sz="2200" dirty="0">
                  <a:sym typeface="Wingdings" pitchFamily="2" charset="2"/>
                </a:endParaRPr>
              </a:p>
              <a:p>
                <a:r>
                  <a:rPr lang="en-US" altLang="en-US" sz="2200" dirty="0">
                    <a:sym typeface="Wingdings" pitchFamily="2" charset="2"/>
                  </a:rPr>
                  <a:t>and for </a:t>
                </a:r>
                <a14:m>
                  <m:oMath xmlns:m="http://schemas.openxmlformats.org/officeDocument/2006/math">
                    <m:r>
                      <a:rPr lang="en-US" altLang="en-US" sz="2200" b="0" i="1" smtClean="0">
                        <a:latin typeface="Cambria Math" panose="02040503050406030204" pitchFamily="18" charset="0"/>
                        <a:sym typeface="Wingdings" pitchFamily="2" charset="2"/>
                      </a:rPr>
                      <m:t>𝐾</m:t>
                    </m:r>
                    <m:r>
                      <a:rPr lang="en-US" altLang="en-US" sz="2200" b="0" i="1" smtClean="0">
                        <a:latin typeface="Cambria Math" panose="02040503050406030204" pitchFamily="18" charset="0"/>
                        <a:sym typeface="Wingdings" pitchFamily="2" charset="2"/>
                      </a:rPr>
                      <m:t> </m:t>
                    </m:r>
                  </m:oMath>
                </a14:m>
                <a:r>
                  <a:rPr lang="en-US" altLang="en-US" sz="2200" dirty="0">
                    <a:sym typeface="Wingdings" pitchFamily="2" charset="2"/>
                  </a:rPr>
                  <a:t>fixed, we solve for </a:t>
                </a:r>
                <a14:m>
                  <m:oMath xmlns:m="http://schemas.openxmlformats.org/officeDocument/2006/math">
                    <m:r>
                      <a:rPr lang="en-US" altLang="en-US" sz="2200" b="0" i="1" smtClean="0">
                        <a:latin typeface="Cambria Math" panose="02040503050406030204" pitchFamily="18" charset="0"/>
                        <a:sym typeface="Wingdings" pitchFamily="2" charset="2"/>
                      </a:rPr>
                      <m:t>𝑚</m:t>
                    </m:r>
                    <m:r>
                      <a:rPr lang="en-US" altLang="en-US" sz="2200" b="0" i="1" smtClean="0">
                        <a:latin typeface="Cambria Math" panose="02040503050406030204" pitchFamily="18" charset="0"/>
                        <a:sym typeface="Wingdings" pitchFamily="2" charset="2"/>
                      </a:rPr>
                      <m:t> </m:t>
                    </m:r>
                    <m:r>
                      <a:rPr lang="en-US" altLang="en-US" sz="2200" b="0" i="1" smtClean="0">
                        <a:latin typeface="Cambria Math" panose="02040503050406030204" pitchFamily="18" charset="0"/>
                        <a:sym typeface="Wingdings" pitchFamily="2" charset="2"/>
                      </a:rPr>
                      <m:t>𝑎𝑠</m:t>
                    </m:r>
                  </m:oMath>
                </a14:m>
                <a:endParaRPr lang="en-US" altLang="en-US" sz="2200" b="0" dirty="0">
                  <a:sym typeface="Wingdings" pitchFamily="2" charset="2"/>
                </a:endParaRPr>
              </a:p>
              <a:p>
                <a:pPr algn="ctr"/>
                <a14:m>
                  <m:oMath xmlns:m="http://schemas.openxmlformats.org/officeDocument/2006/math">
                    <m:r>
                      <a:rPr lang="en-US" sz="2200" b="0" i="1" smtClean="0">
                        <a:solidFill>
                          <a:schemeClr val="tx1"/>
                        </a:solidFill>
                        <a:latin typeface="Cambria Math" panose="02040503050406030204" pitchFamily="18" charset="0"/>
                      </a:rPr>
                      <m:t>𝑚</m:t>
                    </m:r>
                    <m:r>
                      <a:rPr lang="en-US" sz="2200" b="0" i="1" smtClean="0">
                        <a:solidFill>
                          <a:schemeClr val="tx1"/>
                        </a:solidFill>
                        <a:latin typeface="Cambria Math" panose="02040503050406030204" pitchFamily="18" charset="0"/>
                      </a:rPr>
                      <m:t>=</m:t>
                    </m:r>
                    <m:f>
                      <m:fPr>
                        <m:ctrlPr>
                          <a:rPr lang="en-US" sz="2200" i="1" smtClean="0">
                            <a:solidFill>
                              <a:schemeClr val="tx1"/>
                            </a:solidFill>
                            <a:latin typeface="Cambria Math" panose="02040503050406030204" pitchFamily="18" charset="0"/>
                          </a:rPr>
                        </m:ctrlPr>
                      </m:fPr>
                      <m:num>
                        <m:d>
                          <m:dPr>
                            <m:begChr m:val="["/>
                            <m:endChr m:val="]"/>
                            <m:ctrlPr>
                              <a:rPr lang="en-US" sz="2200" i="1">
                                <a:latin typeface="Cambria Math" panose="02040503050406030204" pitchFamily="18" charset="0"/>
                              </a:rPr>
                            </m:ctrlPr>
                          </m:dPr>
                          <m:e>
                            <m:r>
                              <a:rPr lang="en-US" sz="2200" b="0" i="1" smtClean="0">
                                <a:latin typeface="Cambria Math" panose="02040503050406030204" pitchFamily="18" charset="0"/>
                              </a:rPr>
                              <m:t>1−</m:t>
                            </m:r>
                            <m:r>
                              <a:rPr lang="en-US" sz="2200" i="1">
                                <a:latin typeface="Cambria Math" panose="02040503050406030204" pitchFamily="18" charset="0"/>
                              </a:rPr>
                              <m:t>𝜌</m:t>
                            </m:r>
                          </m:e>
                        </m:d>
                        <m:f>
                          <m:fPr>
                            <m:ctrlPr>
                              <a:rPr lang="en-US" sz="2200" i="1">
                                <a:latin typeface="Cambria Math" panose="02040503050406030204" pitchFamily="18" charset="0"/>
                              </a:rPr>
                            </m:ctrlPr>
                          </m:fPr>
                          <m:num>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m:rPr>
                                            <m:sty m:val="p"/>
                                          </m:rPr>
                                          <a:rPr lang="en-US" sz="2200" i="1">
                                            <a:latin typeface="Cambria Math" panose="02040503050406030204" pitchFamily="18" charset="0"/>
                                          </a:rPr>
                                          <m:t>Ζ</m:t>
                                        </m:r>
                                      </m:e>
                                      <m:sub>
                                        <m:r>
                                          <a:rPr lang="en-US" sz="2200" i="1">
                                            <a:latin typeface="Cambria Math" panose="02040503050406030204" pitchFamily="18" charset="0"/>
                                          </a:rPr>
                                          <m:t>𝛼</m:t>
                                        </m:r>
                                        <m:r>
                                          <a:rPr lang="en-US" sz="2200" i="1">
                                            <a:latin typeface="Cambria Math" panose="02040503050406030204" pitchFamily="18" charset="0"/>
                                          </a:rPr>
                                          <m:t>/2</m:t>
                                        </m:r>
                                      </m:sub>
                                    </m:sSub>
                                    <m:r>
                                      <a:rPr lang="en-US" sz="2200" i="1">
                                        <a:latin typeface="Cambria Math" panose="02040503050406030204" pitchFamily="18" charset="0"/>
                                      </a:rPr>
                                      <m:t>+</m:t>
                                    </m:r>
                                    <m:sSub>
                                      <m:sSubPr>
                                        <m:ctrlPr>
                                          <a:rPr lang="en-US" sz="2200" i="1">
                                            <a:latin typeface="Cambria Math" panose="02040503050406030204" pitchFamily="18" charset="0"/>
                                          </a:rPr>
                                        </m:ctrlPr>
                                      </m:sSubPr>
                                      <m:e>
                                        <m:r>
                                          <m:rPr>
                                            <m:sty m:val="p"/>
                                          </m:rPr>
                                          <a:rPr lang="en-US" sz="2200" i="1">
                                            <a:latin typeface="Cambria Math" panose="02040503050406030204" pitchFamily="18" charset="0"/>
                                          </a:rPr>
                                          <m:t>Ζ</m:t>
                                        </m:r>
                                      </m:e>
                                      <m:sub>
                                        <m:r>
                                          <a:rPr lang="en-US" sz="2200" i="1">
                                            <a:latin typeface="Cambria Math" panose="02040503050406030204" pitchFamily="18" charset="0"/>
                                          </a:rPr>
                                          <m:t>𝛽</m:t>
                                        </m:r>
                                      </m:sub>
                                    </m:sSub>
                                  </m:e>
                                </m:d>
                              </m:e>
                              <m:sup>
                                <m:r>
                                  <a:rPr lang="en-US" sz="2200" i="1">
                                    <a:latin typeface="Cambria Math" panose="02040503050406030204" pitchFamily="18" charset="0"/>
                                  </a:rPr>
                                  <m:t>2</m:t>
                                </m:r>
                              </m:sup>
                            </m:sSup>
                            <m:d>
                              <m:dPr>
                                <m:ctrlPr>
                                  <a:rPr lang="en-US" sz="2200" i="1">
                                    <a:latin typeface="Cambria Math" panose="02040503050406030204" pitchFamily="18" charset="0"/>
                                  </a:rPr>
                                </m:ctrlPr>
                              </m:dPr>
                              <m:e>
                                <m:r>
                                  <a:rPr lang="en-US" sz="2200" i="1">
                                    <a:latin typeface="Cambria Math" panose="02040503050406030204" pitchFamily="18" charset="0"/>
                                  </a:rPr>
                                  <m:t>2</m:t>
                                </m:r>
                                <m:sSup>
                                  <m:sSupPr>
                                    <m:ctrlPr>
                                      <a:rPr lang="en-US" sz="2200" i="1">
                                        <a:latin typeface="Cambria Math" panose="02040503050406030204" pitchFamily="18" charset="0"/>
                                      </a:rPr>
                                    </m:ctrlPr>
                                  </m:sSupPr>
                                  <m:e>
                                    <m:r>
                                      <a:rPr lang="en-US" sz="2200" i="1">
                                        <a:latin typeface="Cambria Math" panose="02040503050406030204" pitchFamily="18" charset="0"/>
                                      </a:rPr>
                                      <m:t>𝜎</m:t>
                                    </m:r>
                                  </m:e>
                                  <m:sup>
                                    <m:r>
                                      <a:rPr lang="en-US" sz="2200" i="1">
                                        <a:latin typeface="Cambria Math" panose="02040503050406030204" pitchFamily="18" charset="0"/>
                                      </a:rPr>
                                      <m:t>2</m:t>
                                    </m:r>
                                  </m:sup>
                                </m:sSup>
                              </m:e>
                            </m:d>
                          </m:num>
                          <m:den>
                            <m:r>
                              <a:rPr lang="en-US" sz="2200" i="1">
                                <a:latin typeface="Cambria Math" panose="02040503050406030204" pitchFamily="18" charset="0"/>
                              </a:rPr>
                              <m:t>𝐾</m:t>
                            </m:r>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i="1">
                                            <a:latin typeface="Cambria Math" panose="02040503050406030204" pitchFamily="18" charset="0"/>
                                          </a:rPr>
                                          <m:t>𝜇</m:t>
                                        </m:r>
                                      </m:e>
                                      <m:sub>
                                        <m:r>
                                          <a:rPr lang="en-US" sz="2200" i="1">
                                            <a:latin typeface="Cambria Math" panose="02040503050406030204" pitchFamily="18" charset="0"/>
                                          </a:rPr>
                                          <m:t>2</m:t>
                                        </m:r>
                                      </m:sub>
                                    </m:sSub>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𝜇</m:t>
                                        </m:r>
                                      </m:e>
                                      <m:sub>
                                        <m:r>
                                          <a:rPr lang="en-US" sz="2200" i="1">
                                            <a:latin typeface="Cambria Math" panose="02040503050406030204" pitchFamily="18" charset="0"/>
                                          </a:rPr>
                                          <m:t>1</m:t>
                                        </m:r>
                                      </m:sub>
                                    </m:sSub>
                                  </m:e>
                                </m:d>
                              </m:e>
                              <m:sup>
                                <m:r>
                                  <a:rPr lang="en-US" sz="2200" i="1">
                                    <a:latin typeface="Cambria Math" panose="02040503050406030204" pitchFamily="18" charset="0"/>
                                  </a:rPr>
                                  <m:t>2</m:t>
                                </m:r>
                              </m:sup>
                            </m:sSup>
                          </m:den>
                        </m:f>
                      </m:num>
                      <m:den>
                        <m:r>
                          <a:rPr lang="en-US" sz="2200" b="0" i="1" smtClean="0">
                            <a:latin typeface="Cambria Math" panose="02040503050406030204" pitchFamily="18" charset="0"/>
                          </a:rPr>
                          <m:t>1 − </m:t>
                        </m:r>
                        <m:f>
                          <m:fPr>
                            <m:ctrlPr>
                              <a:rPr lang="en-US" sz="2200" i="1">
                                <a:latin typeface="Cambria Math" panose="02040503050406030204" pitchFamily="18" charset="0"/>
                              </a:rPr>
                            </m:ctrlPr>
                          </m:fPr>
                          <m:num>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m:rPr>
                                            <m:sty m:val="p"/>
                                          </m:rPr>
                                          <a:rPr lang="en-US" sz="2200" i="1">
                                            <a:latin typeface="Cambria Math" panose="02040503050406030204" pitchFamily="18" charset="0"/>
                                          </a:rPr>
                                          <m:t>Ζ</m:t>
                                        </m:r>
                                      </m:e>
                                      <m:sub>
                                        <m:r>
                                          <a:rPr lang="en-US" sz="2200" i="1">
                                            <a:latin typeface="Cambria Math" panose="02040503050406030204" pitchFamily="18" charset="0"/>
                                          </a:rPr>
                                          <m:t>𝛼</m:t>
                                        </m:r>
                                        <m:r>
                                          <a:rPr lang="en-US" sz="2200" i="1">
                                            <a:latin typeface="Cambria Math" panose="02040503050406030204" pitchFamily="18" charset="0"/>
                                          </a:rPr>
                                          <m:t>/2</m:t>
                                        </m:r>
                                      </m:sub>
                                    </m:sSub>
                                    <m:r>
                                      <a:rPr lang="en-US" sz="2200" i="1">
                                        <a:latin typeface="Cambria Math" panose="02040503050406030204" pitchFamily="18" charset="0"/>
                                      </a:rPr>
                                      <m:t>+</m:t>
                                    </m:r>
                                    <m:sSub>
                                      <m:sSubPr>
                                        <m:ctrlPr>
                                          <a:rPr lang="en-US" sz="2200" i="1">
                                            <a:latin typeface="Cambria Math" panose="02040503050406030204" pitchFamily="18" charset="0"/>
                                          </a:rPr>
                                        </m:ctrlPr>
                                      </m:sSubPr>
                                      <m:e>
                                        <m:r>
                                          <m:rPr>
                                            <m:sty m:val="p"/>
                                          </m:rPr>
                                          <a:rPr lang="en-US" sz="2200" i="1">
                                            <a:latin typeface="Cambria Math" panose="02040503050406030204" pitchFamily="18" charset="0"/>
                                          </a:rPr>
                                          <m:t>Ζ</m:t>
                                        </m:r>
                                      </m:e>
                                      <m:sub>
                                        <m:r>
                                          <a:rPr lang="en-US" sz="2200" i="1">
                                            <a:latin typeface="Cambria Math" panose="02040503050406030204" pitchFamily="18" charset="0"/>
                                          </a:rPr>
                                          <m:t>𝛽</m:t>
                                        </m:r>
                                      </m:sub>
                                    </m:sSub>
                                  </m:e>
                                </m:d>
                              </m:e>
                              <m:sup>
                                <m:r>
                                  <a:rPr lang="en-US" sz="2200" i="1">
                                    <a:latin typeface="Cambria Math" panose="02040503050406030204" pitchFamily="18" charset="0"/>
                                  </a:rPr>
                                  <m:t>2</m:t>
                                </m:r>
                              </m:sup>
                            </m:sSup>
                            <m:d>
                              <m:dPr>
                                <m:ctrlPr>
                                  <a:rPr lang="en-US" sz="2200" i="1">
                                    <a:latin typeface="Cambria Math" panose="02040503050406030204" pitchFamily="18" charset="0"/>
                                  </a:rPr>
                                </m:ctrlPr>
                              </m:dPr>
                              <m:e>
                                <m:r>
                                  <a:rPr lang="en-US" sz="2200" i="1">
                                    <a:latin typeface="Cambria Math" panose="02040503050406030204" pitchFamily="18" charset="0"/>
                                  </a:rPr>
                                  <m:t>2</m:t>
                                </m:r>
                                <m:sSup>
                                  <m:sSupPr>
                                    <m:ctrlPr>
                                      <a:rPr lang="en-US" sz="2200" i="1">
                                        <a:latin typeface="Cambria Math" panose="02040503050406030204" pitchFamily="18" charset="0"/>
                                      </a:rPr>
                                    </m:ctrlPr>
                                  </m:sSupPr>
                                  <m:e>
                                    <m:r>
                                      <a:rPr lang="en-US" sz="2200" i="1">
                                        <a:latin typeface="Cambria Math" panose="02040503050406030204" pitchFamily="18" charset="0"/>
                                      </a:rPr>
                                      <m:t>𝜎</m:t>
                                    </m:r>
                                  </m:e>
                                  <m:sup>
                                    <m:r>
                                      <a:rPr lang="en-US" sz="2200" i="1">
                                        <a:latin typeface="Cambria Math" panose="02040503050406030204" pitchFamily="18" charset="0"/>
                                      </a:rPr>
                                      <m:t>2</m:t>
                                    </m:r>
                                  </m:sup>
                                </m:sSup>
                              </m:e>
                            </m:d>
                            <m:r>
                              <a:rPr lang="en-US" sz="2200" i="1">
                                <a:latin typeface="Cambria Math" panose="02040503050406030204" pitchFamily="18" charset="0"/>
                              </a:rPr>
                              <m:t>𝜌</m:t>
                            </m:r>
                          </m:num>
                          <m:den>
                            <m:r>
                              <a:rPr lang="en-US" sz="2200" i="1">
                                <a:latin typeface="Cambria Math" panose="02040503050406030204" pitchFamily="18" charset="0"/>
                              </a:rPr>
                              <m:t>𝐾</m:t>
                            </m:r>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i="1">
                                            <a:latin typeface="Cambria Math" panose="02040503050406030204" pitchFamily="18" charset="0"/>
                                          </a:rPr>
                                          <m:t>𝜇</m:t>
                                        </m:r>
                                      </m:e>
                                      <m:sub>
                                        <m:r>
                                          <a:rPr lang="en-US" sz="2200" i="1">
                                            <a:latin typeface="Cambria Math" panose="02040503050406030204" pitchFamily="18" charset="0"/>
                                          </a:rPr>
                                          <m:t>2</m:t>
                                        </m:r>
                                      </m:sub>
                                    </m:sSub>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𝜇</m:t>
                                        </m:r>
                                      </m:e>
                                      <m:sub>
                                        <m:r>
                                          <a:rPr lang="en-US" sz="2200" i="1">
                                            <a:latin typeface="Cambria Math" panose="02040503050406030204" pitchFamily="18" charset="0"/>
                                          </a:rPr>
                                          <m:t>1</m:t>
                                        </m:r>
                                      </m:sub>
                                    </m:sSub>
                                  </m:e>
                                </m:d>
                              </m:e>
                              <m:sup>
                                <m:r>
                                  <a:rPr lang="en-US" sz="2200" i="1">
                                    <a:latin typeface="Cambria Math" panose="02040503050406030204" pitchFamily="18" charset="0"/>
                                  </a:rPr>
                                  <m:t>2</m:t>
                                </m:r>
                              </m:sup>
                            </m:sSup>
                          </m:den>
                        </m:f>
                        <m:r>
                          <a:rPr lang="en-US" sz="2200" b="0" i="1" smtClean="0">
                            <a:latin typeface="Cambria Math" panose="02040503050406030204" pitchFamily="18" charset="0"/>
                          </a:rPr>
                          <m:t> </m:t>
                        </m:r>
                      </m:den>
                    </m:f>
                  </m:oMath>
                </a14:m>
                <a:r>
                  <a:rPr lang="en-US" altLang="en-US" sz="2200" dirty="0">
                    <a:sym typeface="Wingdings" pitchFamily="2" charset="2"/>
                  </a:rPr>
                  <a:t> </a:t>
                </a:r>
                <a14:m>
                  <m:oMath xmlns:m="http://schemas.openxmlformats.org/officeDocument/2006/math">
                    <m:r>
                      <a:rPr lang="en-US" sz="2400" i="1">
                        <a:latin typeface="Cambria Math" panose="02040503050406030204" pitchFamily="18" charset="0"/>
                      </a:rPr>
                      <m:t>=</m:t>
                    </m:r>
                  </m:oMath>
                </a14:m>
                <a:r>
                  <a:rPr lang="en-US" sz="2400" dirty="0"/>
                  <a:t> </a:t>
                </a:r>
                <a14:m>
                  <m:oMath xmlns:m="http://schemas.openxmlformats.org/officeDocument/2006/math">
                    <m:f>
                      <m:fPr>
                        <m:ctrlPr>
                          <a:rPr lang="en-US" sz="2400" i="1">
                            <a:solidFill>
                              <a:srgbClr val="000000"/>
                            </a:solidFill>
                            <a:latin typeface="Cambria Math" panose="02040503050406030204" pitchFamily="18" charset="0"/>
                            <a:ea typeface="Cambria Math" panose="02040503050406030204" pitchFamily="18" charset="0"/>
                          </a:rPr>
                        </m:ctrlPr>
                      </m:fPr>
                      <m:num>
                        <m:r>
                          <a:rPr lang="en-US" sz="2400" i="1">
                            <a:solidFill>
                              <a:srgbClr val="000000"/>
                            </a:solidFill>
                            <a:latin typeface="Cambria Math" panose="02040503050406030204" pitchFamily="18" charset="0"/>
                            <a:ea typeface="Cambria Math" panose="02040503050406030204" pitchFamily="18" charset="0"/>
                          </a:rPr>
                          <m:t>2</m:t>
                        </m:r>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m:rPr>
                                        <m:sty m:val="p"/>
                                      </m:rPr>
                                      <a:rPr lang="en-US" sz="2400" i="1">
                                        <a:latin typeface="Cambria Math" panose="02040503050406030204" pitchFamily="18" charset="0"/>
                                      </a:rPr>
                                      <m:t>Ζ</m:t>
                                    </m:r>
                                  </m:e>
                                  <m:sub>
                                    <m:r>
                                      <a:rPr lang="en-US" sz="2400" i="1">
                                        <a:latin typeface="Cambria Math" panose="02040503050406030204" pitchFamily="18" charset="0"/>
                                        <a:ea typeface="Cambria Math" panose="02040503050406030204" pitchFamily="18" charset="0"/>
                                      </a:rPr>
                                      <m:t>𝛼</m:t>
                                    </m:r>
                                    <m:r>
                                      <a:rPr lang="en-US" sz="2400" i="1">
                                        <a:latin typeface="Cambria Math" panose="02040503050406030204" pitchFamily="18" charset="0"/>
                                        <a:ea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m:rPr>
                                        <m:sty m:val="p"/>
                                      </m:rPr>
                                      <a:rPr lang="en-US" sz="2400" i="1">
                                        <a:latin typeface="Cambria Math" panose="02040503050406030204" pitchFamily="18" charset="0"/>
                                      </a:rPr>
                                      <m:t>Ζ</m:t>
                                    </m:r>
                                  </m:e>
                                  <m:sub>
                                    <m:r>
                                      <a:rPr lang="en-US" sz="2400" i="1">
                                        <a:latin typeface="Cambria Math" panose="02040503050406030204" pitchFamily="18" charset="0"/>
                                      </a:rPr>
                                      <m:t>𝛽</m:t>
                                    </m:r>
                                  </m:sub>
                                </m:sSub>
                              </m:e>
                            </m:d>
                          </m:e>
                          <m:sup>
                            <m:r>
                              <a:rPr lang="en-US" sz="2400" i="1">
                                <a:latin typeface="Cambria Math" panose="02040503050406030204" pitchFamily="18" charset="0"/>
                              </a:rPr>
                              <m:t>2</m:t>
                            </m:r>
                          </m:sup>
                        </m:sSup>
                        <m:sSup>
                          <m:sSupPr>
                            <m:ctrlPr>
                              <a:rPr lang="en-US" sz="2400" i="1">
                                <a:latin typeface="Cambria Math" panose="02040503050406030204" pitchFamily="18" charset="0"/>
                              </a:rPr>
                            </m:ctrlPr>
                          </m:sSupPr>
                          <m:e>
                            <m:r>
                              <a:rPr lang="en-US" sz="2400" i="1">
                                <a:latin typeface="Cambria Math" panose="02040503050406030204" pitchFamily="18" charset="0"/>
                              </a:rPr>
                              <m:t>𝜎</m:t>
                            </m:r>
                          </m:e>
                          <m:sup>
                            <m:r>
                              <a:rPr lang="en-US" sz="2400" i="1">
                                <a:latin typeface="Cambria Math" panose="02040503050406030204" pitchFamily="18" charset="0"/>
                              </a:rPr>
                              <m:t>2</m:t>
                            </m:r>
                          </m:sup>
                        </m:sSup>
                        <m:r>
                          <a:rPr lang="en-US" sz="2400" i="1">
                            <a:latin typeface="Cambria Math" panose="02040503050406030204" pitchFamily="18" charset="0"/>
                          </a:rPr>
                          <m:t>[1−</m:t>
                        </m:r>
                        <m:r>
                          <a:rPr lang="en-US" sz="2400" i="1">
                            <a:latin typeface="Cambria Math" panose="02040503050406030204" pitchFamily="18" charset="0"/>
                            <a:ea typeface="Cambria Math" panose="02040503050406030204" pitchFamily="18" charset="0"/>
                          </a:rPr>
                          <m:t>𝜌</m:t>
                        </m:r>
                        <m:r>
                          <a:rPr lang="en-US" sz="2400" i="1">
                            <a:latin typeface="Cambria Math" panose="02040503050406030204" pitchFamily="18" charset="0"/>
                            <a:ea typeface="Cambria Math" panose="02040503050406030204" pitchFamily="18" charset="0"/>
                          </a:rPr>
                          <m:t>]</m:t>
                        </m:r>
                      </m:num>
                      <m:den>
                        <m:r>
                          <a:rPr lang="en-US" sz="2400" i="1">
                            <a:solidFill>
                              <a:srgbClr val="000000"/>
                            </a:solidFill>
                            <a:latin typeface="Cambria Math" panose="02040503050406030204" pitchFamily="18" charset="0"/>
                            <a:ea typeface="Cambria Math" panose="02040503050406030204" pitchFamily="18" charset="0"/>
                          </a:rPr>
                          <m:t>𝐾</m:t>
                        </m:r>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1</m:t>
                                    </m:r>
                                  </m:sub>
                                </m:sSub>
                              </m:e>
                            </m:d>
                          </m:e>
                          <m:sup>
                            <m:r>
                              <a:rPr lang="en-US" sz="2400" i="1">
                                <a:latin typeface="Cambria Math" panose="02040503050406030204" pitchFamily="18" charset="0"/>
                              </a:rPr>
                              <m:t>2</m:t>
                            </m:r>
                          </m:sup>
                        </m:sSup>
                        <m:r>
                          <a:rPr lang="en-US" sz="2400" i="1">
                            <a:latin typeface="Cambria Math" panose="02040503050406030204" pitchFamily="18" charset="0"/>
                          </a:rPr>
                          <m:t>−</m:t>
                        </m:r>
                        <m:r>
                          <a:rPr lang="en-US" sz="2400" i="1">
                            <a:solidFill>
                              <a:srgbClr val="000000"/>
                            </a:solidFill>
                            <a:latin typeface="Cambria Math" panose="02040503050406030204" pitchFamily="18" charset="0"/>
                            <a:ea typeface="Cambria Math" panose="02040503050406030204" pitchFamily="18" charset="0"/>
                          </a:rPr>
                          <m:t>2</m:t>
                        </m:r>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m:rPr>
                                        <m:sty m:val="p"/>
                                      </m:rPr>
                                      <a:rPr lang="en-US" sz="2400" i="1">
                                        <a:latin typeface="Cambria Math" panose="02040503050406030204" pitchFamily="18" charset="0"/>
                                      </a:rPr>
                                      <m:t>Ζ</m:t>
                                    </m:r>
                                  </m:e>
                                  <m:sub>
                                    <m:r>
                                      <a:rPr lang="en-US" sz="2400" i="1">
                                        <a:latin typeface="Cambria Math" panose="02040503050406030204" pitchFamily="18" charset="0"/>
                                        <a:ea typeface="Cambria Math" panose="02040503050406030204" pitchFamily="18" charset="0"/>
                                      </a:rPr>
                                      <m:t>𝛼</m:t>
                                    </m:r>
                                    <m:r>
                                      <a:rPr lang="en-US" sz="2400" i="1">
                                        <a:latin typeface="Cambria Math" panose="02040503050406030204" pitchFamily="18" charset="0"/>
                                        <a:ea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m:rPr>
                                        <m:sty m:val="p"/>
                                      </m:rPr>
                                      <a:rPr lang="en-US" sz="2400" i="1">
                                        <a:latin typeface="Cambria Math" panose="02040503050406030204" pitchFamily="18" charset="0"/>
                                      </a:rPr>
                                      <m:t>Ζ</m:t>
                                    </m:r>
                                  </m:e>
                                  <m:sub>
                                    <m:r>
                                      <a:rPr lang="en-US" sz="2400" i="1">
                                        <a:latin typeface="Cambria Math" panose="02040503050406030204" pitchFamily="18" charset="0"/>
                                      </a:rPr>
                                      <m:t>𝛽</m:t>
                                    </m:r>
                                  </m:sub>
                                </m:sSub>
                              </m:e>
                            </m:d>
                          </m:e>
                          <m:sup>
                            <m:r>
                              <a:rPr lang="en-US" sz="2400" i="1">
                                <a:latin typeface="Cambria Math" panose="02040503050406030204" pitchFamily="18" charset="0"/>
                              </a:rPr>
                              <m:t>2</m:t>
                            </m:r>
                          </m:sup>
                        </m:sSup>
                        <m:sSup>
                          <m:sSupPr>
                            <m:ctrlPr>
                              <a:rPr lang="en-US" sz="2400" i="1">
                                <a:latin typeface="Cambria Math" panose="02040503050406030204" pitchFamily="18" charset="0"/>
                              </a:rPr>
                            </m:ctrlPr>
                          </m:sSupPr>
                          <m:e>
                            <m:r>
                              <a:rPr lang="en-US" sz="2400" i="1">
                                <a:latin typeface="Cambria Math" panose="02040503050406030204" pitchFamily="18" charset="0"/>
                              </a:rPr>
                              <m:t>𝜎</m:t>
                            </m:r>
                          </m:e>
                          <m:sup>
                            <m:r>
                              <a:rPr lang="en-US" sz="2400" i="1">
                                <a:latin typeface="Cambria Math" panose="02040503050406030204" pitchFamily="18" charset="0"/>
                              </a:rPr>
                              <m:t>2</m:t>
                            </m:r>
                          </m:sup>
                        </m:sSup>
                        <m:r>
                          <a:rPr lang="en-US" sz="2400" i="1">
                            <a:latin typeface="Cambria Math" panose="02040503050406030204" pitchFamily="18" charset="0"/>
                            <a:ea typeface="Cambria Math" panose="02040503050406030204" pitchFamily="18" charset="0"/>
                          </a:rPr>
                          <m:t>𝜌</m:t>
                        </m:r>
                      </m:den>
                    </m:f>
                  </m:oMath>
                </a14:m>
                <a:endParaRPr lang="en-US" altLang="en-US" sz="2200" dirty="0">
                  <a:sym typeface="Wingdings" pitchFamily="2" charset="2"/>
                </a:endParaRPr>
              </a:p>
              <a:p>
                <a:endParaRPr lang="en-US" altLang="en-US" sz="2200" dirty="0">
                  <a:sym typeface="Wingdings" pitchFamily="2" charset="2"/>
                </a:endParaRPr>
              </a:p>
              <a:p>
                <a:r>
                  <a:rPr lang="en-US" altLang="en-US" sz="2200" dirty="0">
                    <a:sym typeface="Wingdings" pitchFamily="2" charset="2"/>
                  </a:rPr>
                  <a:t>where in a CRT, </a:t>
                </a:r>
                <a14:m>
                  <m:oMath xmlns:m="http://schemas.openxmlformats.org/officeDocument/2006/math">
                    <m:r>
                      <m:rPr>
                        <m:nor/>
                      </m:rPr>
                      <a:rPr lang="en-US" sz="2200" i="0" dirty="0">
                        <a:solidFill>
                          <a:srgbClr val="555555"/>
                        </a:solidFill>
                        <a:latin typeface="Cambria Math" panose="02040503050406030204" pitchFamily="18" charset="0"/>
                      </a:rPr>
                      <m:t>IF</m:t>
                    </m:r>
                    <m:r>
                      <m:rPr>
                        <m:nor/>
                      </m:rPr>
                      <a:rPr lang="en-US" sz="2200" i="0" dirty="0">
                        <a:solidFill>
                          <a:srgbClr val="555555"/>
                        </a:solidFill>
                        <a:latin typeface="Cambria Math" panose="02040503050406030204" pitchFamily="18" charset="0"/>
                      </a:rPr>
                      <m:t> =</m:t>
                    </m:r>
                  </m:oMath>
                </a14:m>
                <a:r>
                  <a:rPr lang="en-US" altLang="en-US" sz="2200" dirty="0">
                    <a:sym typeface="Wingdings" pitchFamily="2" charset="2"/>
                  </a:rPr>
                  <a:t>1</a:t>
                </a:r>
                <a:r>
                  <a:rPr lang="en-US" sz="2200" dirty="0"/>
                  <a:t> </a:t>
                </a:r>
                <a14:m>
                  <m:oMath xmlns:m="http://schemas.openxmlformats.org/officeDocument/2006/math">
                    <m:r>
                      <a:rPr lang="en-US" sz="2200" i="1">
                        <a:latin typeface="Cambria Math" panose="02040503050406030204" pitchFamily="18" charset="0"/>
                      </a:rPr>
                      <m:t>+</m:t>
                    </m:r>
                    <m:d>
                      <m:dPr>
                        <m:ctrlPr>
                          <a:rPr lang="en-US" sz="2200" i="1">
                            <a:latin typeface="Cambria Math" panose="02040503050406030204" pitchFamily="18" charset="0"/>
                          </a:rPr>
                        </m:ctrlPr>
                      </m:dPr>
                      <m:e>
                        <m:r>
                          <a:rPr lang="en-US" sz="2200" i="1">
                            <a:latin typeface="Cambria Math" panose="02040503050406030204" pitchFamily="18" charset="0"/>
                          </a:rPr>
                          <m:t>𝑚</m:t>
                        </m:r>
                        <m:r>
                          <a:rPr lang="en-US" sz="2200" i="1">
                            <a:latin typeface="Cambria Math" panose="02040503050406030204" pitchFamily="18" charset="0"/>
                          </a:rPr>
                          <m:t>−1</m:t>
                        </m:r>
                      </m:e>
                    </m:d>
                    <m:r>
                      <a:rPr lang="en-US" sz="2200" i="1">
                        <a:latin typeface="Cambria Math" panose="02040503050406030204" pitchFamily="18" charset="0"/>
                        <a:ea typeface="Cambria Math" panose="02040503050406030204" pitchFamily="18" charset="0"/>
                      </a:rPr>
                      <m:t>𝜌</m:t>
                    </m:r>
                    <m:r>
                      <a:rPr lang="en-US" sz="2200" i="1">
                        <a:latin typeface="Cambria Math" panose="02040503050406030204" pitchFamily="18" charset="0"/>
                        <a:ea typeface="Cambria Math" panose="02040503050406030204" pitchFamily="18" charset="0"/>
                      </a:rPr>
                      <m:t>.</m:t>
                    </m:r>
                  </m:oMath>
                </a14:m>
                <a:r>
                  <a:rPr lang="en-US" sz="2200" dirty="0">
                    <a:ea typeface="Cambria Math" panose="02040503050406030204" pitchFamily="18" charset="0"/>
                  </a:rPr>
                  <a:t> Note: Slide 27 derived </a:t>
                </a:r>
                <a14:m>
                  <m:oMath xmlns:m="http://schemas.openxmlformats.org/officeDocument/2006/math">
                    <m:r>
                      <m:rPr>
                        <m:nor/>
                      </m:rPr>
                      <a:rPr lang="en-US" sz="2200" i="0" dirty="0" smtClean="0">
                        <a:solidFill>
                          <a:srgbClr val="555555"/>
                        </a:solidFill>
                        <a:latin typeface="Ubuntu"/>
                      </a:rPr>
                      <m:t>Var</m:t>
                    </m:r>
                    <m:r>
                      <m:rPr>
                        <m:nor/>
                      </m:rPr>
                      <a:rPr lang="en-US" sz="2200" i="0" dirty="0" smtClean="0">
                        <a:solidFill>
                          <a:srgbClr val="555555"/>
                        </a:solidFill>
                        <a:latin typeface="Ubuntu"/>
                      </a:rPr>
                      <m:t>(</m:t>
                    </m:r>
                    <m:acc>
                      <m:accPr>
                        <m:chr m:val="̅"/>
                        <m:ctrlPr>
                          <a:rPr lang="en-US" sz="2200" i="1" dirty="0" smtClean="0">
                            <a:solidFill>
                              <a:srgbClr val="555555"/>
                            </a:solidFill>
                            <a:latin typeface="Cambria Math" panose="02040503050406030204" pitchFamily="18" charset="0"/>
                          </a:rPr>
                        </m:ctrlPr>
                      </m:accPr>
                      <m:e>
                        <m:r>
                          <a:rPr lang="en-US" sz="2200" i="1" dirty="0">
                            <a:solidFill>
                              <a:srgbClr val="555555"/>
                            </a:solidFill>
                            <a:latin typeface="Cambria Math" panose="02040503050406030204" pitchFamily="18" charset="0"/>
                          </a:rPr>
                          <m:t>𝑌</m:t>
                        </m:r>
                      </m:e>
                    </m:acc>
                    <m:r>
                      <m:rPr>
                        <m:nor/>
                      </m:rPr>
                      <a:rPr lang="en-US" sz="2200" i="0" dirty="0" smtClean="0">
                        <a:solidFill>
                          <a:srgbClr val="555555"/>
                        </a:solidFill>
                        <a:latin typeface="Cambria Math" panose="02040503050406030204" pitchFamily="18" charset="0"/>
                      </a:rPr>
                      <m:t>)</m:t>
                    </m:r>
                  </m:oMath>
                </a14:m>
                <a:r>
                  <a:rPr lang="en-US" sz="2200" dirty="0">
                    <a:ea typeface="Cambria Math" panose="02040503050406030204" pitchFamily="18" charset="0"/>
                  </a:rPr>
                  <a:t> for a CRT.</a:t>
                </a:r>
              </a:p>
              <a:p>
                <a:endParaRPr lang="en-US" altLang="en-US" sz="2000" dirty="0">
                  <a:sym typeface="Wingdings" pitchFamily="2" charset="2"/>
                </a:endParaRPr>
              </a:p>
              <a:p>
                <a:endParaRPr lang="en-US" altLang="en-US" sz="2800" dirty="0">
                  <a:sym typeface="Wingdings" pitchFamily="2" charset="2"/>
                </a:endParaRPr>
              </a:p>
            </p:txBody>
          </p:sp>
        </mc:Choice>
        <mc:Fallback xmlns="">
          <p:sp>
            <p:nvSpPr>
              <p:cNvPr id="5" name="TextBox 4">
                <a:extLst>
                  <a:ext uri="{FF2B5EF4-FFF2-40B4-BE49-F238E27FC236}">
                    <a16:creationId xmlns:a16="http://schemas.microsoft.com/office/drawing/2014/main" id="{60D73B20-D3B7-482A-9408-CF9E5C1B1B39}"/>
                  </a:ext>
                </a:extLst>
              </p:cNvPr>
              <p:cNvSpPr txBox="1">
                <a:spLocks noRot="1" noChangeAspect="1" noMove="1" noResize="1" noEditPoints="1" noAdjustHandles="1" noChangeArrowheads="1" noChangeShapeType="1" noTextEdit="1"/>
              </p:cNvSpPr>
              <p:nvPr/>
            </p:nvSpPr>
            <p:spPr>
              <a:xfrm>
                <a:off x="177800" y="181307"/>
                <a:ext cx="12192000" cy="7239995"/>
              </a:xfrm>
              <a:prstGeom prst="rect">
                <a:avLst/>
              </a:prstGeom>
              <a:blipFill>
                <a:blip r:embed="rId4"/>
                <a:stretch>
                  <a:fillRect l="-650" t="-590"/>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13D32EE5-081B-AD6D-850B-B982FA29C590}"/>
              </a:ext>
            </a:extLst>
          </p:cNvPr>
          <p:cNvSpPr>
            <a:spLocks noGrp="1"/>
          </p:cNvSpPr>
          <p:nvPr>
            <p:ph type="sldNum" sz="quarter" idx="12"/>
          </p:nvPr>
        </p:nvSpPr>
        <p:spPr/>
        <p:txBody>
          <a:bodyPr/>
          <a:lstStyle/>
          <a:p>
            <a:fld id="{77C6A7FE-225D-49F1-B302-AA37EA92BB49}" type="slidenum">
              <a:rPr lang="en-US" smtClean="0"/>
              <a:t>44</a:t>
            </a:fld>
            <a:endParaRPr lang="en-US"/>
          </a:p>
        </p:txBody>
      </p:sp>
    </p:spTree>
    <p:extLst>
      <p:ext uri="{BB962C8B-B14F-4D97-AF65-F5344CB8AC3E}">
        <p14:creationId xmlns:p14="http://schemas.microsoft.com/office/powerpoint/2010/main" val="2041537735"/>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0D73B20-D3B7-482A-9408-CF9E5C1B1B39}"/>
                  </a:ext>
                </a:extLst>
              </p:cNvPr>
              <p:cNvSpPr txBox="1"/>
              <p:nvPr/>
            </p:nvSpPr>
            <p:spPr>
              <a:xfrm>
                <a:off x="177800" y="181307"/>
                <a:ext cx="12192000" cy="6144631"/>
              </a:xfrm>
              <a:prstGeom prst="rect">
                <a:avLst/>
              </a:prstGeom>
              <a:noFill/>
            </p:spPr>
            <p:txBody>
              <a:bodyPr wrap="square">
                <a:spAutoFit/>
              </a:bodyPr>
              <a:lstStyle/>
              <a:p>
                <a14:m>
                  <m:oMath xmlns:m="http://schemas.openxmlformats.org/officeDocument/2006/math">
                    <m:r>
                      <m:rPr>
                        <m:nor/>
                      </m:rPr>
                      <a:rPr lang="en-US" sz="2800" b="0" i="0" dirty="0" smtClean="0">
                        <a:solidFill>
                          <a:srgbClr val="555555"/>
                        </a:solidFill>
                        <a:latin typeface="Ubuntu"/>
                      </a:rPr>
                      <m:t>How</m:t>
                    </m:r>
                    <m:r>
                      <m:rPr>
                        <m:nor/>
                      </m:rPr>
                      <a:rPr lang="en-US" sz="2800" b="0" i="0" dirty="0" smtClean="0">
                        <a:solidFill>
                          <a:srgbClr val="555555"/>
                        </a:solidFill>
                        <a:latin typeface="Ubuntu"/>
                      </a:rPr>
                      <m:t> </m:t>
                    </m:r>
                    <m:r>
                      <m:rPr>
                        <m:nor/>
                      </m:rPr>
                      <a:rPr lang="en-US" sz="2800" b="0" i="0" dirty="0" smtClean="0">
                        <a:solidFill>
                          <a:srgbClr val="555555"/>
                        </a:solidFill>
                        <a:latin typeface="Ubuntu"/>
                      </a:rPr>
                      <m:t>to</m:t>
                    </m:r>
                    <m:r>
                      <m:rPr>
                        <m:nor/>
                      </m:rPr>
                      <a:rPr lang="en-US" sz="2800" b="0" i="0" dirty="0" smtClean="0">
                        <a:solidFill>
                          <a:srgbClr val="555555"/>
                        </a:solidFill>
                        <a:latin typeface="Ubuntu"/>
                      </a:rPr>
                      <m:t> </m:t>
                    </m:r>
                    <m:r>
                      <m:rPr>
                        <m:nor/>
                      </m:rPr>
                      <a:rPr lang="en-US" sz="2800" b="0" i="0" dirty="0" smtClean="0">
                        <a:solidFill>
                          <a:srgbClr val="555555"/>
                        </a:solidFill>
                        <a:latin typeface="Ubuntu"/>
                      </a:rPr>
                      <m:t>obtain</m:t>
                    </m:r>
                    <m:r>
                      <a:rPr lang="en-US" sz="2800" b="0" i="1" dirty="0" smtClean="0">
                        <a:solidFill>
                          <a:srgbClr val="555555"/>
                        </a:solidFill>
                        <a:latin typeface="Cambria Math" panose="02040503050406030204" pitchFamily="18" charset="0"/>
                      </a:rPr>
                      <m:t> </m:t>
                    </m:r>
                    <m:sSup>
                      <m:sSupPr>
                        <m:ctrlPr>
                          <a:rPr lang="en-US" sz="2800" i="1" dirty="0">
                            <a:solidFill>
                              <a:srgbClr val="555555"/>
                            </a:solidFill>
                            <a:latin typeface="Cambria Math" panose="02040503050406030204" pitchFamily="18" charset="0"/>
                          </a:rPr>
                        </m:ctrlPr>
                      </m:sSupPr>
                      <m:e>
                        <m:r>
                          <a:rPr lang="en-US" sz="2800" i="1" dirty="0">
                            <a:solidFill>
                              <a:srgbClr val="555555"/>
                            </a:solidFill>
                            <a:latin typeface="Cambria Math" panose="02040503050406030204" pitchFamily="18" charset="0"/>
                            <a:ea typeface="Cambria Math" panose="02040503050406030204" pitchFamily="18" charset="0"/>
                          </a:rPr>
                          <m:t>𝜎</m:t>
                        </m:r>
                      </m:e>
                      <m:sup>
                        <m:r>
                          <a:rPr lang="en-US" sz="2800" i="1" dirty="0">
                            <a:solidFill>
                              <a:srgbClr val="555555"/>
                            </a:solidFill>
                            <a:latin typeface="Cambria Math" panose="02040503050406030204" pitchFamily="18" charset="0"/>
                          </a:rPr>
                          <m:t>2</m:t>
                        </m:r>
                      </m:sup>
                    </m:sSup>
                    <m:r>
                      <a:rPr lang="en-US" sz="2800" i="1" dirty="0" smtClean="0">
                        <a:solidFill>
                          <a:srgbClr val="555555"/>
                        </a:solidFill>
                        <a:latin typeface="Cambria Math" panose="02040503050406030204" pitchFamily="18" charset="0"/>
                      </a:rPr>
                      <m:t> </m:t>
                    </m:r>
                    <m:r>
                      <m:rPr>
                        <m:sty m:val="p"/>
                      </m:rPr>
                      <a:rPr lang="en-US" sz="2800" b="0" i="0" dirty="0" smtClean="0">
                        <a:solidFill>
                          <a:srgbClr val="555555"/>
                        </a:solidFill>
                        <a:latin typeface="Cambria Math" panose="02040503050406030204" pitchFamily="18" charset="0"/>
                      </a:rPr>
                      <m:t>f</m:t>
                    </m:r>
                  </m:oMath>
                </a14:m>
                <a:r>
                  <a:rPr lang="en-US" sz="2800" dirty="0">
                    <a:solidFill>
                      <a:srgbClr val="555555"/>
                    </a:solidFill>
                    <a:latin typeface="Ubuntu"/>
                  </a:rPr>
                  <a:t>or study planning?</a:t>
                </a:r>
              </a:p>
              <a:p>
                <a:endParaRPr lang="en-US" sz="2800" dirty="0">
                  <a:solidFill>
                    <a:srgbClr val="555555"/>
                  </a:solidFill>
                  <a:latin typeface="Ubuntu"/>
                </a:endParaRPr>
              </a:p>
              <a:p>
                <a:pPr marL="514350" indent="-514350">
                  <a:buAutoNum type="arabicPeriod"/>
                </a:pPr>
                <a:r>
                  <a:rPr lang="en-US" sz="2800" dirty="0">
                    <a:solidFill>
                      <a:srgbClr val="555555"/>
                    </a:solidFill>
                  </a:rPr>
                  <a:t>Often, </a:t>
                </a:r>
                <a14:m>
                  <m:oMath xmlns:m="http://schemas.openxmlformats.org/officeDocument/2006/math">
                    <m:r>
                      <m:rPr>
                        <m:nor/>
                      </m:rPr>
                      <a:rPr lang="en-US" sz="2800" i="0" dirty="0">
                        <a:solidFill>
                          <a:srgbClr val="555555"/>
                        </a:solidFill>
                        <a:latin typeface="Ubuntu"/>
                      </a:rPr>
                      <m:t>Var</m:t>
                    </m:r>
                    <m:r>
                      <m:rPr>
                        <m:nor/>
                      </m:rPr>
                      <a:rPr lang="en-US" sz="2800" i="0" dirty="0">
                        <a:solidFill>
                          <a:srgbClr val="555555"/>
                        </a:solidFill>
                        <a:latin typeface="Ubuntu"/>
                      </a:rPr>
                      <m:t>(</m:t>
                    </m:r>
                    <m:acc>
                      <m:accPr>
                        <m:chr m:val="̅"/>
                        <m:ctrlPr>
                          <a:rPr lang="en-US" sz="2800" i="1" dirty="0">
                            <a:solidFill>
                              <a:srgbClr val="555555"/>
                            </a:solidFill>
                            <a:latin typeface="Cambria Math" panose="02040503050406030204" pitchFamily="18" charset="0"/>
                          </a:rPr>
                        </m:ctrlPr>
                      </m:accPr>
                      <m:e>
                        <m:r>
                          <a:rPr lang="en-US" sz="2800" i="1" dirty="0">
                            <a:solidFill>
                              <a:srgbClr val="555555"/>
                            </a:solidFill>
                            <a:latin typeface="Cambria Math" panose="02040503050406030204" pitchFamily="18" charset="0"/>
                          </a:rPr>
                          <m:t>𝑌</m:t>
                        </m:r>
                      </m:e>
                    </m:acc>
                    <m:r>
                      <m:rPr>
                        <m:nor/>
                      </m:rPr>
                      <a:rPr lang="en-US" sz="2800" i="0" dirty="0">
                        <a:solidFill>
                          <a:srgbClr val="555555"/>
                        </a:solidFill>
                        <a:latin typeface="Cambria Math" panose="02040503050406030204" pitchFamily="18" charset="0"/>
                      </a:rPr>
                      <m:t>)</m:t>
                    </m:r>
                  </m:oMath>
                </a14:m>
                <a:r>
                  <a:rPr lang="en-US" altLang="en-US" sz="2800" dirty="0">
                    <a:sym typeface="Wingdings" pitchFamily="2" charset="2"/>
                  </a:rPr>
                  <a:t>, the standard error (SE) of the sample mean from independent data, </a:t>
                </a:r>
                <a14:m>
                  <m:oMath xmlns:m="http://schemas.openxmlformats.org/officeDocument/2006/math">
                    <m:acc>
                      <m:accPr>
                        <m:chr m:val="̅"/>
                        <m:ctrlPr>
                          <a:rPr lang="en-US" altLang="en-US" sz="2800" i="1" dirty="0">
                            <a:solidFill>
                              <a:srgbClr val="555555"/>
                            </a:solidFill>
                            <a:latin typeface="Cambria Math" panose="02040503050406030204" pitchFamily="18" charset="0"/>
                            <a:sym typeface="Wingdings" pitchFamily="2" charset="2"/>
                          </a:rPr>
                        </m:ctrlPr>
                      </m:accPr>
                      <m:e>
                        <m:r>
                          <a:rPr lang="en-US" altLang="en-US" sz="2800" i="1" dirty="0">
                            <a:solidFill>
                              <a:srgbClr val="555555"/>
                            </a:solidFill>
                            <a:latin typeface="Cambria Math" panose="02040503050406030204" pitchFamily="18" charset="0"/>
                            <a:sym typeface="Wingdings" pitchFamily="2" charset="2"/>
                          </a:rPr>
                          <m:t>𝑌</m:t>
                        </m:r>
                      </m:e>
                    </m:acc>
                  </m:oMath>
                </a14:m>
                <a:r>
                  <a:rPr lang="en-US" altLang="en-US" sz="2800" dirty="0">
                    <a:sym typeface="Wingdings" pitchFamily="2" charset="2"/>
                  </a:rPr>
                  <a:t>, can be found in published papers in comparable study populations. </a:t>
                </a:r>
              </a:p>
              <a:p>
                <a:pPr marL="514350" indent="-514350">
                  <a:buAutoNum type="arabicPeriod"/>
                </a:pPr>
                <a:endParaRPr lang="en-US" altLang="en-US" sz="2800" dirty="0">
                  <a:sym typeface="Wingdings" pitchFamily="2" charset="2"/>
                </a:endParaRPr>
              </a:p>
              <a:p>
                <a:pPr marL="914400" lvl="1" indent="-457200">
                  <a:buFont typeface="Arial" panose="020B0604020202020204" pitchFamily="34" charset="0"/>
                  <a:buChar char="•"/>
                </a:pPr>
                <a:r>
                  <a:rPr lang="en-US" altLang="en-US" sz="2800" dirty="0">
                    <a:sym typeface="Wingdings" pitchFamily="2" charset="2"/>
                  </a:rPr>
                  <a:t>Beware that SE is a function of the sample size of the study from which </a:t>
                </a:r>
                <a14:m>
                  <m:oMath xmlns:m="http://schemas.openxmlformats.org/officeDocument/2006/math">
                    <m:acc>
                      <m:accPr>
                        <m:chr m:val="̅"/>
                        <m:ctrlPr>
                          <a:rPr lang="en-US" altLang="en-US" sz="2800" i="1" dirty="0">
                            <a:solidFill>
                              <a:srgbClr val="555555"/>
                            </a:solidFill>
                            <a:latin typeface="Cambria Math" panose="02040503050406030204" pitchFamily="18" charset="0"/>
                            <a:sym typeface="Wingdings" pitchFamily="2" charset="2"/>
                          </a:rPr>
                        </m:ctrlPr>
                      </m:accPr>
                      <m:e>
                        <m:r>
                          <a:rPr lang="en-US" altLang="en-US" sz="2800" i="1" dirty="0">
                            <a:solidFill>
                              <a:srgbClr val="555555"/>
                            </a:solidFill>
                            <a:latin typeface="Cambria Math" panose="02040503050406030204" pitchFamily="18" charset="0"/>
                            <a:sym typeface="Wingdings" pitchFamily="2" charset="2"/>
                          </a:rPr>
                          <m:t>𝑌</m:t>
                        </m:r>
                      </m:e>
                    </m:acc>
                  </m:oMath>
                </a14:m>
                <a:r>
                  <a:rPr lang="en-US" altLang="en-US" sz="2800" dirty="0">
                    <a:sym typeface="Wingdings" pitchFamily="2" charset="2"/>
                  </a:rPr>
                  <a:t> was obtained, and needs to be multiplied by </a:t>
                </a:r>
                <a14:m>
                  <m:oMath xmlns:m="http://schemas.openxmlformats.org/officeDocument/2006/math">
                    <m:rad>
                      <m:radPr>
                        <m:degHide m:val="on"/>
                        <m:ctrlPr>
                          <a:rPr lang="en-US" altLang="en-US" sz="2800" i="1" dirty="0">
                            <a:solidFill>
                              <a:srgbClr val="555555"/>
                            </a:solidFill>
                            <a:latin typeface="Cambria Math" panose="02040503050406030204" pitchFamily="18" charset="0"/>
                            <a:sym typeface="Wingdings" pitchFamily="2" charset="2"/>
                          </a:rPr>
                        </m:ctrlPr>
                      </m:radPr>
                      <m:deg/>
                      <m:e>
                        <m:r>
                          <a:rPr lang="en-US" altLang="en-US" sz="2800" i="1" dirty="0">
                            <a:solidFill>
                              <a:srgbClr val="555555"/>
                            </a:solidFill>
                            <a:latin typeface="Cambria Math" panose="02040503050406030204" pitchFamily="18" charset="0"/>
                            <a:sym typeface="Wingdings" pitchFamily="2" charset="2"/>
                          </a:rPr>
                          <m:t>𝑛</m:t>
                        </m:r>
                      </m:e>
                    </m:rad>
                  </m:oMath>
                </a14:m>
                <a:r>
                  <a:rPr lang="en-US" altLang="en-US" sz="2800" dirty="0">
                    <a:sym typeface="Wingdings" pitchFamily="2" charset="2"/>
                  </a:rPr>
                  <a:t> for use here, to obtain </a:t>
                </a:r>
                <a14:m>
                  <m:oMath xmlns:m="http://schemas.openxmlformats.org/officeDocument/2006/math">
                    <m:sSup>
                      <m:sSupPr>
                        <m:ctrlPr>
                          <a:rPr lang="en-US" sz="2800" i="1" dirty="0">
                            <a:solidFill>
                              <a:srgbClr val="555555"/>
                            </a:solidFill>
                            <a:latin typeface="Cambria Math" panose="02040503050406030204" pitchFamily="18" charset="0"/>
                          </a:rPr>
                        </m:ctrlPr>
                      </m:sSupPr>
                      <m:e>
                        <m:r>
                          <a:rPr lang="en-US" sz="2800" i="1" dirty="0">
                            <a:solidFill>
                              <a:srgbClr val="555555"/>
                            </a:solidFill>
                            <a:latin typeface="Cambria Math" panose="02040503050406030204" pitchFamily="18" charset="0"/>
                            <a:ea typeface="Cambria Math" panose="02040503050406030204" pitchFamily="18" charset="0"/>
                          </a:rPr>
                          <m:t>𝜎</m:t>
                        </m:r>
                      </m:e>
                      <m:sup>
                        <m:r>
                          <a:rPr lang="en-US" sz="2800" i="1" dirty="0">
                            <a:solidFill>
                              <a:srgbClr val="555555"/>
                            </a:solidFill>
                            <a:latin typeface="Cambria Math" panose="02040503050406030204" pitchFamily="18" charset="0"/>
                          </a:rPr>
                          <m:t>2</m:t>
                        </m:r>
                      </m:sup>
                    </m:sSup>
                  </m:oMath>
                </a14:m>
                <a:r>
                  <a:rPr lang="en-US" altLang="en-US" sz="2800" dirty="0">
                    <a:sym typeface="Wingdings" pitchFamily="2" charset="2"/>
                  </a:rPr>
                  <a:t>.</a:t>
                </a:r>
              </a:p>
              <a:p>
                <a:pPr lvl="1" algn="ctr"/>
                <a14:m>
                  <m:oMath xmlns:m="http://schemas.openxmlformats.org/officeDocument/2006/math">
                    <m:r>
                      <a:rPr lang="en-US" altLang="en-US" sz="2800" b="0" i="1" smtClean="0">
                        <a:latin typeface="Cambria Math" panose="02040503050406030204" pitchFamily="18" charset="0"/>
                        <a:sym typeface="Wingdings" pitchFamily="2" charset="2"/>
                      </a:rPr>
                      <m:t>𝑆𝐸</m:t>
                    </m:r>
                    <m:r>
                      <a:rPr lang="en-US" altLang="en-US" sz="2800" b="0" i="1" smtClean="0">
                        <a:latin typeface="Cambria Math" panose="02040503050406030204" pitchFamily="18" charset="0"/>
                        <a:sym typeface="Wingdings" pitchFamily="2" charset="2"/>
                      </a:rPr>
                      <m:t>= </m:t>
                    </m:r>
                    <m:rad>
                      <m:radPr>
                        <m:degHide m:val="on"/>
                        <m:ctrlPr>
                          <a:rPr lang="en-US" altLang="en-US" sz="2800" b="0" i="1" smtClean="0">
                            <a:latin typeface="Cambria Math" panose="02040503050406030204" pitchFamily="18" charset="0"/>
                            <a:sym typeface="Wingdings" pitchFamily="2" charset="2"/>
                          </a:rPr>
                        </m:ctrlPr>
                      </m:radPr>
                      <m:deg/>
                      <m:e>
                        <m:f>
                          <m:fPr>
                            <m:ctrlPr>
                              <a:rPr lang="en-US" altLang="en-US" sz="2800" b="0" i="1" smtClean="0">
                                <a:latin typeface="Cambria Math" panose="02040503050406030204" pitchFamily="18" charset="0"/>
                                <a:sym typeface="Wingdings" pitchFamily="2" charset="2"/>
                              </a:rPr>
                            </m:ctrlPr>
                          </m:fPr>
                          <m:num>
                            <m:sSup>
                              <m:sSupPr>
                                <m:ctrlPr>
                                  <a:rPr lang="en-US" altLang="en-US" sz="2800" b="0" i="1" smtClean="0">
                                    <a:latin typeface="Cambria Math" panose="02040503050406030204" pitchFamily="18" charset="0"/>
                                    <a:sym typeface="Wingdings" pitchFamily="2" charset="2"/>
                                  </a:rPr>
                                </m:ctrlPr>
                              </m:sSupPr>
                              <m:e>
                                <m:r>
                                  <a:rPr lang="en-US" altLang="en-US" sz="2800" b="0" i="1" smtClean="0">
                                    <a:latin typeface="Cambria Math" panose="02040503050406030204" pitchFamily="18" charset="0"/>
                                    <a:ea typeface="Cambria Math" panose="02040503050406030204" pitchFamily="18" charset="0"/>
                                    <a:sym typeface="Wingdings" pitchFamily="2" charset="2"/>
                                  </a:rPr>
                                  <m:t>𝜎</m:t>
                                </m:r>
                              </m:e>
                              <m:sup>
                                <m:r>
                                  <a:rPr lang="en-US" altLang="en-US" sz="2800" b="0" i="1" smtClean="0">
                                    <a:latin typeface="Cambria Math" panose="02040503050406030204" pitchFamily="18" charset="0"/>
                                    <a:sym typeface="Wingdings" pitchFamily="2" charset="2"/>
                                  </a:rPr>
                                  <m:t>2</m:t>
                                </m:r>
                              </m:sup>
                            </m:sSup>
                          </m:num>
                          <m:den>
                            <m:r>
                              <a:rPr lang="en-US" altLang="en-US" sz="2800" b="0" i="1" smtClean="0">
                                <a:latin typeface="Cambria Math" panose="02040503050406030204" pitchFamily="18" charset="0"/>
                                <a:sym typeface="Wingdings" pitchFamily="2" charset="2"/>
                              </a:rPr>
                              <m:t>𝑛</m:t>
                            </m:r>
                          </m:den>
                        </m:f>
                      </m:e>
                    </m:rad>
                  </m:oMath>
                </a14:m>
                <a:r>
                  <a:rPr lang="en-US" altLang="en-US" sz="2800" dirty="0">
                    <a:sym typeface="Wingdings" pitchFamily="2" charset="2"/>
                  </a:rPr>
                  <a:t> </a:t>
                </a:r>
                <a14:m>
                  <m:oMath xmlns:m="http://schemas.openxmlformats.org/officeDocument/2006/math">
                    <m:r>
                      <a:rPr lang="en-US" altLang="en-US" sz="2800" i="1" dirty="0" smtClean="0">
                        <a:latin typeface="Cambria Math" panose="02040503050406030204" pitchFamily="18" charset="0"/>
                        <a:ea typeface="Cambria Math" panose="02040503050406030204" pitchFamily="18" charset="0"/>
                        <a:sym typeface="Wingdings" pitchFamily="2" charset="2"/>
                      </a:rPr>
                      <m:t>↔</m:t>
                    </m:r>
                  </m:oMath>
                </a14:m>
                <a:r>
                  <a:rPr lang="en-US" altLang="en-US" sz="2800" dirty="0">
                    <a:sym typeface="Wingdings" pitchFamily="2" charset="2"/>
                  </a:rPr>
                  <a:t> </a:t>
                </a:r>
                <a14:m>
                  <m:oMath xmlns:m="http://schemas.openxmlformats.org/officeDocument/2006/math">
                    <m:r>
                      <m:rPr>
                        <m:sty m:val="p"/>
                      </m:rPr>
                      <a:rPr lang="en-US" altLang="en-US" sz="2800" dirty="0">
                        <a:latin typeface="Cambria Math" panose="02040503050406030204" pitchFamily="18" charset="0"/>
                        <a:sym typeface="Wingdings" pitchFamily="2" charset="2"/>
                      </a:rPr>
                      <m:t>S</m:t>
                    </m:r>
                    <m:r>
                      <m:rPr>
                        <m:sty m:val="p"/>
                      </m:rPr>
                      <a:rPr lang="en-US" altLang="en-US" sz="2800" b="0" i="0" dirty="0" smtClean="0">
                        <a:latin typeface="Cambria Math" panose="02040503050406030204" pitchFamily="18" charset="0"/>
                        <a:sym typeface="Wingdings" pitchFamily="2" charset="2"/>
                      </a:rPr>
                      <m:t>D</m:t>
                    </m:r>
                    <m:r>
                      <a:rPr lang="en-US" altLang="en-US" sz="2800" b="0" i="0" dirty="0" smtClean="0">
                        <a:latin typeface="Cambria Math" panose="02040503050406030204" pitchFamily="18" charset="0"/>
                        <a:sym typeface="Wingdings" pitchFamily="2" charset="2"/>
                      </a:rPr>
                      <m:t>=</m:t>
                    </m:r>
                    <m:r>
                      <a:rPr lang="en-US" altLang="en-US" sz="2800" b="0" i="1" dirty="0" smtClean="0">
                        <a:latin typeface="Cambria Math" panose="02040503050406030204" pitchFamily="18" charset="0"/>
                        <a:sym typeface="Wingdings" pitchFamily="2" charset="2"/>
                      </a:rPr>
                      <m:t>𝑆𝐸</m:t>
                    </m:r>
                    <m:r>
                      <a:rPr lang="en-US" altLang="en-US" sz="2800" b="0" i="1" dirty="0" smtClean="0">
                        <a:latin typeface="Cambria Math" panose="02040503050406030204" pitchFamily="18" charset="0"/>
                        <a:sym typeface="Wingdings" pitchFamily="2" charset="2"/>
                      </a:rPr>
                      <m:t> </m:t>
                    </m:r>
                    <m:rad>
                      <m:radPr>
                        <m:degHide m:val="on"/>
                        <m:ctrlPr>
                          <a:rPr lang="en-US" altLang="en-US" sz="2800" b="0" i="1" dirty="0" smtClean="0">
                            <a:latin typeface="Cambria Math" panose="02040503050406030204" pitchFamily="18" charset="0"/>
                            <a:sym typeface="Wingdings" pitchFamily="2" charset="2"/>
                          </a:rPr>
                        </m:ctrlPr>
                      </m:radPr>
                      <m:deg/>
                      <m:e>
                        <m:r>
                          <a:rPr lang="en-US" altLang="en-US" sz="2800" b="0" i="1" dirty="0" smtClean="0">
                            <a:latin typeface="Cambria Math" panose="02040503050406030204" pitchFamily="18" charset="0"/>
                            <a:sym typeface="Wingdings" pitchFamily="2" charset="2"/>
                          </a:rPr>
                          <m:t>𝑛</m:t>
                        </m:r>
                      </m:e>
                    </m:rad>
                  </m:oMath>
                </a14:m>
                <a:endParaRPr lang="en-US" altLang="en-US" sz="2800" dirty="0">
                  <a:sym typeface="Wingdings" pitchFamily="2" charset="2"/>
                </a:endParaRPr>
              </a:p>
              <a:p>
                <a:pPr lvl="1"/>
                <a:endParaRPr lang="en-US" altLang="en-US" sz="2800" dirty="0">
                  <a:sym typeface="Wingdings" pitchFamily="2" charset="2"/>
                </a:endParaRPr>
              </a:p>
              <a:p>
                <a:pPr marL="514350" indent="-514350">
                  <a:buAutoNum type="arabicPeriod"/>
                </a:pPr>
                <a14:m>
                  <m:oMath xmlns:m="http://schemas.openxmlformats.org/officeDocument/2006/math">
                    <m:sSup>
                      <m:sSupPr>
                        <m:ctrlPr>
                          <a:rPr lang="en-US" sz="2800" i="1" dirty="0">
                            <a:solidFill>
                              <a:srgbClr val="555555"/>
                            </a:solidFill>
                            <a:latin typeface="Cambria Math" panose="02040503050406030204" pitchFamily="18" charset="0"/>
                          </a:rPr>
                        </m:ctrlPr>
                      </m:sSupPr>
                      <m:e>
                        <m:r>
                          <a:rPr lang="en-US" sz="2800" i="1" dirty="0">
                            <a:solidFill>
                              <a:srgbClr val="555555"/>
                            </a:solidFill>
                            <a:latin typeface="Cambria Math" panose="02040503050406030204" pitchFamily="18" charset="0"/>
                            <a:ea typeface="Cambria Math" panose="02040503050406030204" pitchFamily="18" charset="0"/>
                          </a:rPr>
                          <m:t>𝜎</m:t>
                        </m:r>
                      </m:e>
                      <m:sup>
                        <m:r>
                          <a:rPr lang="en-US" sz="2800" i="1" dirty="0">
                            <a:solidFill>
                              <a:srgbClr val="555555"/>
                            </a:solidFill>
                            <a:latin typeface="Cambria Math" panose="02040503050406030204" pitchFamily="18" charset="0"/>
                          </a:rPr>
                          <m:t>2</m:t>
                        </m:r>
                      </m:sup>
                    </m:sSup>
                  </m:oMath>
                </a14:m>
                <a:r>
                  <a:rPr lang="en-US" altLang="en-US" sz="2800" dirty="0">
                    <a:sym typeface="Wingdings" pitchFamily="2" charset="2"/>
                  </a:rPr>
                  <a:t>can be obtained from pilot data (best) or published data ideally from a similar context. Descriptive statistics in published papers of comparable populations usually report the SD (standard deviation) or SE of the outcome variable.</a:t>
                </a:r>
              </a:p>
            </p:txBody>
          </p:sp>
        </mc:Choice>
        <mc:Fallback xmlns="">
          <p:sp>
            <p:nvSpPr>
              <p:cNvPr id="5" name="TextBox 4">
                <a:extLst>
                  <a:ext uri="{FF2B5EF4-FFF2-40B4-BE49-F238E27FC236}">
                    <a16:creationId xmlns:a16="http://schemas.microsoft.com/office/drawing/2014/main" id="{60D73B20-D3B7-482A-9408-CF9E5C1B1B39}"/>
                  </a:ext>
                </a:extLst>
              </p:cNvPr>
              <p:cNvSpPr txBox="1">
                <a:spLocks noRot="1" noChangeAspect="1" noMove="1" noResize="1" noEditPoints="1" noAdjustHandles="1" noChangeArrowheads="1" noChangeShapeType="1" noTextEdit="1"/>
              </p:cNvSpPr>
              <p:nvPr/>
            </p:nvSpPr>
            <p:spPr>
              <a:xfrm>
                <a:off x="177800" y="181307"/>
                <a:ext cx="12192000" cy="6144631"/>
              </a:xfrm>
              <a:prstGeom prst="rect">
                <a:avLst/>
              </a:prstGeom>
              <a:blipFill>
                <a:blip r:embed="rId4"/>
                <a:stretch>
                  <a:fillRect l="-1050" t="-1190" b="-1885"/>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DAC83B30-85BD-BF6E-97FC-0C6B07FC1060}"/>
              </a:ext>
            </a:extLst>
          </p:cNvPr>
          <p:cNvSpPr>
            <a:spLocks noGrp="1"/>
          </p:cNvSpPr>
          <p:nvPr>
            <p:ph type="sldNum" sz="quarter" idx="12"/>
          </p:nvPr>
        </p:nvSpPr>
        <p:spPr/>
        <p:txBody>
          <a:bodyPr/>
          <a:lstStyle/>
          <a:p>
            <a:fld id="{77C6A7FE-225D-49F1-B302-AA37EA92BB49}" type="slidenum">
              <a:rPr lang="en-US" smtClean="0"/>
              <a:t>45</a:t>
            </a:fld>
            <a:endParaRPr lang="en-US" dirty="0"/>
          </a:p>
        </p:txBody>
      </p:sp>
    </p:spTree>
    <p:extLst>
      <p:ext uri="{BB962C8B-B14F-4D97-AF65-F5344CB8AC3E}">
        <p14:creationId xmlns:p14="http://schemas.microsoft.com/office/powerpoint/2010/main" val="70697972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754629"/>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0D73B20-D3B7-482A-9408-CF9E5C1B1B39}"/>
                  </a:ext>
                </a:extLst>
              </p:cNvPr>
              <p:cNvSpPr txBox="1"/>
              <p:nvPr/>
            </p:nvSpPr>
            <p:spPr>
              <a:xfrm>
                <a:off x="114300" y="1337187"/>
                <a:ext cx="12077700" cy="3650487"/>
              </a:xfrm>
              <a:prstGeom prst="rect">
                <a:avLst/>
              </a:prstGeom>
              <a:noFill/>
            </p:spPr>
            <p:txBody>
              <a:bodyPr wrap="square">
                <a:spAutoFit/>
              </a:bodyPr>
              <a:lstStyle/>
              <a:p>
                <a:r>
                  <a:rPr lang="en-US" altLang="en-US" sz="2800" dirty="0">
                    <a:sym typeface="Wingdings" pitchFamily="2" charset="2"/>
                  </a:rPr>
                  <a:t>Using these preliminary data, to obtain 80% power at </a:t>
                </a:r>
                <a14:m>
                  <m:oMath xmlns:m="http://schemas.openxmlformats.org/officeDocument/2006/math">
                    <m:r>
                      <a:rPr lang="en-US" sz="2800" i="1" smtClean="0">
                        <a:solidFill>
                          <a:srgbClr val="000000"/>
                        </a:solidFill>
                        <a:latin typeface="Cambria Math" panose="02040503050406030204" pitchFamily="18" charset="0"/>
                      </a:rPr>
                      <m:t>𝛼</m:t>
                    </m:r>
                    <m:r>
                      <a:rPr lang="en-US" sz="2800" i="1" smtClean="0">
                        <a:solidFill>
                          <a:srgbClr val="000000"/>
                        </a:solidFill>
                        <a:latin typeface="Cambria Math" panose="02040503050406030204" pitchFamily="18" charset="0"/>
                      </a:rPr>
                      <m:t>=.05</m:t>
                    </m:r>
                  </m:oMath>
                </a14:m>
                <a:r>
                  <a:rPr lang="en-US" altLang="en-US" sz="2800" dirty="0">
                    <a:sym typeface="Wingdings" pitchFamily="2" charset="2"/>
                  </a:rPr>
                  <a:t> (2-sided) for detecting a mean difference of 20 mg/dl between intervention groups, the number of required worksites per group with 70 participants/group is given by</a:t>
                </a:r>
              </a:p>
              <a:p>
                <a:endParaRPr lang="en-US" altLang="en-US" sz="2800" dirty="0">
                  <a:sym typeface="Wingdings" pitchFamily="2" charset="2"/>
                </a:endParaRPr>
              </a:p>
              <a:p>
                <a:pPr algn="ctr"/>
                <a14:m>
                  <m:oMathPara xmlns:m="http://schemas.openxmlformats.org/officeDocument/2006/math">
                    <m:oMathParaPr>
                      <m:jc m:val="centerGroup"/>
                    </m:oMathParaPr>
                    <m:oMath xmlns:m="http://schemas.openxmlformats.org/officeDocument/2006/math">
                      <m:r>
                        <a:rPr lang="en-US" altLang="en-US" sz="2800" i="1">
                          <a:latin typeface="Cambria Math" panose="02040503050406030204" pitchFamily="18" charset="0"/>
                          <a:sym typeface="Wingdings" pitchFamily="2" charset="2"/>
                        </a:rPr>
                        <m:t>𝐾</m:t>
                      </m:r>
                      <m:r>
                        <a:rPr lang="en-US" altLang="en-US" sz="2800" i="1">
                          <a:latin typeface="Cambria Math" panose="02040503050406030204" pitchFamily="18" charset="0"/>
                          <a:sym typeface="Wingdings" pitchFamily="2" charset="2"/>
                        </a:rPr>
                        <m:t>=</m:t>
                      </m:r>
                      <m:sSup>
                        <m:sSupPr>
                          <m:ctrlPr>
                            <a:rPr lang="el-GR" sz="2800" i="1" dirty="0">
                              <a:solidFill>
                                <a:srgbClr val="555555"/>
                              </a:solidFill>
                              <a:latin typeface="Cambria Math" panose="02040503050406030204" pitchFamily="18" charset="0"/>
                            </a:rPr>
                          </m:ctrlPr>
                        </m:sSupPr>
                        <m:e>
                          <m:r>
                            <m:rPr>
                              <m:nor/>
                            </m:rPr>
                            <a:rPr lang="el-GR" sz="2800" i="0" dirty="0">
                              <a:solidFill>
                                <a:srgbClr val="555555"/>
                              </a:solidFill>
                              <a:latin typeface="Ubuntu"/>
                            </a:rPr>
                            <m:t>(</m:t>
                          </m:r>
                          <m:sSub>
                            <m:sSubPr>
                              <m:ctrlPr>
                                <a:rPr lang="el-GR" sz="2800" i="1" dirty="0">
                                  <a:solidFill>
                                    <a:srgbClr val="555555"/>
                                  </a:solidFill>
                                  <a:latin typeface="Cambria Math" panose="02040503050406030204" pitchFamily="18" charset="0"/>
                                </a:rPr>
                              </m:ctrlPr>
                            </m:sSubPr>
                            <m:e>
                              <m:r>
                                <a:rPr lang="en-US" sz="2800" i="1" dirty="0">
                                  <a:solidFill>
                                    <a:srgbClr val="555555"/>
                                  </a:solidFill>
                                  <a:latin typeface="Cambria Math" panose="02040503050406030204" pitchFamily="18" charset="0"/>
                                </a:rPr>
                                <m:t>𝑍</m:t>
                              </m:r>
                            </m:e>
                            <m:sub>
                              <m:r>
                                <a:rPr lang="el-GR" sz="2800" i="1" dirty="0">
                                  <a:solidFill>
                                    <a:srgbClr val="555555"/>
                                  </a:solidFill>
                                  <a:latin typeface="Cambria Math" panose="02040503050406030204" pitchFamily="18" charset="0"/>
                                  <a:ea typeface="Cambria Math" panose="02040503050406030204" pitchFamily="18" charset="0"/>
                                </a:rPr>
                                <m:t>𝛼</m:t>
                              </m:r>
                              <m:r>
                                <a:rPr lang="en-US" sz="2800" i="1" dirty="0">
                                  <a:solidFill>
                                    <a:srgbClr val="555555"/>
                                  </a:solidFill>
                                  <a:latin typeface="Cambria Math" panose="02040503050406030204" pitchFamily="18" charset="0"/>
                                  <a:ea typeface="Cambria Math" panose="02040503050406030204" pitchFamily="18" charset="0"/>
                                </a:rPr>
                                <m:t>/2</m:t>
                              </m:r>
                            </m:sub>
                          </m:sSub>
                          <m:r>
                            <m:rPr>
                              <m:nor/>
                            </m:rPr>
                            <a:rPr lang="en-US" sz="2800" i="0" dirty="0">
                              <a:solidFill>
                                <a:srgbClr val="555555"/>
                              </a:solidFill>
                              <a:latin typeface="Ubuntu"/>
                            </a:rPr>
                            <m:t>+</m:t>
                          </m:r>
                          <m:sSub>
                            <m:sSubPr>
                              <m:ctrlPr>
                                <a:rPr lang="en-US" sz="2800" i="1" dirty="0">
                                  <a:solidFill>
                                    <a:srgbClr val="555555"/>
                                  </a:solidFill>
                                  <a:latin typeface="Cambria Math" panose="02040503050406030204" pitchFamily="18" charset="0"/>
                                </a:rPr>
                              </m:ctrlPr>
                            </m:sSubPr>
                            <m:e>
                              <m:r>
                                <a:rPr lang="en-US" sz="2800" i="1" dirty="0">
                                  <a:solidFill>
                                    <a:srgbClr val="555555"/>
                                  </a:solidFill>
                                  <a:latin typeface="Cambria Math" panose="02040503050406030204" pitchFamily="18" charset="0"/>
                                </a:rPr>
                                <m:t>𝑍</m:t>
                              </m:r>
                            </m:e>
                            <m:sub>
                              <m:r>
                                <a:rPr lang="en-US" sz="2800" i="1" dirty="0">
                                  <a:solidFill>
                                    <a:srgbClr val="555555"/>
                                  </a:solidFill>
                                  <a:latin typeface="Cambria Math" panose="02040503050406030204" pitchFamily="18" charset="0"/>
                                  <a:ea typeface="Cambria Math" panose="02040503050406030204" pitchFamily="18" charset="0"/>
                                </a:rPr>
                                <m:t>𝛽</m:t>
                              </m:r>
                            </m:sub>
                          </m:sSub>
                          <m:r>
                            <m:rPr>
                              <m:nor/>
                            </m:rPr>
                            <a:rPr lang="el-GR" sz="2800" i="0" dirty="0">
                              <a:solidFill>
                                <a:srgbClr val="555555"/>
                              </a:solidFill>
                              <a:latin typeface="Ubuntu"/>
                            </a:rPr>
                            <m:t>)</m:t>
                          </m:r>
                        </m:e>
                        <m:sup>
                          <m:r>
                            <a:rPr lang="en-US" sz="2800" i="1" dirty="0">
                              <a:solidFill>
                                <a:srgbClr val="555555"/>
                              </a:solidFill>
                              <a:latin typeface="Cambria Math" panose="02040503050406030204" pitchFamily="18" charset="0"/>
                            </a:rPr>
                            <m:t>2</m:t>
                          </m:r>
                        </m:sup>
                      </m:sSup>
                      <m:r>
                        <a:rPr lang="el-GR" sz="2800" i="1" dirty="0">
                          <a:solidFill>
                            <a:srgbClr val="555555"/>
                          </a:solidFill>
                          <a:latin typeface="Cambria Math" panose="02040503050406030204" pitchFamily="18" charset="0"/>
                          <a:ea typeface="Cambria Math" panose="02040503050406030204" pitchFamily="18" charset="0"/>
                        </a:rPr>
                        <m:t>×</m:t>
                      </m:r>
                      <m:r>
                        <m:rPr>
                          <m:nor/>
                        </m:rPr>
                        <a:rPr lang="en-US" sz="2800" i="0" dirty="0">
                          <a:solidFill>
                            <a:srgbClr val="555555"/>
                          </a:solidFill>
                          <a:latin typeface="Cambria Math" panose="02040503050406030204" pitchFamily="18" charset="0"/>
                        </a:rPr>
                        <m:t>2</m:t>
                      </m:r>
                      <m:sSup>
                        <m:sSupPr>
                          <m:ctrlPr>
                            <a:rPr lang="en-US" sz="2800" i="1" dirty="0">
                              <a:solidFill>
                                <a:srgbClr val="555555"/>
                              </a:solidFill>
                              <a:latin typeface="Cambria Math" panose="02040503050406030204" pitchFamily="18" charset="0"/>
                            </a:rPr>
                          </m:ctrlPr>
                        </m:sSupPr>
                        <m:e>
                          <m:r>
                            <a:rPr lang="en-US" sz="2800" i="1" dirty="0">
                              <a:solidFill>
                                <a:srgbClr val="555555"/>
                              </a:solidFill>
                              <a:latin typeface="Cambria Math" panose="02040503050406030204" pitchFamily="18" charset="0"/>
                              <a:ea typeface="Cambria Math" panose="02040503050406030204" pitchFamily="18" charset="0"/>
                            </a:rPr>
                            <m:t>𝜎</m:t>
                          </m:r>
                        </m:e>
                        <m:sup>
                          <m:r>
                            <a:rPr lang="en-US" sz="2800" i="1" dirty="0">
                              <a:solidFill>
                                <a:srgbClr val="555555"/>
                              </a:solidFill>
                              <a:latin typeface="Cambria Math" panose="02040503050406030204" pitchFamily="18" charset="0"/>
                            </a:rPr>
                            <m:t>2</m:t>
                          </m:r>
                        </m:sup>
                      </m:sSup>
                      <m:r>
                        <a:rPr lang="en-US" sz="2800" i="1" dirty="0">
                          <a:solidFill>
                            <a:srgbClr val="555555"/>
                          </a:solidFill>
                          <a:latin typeface="Cambria Math" panose="02040503050406030204" pitchFamily="18" charset="0"/>
                          <a:ea typeface="Cambria Math" panose="02040503050406030204" pitchFamily="18" charset="0"/>
                        </a:rPr>
                        <m:t>×</m:t>
                      </m:r>
                      <m:r>
                        <m:rPr>
                          <m:nor/>
                        </m:rPr>
                        <a:rPr lang="en-US" altLang="en-US" sz="2800" i="0" dirty="0">
                          <a:sym typeface="Wingdings" pitchFamily="2" charset="2"/>
                        </a:rPr>
                        <m:t>(1</m:t>
                      </m:r>
                      <m:r>
                        <m:rPr>
                          <m:nor/>
                        </m:rPr>
                        <a:rPr lang="en-US" sz="2800" i="0" dirty="0"/>
                        <m:t> </m:t>
                      </m:r>
                      <m:r>
                        <a:rPr lang="en-US" sz="2800" i="1">
                          <a:latin typeface="Cambria Math" panose="02040503050406030204" pitchFamily="18" charset="0"/>
                        </a:rPr>
                        <m:t>+</m:t>
                      </m:r>
                      <m:d>
                        <m:dPr>
                          <m:ctrlPr>
                            <a:rPr lang="en-US" sz="2800" i="1">
                              <a:latin typeface="Cambria Math" panose="02040503050406030204" pitchFamily="18" charset="0"/>
                            </a:rPr>
                          </m:ctrlPr>
                        </m:dPr>
                        <m:e>
                          <m:r>
                            <a:rPr lang="en-US" sz="2800" i="1">
                              <a:latin typeface="Cambria Math" panose="02040503050406030204" pitchFamily="18" charset="0"/>
                            </a:rPr>
                            <m:t>𝑚</m:t>
                          </m:r>
                          <m:r>
                            <a:rPr lang="en-US" sz="2800" i="1">
                              <a:latin typeface="Cambria Math" panose="02040503050406030204" pitchFamily="18" charset="0"/>
                            </a:rPr>
                            <m:t>−1</m:t>
                          </m:r>
                        </m:e>
                      </m:d>
                      <m:r>
                        <a:rPr lang="en-US" sz="2800" i="1">
                          <a:latin typeface="Cambria Math" panose="02040503050406030204" pitchFamily="18" charset="0"/>
                          <a:ea typeface="Cambria Math" panose="02040503050406030204" pitchFamily="18" charset="0"/>
                        </a:rPr>
                        <m:t>𝜌</m:t>
                      </m:r>
                      <m:r>
                        <a:rPr lang="en-US" sz="2800" i="1">
                          <a:latin typeface="Cambria Math" panose="02040503050406030204" pitchFamily="18" charset="0"/>
                          <a:ea typeface="Cambria Math" panose="02040503050406030204" pitchFamily="18" charset="0"/>
                        </a:rPr>
                        <m:t>]</m:t>
                      </m:r>
                      <m:r>
                        <m:rPr>
                          <m:nor/>
                        </m:rPr>
                        <a:rPr lang="el-GR" sz="2800" i="0" dirty="0">
                          <a:solidFill>
                            <a:srgbClr val="555555"/>
                          </a:solidFill>
                          <a:latin typeface="Ubuntu"/>
                        </a:rPr>
                        <m:t>/</m:t>
                      </m:r>
                      <m:r>
                        <m:rPr>
                          <m:nor/>
                        </m:rPr>
                        <a:rPr lang="en-US" sz="2800" i="0" dirty="0">
                          <a:solidFill>
                            <a:srgbClr val="555555"/>
                          </a:solidFill>
                          <a:latin typeface="Ubuntu"/>
                        </a:rPr>
                        <m:t>[</m:t>
                      </m:r>
                      <m:r>
                        <m:rPr>
                          <m:nor/>
                        </m:rPr>
                        <a:rPr lang="en-US" sz="2800" i="1" dirty="0">
                          <a:solidFill>
                            <a:srgbClr val="555555"/>
                          </a:solidFill>
                          <a:latin typeface="Cambria Math" panose="02040503050406030204" pitchFamily="18" charset="0"/>
                          <a:ea typeface="Cambria Math" panose="02040503050406030204" pitchFamily="18" charset="0"/>
                        </a:rPr>
                        <m:t>m</m:t>
                      </m:r>
                      <m:sSup>
                        <m:sSupPr>
                          <m:ctrlPr>
                            <a:rPr lang="el-GR" sz="2800" i="1" dirty="0">
                              <a:solidFill>
                                <a:srgbClr val="555555"/>
                              </a:solidFill>
                              <a:latin typeface="Cambria Math" panose="02040503050406030204" pitchFamily="18" charset="0"/>
                            </a:rPr>
                          </m:ctrlPr>
                        </m:sSupPr>
                        <m:e>
                          <m:sSup>
                            <m:sSupPr>
                              <m:ctrlPr>
                                <a:rPr lang="el-GR" sz="2800" i="1" dirty="0">
                                  <a:solidFill>
                                    <a:srgbClr val="555555"/>
                                  </a:solidFill>
                                  <a:latin typeface="Cambria Math" panose="02040503050406030204" pitchFamily="18" charset="0"/>
                                </a:rPr>
                              </m:ctrlPr>
                            </m:sSupPr>
                            <m:e>
                              <m:r>
                                <a:rPr lang="en-US" sz="2800" i="1" dirty="0">
                                  <a:solidFill>
                                    <a:srgbClr val="555555"/>
                                  </a:solidFill>
                                  <a:latin typeface="Cambria Math" panose="02040503050406030204" pitchFamily="18" charset="0"/>
                                </a:rPr>
                                <m:t>(</m:t>
                              </m:r>
                              <m:r>
                                <a:rPr lang="el-GR" sz="2800" i="1" dirty="0">
                                  <a:solidFill>
                                    <a:srgbClr val="555555"/>
                                  </a:solidFill>
                                  <a:latin typeface="Cambria Math" panose="02040503050406030204" pitchFamily="18" charset="0"/>
                                  <a:ea typeface="Cambria Math" panose="02040503050406030204" pitchFamily="18" charset="0"/>
                                </a:rPr>
                                <m:t>𝛽</m:t>
                              </m:r>
                            </m:e>
                            <m:sup>
                              <m:r>
                                <a:rPr lang="en-US" sz="2800" i="1" dirty="0">
                                  <a:solidFill>
                                    <a:srgbClr val="555555"/>
                                  </a:solidFill>
                                  <a:latin typeface="Cambria Math" panose="02040503050406030204" pitchFamily="18" charset="0"/>
                                </a:rPr>
                                <m:t>∗</m:t>
                              </m:r>
                            </m:sup>
                          </m:sSup>
                          <m:r>
                            <a:rPr lang="en-US" sz="2800" i="1" dirty="0">
                              <a:solidFill>
                                <a:srgbClr val="555555"/>
                              </a:solidFill>
                              <a:latin typeface="Cambria Math" panose="02040503050406030204" pitchFamily="18" charset="0"/>
                            </a:rPr>
                            <m:t>)</m:t>
                          </m:r>
                        </m:e>
                        <m:sup>
                          <m:r>
                            <a:rPr lang="en-US" sz="2800" i="1" dirty="0">
                              <a:solidFill>
                                <a:srgbClr val="555555"/>
                              </a:solidFill>
                              <a:latin typeface="Cambria Math" panose="02040503050406030204" pitchFamily="18" charset="0"/>
                            </a:rPr>
                            <m:t>2</m:t>
                          </m:r>
                        </m:sup>
                      </m:sSup>
                    </m:oMath>
                  </m:oMathPara>
                </a14:m>
                <a:endParaRPr lang="en-US" sz="2800" i="1" dirty="0">
                  <a:solidFill>
                    <a:srgbClr val="555555"/>
                  </a:solidFill>
                  <a:latin typeface="Cambria Math" panose="02040503050406030204" pitchFamily="18" charset="0"/>
                </a:endParaRPr>
              </a:p>
              <a:p>
                <a:pPr algn="ctr"/>
                <a:endParaRPr lang="en-US" sz="2800" b="0" i="1" dirty="0">
                  <a:solidFill>
                    <a:srgbClr val="555555"/>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sz="2800" b="0" i="1" dirty="0" smtClean="0">
                          <a:solidFill>
                            <a:srgbClr val="555555"/>
                          </a:solidFill>
                          <a:latin typeface="Cambria Math" panose="02040503050406030204" pitchFamily="18" charset="0"/>
                        </a:rPr>
                        <m:t>= </m:t>
                      </m:r>
                      <m:f>
                        <m:fPr>
                          <m:ctrlPr>
                            <a:rPr lang="en-US" sz="2800" i="1">
                              <a:solidFill>
                                <a:schemeClr val="tx1"/>
                              </a:solidFill>
                              <a:latin typeface="Cambria Math" panose="02040503050406030204" pitchFamily="18" charset="0"/>
                            </a:rPr>
                          </m:ctrlPr>
                        </m:fPr>
                        <m:num>
                          <m:sSup>
                            <m:sSupPr>
                              <m:ctrlPr>
                                <a:rPr lang="en-US" sz="2800" i="1">
                                  <a:solidFill>
                                    <a:schemeClr val="tx1"/>
                                  </a:solidFill>
                                  <a:latin typeface="Cambria Math" panose="02040503050406030204" pitchFamily="18" charset="0"/>
                                </a:rPr>
                              </m:ctrlPr>
                            </m:sSupPr>
                            <m:e>
                              <m:d>
                                <m:dPr>
                                  <m:ctrlPr>
                                    <a:rPr lang="en-US" sz="2800" i="1">
                                      <a:solidFill>
                                        <a:schemeClr val="tx1"/>
                                      </a:solidFill>
                                      <a:latin typeface="Cambria Math" panose="02040503050406030204" pitchFamily="18" charset="0"/>
                                    </a:rPr>
                                  </m:ctrlPr>
                                </m:dPr>
                                <m:e>
                                  <m:r>
                                    <a:rPr lang="en-US" sz="2800" i="1">
                                      <a:solidFill>
                                        <a:schemeClr val="tx1"/>
                                      </a:solidFill>
                                      <a:latin typeface="Cambria Math" panose="02040503050406030204" pitchFamily="18" charset="0"/>
                                    </a:rPr>
                                    <m:t>1.96+0.84</m:t>
                                  </m:r>
                                </m:e>
                              </m:d>
                            </m:e>
                            <m:sup>
                              <m:r>
                                <a:rPr lang="en-US" sz="2800" i="1">
                                  <a:solidFill>
                                    <a:schemeClr val="tx1"/>
                                  </a:solidFill>
                                  <a:latin typeface="Cambria Math" panose="02040503050406030204" pitchFamily="18" charset="0"/>
                                </a:rPr>
                                <m:t>2</m:t>
                              </m:r>
                            </m:sup>
                          </m:sSup>
                          <m:r>
                            <a:rPr lang="en-US" sz="2800" i="1">
                              <a:solidFill>
                                <a:schemeClr val="tx1"/>
                              </a:solidFill>
                              <a:latin typeface="Cambria Math" panose="02040503050406030204" pitchFamily="18" charset="0"/>
                            </a:rPr>
                            <m:t>2</m:t>
                          </m:r>
                          <m:d>
                            <m:dPr>
                              <m:ctrlPr>
                                <a:rPr lang="en-US" sz="2800" i="1">
                                  <a:solidFill>
                                    <a:schemeClr val="tx1"/>
                                  </a:solidFill>
                                  <a:latin typeface="Cambria Math" panose="02040503050406030204" pitchFamily="18" charset="0"/>
                                </a:rPr>
                              </m:ctrlPr>
                            </m:dPr>
                            <m:e>
                              <m:r>
                                <a:rPr lang="en-US" sz="2800" i="1">
                                  <a:solidFill>
                                    <a:schemeClr val="tx1"/>
                                  </a:solidFill>
                                  <a:latin typeface="Cambria Math" panose="02040503050406030204" pitchFamily="18" charset="0"/>
                                </a:rPr>
                                <m:t>2302</m:t>
                              </m:r>
                            </m:e>
                          </m:d>
                          <m:d>
                            <m:dPr>
                              <m:ctrlPr>
                                <a:rPr lang="en-US" sz="2800" i="1">
                                  <a:solidFill>
                                    <a:schemeClr val="tx1"/>
                                  </a:solidFill>
                                  <a:latin typeface="Cambria Math" panose="02040503050406030204" pitchFamily="18" charset="0"/>
                                </a:rPr>
                              </m:ctrlPr>
                            </m:dPr>
                            <m:e>
                              <m:r>
                                <a:rPr lang="en-US" sz="2800" i="1">
                                  <a:solidFill>
                                    <a:schemeClr val="tx1"/>
                                  </a:solidFill>
                                  <a:latin typeface="Cambria Math" panose="02040503050406030204" pitchFamily="18" charset="0"/>
                                </a:rPr>
                                <m:t>3.76</m:t>
                              </m:r>
                            </m:e>
                          </m:d>
                        </m:num>
                        <m:den>
                          <m:r>
                            <a:rPr lang="en-US" sz="2800" i="1">
                              <a:solidFill>
                                <a:schemeClr val="tx1"/>
                              </a:solidFill>
                              <a:latin typeface="Cambria Math" panose="02040503050406030204" pitchFamily="18" charset="0"/>
                            </a:rPr>
                            <m:t>70</m:t>
                          </m:r>
                          <m:sSup>
                            <m:sSupPr>
                              <m:ctrlPr>
                                <a:rPr lang="en-US" sz="2800" i="1">
                                  <a:solidFill>
                                    <a:schemeClr val="tx1"/>
                                  </a:solidFill>
                                  <a:latin typeface="Cambria Math" panose="02040503050406030204" pitchFamily="18" charset="0"/>
                                </a:rPr>
                              </m:ctrlPr>
                            </m:sSupPr>
                            <m:e>
                              <m:d>
                                <m:dPr>
                                  <m:ctrlPr>
                                    <a:rPr lang="en-US" sz="2800" i="1">
                                      <a:solidFill>
                                        <a:schemeClr val="tx1"/>
                                      </a:solidFill>
                                      <a:latin typeface="Cambria Math" panose="02040503050406030204" pitchFamily="18" charset="0"/>
                                    </a:rPr>
                                  </m:ctrlPr>
                                </m:dPr>
                                <m:e>
                                  <m:r>
                                    <a:rPr lang="en-US" sz="2800" i="1">
                                      <a:solidFill>
                                        <a:schemeClr val="tx1"/>
                                      </a:solidFill>
                                      <a:latin typeface="Cambria Math" panose="02040503050406030204" pitchFamily="18" charset="0"/>
                                    </a:rPr>
                                    <m:t>20</m:t>
                                  </m:r>
                                </m:e>
                              </m:d>
                            </m:e>
                            <m:sup>
                              <m:r>
                                <a:rPr lang="en-US" sz="2800" i="1">
                                  <a:solidFill>
                                    <a:schemeClr val="tx1"/>
                                  </a:solidFill>
                                  <a:latin typeface="Cambria Math" panose="02040503050406030204" pitchFamily="18" charset="0"/>
                                </a:rPr>
                                <m:t>2</m:t>
                              </m:r>
                            </m:sup>
                          </m:sSup>
                        </m:den>
                      </m:f>
                      <m:r>
                        <a:rPr lang="en-US" sz="2800" i="1">
                          <a:solidFill>
                            <a:schemeClr val="tx1"/>
                          </a:solidFill>
                          <a:latin typeface="Cambria Math" panose="02040503050406030204" pitchFamily="18" charset="0"/>
                        </a:rPr>
                        <m:t>=4.8≈5</m:t>
                      </m:r>
                    </m:oMath>
                  </m:oMathPara>
                </a14:m>
                <a:endParaRPr lang="en-US" sz="2800" dirty="0">
                  <a:solidFill>
                    <a:schemeClr val="tx1"/>
                  </a:solidFill>
                </a:endParaRPr>
              </a:p>
            </p:txBody>
          </p:sp>
        </mc:Choice>
        <mc:Fallback xmlns="">
          <p:sp>
            <p:nvSpPr>
              <p:cNvPr id="5" name="TextBox 4">
                <a:extLst>
                  <a:ext uri="{FF2B5EF4-FFF2-40B4-BE49-F238E27FC236}">
                    <a16:creationId xmlns:a16="http://schemas.microsoft.com/office/drawing/2014/main" id="{60D73B20-D3B7-482A-9408-CF9E5C1B1B39}"/>
                  </a:ext>
                </a:extLst>
              </p:cNvPr>
              <p:cNvSpPr txBox="1">
                <a:spLocks noRot="1" noChangeAspect="1" noMove="1" noResize="1" noEditPoints="1" noAdjustHandles="1" noChangeArrowheads="1" noChangeShapeType="1" noTextEdit="1"/>
              </p:cNvSpPr>
              <p:nvPr/>
            </p:nvSpPr>
            <p:spPr>
              <a:xfrm>
                <a:off x="114300" y="1337187"/>
                <a:ext cx="12077700" cy="3650487"/>
              </a:xfrm>
              <a:prstGeom prst="rect">
                <a:avLst/>
              </a:prstGeom>
              <a:blipFill>
                <a:blip r:embed="rId4"/>
                <a:stretch>
                  <a:fillRect l="-1060" t="-1503"/>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37E1F7D2-677E-4641-B1D7-4A0B07F3CC87}"/>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664918A7-184D-9913-85AF-B07E7D3E5467}"/>
              </a:ext>
            </a:extLst>
          </p:cNvPr>
          <p:cNvSpPr>
            <a:spLocks noGrp="1"/>
          </p:cNvSpPr>
          <p:nvPr>
            <p:ph type="sldNum" sz="quarter" idx="12"/>
          </p:nvPr>
        </p:nvSpPr>
        <p:spPr/>
        <p:txBody>
          <a:bodyPr/>
          <a:lstStyle/>
          <a:p>
            <a:fld id="{77C6A7FE-225D-49F1-B302-AA37EA92BB49}" type="slidenum">
              <a:rPr lang="en-US" smtClean="0"/>
              <a:t>46</a:t>
            </a:fld>
            <a:endParaRPr lang="en-US"/>
          </a:p>
        </p:txBody>
      </p:sp>
    </p:spTree>
    <p:extLst>
      <p:ext uri="{BB962C8B-B14F-4D97-AF65-F5344CB8AC3E}">
        <p14:creationId xmlns:p14="http://schemas.microsoft.com/office/powerpoint/2010/main" val="449411774"/>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754629"/>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Adjusting for loss to follow-up</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0D73B20-D3B7-482A-9408-CF9E5C1B1B39}"/>
                  </a:ext>
                </a:extLst>
              </p:cNvPr>
              <p:cNvSpPr txBox="1"/>
              <p:nvPr/>
            </p:nvSpPr>
            <p:spPr>
              <a:xfrm>
                <a:off x="114300" y="736600"/>
                <a:ext cx="12077700" cy="5756319"/>
              </a:xfrm>
              <a:prstGeom prst="rect">
                <a:avLst/>
              </a:prstGeom>
              <a:noFill/>
            </p:spPr>
            <p:txBody>
              <a:bodyPr wrap="square">
                <a:spAutoFit/>
              </a:bodyPr>
              <a:lstStyle/>
              <a:p>
                <a:pPr eaLnBrk="1" hangingPunct="1">
                  <a:buFont typeface="Wingdings" pitchFamily="2" charset="2"/>
                  <a:buNone/>
                </a:pPr>
                <a:r>
                  <a:rPr lang="en-US" altLang="en-US" sz="2800" dirty="0">
                    <a:sym typeface="Wingdings" pitchFamily="2" charset="2"/>
                  </a:rPr>
                  <a:t>%LTF = number of participants failing to provide endpoint measurements, divided by the number of participants randomized. To adjust for LTF, we divide </a:t>
                </a:r>
                <a14:m>
                  <m:oMath xmlns:m="http://schemas.openxmlformats.org/officeDocument/2006/math">
                    <m:r>
                      <a:rPr lang="en-US" altLang="en-US" sz="2800" i="1" dirty="0" smtClean="0">
                        <a:latin typeface="Cambria Math" panose="02040503050406030204" pitchFamily="18" charset="0"/>
                        <a:ea typeface="Cambria Math" panose="02040503050406030204" pitchFamily="18" charset="0"/>
                        <a:sym typeface="Wingdings" pitchFamily="2" charset="2"/>
                      </a:rPr>
                      <m:t>𝐾</m:t>
                    </m:r>
                  </m:oMath>
                </a14:m>
                <a:r>
                  <a:rPr lang="en-US" altLang="en-US" sz="2800" dirty="0">
                    <a:sym typeface="Wingdings" pitchFamily="2" charset="2"/>
                  </a:rPr>
                  <a:t> by the (</a:t>
                </a:r>
                <a14:m>
                  <m:oMath xmlns:m="http://schemas.openxmlformats.org/officeDocument/2006/math">
                    <m:r>
                      <a:rPr lang="en-US" altLang="en-US" sz="2800" i="1" dirty="0" smtClean="0">
                        <a:latin typeface="Cambria Math" panose="02040503050406030204" pitchFamily="18" charset="0"/>
                        <a:sym typeface="Wingdings" pitchFamily="2" charset="2"/>
                      </a:rPr>
                      <m:t>1− </m:t>
                    </m:r>
                    <m:r>
                      <a:rPr lang="en-US" altLang="en-US" sz="2800" i="1" dirty="0" smtClean="0">
                        <a:latin typeface="Cambria Math" panose="02040503050406030204" pitchFamily="18" charset="0"/>
                        <a:sym typeface="Wingdings" pitchFamily="2" charset="2"/>
                      </a:rPr>
                      <m:t>𝐿𝑇𝐹</m:t>
                    </m:r>
                    <m:r>
                      <a:rPr lang="en-US" altLang="en-US" sz="2800" i="1" dirty="0" smtClean="0">
                        <a:latin typeface="Cambria Math" panose="02040503050406030204" pitchFamily="18" charset="0"/>
                        <a:sym typeface="Wingdings" pitchFamily="2" charset="2"/>
                      </a:rPr>
                      <m:t> </m:t>
                    </m:r>
                  </m:oMath>
                </a14:m>
                <a:r>
                  <a:rPr lang="en-US" altLang="en-US" sz="2800" dirty="0">
                    <a:sym typeface="Wingdings" pitchFamily="2" charset="2"/>
                  </a:rPr>
                  <a:t>rate). </a:t>
                </a:r>
              </a:p>
              <a:p>
                <a:pPr eaLnBrk="1" hangingPunct="1">
                  <a:buFont typeface="Wingdings" pitchFamily="2" charset="2"/>
                  <a:buNone/>
                </a:pPr>
                <a:endParaRPr lang="en-US" altLang="en-US" sz="2800" dirty="0">
                  <a:sym typeface="Wingdings" pitchFamily="2" charset="2"/>
                </a:endParaRPr>
              </a:p>
              <a:p>
                <a:r>
                  <a:rPr lang="en-US" altLang="en-US" sz="2800" dirty="0">
                    <a:sym typeface="Wingdings" pitchFamily="2" charset="2"/>
                  </a:rPr>
                  <a:t>For 30% loss to follow-up, not uncommon in implementation and pragmatic trials, </a:t>
                </a:r>
                <a14:m>
                  <m:oMath xmlns:m="http://schemas.openxmlformats.org/officeDocument/2006/math">
                    <m:f>
                      <m:fPr>
                        <m:type m:val="skw"/>
                        <m:ctrlPr>
                          <a:rPr lang="en-US" altLang="en-US" sz="2800" i="1" smtClean="0">
                            <a:latin typeface="Cambria Math" panose="02040503050406030204" pitchFamily="18" charset="0"/>
                            <a:sym typeface="Wingdings" pitchFamily="2" charset="2"/>
                          </a:rPr>
                        </m:ctrlPr>
                      </m:fPr>
                      <m:num>
                        <m:r>
                          <a:rPr lang="en-US" altLang="en-US" sz="2800" b="0" i="1" smtClean="0">
                            <a:latin typeface="Cambria Math" panose="02040503050406030204" pitchFamily="18" charset="0"/>
                            <a:sym typeface="Wingdings" pitchFamily="2" charset="2"/>
                          </a:rPr>
                          <m:t>5</m:t>
                        </m:r>
                      </m:num>
                      <m:den>
                        <m:r>
                          <a:rPr lang="en-US" altLang="en-US" sz="2800" b="0" i="1" smtClean="0">
                            <a:latin typeface="Cambria Math" panose="02040503050406030204" pitchFamily="18" charset="0"/>
                            <a:sym typeface="Wingdings" pitchFamily="2" charset="2"/>
                          </a:rPr>
                          <m:t>(1−0.3) </m:t>
                        </m:r>
                      </m:den>
                    </m:f>
                    <m:r>
                      <a:rPr lang="en-US" altLang="en-US" sz="2800" i="1" smtClean="0">
                        <a:latin typeface="Cambria Math" panose="02040503050406030204" pitchFamily="18" charset="0"/>
                        <a:ea typeface="Cambria Math" panose="02040503050406030204" pitchFamily="18" charset="0"/>
                        <a:sym typeface="Wingdings" pitchFamily="2" charset="2"/>
                      </a:rPr>
                      <m:t>≈</m:t>
                    </m:r>
                    <m:r>
                      <a:rPr lang="en-US" altLang="en-US" sz="2800" b="0" i="1" smtClean="0">
                        <a:latin typeface="Cambria Math" panose="02040503050406030204" pitchFamily="18" charset="0"/>
                        <a:ea typeface="Cambria Math" panose="02040503050406030204" pitchFamily="18" charset="0"/>
                        <a:sym typeface="Wingdings" pitchFamily="2" charset="2"/>
                      </a:rPr>
                      <m:t>7</m:t>
                    </m:r>
                  </m:oMath>
                </a14:m>
                <a:r>
                  <a:rPr lang="en-US" altLang="en-US" sz="2800" dirty="0">
                    <a:sym typeface="Wingdings" pitchFamily="2" charset="2"/>
                  </a:rPr>
                  <a:t>.</a:t>
                </a:r>
              </a:p>
              <a:p>
                <a:pPr eaLnBrk="1" hangingPunct="1">
                  <a:buFont typeface="Wingdings" pitchFamily="2" charset="2"/>
                  <a:buNone/>
                </a:pPr>
                <a:endParaRPr lang="en-US" altLang="en-US" sz="2800" dirty="0">
                  <a:sym typeface="Wingdings" pitchFamily="2" charset="2"/>
                </a:endParaRPr>
              </a:p>
              <a:p>
                <a:pPr eaLnBrk="1" hangingPunct="1">
                  <a:buFont typeface="Wingdings" pitchFamily="2" charset="2"/>
                  <a:buNone/>
                </a:pPr>
                <a:r>
                  <a:rPr lang="en-US" altLang="en-US" sz="2800" dirty="0">
                    <a:sym typeface="Wingdings" pitchFamily="2" charset="2"/>
                  </a:rPr>
                  <a:t>Thus, to adjust for possible loss to follow-up (LTF), we might enroll 7 clusters per group. </a:t>
                </a:r>
              </a:p>
              <a:p>
                <a:pPr eaLnBrk="1" hangingPunct="1">
                  <a:buFont typeface="Wingdings" pitchFamily="2" charset="2"/>
                  <a:buNone/>
                </a:pPr>
                <a:endParaRPr lang="en-US" altLang="en-US" sz="2800" dirty="0">
                  <a:sym typeface="Wingdings" pitchFamily="2" charset="2"/>
                </a:endParaRPr>
              </a:p>
              <a:p>
                <a:pPr eaLnBrk="1" hangingPunct="1">
                  <a:buFont typeface="Wingdings" pitchFamily="2" charset="2"/>
                  <a:buNone/>
                </a:pPr>
                <a:r>
                  <a:rPr lang="en-US" altLang="en-US" sz="2800" dirty="0">
                    <a:sym typeface="Wingdings" pitchFamily="2" charset="2"/>
                  </a:rPr>
                  <a:t>Sometimes, a relevant LTF rate can be obtained from pilot data or the literature.  In a CRT, one could adjust for LTF at the cluster level or at the study level. The results may not be the same if clusters do not have the same size by design. </a:t>
                </a:r>
              </a:p>
            </p:txBody>
          </p:sp>
        </mc:Choice>
        <mc:Fallback xmlns="">
          <p:sp>
            <p:nvSpPr>
              <p:cNvPr id="5" name="TextBox 4">
                <a:extLst>
                  <a:ext uri="{FF2B5EF4-FFF2-40B4-BE49-F238E27FC236}">
                    <a16:creationId xmlns:a16="http://schemas.microsoft.com/office/drawing/2014/main" id="{60D73B20-D3B7-482A-9408-CF9E5C1B1B39}"/>
                  </a:ext>
                </a:extLst>
              </p:cNvPr>
              <p:cNvSpPr txBox="1">
                <a:spLocks noRot="1" noChangeAspect="1" noMove="1" noResize="1" noEditPoints="1" noAdjustHandles="1" noChangeArrowheads="1" noChangeShapeType="1" noTextEdit="1"/>
              </p:cNvSpPr>
              <p:nvPr/>
            </p:nvSpPr>
            <p:spPr>
              <a:xfrm>
                <a:off x="114300" y="736600"/>
                <a:ext cx="12077700" cy="5756319"/>
              </a:xfrm>
              <a:prstGeom prst="rect">
                <a:avLst/>
              </a:prstGeom>
              <a:blipFill>
                <a:blip r:embed="rId4"/>
                <a:stretch>
                  <a:fillRect l="-1060" t="-1059" r="-959" b="-2119"/>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ED0AB5C7-9903-6607-C6C4-5A2773297082}"/>
              </a:ext>
            </a:extLst>
          </p:cNvPr>
          <p:cNvSpPr>
            <a:spLocks noGrp="1"/>
          </p:cNvSpPr>
          <p:nvPr>
            <p:ph type="sldNum" sz="quarter" idx="12"/>
          </p:nvPr>
        </p:nvSpPr>
        <p:spPr/>
        <p:txBody>
          <a:bodyPr/>
          <a:lstStyle/>
          <a:p>
            <a:fld id="{77C6A7FE-225D-49F1-B302-AA37EA92BB49}" type="slidenum">
              <a:rPr lang="en-US" smtClean="0"/>
              <a:t>47</a:t>
            </a:fld>
            <a:endParaRPr lang="en-US"/>
          </a:p>
        </p:txBody>
      </p:sp>
    </p:spTree>
    <p:extLst>
      <p:ext uri="{BB962C8B-B14F-4D97-AF65-F5344CB8AC3E}">
        <p14:creationId xmlns:p14="http://schemas.microsoft.com/office/powerpoint/2010/main" val="2788719894"/>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509401"/>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Adjusting for loss to follow-up</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65D6B6F-4735-E8EF-DD73-1E9B8B53797B}"/>
                  </a:ext>
                </a:extLst>
              </p:cNvPr>
              <p:cNvSpPr txBox="1"/>
              <p:nvPr/>
            </p:nvSpPr>
            <p:spPr>
              <a:xfrm>
                <a:off x="0" y="491372"/>
                <a:ext cx="12192000" cy="6484147"/>
              </a:xfrm>
              <a:prstGeom prst="rect">
                <a:avLst/>
              </a:prstGeom>
              <a:noFill/>
            </p:spPr>
            <p:txBody>
              <a:bodyPr wrap="square" rtlCol="0">
                <a:spAutoFit/>
              </a:bodyPr>
              <a:lstStyle/>
              <a:p>
                <a:pPr marL="285750" indent="-285750">
                  <a:buFont typeface="Arial" panose="020B0604020202020204" pitchFamily="34" charset="0"/>
                  <a:buChar char="•"/>
                </a:pPr>
                <a:r>
                  <a:rPr lang="en-US" dirty="0"/>
                  <a:t>Taljaard et al. (SIM 2007;26:2615-2628) provide a more rigorous derivation for adjusting sample size in CRTs for loss to follow-up (also called attrition and censoring)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They show that Var(</a:t>
                </a:r>
                <a14:m>
                  <m:oMath xmlns:m="http://schemas.openxmlformats.org/officeDocument/2006/math">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𝑌</m:t>
                            </m:r>
                          </m:e>
                        </m:acc>
                      </m:e>
                      <m:sub>
                        <m:r>
                          <a:rPr lang="en-US" b="0" i="1" smtClean="0">
                            <a:latin typeface="Cambria Math" panose="02040503050406030204" pitchFamily="18" charset="0"/>
                          </a:rPr>
                          <m:t>2</m:t>
                        </m:r>
                      </m:sub>
                    </m:sSub>
                    <m:r>
                      <a:rPr lang="en-US" b="0" i="1" smtClean="0">
                        <a:latin typeface="Cambria Math" panose="02040503050406030204" pitchFamily="18" charset="0"/>
                      </a:rPr>
                      <m:t>−</m:t>
                    </m:r>
                  </m:oMath>
                </a14:m>
                <a:r>
                  <a:rPr lang="en-US" dirty="0"/>
                  <a:t>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𝑌</m:t>
                            </m:r>
                          </m:e>
                        </m:acc>
                      </m:e>
                      <m:sub>
                        <m:r>
                          <a:rPr lang="en-US" b="0" i="1" smtClean="0">
                            <a:latin typeface="Cambria Math" panose="02040503050406030204" pitchFamily="18" charset="0"/>
                          </a:rPr>
                          <m:t>1</m:t>
                        </m:r>
                      </m:sub>
                    </m:sSub>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2</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𝐺</m:t>
                        </m:r>
                      </m:num>
                      <m:den>
                        <m:r>
                          <a:rPr lang="en-US" b="0" i="1" smtClean="0">
                            <a:latin typeface="Cambria Math" panose="02040503050406030204" pitchFamily="18" charset="0"/>
                            <a:ea typeface="Cambria Math" panose="02040503050406030204" pitchFamily="18" charset="0"/>
                          </a:rPr>
                          <m:t>𝐾𝑚</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𝐿𝑇𝐹</m:t>
                        </m:r>
                        <m:r>
                          <a:rPr lang="en-US" b="0" i="1" smtClean="0">
                            <a:latin typeface="Cambria Math" panose="02040503050406030204" pitchFamily="18" charset="0"/>
                            <a:ea typeface="Cambria Math" panose="02040503050406030204" pitchFamily="18" charset="0"/>
                          </a:rPr>
                          <m:t>)</m:t>
                        </m:r>
                      </m:den>
                    </m:f>
                  </m:oMath>
                </a14:m>
                <a:r>
                  <a:rPr lang="en-US" dirty="0"/>
                  <a:t>, where </a:t>
                </a:r>
                <a14:m>
                  <m:oMath xmlns:m="http://schemas.openxmlformats.org/officeDocument/2006/math">
                    <m:r>
                      <a:rPr lang="en-US" b="0" i="1" smtClean="0">
                        <a:latin typeface="Cambria Math" panose="02040503050406030204" pitchFamily="18" charset="0"/>
                      </a:rPr>
                      <m:t>𝐺</m:t>
                    </m:r>
                  </m:oMath>
                </a14:m>
                <a:r>
                  <a:rPr lang="en-US" dirty="0"/>
                  <a:t>, the variance inflation factor for the joint effect of clustering AND loss-to-follow-up is </a:t>
                </a:r>
              </a:p>
              <a:p>
                <a:pPr algn="ctr"/>
                <a14:m>
                  <m:oMath xmlns:m="http://schemas.openxmlformats.org/officeDocument/2006/math">
                    <m:r>
                      <a:rPr lang="nn-NO" i="1">
                        <a:latin typeface="Cambria Math" panose="02040503050406030204" pitchFamily="18" charset="0"/>
                      </a:rPr>
                      <m:t>𝐺</m:t>
                    </m:r>
                    <m:r>
                      <a:rPr lang="nn-NO" i="1">
                        <a:latin typeface="Cambria Math" panose="02040503050406030204" pitchFamily="18" charset="0"/>
                      </a:rPr>
                      <m:t> = 1 + </m:t>
                    </m:r>
                    <m:d>
                      <m:dPr>
                        <m:ctrlPr>
                          <a:rPr lang="nn-NO" i="1">
                            <a:latin typeface="Cambria Math" panose="02040503050406030204" pitchFamily="18" charset="0"/>
                          </a:rPr>
                        </m:ctrlPr>
                      </m:dPr>
                      <m:e>
                        <m:r>
                          <a:rPr lang="en-US" b="0" i="1" smtClean="0">
                            <a:latin typeface="Cambria Math" panose="02040503050406030204" pitchFamily="18" charset="0"/>
                          </a:rPr>
                          <m:t>(1−</m:t>
                        </m:r>
                        <m:r>
                          <a:rPr lang="nn-NO" i="1">
                            <a:latin typeface="Cambria Math" panose="02040503050406030204" pitchFamily="18" charset="0"/>
                          </a:rPr>
                          <m:t>𝐿𝑇𝐹</m:t>
                        </m:r>
                        <m:r>
                          <a:rPr lang="en-US" b="0" i="1" smtClean="0">
                            <a:latin typeface="Cambria Math" panose="02040503050406030204" pitchFamily="18" charset="0"/>
                          </a:rPr>
                          <m:t>)</m:t>
                        </m:r>
                        <m:r>
                          <a:rPr lang="nn-NO" i="1">
                            <a:latin typeface="Cambria Math" panose="02040503050406030204" pitchFamily="18" charset="0"/>
                          </a:rPr>
                          <m:t> </m:t>
                        </m:r>
                        <m:r>
                          <a:rPr lang="nn-NO" i="1">
                            <a:latin typeface="Cambria Math" panose="02040503050406030204" pitchFamily="18" charset="0"/>
                          </a:rPr>
                          <m:t>𝑚</m:t>
                        </m:r>
                        <m:r>
                          <a:rPr lang="nn-NO" i="1">
                            <a:latin typeface="Cambria Math" panose="02040503050406030204" pitchFamily="18" charset="0"/>
                          </a:rPr>
                          <m:t> – 1</m:t>
                        </m:r>
                      </m:e>
                    </m:d>
                    <m:r>
                      <a:rPr lang="nn-NO" i="1" smtClean="0">
                        <a:latin typeface="Cambria Math" panose="02040503050406030204" pitchFamily="18" charset="0"/>
                        <a:ea typeface="Cambria Math" panose="02040503050406030204" pitchFamily="18" charset="0"/>
                      </a:rPr>
                      <m:t>𝜌</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𝐿𝑇𝐹</m:t>
                    </m:r>
                    <m:r>
                      <a:rPr lang="en-US" b="0" i="1" smtClean="0">
                        <a:latin typeface="Cambria Math" panose="02040503050406030204" pitchFamily="18" charset="0"/>
                        <a:ea typeface="Cambria Math" panose="02040503050406030204" pitchFamily="18" charset="0"/>
                      </a:rPr>
                      <m:t>[1+</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−1</m:t>
                        </m:r>
                      </m:e>
                    </m:d>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𝜌</m:t>
                    </m:r>
                  </m:oMath>
                </a14:m>
                <a:r>
                  <a:rPr lang="en-US" dirty="0"/>
                  <a:t>, </a:t>
                </a:r>
              </a:p>
              <a:p>
                <a:pPr algn="ctr"/>
                <a:endParaRPr lang="en-US" dirty="0"/>
              </a:p>
              <a:p>
                <a:pPr lvl="1"/>
                <a:r>
                  <a:rPr lang="en-US" dirty="0"/>
                  <a:t>where </a:t>
                </a:r>
                <a14:m>
                  <m:oMath xmlns:m="http://schemas.openxmlformats.org/officeDocument/2006/math">
                    <m:r>
                      <a:rPr lang="en-US"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−1)</m:t>
                    </m:r>
                  </m:oMath>
                </a14:m>
                <a:r>
                  <a:rPr lang="en-US" dirty="0"/>
                  <a:t>, which has been shown to be the minimum possible ICC.</a:t>
                </a:r>
              </a:p>
              <a:p>
                <a:pPr lvl="1"/>
                <a:endParaRPr lang="en-US" dirty="0"/>
              </a:p>
              <a:p>
                <a:pPr marL="285750" indent="-285750">
                  <a:buFont typeface="Arial" panose="020B0604020202020204" pitchFamily="34" charset="0"/>
                  <a:buChar char="•"/>
                </a:pPr>
                <a:r>
                  <a:rPr lang="en-US" dirty="0"/>
                  <a:t>They prove, in addition, that this approximation is good when </a:t>
                </a:r>
                <a14:m>
                  <m:oMath xmlns:m="http://schemas.openxmlformats.org/officeDocument/2006/math">
                    <m:f>
                      <m:fPr>
                        <m:ctrlPr>
                          <a:rPr lang="en-US" i="1" smtClean="0">
                            <a:latin typeface="Cambria Math" panose="02040503050406030204" pitchFamily="18" charset="0"/>
                          </a:rPr>
                        </m:ctrlPr>
                      </m:fPr>
                      <m:num>
                        <m:sSub>
                          <m:sSubPr>
                            <m:ctrlPr>
                              <a:rPr lang="en-US" i="1" smtClean="0">
                                <a:latin typeface="Cambria Math" panose="02040503050406030204" pitchFamily="18" charset="0"/>
                              </a:rPr>
                            </m:ctrlPr>
                          </m:sSubPr>
                          <m:e>
                            <m:r>
                              <a:rPr lang="en-US" b="0" i="1" smtClean="0">
                                <a:latin typeface="Cambria Math" panose="02040503050406030204" pitchFamily="18" charset="0"/>
                              </a:rPr>
                              <m:t>𝐶𝑉</m:t>
                            </m:r>
                          </m:e>
                          <m:sub>
                            <m:r>
                              <a:rPr lang="en-US" b="0" i="1" smtClean="0">
                                <a:latin typeface="Cambria Math" panose="02040503050406030204" pitchFamily="18" charset="0"/>
                              </a:rPr>
                              <m:t>𝐿𝑇𝐹</m:t>
                            </m:r>
                          </m:sub>
                        </m:sSub>
                      </m:num>
                      <m:den>
                        <m:rad>
                          <m:radPr>
                            <m:degHide m:val="on"/>
                            <m:ctrlPr>
                              <a:rPr lang="en-US" i="1" smtClean="0">
                                <a:latin typeface="Cambria Math" panose="02040503050406030204" pitchFamily="18" charset="0"/>
                              </a:rPr>
                            </m:ctrlPr>
                          </m:radPr>
                          <m:deg/>
                          <m:e>
                            <m:r>
                              <a:rPr lang="en-US" b="0" i="1" smtClean="0">
                                <a:latin typeface="Cambria Math" panose="02040503050406030204" pitchFamily="18" charset="0"/>
                              </a:rPr>
                              <m:t>𝐾</m:t>
                            </m:r>
                          </m:e>
                        </m:rad>
                      </m:den>
                    </m:f>
                  </m:oMath>
                </a14:m>
                <a:r>
                  <a:rPr lang="en-US" dirty="0"/>
                  <a:t> is small (&lt;0.20 they say), where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𝐶𝑉</m:t>
                        </m:r>
                      </m:e>
                      <m:sub>
                        <m:r>
                          <a:rPr lang="en-US" i="1">
                            <a:latin typeface="Cambria Math" panose="02040503050406030204" pitchFamily="18" charset="0"/>
                          </a:rPr>
                          <m:t>𝐿𝑇𝐹</m:t>
                        </m:r>
                      </m:sub>
                    </m:sSub>
                    <m:r>
                      <a:rPr lang="en-US" b="0" i="1" smtClean="0">
                        <a:latin typeface="Cambria Math" panose="02040503050406030204" pitchFamily="18" charset="0"/>
                      </a:rPr>
                      <m:t>= </m:t>
                    </m:r>
                    <m:rad>
                      <m:radPr>
                        <m:degHide m:val="on"/>
                        <m:ctrlPr>
                          <a:rPr lang="en-US" i="1" smtClean="0">
                            <a:latin typeface="Cambria Math" panose="02040503050406030204" pitchFamily="18" charset="0"/>
                          </a:rPr>
                        </m:ctrlPr>
                      </m:radPr>
                      <m:deg/>
                      <m:e>
                        <m:r>
                          <a:rPr lang="en-US" i="1">
                            <a:latin typeface="Cambria Math" panose="02040503050406030204" pitchFamily="18" charset="0"/>
                            <a:ea typeface="Cambria Math" panose="02040503050406030204" pitchFamily="18" charset="0"/>
                          </a:rPr>
                          <m:t>𝐿𝑇𝐹</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−1</m:t>
                                </m:r>
                              </m:e>
                            </m:d>
                            <m:r>
                              <a:rPr lang="en-US" b="0" i="1" smtClean="0">
                                <a:latin typeface="Cambria Math" panose="02040503050406030204" pitchFamily="18" charset="0"/>
                                <a:ea typeface="Cambria Math" panose="02040503050406030204" pitchFamily="18" charset="0"/>
                              </a:rPr>
                              <m:t>𝜏</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 (1−</m:t>
                        </m:r>
                        <m:r>
                          <a:rPr lang="en-US" b="0" i="1" smtClean="0">
                            <a:latin typeface="Cambria Math" panose="02040503050406030204" pitchFamily="18" charset="0"/>
                            <a:ea typeface="Cambria Math" panose="02040503050406030204" pitchFamily="18" charset="0"/>
                          </a:rPr>
                          <m:t>𝐿𝑇𝐹</m:t>
                        </m:r>
                        <m:r>
                          <a:rPr lang="en-US" b="0" i="1" smtClean="0">
                            <a:latin typeface="Cambria Math" panose="02040503050406030204" pitchFamily="18" charset="0"/>
                            <a:ea typeface="Cambria Math" panose="02040503050406030204" pitchFamily="18" charset="0"/>
                          </a:rPr>
                          <m:t>))</m:t>
                        </m:r>
                      </m:e>
                    </m:rad>
                  </m:oMath>
                </a14:m>
                <a:r>
                  <a:rPr lang="en-US" dirty="0"/>
                  <a:t> ,  the coefficient of variation of the clusters’ loss to follow-up rates, where </a:t>
                </a:r>
                <a14:m>
                  <m:oMath xmlns:m="http://schemas.openxmlformats.org/officeDocument/2006/math">
                    <m:r>
                      <a:rPr lang="en-US" i="1">
                        <a:latin typeface="Cambria Math" panose="02040503050406030204" pitchFamily="18" charset="0"/>
                        <a:ea typeface="Cambria Math" panose="02040503050406030204" pitchFamily="18" charset="0"/>
                      </a:rPr>
                      <m:t>𝐿𝑇𝐹</m:t>
                    </m:r>
                  </m:oMath>
                </a14:m>
                <a:r>
                  <a:rPr lang="en-US" dirty="0"/>
                  <a:t> is now the average loss to follow-up rate over the </a:t>
                </a:r>
                <a14:m>
                  <m:oMath xmlns:m="http://schemas.openxmlformats.org/officeDocument/2006/math">
                    <m:r>
                      <a:rPr lang="en-US" b="0" i="1" smtClean="0">
                        <a:latin typeface="Cambria Math" panose="02040503050406030204" pitchFamily="18" charset="0"/>
                        <a:ea typeface="Cambria Math" panose="02040503050406030204" pitchFamily="18" charset="0"/>
                      </a:rPr>
                      <m:t>𝐾</m:t>
                    </m:r>
                  </m:oMath>
                </a14:m>
                <a:r>
                  <a:rPr lang="en-US" dirty="0"/>
                  <a:t> clusters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Then, </a:t>
                </a:r>
                <a14:m>
                  <m:oMath xmlns:m="http://schemas.openxmlformats.org/officeDocument/2006/math">
                    <m:sSub>
                      <m:sSubPr>
                        <m:ctrlPr>
                          <a:rPr lang="en-US" altLang="en-US" sz="1800" b="0" i="1" smtClean="0">
                            <a:latin typeface="Cambria Math" panose="02040503050406030204" pitchFamily="18" charset="0"/>
                          </a:rPr>
                        </m:ctrlPr>
                      </m:sSubPr>
                      <m:e>
                        <m:r>
                          <a:rPr lang="en-US" altLang="en-US" sz="1800" b="0" i="1" smtClean="0">
                            <a:latin typeface="Cambria Math" panose="02040503050406030204" pitchFamily="18" charset="0"/>
                          </a:rPr>
                          <m:t>𝑛</m:t>
                        </m:r>
                      </m:e>
                      <m:sub>
                        <m:r>
                          <a:rPr lang="en-US" altLang="en-US" sz="1800" b="0" i="1" smtClean="0">
                            <a:latin typeface="Cambria Math" panose="02040503050406030204" pitchFamily="18" charset="0"/>
                          </a:rPr>
                          <m:t>𝑖</m:t>
                        </m:r>
                      </m:sub>
                    </m:sSub>
                    <m:r>
                      <a:rPr lang="en-US" altLang="en-US" sz="1800" b="0" i="1" smtClean="0">
                        <a:latin typeface="Cambria Math" panose="02040503050406030204" pitchFamily="18" charset="0"/>
                      </a:rPr>
                      <m:t>=</m:t>
                    </m:r>
                    <m:r>
                      <a:rPr lang="en-US" altLang="en-US" sz="1800" b="0" i="1" smtClean="0">
                        <a:latin typeface="Cambria Math" panose="02040503050406030204" pitchFamily="18" charset="0"/>
                      </a:rPr>
                      <m:t>𝑚𝐾</m:t>
                    </m:r>
                    <m:r>
                      <a:rPr lang="en-US" altLang="en-US" sz="1800" i="1">
                        <a:latin typeface="Cambria Math" panose="02040503050406030204" pitchFamily="18" charset="0"/>
                      </a:rPr>
                      <m:t> </m:t>
                    </m:r>
                    <m:r>
                      <a:rPr lang="en-US" sz="1800" i="1" smtClean="0">
                        <a:solidFill>
                          <a:schemeClr val="tx1"/>
                        </a:solidFill>
                        <a:latin typeface="Cambria Math" panose="02040503050406030204" pitchFamily="18" charset="0"/>
                      </a:rPr>
                      <m:t>=</m:t>
                    </m:r>
                    <m:f>
                      <m:fPr>
                        <m:ctrlPr>
                          <a:rPr lang="en-US" sz="1800" i="1">
                            <a:solidFill>
                              <a:schemeClr val="tx1"/>
                            </a:solidFill>
                            <a:latin typeface="Cambria Math" panose="02040503050406030204" pitchFamily="18" charset="0"/>
                          </a:rPr>
                        </m:ctrlPr>
                      </m:fPr>
                      <m:num>
                        <m:sSup>
                          <m:sSupPr>
                            <m:ctrlPr>
                              <a:rPr lang="en-US" sz="1800" i="1">
                                <a:solidFill>
                                  <a:schemeClr val="tx1"/>
                                </a:solidFill>
                                <a:latin typeface="Cambria Math" panose="02040503050406030204" pitchFamily="18" charset="0"/>
                              </a:rPr>
                            </m:ctrlPr>
                          </m:sSupPr>
                          <m:e>
                            <m:d>
                              <m:dPr>
                                <m:ctrlPr>
                                  <a:rPr lang="en-US" sz="1800" i="1">
                                    <a:solidFill>
                                      <a:schemeClr val="tx1"/>
                                    </a:solidFill>
                                    <a:latin typeface="Cambria Math" panose="02040503050406030204" pitchFamily="18" charset="0"/>
                                  </a:rPr>
                                </m:ctrlPr>
                              </m:dPr>
                              <m:e>
                                <m:sSub>
                                  <m:sSubPr>
                                    <m:ctrlPr>
                                      <a:rPr lang="en-US" sz="1800" i="1">
                                        <a:solidFill>
                                          <a:schemeClr val="tx1"/>
                                        </a:solidFill>
                                        <a:latin typeface="Cambria Math" panose="02040503050406030204" pitchFamily="18" charset="0"/>
                                      </a:rPr>
                                    </m:ctrlPr>
                                  </m:sSubPr>
                                  <m:e>
                                    <m:r>
                                      <m:rPr>
                                        <m:sty m:val="p"/>
                                      </m:rPr>
                                      <a:rPr lang="en-US" sz="1800" i="1">
                                        <a:solidFill>
                                          <a:schemeClr val="tx1"/>
                                        </a:solidFill>
                                        <a:latin typeface="Cambria Math" panose="02040503050406030204" pitchFamily="18" charset="0"/>
                                      </a:rPr>
                                      <m:t>Ζ</m:t>
                                    </m:r>
                                  </m:e>
                                  <m:sub>
                                    <m:r>
                                      <a:rPr lang="en-US" sz="1800" i="1">
                                        <a:solidFill>
                                          <a:schemeClr val="tx1"/>
                                        </a:solidFill>
                                        <a:latin typeface="Cambria Math" panose="02040503050406030204" pitchFamily="18" charset="0"/>
                                      </a:rPr>
                                      <m:t>𝛼</m:t>
                                    </m:r>
                                    <m:r>
                                      <a:rPr lang="en-US" sz="1800" i="1">
                                        <a:solidFill>
                                          <a:schemeClr val="tx1"/>
                                        </a:solidFill>
                                        <a:latin typeface="Cambria Math" panose="02040503050406030204" pitchFamily="18" charset="0"/>
                                      </a:rPr>
                                      <m:t>/2</m:t>
                                    </m:r>
                                  </m:sub>
                                </m:sSub>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m:rPr>
                                        <m:sty m:val="p"/>
                                      </m:rPr>
                                      <a:rPr lang="en-US" sz="1800" i="1">
                                        <a:solidFill>
                                          <a:schemeClr val="tx1"/>
                                        </a:solidFill>
                                        <a:latin typeface="Cambria Math" panose="02040503050406030204" pitchFamily="18" charset="0"/>
                                      </a:rPr>
                                      <m:t>Ζ</m:t>
                                    </m:r>
                                  </m:e>
                                  <m:sub>
                                    <m:r>
                                      <a:rPr lang="en-US" sz="1800" i="1">
                                        <a:solidFill>
                                          <a:schemeClr val="tx1"/>
                                        </a:solidFill>
                                        <a:latin typeface="Cambria Math" panose="02040503050406030204" pitchFamily="18" charset="0"/>
                                      </a:rPr>
                                      <m:t>𝛽</m:t>
                                    </m:r>
                                  </m:sub>
                                </m:sSub>
                              </m:e>
                            </m:d>
                          </m:e>
                          <m:sup>
                            <m:r>
                              <a:rPr lang="en-US" sz="1800" i="1">
                                <a:solidFill>
                                  <a:schemeClr val="tx1"/>
                                </a:solidFill>
                                <a:latin typeface="Cambria Math" panose="02040503050406030204" pitchFamily="18" charset="0"/>
                              </a:rPr>
                              <m:t>2</m:t>
                            </m:r>
                          </m:sup>
                        </m:sSup>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2</m:t>
                            </m:r>
                            <m:sSup>
                              <m:sSupPr>
                                <m:ctrlPr>
                                  <a:rPr lang="en-US" sz="1800" i="1">
                                    <a:solidFill>
                                      <a:schemeClr val="tx1"/>
                                    </a:solidFill>
                                    <a:latin typeface="Cambria Math" panose="02040503050406030204" pitchFamily="18" charset="0"/>
                                  </a:rPr>
                                </m:ctrlPr>
                              </m:sSupPr>
                              <m:e>
                                <m:r>
                                  <a:rPr lang="en-US" sz="1800" i="1">
                                    <a:solidFill>
                                      <a:schemeClr val="tx1"/>
                                    </a:solidFill>
                                    <a:latin typeface="Cambria Math" panose="02040503050406030204" pitchFamily="18" charset="0"/>
                                  </a:rPr>
                                  <m:t>𝜎</m:t>
                                </m:r>
                              </m:e>
                              <m:sup>
                                <m:r>
                                  <a:rPr lang="en-US" sz="1800" i="1">
                                    <a:solidFill>
                                      <a:schemeClr val="tx1"/>
                                    </a:solidFill>
                                    <a:latin typeface="Cambria Math" panose="02040503050406030204" pitchFamily="18" charset="0"/>
                                  </a:rPr>
                                  <m:t>2</m:t>
                                </m:r>
                              </m:sup>
                            </m:sSup>
                          </m:e>
                        </m:d>
                      </m:num>
                      <m:den>
                        <m:sSup>
                          <m:sSupPr>
                            <m:ctrlPr>
                              <a:rPr lang="en-US" sz="1800" i="1">
                                <a:solidFill>
                                  <a:schemeClr val="tx1"/>
                                </a:solidFill>
                                <a:latin typeface="Cambria Math" panose="02040503050406030204" pitchFamily="18" charset="0"/>
                              </a:rPr>
                            </m:ctrlPr>
                          </m:sSupPr>
                          <m:e>
                            <m:d>
                              <m:dPr>
                                <m:ctrlPr>
                                  <a:rPr lang="en-US" sz="1800" i="1">
                                    <a:solidFill>
                                      <a:schemeClr val="tx1"/>
                                    </a:solidFill>
                                    <a:latin typeface="Cambria Math" panose="02040503050406030204" pitchFamily="18" charset="0"/>
                                  </a:rPr>
                                </m:ctrlPr>
                              </m:d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𝜇</m:t>
                                    </m:r>
                                  </m:e>
                                  <m:sub>
                                    <m:r>
                                      <a:rPr lang="en-US" sz="1800" i="1">
                                        <a:solidFill>
                                          <a:schemeClr val="tx1"/>
                                        </a:solidFill>
                                        <a:latin typeface="Cambria Math" panose="02040503050406030204" pitchFamily="18" charset="0"/>
                                      </a:rPr>
                                      <m:t>1</m:t>
                                    </m:r>
                                  </m:sub>
                                </m:sSub>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𝜇</m:t>
                                    </m:r>
                                  </m:e>
                                  <m:sub>
                                    <m:r>
                                      <a:rPr lang="en-US" sz="1800" i="1">
                                        <a:solidFill>
                                          <a:schemeClr val="tx1"/>
                                        </a:solidFill>
                                        <a:latin typeface="Cambria Math" panose="02040503050406030204" pitchFamily="18" charset="0"/>
                                      </a:rPr>
                                      <m:t>2</m:t>
                                    </m:r>
                                  </m:sub>
                                </m:sSub>
                              </m:e>
                            </m:d>
                          </m:e>
                          <m:sup>
                            <m:r>
                              <a:rPr lang="en-US" sz="1800" i="1">
                                <a:solidFill>
                                  <a:schemeClr val="tx1"/>
                                </a:solidFill>
                                <a:latin typeface="Cambria Math" panose="02040503050406030204" pitchFamily="18" charset="0"/>
                              </a:rPr>
                              <m:t>2</m:t>
                            </m:r>
                          </m:sup>
                        </m:sSup>
                        <m:r>
                          <a:rPr lang="en-US" sz="1800" b="0" i="1" smtClean="0">
                            <a:solidFill>
                              <a:schemeClr val="tx1"/>
                            </a:solidFill>
                            <a:latin typeface="Cambria Math" panose="02040503050406030204" pitchFamily="18" charset="0"/>
                          </a:rPr>
                          <m:t> </m:t>
                        </m:r>
                      </m:den>
                    </m:f>
                    <m:f>
                      <m:fPr>
                        <m:ctrlPr>
                          <a:rPr lang="en-US" sz="1800" b="0" i="1" smtClean="0">
                            <a:solidFill>
                              <a:schemeClr val="tx1"/>
                            </a:solidFill>
                            <a:latin typeface="Cambria Math" panose="02040503050406030204" pitchFamily="18" charset="0"/>
                          </a:rPr>
                        </m:ctrlPr>
                      </m:fPr>
                      <m:num>
                        <m:r>
                          <a:rPr lang="en-US" sz="1800" b="0" i="1" smtClean="0">
                            <a:solidFill>
                              <a:schemeClr val="tx1"/>
                            </a:solidFill>
                            <a:latin typeface="Cambria Math" panose="02040503050406030204" pitchFamily="18" charset="0"/>
                          </a:rPr>
                          <m:t>𝐺</m:t>
                        </m:r>
                      </m:num>
                      <m:den>
                        <m:r>
                          <a:rPr lang="en-US" sz="1800" b="0" i="1" smtClean="0">
                            <a:solidFill>
                              <a:schemeClr val="tx1"/>
                            </a:solidFill>
                            <a:latin typeface="Cambria Math" panose="02040503050406030204" pitchFamily="18" charset="0"/>
                          </a:rPr>
                          <m:t>(1−</m:t>
                        </m:r>
                        <m:r>
                          <a:rPr lang="en-US" sz="1800" b="0" i="1" smtClean="0">
                            <a:solidFill>
                              <a:schemeClr val="tx1"/>
                            </a:solidFill>
                            <a:latin typeface="Cambria Math" panose="02040503050406030204" pitchFamily="18" charset="0"/>
                          </a:rPr>
                          <m:t>𝐿𝑇𝐹</m:t>
                        </m:r>
                        <m:r>
                          <a:rPr lang="en-US" sz="1800" b="0" i="1" smtClean="0">
                            <a:solidFill>
                              <a:schemeClr val="tx1"/>
                            </a:solidFill>
                            <a:latin typeface="Cambria Math" panose="02040503050406030204" pitchFamily="18" charset="0"/>
                          </a:rPr>
                          <m:t>)</m:t>
                        </m:r>
                      </m:den>
                    </m:f>
                    <m:r>
                      <a:rPr lang="en-US" sz="1800" b="0" i="1" smtClean="0">
                        <a:solidFill>
                          <a:schemeClr val="tx1"/>
                        </a:solidFill>
                        <a:latin typeface="Cambria Math" panose="02040503050406030204" pitchFamily="18" charset="0"/>
                      </a:rPr>
                      <m:t>,  </m:t>
                    </m:r>
                    <m:r>
                      <a:rPr lang="en-US" sz="1800" b="0" i="1" smtClean="0">
                        <a:solidFill>
                          <a:schemeClr val="tx1"/>
                        </a:solidFill>
                        <a:latin typeface="Cambria Math" panose="02040503050406030204" pitchFamily="18" charset="0"/>
                      </a:rPr>
                      <m:t>𝑖</m:t>
                    </m:r>
                    <m:r>
                      <a:rPr lang="en-US" sz="1800" b="0" i="1" smtClean="0">
                        <a:solidFill>
                          <a:schemeClr val="tx1"/>
                        </a:solidFill>
                        <a:latin typeface="Cambria Math" panose="02040503050406030204" pitchFamily="18" charset="0"/>
                      </a:rPr>
                      <m:t>=1,2 </m:t>
                    </m:r>
                  </m:oMath>
                </a14:m>
                <a:r>
                  <a:rPr lang="en-US" sz="1800" dirty="0">
                    <a:solidFill>
                      <a:schemeClr val="tx1"/>
                    </a:solidFill>
                  </a:rPr>
                  <a:t>for comparing two means in a CRT, and</a:t>
                </a:r>
              </a:p>
              <a:p>
                <a:pPr marL="285750" indent="-285750">
                  <a:buFont typeface="Arial" panose="020B0604020202020204" pitchFamily="34" charset="0"/>
                  <a:buChar char="•"/>
                </a:pPr>
                <a14:m>
                  <m:oMath xmlns:m="http://schemas.openxmlformats.org/officeDocument/2006/math">
                    <m:sSub>
                      <m:sSubPr>
                        <m:ctrlPr>
                          <a:rPr lang="en-US" altLang="en-US" i="1" smtClean="0">
                            <a:latin typeface="Cambria Math" panose="02040503050406030204" pitchFamily="18" charset="0"/>
                            <a:sym typeface="Wingdings" pitchFamily="2" charset="2"/>
                          </a:rPr>
                        </m:ctrlPr>
                      </m:sSubPr>
                      <m:e>
                        <m:r>
                          <a:rPr lang="en-US" altLang="en-US" i="1">
                            <a:latin typeface="Cambria Math" panose="02040503050406030204" pitchFamily="18" charset="0"/>
                            <a:sym typeface="Wingdings" pitchFamily="2" charset="2"/>
                          </a:rPr>
                          <m:t>𝑛</m:t>
                        </m:r>
                      </m:e>
                      <m:sub>
                        <m:r>
                          <a:rPr lang="en-US" altLang="en-US" b="0" i="1" smtClean="0">
                            <a:latin typeface="Cambria Math" panose="02040503050406030204" pitchFamily="18" charset="0"/>
                            <a:sym typeface="Wingdings" pitchFamily="2" charset="2"/>
                          </a:rPr>
                          <m:t>𝑖</m:t>
                        </m:r>
                      </m:sub>
                    </m:sSub>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𝑚𝐾</m:t>
                    </m:r>
                    <m:r>
                      <a:rPr lang="en-US" i="1" smtClean="0">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p>
                          <m:sSupPr>
                            <m:ctrlPr>
                              <a:rPr lang="en-US" i="1">
                                <a:solidFill>
                                  <a:srgbClr val="000000"/>
                                </a:solidFill>
                                <a:latin typeface="Cambria Math" panose="02040503050406030204" pitchFamily="18" charset="0"/>
                              </a:rPr>
                            </m:ctrlPr>
                          </m:sSupPr>
                          <m:e>
                            <m:d>
                              <m:dPr>
                                <m:ctrlPr>
                                  <a:rPr lang="en-US" i="1">
                                    <a:solidFill>
                                      <a:srgbClr val="000000"/>
                                    </a:solidFill>
                                    <a:latin typeface="Cambria Math" panose="02040503050406030204" pitchFamily="18" charset="0"/>
                                  </a:rPr>
                                </m:ctrlPr>
                              </m:d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𝑍</m:t>
                                    </m:r>
                                  </m:e>
                                  <m:sub>
                                    <m:f>
                                      <m:fPr>
                                        <m:type m:val="lin"/>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𝛼</m:t>
                                        </m:r>
                                      </m:num>
                                      <m:den>
                                        <m:r>
                                          <a:rPr lang="en-US" i="1">
                                            <a:solidFill>
                                              <a:srgbClr val="000000"/>
                                            </a:solidFill>
                                            <a:latin typeface="Cambria Math" panose="02040503050406030204" pitchFamily="18" charset="0"/>
                                          </a:rPr>
                                          <m:t>2</m:t>
                                        </m:r>
                                      </m:den>
                                    </m:f>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𝑍</m:t>
                                    </m:r>
                                  </m:e>
                                  <m:sub>
                                    <m:r>
                                      <a:rPr lang="en-US" i="1">
                                        <a:solidFill>
                                          <a:srgbClr val="000000"/>
                                        </a:solidFill>
                                        <a:latin typeface="Cambria Math" panose="02040503050406030204" pitchFamily="18" charset="0"/>
                                      </a:rPr>
                                      <m:t>𝛽</m:t>
                                    </m:r>
                                  </m:sub>
                                </m:sSub>
                              </m:e>
                            </m:d>
                          </m:e>
                          <m:sup>
                            <m:r>
                              <a:rPr lang="en-US" i="1">
                                <a:solidFill>
                                  <a:srgbClr val="000000"/>
                                </a:solidFill>
                                <a:latin typeface="Cambria Math" panose="02040503050406030204" pitchFamily="18" charset="0"/>
                              </a:rPr>
                              <m:t>2</m:t>
                            </m:r>
                          </m:sup>
                        </m:sSup>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𝑅</m:t>
                            </m:r>
                            <m:r>
                              <a:rPr lang="en-US" b="0" i="1" smtClean="0">
                                <a:solidFill>
                                  <a:srgbClr val="000000"/>
                                </a:solidFill>
                                <a:latin typeface="Cambria Math" panose="02040503050406030204" pitchFamily="18" charset="0"/>
                              </a:rPr>
                              <m:t>𝑅</m:t>
                            </m:r>
                            <m:sSub>
                              <m:sSubPr>
                                <m:ctrlPr>
                                  <a:rPr lang="en-US" i="1">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2</m:t>
                                </m:r>
                              </m:sub>
                            </m:sSub>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𝑅𝑅</m:t>
                                </m:r>
                                <m:sSub>
                                  <m:sSubPr>
                                    <m:ctrlPr>
                                      <a:rPr lang="en-US" i="1">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2</m:t>
                                    </m:r>
                                  </m:sub>
                                </m:sSub>
                              </m:e>
                            </m:d>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2</m:t>
                                </m:r>
                              </m:sub>
                            </m:sSub>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1−</m:t>
                                </m:r>
                                <m:sSub>
                                  <m:sSubPr>
                                    <m:ctrlPr>
                                      <a:rPr lang="en-US" i="1">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2</m:t>
                                    </m:r>
                                  </m:sub>
                                </m:sSub>
                              </m:e>
                            </m:d>
                          </m:e>
                        </m:d>
                      </m:num>
                      <m:den>
                        <m:sSubSup>
                          <m:sSubSupPr>
                            <m:ctrlPr>
                              <a:rPr lang="en-US" i="1">
                                <a:solidFill>
                                  <a:srgbClr val="000000"/>
                                </a:solidFill>
                                <a:latin typeface="Cambria Math" panose="02040503050406030204" pitchFamily="18" charset="0"/>
                              </a:rPr>
                            </m:ctrlPr>
                          </m:sSubSupPr>
                          <m:e>
                            <m:r>
                              <a:rPr lang="en-US" b="0" i="1" smtClean="0">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2</m:t>
                            </m:r>
                          </m:sub>
                          <m:sup>
                            <m:r>
                              <a:rPr lang="en-US" i="1">
                                <a:solidFill>
                                  <a:srgbClr val="000000"/>
                                </a:solidFill>
                                <a:latin typeface="Cambria Math" panose="02040503050406030204" pitchFamily="18" charset="0"/>
                              </a:rPr>
                              <m:t>2</m:t>
                            </m:r>
                          </m:sup>
                        </m:sSubSup>
                        <m:sSup>
                          <m:sSupPr>
                            <m:ctrlPr>
                              <a:rPr lang="en-US" i="1">
                                <a:solidFill>
                                  <a:srgbClr val="000000"/>
                                </a:solidFill>
                                <a:latin typeface="Cambria Math" panose="02040503050406030204" pitchFamily="18" charset="0"/>
                              </a:rPr>
                            </m:ctrlPr>
                          </m:sSupPr>
                          <m:e>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𝑅</m:t>
                                </m:r>
                                <m:r>
                                  <a:rPr lang="en-US" b="0" i="1" smtClean="0">
                                    <a:solidFill>
                                      <a:srgbClr val="000000"/>
                                    </a:solidFill>
                                    <a:latin typeface="Cambria Math" panose="02040503050406030204" pitchFamily="18" charset="0"/>
                                  </a:rPr>
                                  <m:t>𝑅</m:t>
                                </m:r>
                                <m:r>
                                  <a:rPr lang="en-US" i="1">
                                    <a:solidFill>
                                      <a:srgbClr val="000000"/>
                                    </a:solidFill>
                                    <a:latin typeface="Cambria Math" panose="02040503050406030204" pitchFamily="18" charset="0"/>
                                  </a:rPr>
                                  <m:t>−1</m:t>
                                </m:r>
                              </m:e>
                            </m:d>
                          </m:e>
                          <m:sup>
                            <m:r>
                              <a:rPr lang="en-US" i="1">
                                <a:solidFill>
                                  <a:srgbClr val="000000"/>
                                </a:solidFill>
                                <a:latin typeface="Cambria Math" panose="02040503050406030204" pitchFamily="18" charset="0"/>
                              </a:rPr>
                              <m:t>2</m:t>
                            </m:r>
                          </m:sup>
                        </m:sSup>
                      </m:den>
                    </m:f>
                  </m:oMath>
                </a14:m>
                <a:r>
                  <a:rPr lang="en-US" sz="1800" dirty="0">
                    <a:solidFill>
                      <a:schemeClr val="tx1"/>
                    </a:solidFill>
                  </a:rPr>
                  <a:t>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𝐺</m:t>
                        </m:r>
                      </m:num>
                      <m:den>
                        <m:r>
                          <a:rPr lang="en-US" b="0" i="1" smtClean="0">
                            <a:latin typeface="Cambria Math" panose="02040503050406030204" pitchFamily="18" charset="0"/>
                          </a:rPr>
                          <m:t>(1−</m:t>
                        </m:r>
                        <m:r>
                          <a:rPr lang="en-US" i="1">
                            <a:latin typeface="Cambria Math" panose="02040503050406030204" pitchFamily="18" charset="0"/>
                          </a:rPr>
                          <m:t>𝐿𝑇𝐹</m:t>
                        </m:r>
                        <m:r>
                          <a:rPr lang="en-US" b="0" i="1" smtClean="0">
                            <a:latin typeface="Cambria Math" panose="02040503050406030204" pitchFamily="18" charset="0"/>
                          </a:rPr>
                          <m:t>)</m:t>
                        </m:r>
                      </m:den>
                    </m:f>
                  </m:oMath>
                </a14:m>
                <a:r>
                  <a:rPr lang="en-US" sz="1800" dirty="0">
                    <a:solidFill>
                      <a:schemeClr val="tx1"/>
                    </a:solidFill>
                  </a:rPr>
                  <a:t> for comparing two proportions</a:t>
                </a:r>
              </a:p>
              <a:p>
                <a:pPr marL="285750" indent="-285750">
                  <a:buFont typeface="Arial" panose="020B0604020202020204" pitchFamily="34" charset="0"/>
                  <a:buChar char="•"/>
                </a:pPr>
                <a:r>
                  <a:rPr lang="en-US" sz="1800" dirty="0">
                    <a:solidFill>
                      <a:schemeClr val="tx1"/>
                    </a:solidFill>
                  </a:rPr>
                  <a:t>The naïve approach on the previous slide, where the total sample size is inflated by dividing by (1-LTF) is equivalent to assuming that </a:t>
                </a:r>
                <a14:m>
                  <m:oMath xmlns:m="http://schemas.openxmlformats.org/officeDocument/2006/math">
                    <m:r>
                      <a:rPr lang="en-US"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oMath>
                </a14:m>
                <a:r>
                  <a:rPr lang="en-US" sz="1800" dirty="0">
                    <a:solidFill>
                      <a:schemeClr val="tx1"/>
                    </a:solidFill>
                  </a:rPr>
                  <a:t> 1, the maximum possible ICC, when all clusters have the same LTF rate, over-estimating the sample size</a:t>
                </a:r>
              </a:p>
              <a:p>
                <a:pPr marL="285750" indent="-285750">
                  <a:buFont typeface="Arial" panose="020B0604020202020204" pitchFamily="34" charset="0"/>
                  <a:buChar char="•"/>
                </a:pPr>
                <a:r>
                  <a:rPr lang="en-US" sz="1600" dirty="0"/>
                  <a:t>For power, we replace </a:t>
                </a:r>
                <a14:m>
                  <m:oMath xmlns:m="http://schemas.openxmlformats.org/officeDocument/2006/math">
                    <m:r>
                      <a:rPr lang="en-US" sz="1600" i="1" dirty="0" smtClean="0">
                        <a:latin typeface="Cambria Math" panose="02040503050406030204" pitchFamily="18" charset="0"/>
                      </a:rPr>
                      <m:t>𝑚</m:t>
                    </m:r>
                  </m:oMath>
                </a14:m>
                <a:r>
                  <a:rPr lang="en-US" sz="1600" dirty="0">
                    <a:solidFill>
                      <a:schemeClr val="tx1"/>
                    </a:solidFill>
                  </a:rPr>
                  <a:t> with </a:t>
                </a:r>
                <a14:m>
                  <m:oMath xmlns:m="http://schemas.openxmlformats.org/officeDocument/2006/math">
                    <m:r>
                      <a:rPr lang="en-US" sz="1600" b="0" i="0" dirty="0" smtClean="0">
                        <a:latin typeface="Cambria Math" panose="02040503050406030204" pitchFamily="18" charset="0"/>
                      </a:rPr>
                      <m:t>(1−</m:t>
                    </m:r>
                    <m:r>
                      <a:rPr lang="en-US" sz="1600" i="1" dirty="0">
                        <a:latin typeface="Cambria Math" panose="02040503050406030204" pitchFamily="18" charset="0"/>
                      </a:rPr>
                      <m:t>𝐿𝑇𝐹</m:t>
                    </m:r>
                    <m:r>
                      <a:rPr lang="en-US" sz="1600" b="0" i="1" dirty="0" smtClean="0">
                        <a:latin typeface="Cambria Math" panose="02040503050406030204" pitchFamily="18" charset="0"/>
                      </a:rPr>
                      <m:t>)</m:t>
                    </m:r>
                    <m:r>
                      <a:rPr lang="en-US" sz="1600" i="1" dirty="0">
                        <a:latin typeface="Cambria Math" panose="02040503050406030204" pitchFamily="18" charset="0"/>
                      </a:rPr>
                      <m:t>𝑚</m:t>
                    </m:r>
                  </m:oMath>
                </a14:m>
                <a:r>
                  <a:rPr lang="en-US" sz="1600" dirty="0">
                    <a:solidFill>
                      <a:schemeClr val="tx1"/>
                    </a:solidFill>
                  </a:rPr>
                  <a:t> in the standard formula. This is again equivalent to assuming the greatest variation in LTF rates between clusters.</a:t>
                </a:r>
              </a:p>
              <a:p>
                <a:pPr marL="285750" indent="-285750">
                  <a:buFont typeface="Arial" panose="020B0604020202020204" pitchFamily="34" charset="0"/>
                  <a:buChar char="•"/>
                </a:pPr>
                <a:endParaRPr lang="en-US" dirty="0"/>
              </a:p>
            </p:txBody>
          </p:sp>
        </mc:Choice>
        <mc:Fallback xmlns="">
          <p:sp>
            <p:nvSpPr>
              <p:cNvPr id="3" name="TextBox 2">
                <a:extLst>
                  <a:ext uri="{FF2B5EF4-FFF2-40B4-BE49-F238E27FC236}">
                    <a16:creationId xmlns:a16="http://schemas.microsoft.com/office/drawing/2014/main" id="{F65D6B6F-4735-E8EF-DD73-1E9B8B53797B}"/>
                  </a:ext>
                </a:extLst>
              </p:cNvPr>
              <p:cNvSpPr txBox="1">
                <a:spLocks noRot="1" noChangeAspect="1" noMove="1" noResize="1" noEditPoints="1" noAdjustHandles="1" noChangeArrowheads="1" noChangeShapeType="1" noTextEdit="1"/>
              </p:cNvSpPr>
              <p:nvPr/>
            </p:nvSpPr>
            <p:spPr>
              <a:xfrm>
                <a:off x="0" y="491372"/>
                <a:ext cx="12192000" cy="6484147"/>
              </a:xfrm>
              <a:prstGeom prst="rect">
                <a:avLst/>
              </a:prstGeom>
              <a:blipFill>
                <a:blip r:embed="rId3"/>
                <a:stretch>
                  <a:fillRect l="-300" t="-564" r="-350"/>
                </a:stretch>
              </a:blipFill>
            </p:spPr>
            <p:txBody>
              <a:bodyPr/>
              <a:lstStyle/>
              <a:p>
                <a:r>
                  <a:rPr lang="en-US">
                    <a:noFill/>
                  </a:rPr>
                  <a:t> </a:t>
                </a:r>
              </a:p>
            </p:txBody>
          </p:sp>
        </mc:Fallback>
      </mc:AlternateContent>
    </p:spTree>
    <p:extLst>
      <p:ext uri="{BB962C8B-B14F-4D97-AF65-F5344CB8AC3E}">
        <p14:creationId xmlns:p14="http://schemas.microsoft.com/office/powerpoint/2010/main" val="3486841325"/>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4BAB12E-D17A-3CA9-FC7E-75D41E236F94}"/>
              </a:ext>
            </a:extLst>
          </p:cNvPr>
          <p:cNvSpPr>
            <a:spLocks noGrp="1"/>
          </p:cNvSpPr>
          <p:nvPr>
            <p:ph type="ftr" sz="quarter" idx="11"/>
          </p:nvPr>
        </p:nvSpPr>
        <p:spPr/>
        <p:txBody>
          <a:bodyPr/>
          <a:lstStyle/>
          <a:p>
            <a:endParaRPr lang="en-US"/>
          </a:p>
        </p:txBody>
      </p:sp>
      <p:pic>
        <p:nvPicPr>
          <p:cNvPr id="4" name="Picture 3">
            <a:extLst>
              <a:ext uri="{FF2B5EF4-FFF2-40B4-BE49-F238E27FC236}">
                <a16:creationId xmlns:a16="http://schemas.microsoft.com/office/drawing/2014/main" id="{B47F8749-4CE2-160C-3BCC-D2A6C678FAD0}"/>
              </a:ext>
            </a:extLst>
          </p:cNvPr>
          <p:cNvPicPr>
            <a:picLocks noChangeAspect="1"/>
          </p:cNvPicPr>
          <p:nvPr/>
        </p:nvPicPr>
        <p:blipFill>
          <a:blip r:embed="rId2"/>
          <a:stretch>
            <a:fillRect/>
          </a:stretch>
        </p:blipFill>
        <p:spPr>
          <a:xfrm>
            <a:off x="0" y="0"/>
            <a:ext cx="12192000"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0A2E552E-1B5D-632C-F317-F5505AF5BF3C}"/>
                  </a:ext>
                </a:extLst>
              </p14:cNvPr>
              <p14:cNvContentPartPr/>
              <p14:nvPr/>
            </p14:nvContentPartPr>
            <p14:xfrm>
              <a:off x="2302968" y="4997616"/>
              <a:ext cx="4074480" cy="1172160"/>
            </p14:xfrm>
          </p:contentPart>
        </mc:Choice>
        <mc:Fallback xmlns="">
          <p:pic>
            <p:nvPicPr>
              <p:cNvPr id="5" name="Ink 4">
                <a:extLst>
                  <a:ext uri="{FF2B5EF4-FFF2-40B4-BE49-F238E27FC236}">
                    <a16:creationId xmlns:a16="http://schemas.microsoft.com/office/drawing/2014/main" id="{0A2E552E-1B5D-632C-F317-F5505AF5BF3C}"/>
                  </a:ext>
                </a:extLst>
              </p:cNvPr>
              <p:cNvPicPr/>
              <p:nvPr/>
            </p:nvPicPr>
            <p:blipFill>
              <a:blip r:embed="rId4"/>
              <a:stretch>
                <a:fillRect/>
              </a:stretch>
            </p:blipFill>
            <p:spPr>
              <a:xfrm>
                <a:off x="2293968" y="4988976"/>
                <a:ext cx="4092120" cy="1189800"/>
              </a:xfrm>
              <a:prstGeom prst="rect">
                <a:avLst/>
              </a:prstGeom>
            </p:spPr>
          </p:pic>
        </mc:Fallback>
      </mc:AlternateContent>
      <p:sp>
        <p:nvSpPr>
          <p:cNvPr id="3" name="Slide Number Placeholder 2">
            <a:extLst>
              <a:ext uri="{FF2B5EF4-FFF2-40B4-BE49-F238E27FC236}">
                <a16:creationId xmlns:a16="http://schemas.microsoft.com/office/drawing/2014/main" id="{E35AAB87-8E22-1994-6EB1-F593282010CC}"/>
              </a:ext>
            </a:extLst>
          </p:cNvPr>
          <p:cNvSpPr>
            <a:spLocks noGrp="1"/>
          </p:cNvSpPr>
          <p:nvPr>
            <p:ph type="sldNum" sz="quarter" idx="12"/>
          </p:nvPr>
        </p:nvSpPr>
        <p:spPr/>
        <p:txBody>
          <a:bodyPr/>
          <a:lstStyle/>
          <a:p>
            <a:fld id="{77C6A7FE-225D-49F1-B302-AA37EA92BB49}" type="slidenum">
              <a:rPr lang="en-US" smtClean="0"/>
              <a:t>49</a:t>
            </a:fld>
            <a:endParaRPr lang="en-US"/>
          </a:p>
        </p:txBody>
      </p:sp>
    </p:spTree>
    <p:extLst>
      <p:ext uri="{BB962C8B-B14F-4D97-AF65-F5344CB8AC3E}">
        <p14:creationId xmlns:p14="http://schemas.microsoft.com/office/powerpoint/2010/main" val="388875810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67505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PASS Results</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pic>
        <p:nvPicPr>
          <p:cNvPr id="3" name="Picture 2" descr="Graphical user interface, text, application, email&#10;&#10;Description automatically generated">
            <a:extLst>
              <a:ext uri="{FF2B5EF4-FFF2-40B4-BE49-F238E27FC236}">
                <a16:creationId xmlns:a16="http://schemas.microsoft.com/office/drawing/2014/main" id="{33831246-2A9C-7B4C-A1D1-9CCA35809D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1169" y="657023"/>
            <a:ext cx="8162687" cy="6023379"/>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30784A5-4FD5-9D45-96F8-3DC21BD67263}"/>
                  </a:ext>
                </a:extLst>
              </p:cNvPr>
              <p:cNvSpPr txBox="1"/>
              <p:nvPr/>
            </p:nvSpPr>
            <p:spPr>
              <a:xfrm>
                <a:off x="8774398" y="1998133"/>
                <a:ext cx="3417602" cy="395429"/>
              </a:xfrm>
              <a:prstGeom prst="rect">
                <a:avLst/>
              </a:prstGeom>
              <a:noFill/>
            </p:spPr>
            <p:txBody>
              <a:bodyPr wrap="none" rtlCol="0">
                <a:spAutoFit/>
              </a:bodyPr>
              <a:lstStyle/>
              <a:p>
                <a:r>
                  <a:rPr lang="en-US" dirty="0"/>
                  <a:t>Standard Deviation = </a:t>
                </a:r>
                <a14:m>
                  <m:oMath xmlns:m="http://schemas.openxmlformats.org/officeDocument/2006/math">
                    <m:rad>
                      <m:radPr>
                        <m:degHide m:val="on"/>
                        <m:ctrlPr>
                          <a:rPr lang="en-US" i="1" smtClean="0">
                            <a:latin typeface="Cambria Math" panose="02040503050406030204" pitchFamily="18" charset="0"/>
                          </a:rPr>
                        </m:ctrlPr>
                      </m:radPr>
                      <m:deg/>
                      <m:e>
                        <m:r>
                          <a:rPr lang="en-US" b="0" i="1" smtClean="0">
                            <a:latin typeface="Cambria Math" panose="02040503050406030204" pitchFamily="18" charset="0"/>
                          </a:rPr>
                          <m:t>2302</m:t>
                        </m:r>
                      </m:e>
                    </m:rad>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48</m:t>
                    </m:r>
                  </m:oMath>
                </a14:m>
                <a:endParaRPr lang="en-US" dirty="0"/>
              </a:p>
            </p:txBody>
          </p:sp>
        </mc:Choice>
        <mc:Fallback xmlns="">
          <p:sp>
            <p:nvSpPr>
              <p:cNvPr id="2" name="TextBox 1">
                <a:extLst>
                  <a:ext uri="{FF2B5EF4-FFF2-40B4-BE49-F238E27FC236}">
                    <a16:creationId xmlns:a16="http://schemas.microsoft.com/office/drawing/2014/main" id="{B30784A5-4FD5-9D45-96F8-3DC21BD67263}"/>
                  </a:ext>
                </a:extLst>
              </p:cNvPr>
              <p:cNvSpPr txBox="1">
                <a:spLocks noRot="1" noChangeAspect="1" noMove="1" noResize="1" noEditPoints="1" noAdjustHandles="1" noChangeArrowheads="1" noChangeShapeType="1" noTextEdit="1"/>
              </p:cNvSpPr>
              <p:nvPr/>
            </p:nvSpPr>
            <p:spPr>
              <a:xfrm>
                <a:off x="8774398" y="1998133"/>
                <a:ext cx="3417602" cy="395429"/>
              </a:xfrm>
              <a:prstGeom prst="rect">
                <a:avLst/>
              </a:prstGeom>
              <a:blipFill>
                <a:blip r:embed="rId5"/>
                <a:stretch>
                  <a:fillRect l="-1476" t="-3125" b="-25000"/>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0C7A948A-F075-164D-B674-FD200735C065}"/>
              </a:ext>
            </a:extLst>
          </p:cNvPr>
          <p:cNvSpPr>
            <a:spLocks noGrp="1"/>
          </p:cNvSpPr>
          <p:nvPr>
            <p:ph type="ftr" sz="quarter" idx="11"/>
          </p:nvPr>
        </p:nvSpPr>
        <p:spPr/>
        <p:txBody>
          <a:bodyPr/>
          <a:lstStyle/>
          <a:p>
            <a:endParaRPr lang="en-US"/>
          </a:p>
        </p:txBody>
      </p:sp>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C79546BB-8238-5A6F-52F9-C358D44C69BB}"/>
                  </a:ext>
                </a:extLst>
              </p14:cNvPr>
              <p14:cNvContentPartPr/>
              <p14:nvPr/>
            </p14:nvContentPartPr>
            <p14:xfrm>
              <a:off x="169968" y="-414984"/>
              <a:ext cx="360" cy="360"/>
            </p14:xfrm>
          </p:contentPart>
        </mc:Choice>
        <mc:Fallback xmlns="">
          <p:pic>
            <p:nvPicPr>
              <p:cNvPr id="7" name="Ink 6">
                <a:extLst>
                  <a:ext uri="{FF2B5EF4-FFF2-40B4-BE49-F238E27FC236}">
                    <a16:creationId xmlns:a16="http://schemas.microsoft.com/office/drawing/2014/main" id="{C79546BB-8238-5A6F-52F9-C358D44C69BB}"/>
                  </a:ext>
                </a:extLst>
              </p:cNvPr>
              <p:cNvPicPr/>
              <p:nvPr/>
            </p:nvPicPr>
            <p:blipFill>
              <a:blip r:embed="rId7"/>
              <a:stretch>
                <a:fillRect/>
              </a:stretch>
            </p:blipFill>
            <p:spPr>
              <a:xfrm>
                <a:off x="160968" y="-42362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20D24A0E-CA7A-CB50-EFD1-4B7E8D64E4FB}"/>
                  </a:ext>
                </a:extLst>
              </p14:cNvPr>
              <p14:cNvContentPartPr/>
              <p14:nvPr/>
            </p14:nvContentPartPr>
            <p14:xfrm>
              <a:off x="243048" y="-451344"/>
              <a:ext cx="360" cy="360"/>
            </p14:xfrm>
          </p:contentPart>
        </mc:Choice>
        <mc:Fallback xmlns="">
          <p:pic>
            <p:nvPicPr>
              <p:cNvPr id="8" name="Ink 7">
                <a:extLst>
                  <a:ext uri="{FF2B5EF4-FFF2-40B4-BE49-F238E27FC236}">
                    <a16:creationId xmlns:a16="http://schemas.microsoft.com/office/drawing/2014/main" id="{20D24A0E-CA7A-CB50-EFD1-4B7E8D64E4FB}"/>
                  </a:ext>
                </a:extLst>
              </p:cNvPr>
              <p:cNvPicPr/>
              <p:nvPr/>
            </p:nvPicPr>
            <p:blipFill>
              <a:blip r:embed="rId7"/>
              <a:stretch>
                <a:fillRect/>
              </a:stretch>
            </p:blipFill>
            <p:spPr>
              <a:xfrm>
                <a:off x="234408" y="-459984"/>
                <a:ext cx="18000" cy="18000"/>
              </a:xfrm>
              <a:prstGeom prst="rect">
                <a:avLst/>
              </a:prstGeom>
            </p:spPr>
          </p:pic>
        </mc:Fallback>
      </mc:AlternateContent>
      <p:grpSp>
        <p:nvGrpSpPr>
          <p:cNvPr id="11" name="Group 10">
            <a:extLst>
              <a:ext uri="{FF2B5EF4-FFF2-40B4-BE49-F238E27FC236}">
                <a16:creationId xmlns:a16="http://schemas.microsoft.com/office/drawing/2014/main" id="{C9626375-BE76-BD9D-FAE8-DF2CBF394B2B}"/>
              </a:ext>
            </a:extLst>
          </p:cNvPr>
          <p:cNvGrpSpPr/>
          <p:nvPr/>
        </p:nvGrpSpPr>
        <p:grpSpPr>
          <a:xfrm>
            <a:off x="133608" y="-464304"/>
            <a:ext cx="360" cy="360"/>
            <a:chOff x="133608" y="-464304"/>
            <a:chExt cx="360" cy="360"/>
          </a:xfrm>
        </p:grpSpPr>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05B6FEB2-29C1-53EA-1368-C3FA40980F96}"/>
                    </a:ext>
                  </a:extLst>
                </p14:cNvPr>
                <p14:cNvContentPartPr/>
                <p14:nvPr/>
              </p14:nvContentPartPr>
              <p14:xfrm>
                <a:off x="133608" y="-464304"/>
                <a:ext cx="360" cy="360"/>
              </p14:xfrm>
            </p:contentPart>
          </mc:Choice>
          <mc:Fallback xmlns="">
            <p:pic>
              <p:nvPicPr>
                <p:cNvPr id="9" name="Ink 8">
                  <a:extLst>
                    <a:ext uri="{FF2B5EF4-FFF2-40B4-BE49-F238E27FC236}">
                      <a16:creationId xmlns:a16="http://schemas.microsoft.com/office/drawing/2014/main" id="{05B6FEB2-29C1-53EA-1368-C3FA40980F96}"/>
                    </a:ext>
                  </a:extLst>
                </p:cNvPr>
                <p:cNvPicPr/>
                <p:nvPr/>
              </p:nvPicPr>
              <p:blipFill>
                <a:blip r:embed="rId7"/>
                <a:stretch>
                  <a:fillRect/>
                </a:stretch>
              </p:blipFill>
              <p:spPr>
                <a:xfrm>
                  <a:off x="124608" y="-47294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B0C164EA-DAF1-C99F-C262-1703A5EAB999}"/>
                    </a:ext>
                  </a:extLst>
                </p14:cNvPr>
                <p14:cNvContentPartPr/>
                <p14:nvPr/>
              </p14:nvContentPartPr>
              <p14:xfrm>
                <a:off x="133608" y="-464304"/>
                <a:ext cx="360" cy="360"/>
              </p14:xfrm>
            </p:contentPart>
          </mc:Choice>
          <mc:Fallback xmlns="">
            <p:pic>
              <p:nvPicPr>
                <p:cNvPr id="10" name="Ink 9">
                  <a:extLst>
                    <a:ext uri="{FF2B5EF4-FFF2-40B4-BE49-F238E27FC236}">
                      <a16:creationId xmlns:a16="http://schemas.microsoft.com/office/drawing/2014/main" id="{B0C164EA-DAF1-C99F-C262-1703A5EAB999}"/>
                    </a:ext>
                  </a:extLst>
                </p:cNvPr>
                <p:cNvPicPr/>
                <p:nvPr/>
              </p:nvPicPr>
              <p:blipFill>
                <a:blip r:embed="rId7"/>
                <a:stretch>
                  <a:fillRect/>
                </a:stretch>
              </p:blipFill>
              <p:spPr>
                <a:xfrm>
                  <a:off x="124608" y="-472944"/>
                  <a:ext cx="18000" cy="18000"/>
                </a:xfrm>
                <a:prstGeom prst="rect">
                  <a:avLst/>
                </a:prstGeom>
              </p:spPr>
            </p:pic>
          </mc:Fallback>
        </mc:AlternateContent>
      </p:grpSp>
      <p:grpSp>
        <p:nvGrpSpPr>
          <p:cNvPr id="14" name="Group 13">
            <a:extLst>
              <a:ext uri="{FF2B5EF4-FFF2-40B4-BE49-F238E27FC236}">
                <a16:creationId xmlns:a16="http://schemas.microsoft.com/office/drawing/2014/main" id="{62DA4546-86FC-18C6-E194-F475AEB90A41}"/>
              </a:ext>
            </a:extLst>
          </p:cNvPr>
          <p:cNvGrpSpPr/>
          <p:nvPr/>
        </p:nvGrpSpPr>
        <p:grpSpPr>
          <a:xfrm>
            <a:off x="121368" y="-378624"/>
            <a:ext cx="360" cy="360"/>
            <a:chOff x="121368" y="-378624"/>
            <a:chExt cx="360" cy="360"/>
          </a:xfrm>
        </p:grpSpPr>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15EFC0A2-196B-ABA9-04BF-A185BBBCF141}"/>
                    </a:ext>
                  </a:extLst>
                </p14:cNvPr>
                <p14:cNvContentPartPr/>
                <p14:nvPr/>
              </p14:nvContentPartPr>
              <p14:xfrm>
                <a:off x="121368" y="-378624"/>
                <a:ext cx="360" cy="360"/>
              </p14:xfrm>
            </p:contentPart>
          </mc:Choice>
          <mc:Fallback xmlns="">
            <p:pic>
              <p:nvPicPr>
                <p:cNvPr id="12" name="Ink 11">
                  <a:extLst>
                    <a:ext uri="{FF2B5EF4-FFF2-40B4-BE49-F238E27FC236}">
                      <a16:creationId xmlns:a16="http://schemas.microsoft.com/office/drawing/2014/main" id="{15EFC0A2-196B-ABA9-04BF-A185BBBCF141}"/>
                    </a:ext>
                  </a:extLst>
                </p:cNvPr>
                <p:cNvPicPr/>
                <p:nvPr/>
              </p:nvPicPr>
              <p:blipFill>
                <a:blip r:embed="rId7"/>
                <a:stretch>
                  <a:fillRect/>
                </a:stretch>
              </p:blipFill>
              <p:spPr>
                <a:xfrm>
                  <a:off x="112728" y="-38762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 name="Ink 12">
                  <a:extLst>
                    <a:ext uri="{FF2B5EF4-FFF2-40B4-BE49-F238E27FC236}">
                      <a16:creationId xmlns:a16="http://schemas.microsoft.com/office/drawing/2014/main" id="{8C03317B-0012-6EFD-5372-CB616D7C4BB9}"/>
                    </a:ext>
                  </a:extLst>
                </p14:cNvPr>
                <p14:cNvContentPartPr/>
                <p14:nvPr/>
              </p14:nvContentPartPr>
              <p14:xfrm>
                <a:off x="121368" y="-378624"/>
                <a:ext cx="360" cy="360"/>
              </p14:xfrm>
            </p:contentPart>
          </mc:Choice>
          <mc:Fallback xmlns="">
            <p:pic>
              <p:nvPicPr>
                <p:cNvPr id="13" name="Ink 12">
                  <a:extLst>
                    <a:ext uri="{FF2B5EF4-FFF2-40B4-BE49-F238E27FC236}">
                      <a16:creationId xmlns:a16="http://schemas.microsoft.com/office/drawing/2014/main" id="{8C03317B-0012-6EFD-5372-CB616D7C4BB9}"/>
                    </a:ext>
                  </a:extLst>
                </p:cNvPr>
                <p:cNvPicPr/>
                <p:nvPr/>
              </p:nvPicPr>
              <p:blipFill>
                <a:blip r:embed="rId7"/>
                <a:stretch>
                  <a:fillRect/>
                </a:stretch>
              </p:blipFill>
              <p:spPr>
                <a:xfrm>
                  <a:off x="112728" y="-387624"/>
                  <a:ext cx="18000" cy="18000"/>
                </a:xfrm>
                <a:prstGeom prst="rect">
                  <a:avLst/>
                </a:prstGeom>
              </p:spPr>
            </p:pic>
          </mc:Fallback>
        </mc:AlternateContent>
      </p:grpSp>
      <p:sp>
        <p:nvSpPr>
          <p:cNvPr id="15" name="Slide Number Placeholder 14">
            <a:extLst>
              <a:ext uri="{FF2B5EF4-FFF2-40B4-BE49-F238E27FC236}">
                <a16:creationId xmlns:a16="http://schemas.microsoft.com/office/drawing/2014/main" id="{D19D44AD-0024-BF85-26CB-544F890570D8}"/>
              </a:ext>
            </a:extLst>
          </p:cNvPr>
          <p:cNvSpPr>
            <a:spLocks noGrp="1"/>
          </p:cNvSpPr>
          <p:nvPr>
            <p:ph type="sldNum" sz="quarter" idx="12"/>
          </p:nvPr>
        </p:nvSpPr>
        <p:spPr/>
        <p:txBody>
          <a:bodyPr/>
          <a:lstStyle/>
          <a:p>
            <a:fld id="{77C6A7FE-225D-49F1-B302-AA37EA92BB49}" type="slidenum">
              <a:rPr lang="en-US" smtClean="0"/>
              <a:t>50</a:t>
            </a:fld>
            <a:endParaRPr lang="en-US"/>
          </a:p>
        </p:txBody>
      </p:sp>
      <p:sp>
        <p:nvSpPr>
          <p:cNvPr id="16" name="TextBox 15">
            <a:extLst>
              <a:ext uri="{FF2B5EF4-FFF2-40B4-BE49-F238E27FC236}">
                <a16:creationId xmlns:a16="http://schemas.microsoft.com/office/drawing/2014/main" id="{32520687-D207-818E-6658-8CFCE33E1D41}"/>
              </a:ext>
            </a:extLst>
          </p:cNvPr>
          <p:cNvSpPr txBox="1"/>
          <p:nvPr/>
        </p:nvSpPr>
        <p:spPr>
          <a:xfrm>
            <a:off x="9315450" y="3276600"/>
            <a:ext cx="2934586" cy="1477328"/>
          </a:xfrm>
          <a:prstGeom prst="rect">
            <a:avLst/>
          </a:prstGeom>
          <a:noFill/>
        </p:spPr>
        <p:txBody>
          <a:bodyPr wrap="none" rtlCol="0">
            <a:spAutoFit/>
          </a:bodyPr>
          <a:lstStyle/>
          <a:p>
            <a:r>
              <a:rPr lang="en-US" dirty="0"/>
              <a:t>Note: PASS denotes</a:t>
            </a:r>
          </a:p>
          <a:p>
            <a:r>
              <a:rPr lang="en-US" dirty="0"/>
              <a:t> intervention group with </a:t>
            </a:r>
          </a:p>
          <a:p>
            <a:r>
              <a:rPr lang="en-US" dirty="0"/>
              <a:t>subscript 1 and control group</a:t>
            </a:r>
          </a:p>
          <a:p>
            <a:r>
              <a:rPr lang="en-US" dirty="0"/>
              <a:t>with subscript 2, opposite of</a:t>
            </a:r>
          </a:p>
          <a:p>
            <a:r>
              <a:rPr lang="en-US" dirty="0"/>
              <a:t> course notes</a:t>
            </a:r>
          </a:p>
        </p:txBody>
      </p:sp>
    </p:spTree>
    <p:extLst>
      <p:ext uri="{BB962C8B-B14F-4D97-AF65-F5344CB8AC3E}">
        <p14:creationId xmlns:p14="http://schemas.microsoft.com/office/powerpoint/2010/main" val="280016881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310129"/>
            <a:ext cx="12192000" cy="145736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PASS Results</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pic>
        <p:nvPicPr>
          <p:cNvPr id="8" name="Picture 7" descr="A picture containing timeline&#10;&#10;Description automatically generated">
            <a:extLst>
              <a:ext uri="{FF2B5EF4-FFF2-40B4-BE49-F238E27FC236}">
                <a16:creationId xmlns:a16="http://schemas.microsoft.com/office/drawing/2014/main" id="{7DA832CD-8CB8-D04B-8105-CE3B0103AB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1474" y="1778000"/>
            <a:ext cx="10969052" cy="2938934"/>
          </a:xfrm>
          <a:prstGeom prst="rect">
            <a:avLst/>
          </a:prstGeom>
        </p:spPr>
      </p:pic>
      <p:sp>
        <p:nvSpPr>
          <p:cNvPr id="2" name="Freeform: Shape 1">
            <a:extLst>
              <a:ext uri="{FF2B5EF4-FFF2-40B4-BE49-F238E27FC236}">
                <a16:creationId xmlns:a16="http://schemas.microsoft.com/office/drawing/2014/main" id="{1BD87F57-60E9-4B28-80C6-C196AA261062}"/>
              </a:ext>
            </a:extLst>
          </p:cNvPr>
          <p:cNvSpPr/>
          <p:nvPr/>
        </p:nvSpPr>
        <p:spPr>
          <a:xfrm>
            <a:off x="4902200" y="3581400"/>
            <a:ext cx="110946" cy="645469"/>
          </a:xfrm>
          <a:custGeom>
            <a:avLst/>
            <a:gdLst>
              <a:gd name="connsiteX0" fmla="*/ 88900 w 110946"/>
              <a:gd name="connsiteY0" fmla="*/ 127000 h 645469"/>
              <a:gd name="connsiteX1" fmla="*/ 0 w 110946"/>
              <a:gd name="connsiteY1" fmla="*/ 0 h 645469"/>
            </a:gdLst>
            <a:ahLst/>
            <a:cxnLst>
              <a:cxn ang="0">
                <a:pos x="connsiteX0" y="connsiteY0"/>
              </a:cxn>
              <a:cxn ang="0">
                <a:pos x="connsiteX1" y="connsiteY1"/>
              </a:cxn>
            </a:cxnLst>
            <a:rect l="l" t="t" r="r" b="b"/>
            <a:pathLst>
              <a:path w="110946" h="645469">
                <a:moveTo>
                  <a:pt x="88900" y="127000"/>
                </a:moveTo>
                <a:cubicBezTo>
                  <a:pt x="116416" y="595841"/>
                  <a:pt x="143933" y="1064683"/>
                  <a:pt x="0" y="0"/>
                </a:cubicBez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ACF63C23-C877-8243-99A2-1564C7BD37E8}"/>
                  </a:ext>
                </a:extLst>
              </p14:cNvPr>
              <p14:cNvContentPartPr/>
              <p14:nvPr/>
            </p14:nvContentPartPr>
            <p14:xfrm>
              <a:off x="3393055" y="2985065"/>
              <a:ext cx="1593360" cy="1879200"/>
            </p14:xfrm>
          </p:contentPart>
        </mc:Choice>
        <mc:Fallback xmlns="">
          <p:pic>
            <p:nvPicPr>
              <p:cNvPr id="3" name="Ink 2">
                <a:extLst>
                  <a:ext uri="{FF2B5EF4-FFF2-40B4-BE49-F238E27FC236}">
                    <a16:creationId xmlns:a16="http://schemas.microsoft.com/office/drawing/2014/main" id="{ACF63C23-C877-8243-99A2-1564C7BD37E8}"/>
                  </a:ext>
                </a:extLst>
              </p:cNvPr>
              <p:cNvPicPr/>
              <p:nvPr/>
            </p:nvPicPr>
            <p:blipFill>
              <a:blip r:embed="rId6"/>
              <a:stretch>
                <a:fillRect/>
              </a:stretch>
            </p:blipFill>
            <p:spPr>
              <a:xfrm>
                <a:off x="3384415" y="2976425"/>
                <a:ext cx="1611000" cy="1896840"/>
              </a:xfrm>
              <a:prstGeom prst="rect">
                <a:avLst/>
              </a:prstGeom>
            </p:spPr>
          </p:pic>
        </mc:Fallback>
      </mc:AlternateContent>
      <p:sp>
        <p:nvSpPr>
          <p:cNvPr id="5" name="Footer Placeholder 4">
            <a:extLst>
              <a:ext uri="{FF2B5EF4-FFF2-40B4-BE49-F238E27FC236}">
                <a16:creationId xmlns:a16="http://schemas.microsoft.com/office/drawing/2014/main" id="{614E1CB8-2D4B-C745-9AD9-FC2982F77E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9F04B1-F373-8E19-3129-A3861E3941FF}"/>
              </a:ext>
            </a:extLst>
          </p:cNvPr>
          <p:cNvSpPr>
            <a:spLocks noGrp="1"/>
          </p:cNvSpPr>
          <p:nvPr>
            <p:ph type="sldNum" sz="quarter" idx="12"/>
          </p:nvPr>
        </p:nvSpPr>
        <p:spPr/>
        <p:txBody>
          <a:bodyPr/>
          <a:lstStyle/>
          <a:p>
            <a:fld id="{77C6A7FE-225D-49F1-B302-AA37EA92BB49}" type="slidenum">
              <a:rPr lang="en-US" smtClean="0"/>
              <a:t>51</a:t>
            </a:fld>
            <a:endParaRPr lang="en-US"/>
          </a:p>
        </p:txBody>
      </p:sp>
    </p:spTree>
    <p:extLst>
      <p:ext uri="{BB962C8B-B14F-4D97-AF65-F5344CB8AC3E}">
        <p14:creationId xmlns:p14="http://schemas.microsoft.com/office/powerpoint/2010/main" val="445005294"/>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8"/>
            <a:ext cx="12192000" cy="71075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i="1" dirty="0">
                <a:latin typeface="Arial" panose="020B0604020202020204" pitchFamily="34" charset="0"/>
                <a:cs typeface="Arial" panose="020B0604020202020204" pitchFamily="34" charset="0"/>
              </a:rPr>
              <a:t>Sample size formula for the relative risk</a:t>
            </a:r>
            <a:endParaRPr lang="en-US" sz="2800" dirty="0">
              <a:solidFill>
                <a:schemeClr val="bg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A3172F6-1433-4FB3-A4BA-44D09A021579}"/>
                  </a:ext>
                </a:extLst>
              </p:cNvPr>
              <p:cNvSpPr txBox="1"/>
              <p:nvPr/>
            </p:nvSpPr>
            <p:spPr>
              <a:xfrm>
                <a:off x="0" y="713048"/>
                <a:ext cx="12064999" cy="6150466"/>
              </a:xfrm>
              <a:prstGeom prst="rect">
                <a:avLst/>
              </a:prstGeom>
              <a:noFill/>
            </p:spPr>
            <p:txBody>
              <a:bodyPr wrap="square">
                <a:spAutoFit/>
              </a:bodyPr>
              <a:lstStyle/>
              <a:p>
                <a:pPr>
                  <a:spcAft>
                    <a:spcPts val="2400"/>
                  </a:spcAft>
                </a:pPr>
                <a:r>
                  <a:rPr lang="en-US" altLang="en-US" sz="2000" dirty="0">
                    <a:latin typeface="Arial" panose="020B0604020202020204" pitchFamily="34" charset="0"/>
                    <a:cs typeface="Arial" panose="020B0604020202020204" pitchFamily="34" charset="0"/>
                  </a:rPr>
                  <a:t>Define the value for the parameter of interest under the alternative, </a:t>
                </a:r>
                <a14:m>
                  <m:oMath xmlns:m="http://schemas.openxmlformats.org/officeDocument/2006/math">
                    <m:sSub>
                      <m:sSubPr>
                        <m:ctrlPr>
                          <a:rPr lang="en-US" altLang="en-US" sz="2000" i="1" smtClean="0">
                            <a:latin typeface="Cambria Math" panose="02040503050406030204" pitchFamily="18" charset="0"/>
                          </a:rPr>
                        </m:ctrlPr>
                      </m:sSubPr>
                      <m:e>
                        <m:sSup>
                          <m:sSupPr>
                            <m:ctrlPr>
                              <a:rPr lang="en-US" altLang="en-US" sz="2000" i="1">
                                <a:latin typeface="Cambria Math" panose="02040503050406030204" pitchFamily="18" charset="0"/>
                              </a:rPr>
                            </m:ctrlPr>
                          </m:sSupPr>
                          <m:e>
                            <m:r>
                              <a:rPr lang="en-US" altLang="en-US" sz="2000" i="1">
                                <a:latin typeface="Cambria Math" panose="02040503050406030204" pitchFamily="18" charset="0"/>
                                <a:ea typeface="Cambria Math" panose="02040503050406030204" pitchFamily="18" charset="0"/>
                              </a:rPr>
                              <m:t>𝛽</m:t>
                            </m:r>
                          </m:e>
                          <m:sup>
                            <m:r>
                              <a:rPr lang="en-US" altLang="en-US" sz="2000" i="1">
                                <a:latin typeface="Cambria Math" panose="02040503050406030204" pitchFamily="18" charset="0"/>
                                <a:ea typeface="Cambria Math" panose="02040503050406030204" pitchFamily="18" charset="0"/>
                              </a:rPr>
                              <m:t>∗</m:t>
                            </m:r>
                          </m:sup>
                        </m:sSup>
                      </m:e>
                      <m:sub>
                        <m:sSub>
                          <m:sSubPr>
                            <m:ctrlPr>
                              <a:rPr lang="en-US" altLang="en-US" sz="2000" i="1" smtClean="0">
                                <a:latin typeface="Cambria Math" panose="02040503050406030204" pitchFamily="18" charset="0"/>
                              </a:rPr>
                            </m:ctrlPr>
                          </m:sSubPr>
                          <m:e>
                            <m:r>
                              <a:rPr lang="en-US" altLang="en-US" sz="2000" b="0" i="1" smtClean="0">
                                <a:latin typeface="Cambria Math" panose="02040503050406030204" pitchFamily="18" charset="0"/>
                              </a:rPr>
                              <m:t>𝐻</m:t>
                            </m:r>
                          </m:e>
                          <m:sub>
                            <m:r>
                              <a:rPr lang="en-US" altLang="en-US" sz="2000" b="0" i="1" smtClean="0">
                                <a:latin typeface="Cambria Math" panose="02040503050406030204" pitchFamily="18" charset="0"/>
                              </a:rPr>
                              <m:t>𝐴</m:t>
                            </m:r>
                          </m:sub>
                        </m:sSub>
                      </m:sub>
                    </m:sSub>
                  </m:oMath>
                </a14:m>
                <a:r>
                  <a:rPr lang="en-US" altLang="en-US" sz="2000" dirty="0">
                    <a:latin typeface="Arial" panose="020B0604020202020204" pitchFamily="34" charset="0"/>
                    <a:cs typeface="Arial" panose="020B0604020202020204" pitchFamily="34" charset="0"/>
                  </a:rPr>
                  <a:t>, as </a:t>
                </a:r>
                <a14:m>
                  <m:oMath xmlns:m="http://schemas.openxmlformats.org/officeDocument/2006/math">
                    <m:sSub>
                      <m:sSubPr>
                        <m:ctrlPr>
                          <a:rPr lang="en-US" altLang="en-US" sz="2000" i="1">
                            <a:latin typeface="Cambria Math" panose="02040503050406030204" pitchFamily="18" charset="0"/>
                          </a:rPr>
                        </m:ctrlPr>
                      </m:sSubPr>
                      <m:e>
                        <m:sSup>
                          <m:sSupPr>
                            <m:ctrlPr>
                              <a:rPr lang="en-US" altLang="en-US" sz="2000" i="1">
                                <a:latin typeface="Cambria Math" panose="02040503050406030204" pitchFamily="18" charset="0"/>
                              </a:rPr>
                            </m:ctrlPr>
                          </m:sSupPr>
                          <m:e>
                            <m:r>
                              <a:rPr lang="en-US" altLang="en-US" sz="2000" i="1">
                                <a:latin typeface="Cambria Math" panose="02040503050406030204" pitchFamily="18" charset="0"/>
                                <a:ea typeface="Cambria Math" panose="02040503050406030204" pitchFamily="18" charset="0"/>
                              </a:rPr>
                              <m:t>𝛽</m:t>
                            </m:r>
                          </m:e>
                          <m:sup>
                            <m:r>
                              <a:rPr lang="en-US" altLang="en-US" sz="2000" i="1">
                                <a:latin typeface="Cambria Math" panose="02040503050406030204" pitchFamily="18" charset="0"/>
                                <a:ea typeface="Cambria Math" panose="02040503050406030204" pitchFamily="18" charset="0"/>
                              </a:rPr>
                              <m:t>∗</m:t>
                            </m:r>
                          </m:sup>
                        </m:sSup>
                      </m:e>
                      <m:sub>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𝐻</m:t>
                            </m:r>
                          </m:e>
                          <m:sub>
                            <m:r>
                              <a:rPr lang="en-US" altLang="en-US" sz="2000" i="1">
                                <a:latin typeface="Cambria Math" panose="02040503050406030204" pitchFamily="18" charset="0"/>
                              </a:rPr>
                              <m:t>𝐴</m:t>
                            </m:r>
                          </m:sub>
                        </m:sSub>
                      </m:sub>
                    </m:sSub>
                  </m:oMath>
                </a14:m>
                <a:r>
                  <a:rPr lang="en-US" altLang="en-US" sz="2000" dirty="0">
                    <a:latin typeface="Arial" panose="020B0604020202020204" pitchFamily="34" charset="0"/>
                    <a:ea typeface="Cambria Math" panose="02040503050406030204" pitchFamily="18" charset="0"/>
                    <a:cs typeface="Arial" panose="020B0604020202020204" pitchFamily="34" charset="0"/>
                  </a:rPr>
                  <a:t>= </a:t>
                </a:r>
                <a14:m>
                  <m:oMath xmlns:m="http://schemas.openxmlformats.org/officeDocument/2006/math">
                    <m:sSub>
                      <m:sSubPr>
                        <m:ctrlPr>
                          <a:rPr lang="en-US" altLang="en-US" sz="2000" i="1" dirty="0" smtClean="0">
                            <a:latin typeface="Cambria Math" panose="02040503050406030204" pitchFamily="18" charset="0"/>
                            <a:ea typeface="Cambria Math" panose="02040503050406030204" pitchFamily="18" charset="0"/>
                          </a:rPr>
                        </m:ctrlPr>
                      </m:sSubPr>
                      <m:e>
                        <m:r>
                          <a:rPr lang="en-US" altLang="en-US" sz="2000" b="0" i="1" dirty="0" smtClean="0">
                            <a:latin typeface="Cambria Math" panose="02040503050406030204" pitchFamily="18" charset="0"/>
                            <a:ea typeface="Cambria Math" panose="02040503050406030204" pitchFamily="18" charset="0"/>
                          </a:rPr>
                          <m:t>𝑝</m:t>
                        </m:r>
                      </m:e>
                      <m:sub>
                        <m:r>
                          <a:rPr lang="en-US" altLang="en-US" sz="2000" b="0" i="1" dirty="0" smtClean="0">
                            <a:latin typeface="Cambria Math" panose="02040503050406030204" pitchFamily="18" charset="0"/>
                            <a:ea typeface="Cambria Math" panose="02040503050406030204" pitchFamily="18" charset="0"/>
                          </a:rPr>
                          <m:t>2</m:t>
                        </m:r>
                      </m:sub>
                    </m:sSub>
                    <m:r>
                      <a:rPr lang="en-US" altLang="en-US" sz="2000" i="1" dirty="0">
                        <a:latin typeface="Cambria Math" panose="02040503050406030204" pitchFamily="18" charset="0"/>
                        <a:ea typeface="Cambria Math" panose="02040503050406030204" pitchFamily="18" charset="0"/>
                      </a:rPr>
                      <m:t>/</m:t>
                    </m:r>
                    <m:sSub>
                      <m:sSubPr>
                        <m:ctrlPr>
                          <a:rPr lang="en-US" altLang="en-US" sz="2000" i="1" dirty="0">
                            <a:latin typeface="Cambria Math" panose="02040503050406030204" pitchFamily="18" charset="0"/>
                            <a:ea typeface="Cambria Math" panose="02040503050406030204" pitchFamily="18" charset="0"/>
                          </a:rPr>
                        </m:ctrlPr>
                      </m:sSubPr>
                      <m:e>
                        <m:r>
                          <a:rPr lang="en-US" altLang="en-US" sz="2000" i="1" dirty="0">
                            <a:latin typeface="Cambria Math" panose="02040503050406030204" pitchFamily="18" charset="0"/>
                            <a:ea typeface="Cambria Math" panose="02040503050406030204" pitchFamily="18" charset="0"/>
                          </a:rPr>
                          <m:t>𝑝</m:t>
                        </m:r>
                      </m:e>
                      <m:sub>
                        <m:r>
                          <a:rPr lang="en-US" altLang="en-US" sz="2000" b="0" i="1" dirty="0" smtClean="0">
                            <a:latin typeface="Cambria Math" panose="02040503050406030204" pitchFamily="18" charset="0"/>
                            <a:ea typeface="Cambria Math" panose="02040503050406030204" pitchFamily="18" charset="0"/>
                          </a:rPr>
                          <m:t>1</m:t>
                        </m:r>
                      </m:sub>
                    </m:sSub>
                  </m:oMath>
                </a14:m>
                <a:r>
                  <a:rPr lang="en-US" altLang="en-US" sz="2000" dirty="0">
                    <a:latin typeface="Arial" panose="020B0604020202020204" pitchFamily="34" charset="0"/>
                    <a:cs typeface="Arial" panose="020B0604020202020204" pitchFamily="34" charset="0"/>
                  </a:rPr>
                  <a:t>, where </a:t>
                </a:r>
                <a14:m>
                  <m:oMath xmlns:m="http://schemas.openxmlformats.org/officeDocument/2006/math">
                    <m:r>
                      <a:rPr lang="en-US" altLang="en-US" sz="2000" i="1" dirty="0" smtClean="0">
                        <a:latin typeface="Cambria Math" panose="02040503050406030204" pitchFamily="18" charset="0"/>
                        <a:ea typeface="Cambria Math" panose="02040503050406030204" pitchFamily="18" charset="0"/>
                      </a:rPr>
                      <m:t>𝑅𝑅</m:t>
                    </m:r>
                  </m:oMath>
                </a14:m>
                <a:r>
                  <a:rPr lang="en-US" altLang="en-US" sz="2000" dirty="0">
                    <a:latin typeface="Arial" panose="020B0604020202020204" pitchFamily="34" charset="0"/>
                    <a:ea typeface="Cambria Math" panose="02040503050406030204" pitchFamily="18" charset="0"/>
                    <a:cs typeface="Arial" panose="020B0604020202020204" pitchFamily="34" charset="0"/>
                  </a:rPr>
                  <a:t>  is the relative risk a</a:t>
                </a:r>
                <a14:m>
                  <m:oMath xmlns:m="http://schemas.openxmlformats.org/officeDocument/2006/math">
                    <m:r>
                      <m:rPr>
                        <m:sty m:val="p"/>
                      </m:rPr>
                      <a:rPr lang="en-US" altLang="en-US" sz="2000" i="0">
                        <a:latin typeface="Cambria Math" panose="02040503050406030204" pitchFamily="18" charset="0"/>
                        <a:ea typeface="Cambria Math" panose="02040503050406030204" pitchFamily="18" charset="0"/>
                      </a:rPr>
                      <m:t>ssumed</m:t>
                    </m:r>
                    <m:r>
                      <a:rPr lang="en-US" altLang="en-US" sz="2000" i="0">
                        <a:latin typeface="Cambria Math" panose="02040503050406030204" pitchFamily="18" charset="0"/>
                        <a:ea typeface="Cambria Math" panose="02040503050406030204" pitchFamily="18" charset="0"/>
                      </a:rPr>
                      <m:t> </m:t>
                    </m:r>
                    <m:r>
                      <m:rPr>
                        <m:sty m:val="p"/>
                      </m:rPr>
                      <a:rPr lang="en-US" altLang="en-US" sz="2000" i="0">
                        <a:latin typeface="Cambria Math" panose="02040503050406030204" pitchFamily="18" charset="0"/>
                        <a:ea typeface="Cambria Math" panose="02040503050406030204" pitchFamily="18" charset="0"/>
                      </a:rPr>
                      <m:t>under</m:t>
                    </m:r>
                  </m:oMath>
                </a14:m>
                <a:r>
                  <a:rPr lang="en-US" altLang="en-US" sz="2000" dirty="0">
                    <a:latin typeface="Arial" panose="020B0604020202020204" pitchFamily="34" charset="0"/>
                    <a:cs typeface="Arial" panose="020B0604020202020204" pitchFamily="34" charset="0"/>
                  </a:rPr>
                  <a:t> </a:t>
                </a:r>
                <a14:m>
                  <m:oMath xmlns:m="http://schemas.openxmlformats.org/officeDocument/2006/math">
                    <m:sSub>
                      <m:sSubPr>
                        <m:ctrlPr>
                          <a:rPr lang="en-US" altLang="en-US" sz="2000" i="1" smtClean="0">
                            <a:latin typeface="Cambria Math" panose="02040503050406030204" pitchFamily="18" charset="0"/>
                            <a:ea typeface="Cambria Math" panose="02040503050406030204" pitchFamily="18" charset="0"/>
                          </a:rPr>
                        </m:ctrlPr>
                      </m:sSubPr>
                      <m:e>
                        <m:r>
                          <a:rPr lang="en-US" altLang="en-US" sz="2000" b="0" i="1" smtClean="0">
                            <a:latin typeface="Cambria Math" panose="02040503050406030204" pitchFamily="18" charset="0"/>
                            <a:ea typeface="Cambria Math" panose="02040503050406030204" pitchFamily="18" charset="0"/>
                          </a:rPr>
                          <m:t>𝐻</m:t>
                        </m:r>
                      </m:e>
                      <m:sub>
                        <m:r>
                          <a:rPr lang="en-US" altLang="en-US" sz="2000" b="0" i="1" smtClean="0">
                            <a:latin typeface="Cambria Math" panose="02040503050406030204" pitchFamily="18" charset="0"/>
                            <a:ea typeface="Cambria Math" panose="02040503050406030204" pitchFamily="18" charset="0"/>
                          </a:rPr>
                          <m:t>𝐴</m:t>
                        </m:r>
                      </m:sub>
                    </m:sSub>
                  </m:oMath>
                </a14:m>
                <a:endParaRPr lang="en-US" altLang="en-US" sz="2000" dirty="0">
                  <a:latin typeface="Arial" panose="020B0604020202020204" pitchFamily="34" charset="0"/>
                  <a:cs typeface="Arial" panose="020B0604020202020204" pitchFamily="34" charset="0"/>
                </a:endParaRPr>
              </a:p>
              <a:p>
                <a:pPr>
                  <a:spcAft>
                    <a:spcPts val="2400"/>
                  </a:spcAft>
                </a:pPr>
                <a:r>
                  <a:rPr lang="en-US" altLang="en-US" sz="2000" dirty="0">
                    <a:latin typeface="Arial" pitchFamily="34" charset="0"/>
                  </a:rPr>
                  <a:t>The number of participants required per group for fixed </a:t>
                </a:r>
                <a14:m>
                  <m:oMath xmlns:m="http://schemas.openxmlformats.org/officeDocument/2006/math">
                    <m:r>
                      <a:rPr lang="en-US" altLang="en-US" sz="2000" i="1" dirty="0" smtClean="0">
                        <a:latin typeface="Cambria Math" panose="02040503050406030204" pitchFamily="18" charset="0"/>
                        <a:ea typeface="Cambria Math" panose="02040503050406030204" pitchFamily="18" charset="0"/>
                      </a:rPr>
                      <m:t>𝐾</m:t>
                    </m:r>
                  </m:oMath>
                </a14:m>
                <a:r>
                  <a:rPr lang="en-US" altLang="en-US" sz="2000" dirty="0">
                    <a:latin typeface="Arial" pitchFamily="34" charset="0"/>
                  </a:rPr>
                  <a:t> to test </a:t>
                </a:r>
                <a:r>
                  <a:rPr lang="en-US" altLang="en-US" sz="2000" dirty="0">
                    <a:latin typeface="Cambria Math" panose="02040503050406030204" pitchFamily="18" charset="0"/>
                    <a:ea typeface="Cambria Math" panose="02040503050406030204" pitchFamily="18" charset="0"/>
                  </a:rPr>
                  <a:t>H</a:t>
                </a:r>
                <a:r>
                  <a:rPr lang="en-US" altLang="en-US" sz="2000" baseline="-25000" dirty="0">
                    <a:latin typeface="Cambria Math" panose="02040503050406030204" pitchFamily="18" charset="0"/>
                    <a:ea typeface="Cambria Math" panose="02040503050406030204" pitchFamily="18" charset="0"/>
                  </a:rPr>
                  <a:t>0</a:t>
                </a:r>
                <a:r>
                  <a:rPr lang="en-US" altLang="en-US" sz="2000" dirty="0">
                    <a:latin typeface="Cambria Math" panose="02040503050406030204" pitchFamily="18" charset="0"/>
                    <a:ea typeface="Cambria Math" panose="02040503050406030204" pitchFamily="18" charset="0"/>
                  </a:rPr>
                  <a:t>: </a:t>
                </a:r>
                <a:r>
                  <a:rPr lang="en-US" altLang="en-US" sz="2000" i="1" dirty="0">
                    <a:latin typeface="Cambria Math" panose="02040503050406030204" pitchFamily="18" charset="0"/>
                    <a:ea typeface="Cambria Math" panose="02040503050406030204" pitchFamily="18" charset="0"/>
                  </a:rPr>
                  <a:t>RR</a:t>
                </a:r>
                <a:r>
                  <a:rPr lang="en-US" altLang="en-US" sz="2000" dirty="0">
                    <a:latin typeface="Cambria Math" panose="02040503050406030204" pitchFamily="18" charset="0"/>
                    <a:ea typeface="Cambria Math" panose="02040503050406030204" pitchFamily="18" charset="0"/>
                  </a:rPr>
                  <a:t> = 1 </a:t>
                </a:r>
                <a:r>
                  <a:rPr lang="en-US" altLang="en-US" sz="2000" dirty="0">
                    <a:latin typeface="Arial" pitchFamily="34" charset="0"/>
                  </a:rPr>
                  <a:t>is obtained from the classic test for the difference between two proportions: </a:t>
                </a:r>
              </a:p>
              <a:p>
                <a:pPr>
                  <a:spcAft>
                    <a:spcPts val="2400"/>
                  </a:spcAft>
                </a:pPr>
                <a14:m>
                  <m:oMathPara xmlns:m="http://schemas.openxmlformats.org/officeDocument/2006/math">
                    <m:oMathParaPr>
                      <m:jc m:val="centerGroup"/>
                    </m:oMathParaPr>
                    <m:oMath xmlns:m="http://schemas.openxmlformats.org/officeDocument/2006/math">
                      <m:sSub>
                        <m:sSubPr>
                          <m:ctrlPr>
                            <a:rPr lang="en-US" altLang="en-US" i="1">
                              <a:latin typeface="Cambria Math" panose="02040503050406030204" pitchFamily="18" charset="0"/>
                              <a:sym typeface="Wingdings" pitchFamily="2" charset="2"/>
                            </a:rPr>
                          </m:ctrlPr>
                        </m:sSubPr>
                        <m:e>
                          <m:r>
                            <a:rPr lang="en-US" altLang="en-US" i="1">
                              <a:latin typeface="Cambria Math" panose="02040503050406030204" pitchFamily="18" charset="0"/>
                              <a:sym typeface="Wingdings" pitchFamily="2" charset="2"/>
                            </a:rPr>
                            <m:t>𝑛</m:t>
                          </m:r>
                        </m:e>
                        <m:sub>
                          <m:r>
                            <a:rPr lang="en-US" altLang="en-US" b="0" i="1" smtClean="0">
                              <a:latin typeface="Cambria Math" panose="02040503050406030204" pitchFamily="18" charset="0"/>
                              <a:sym typeface="Wingdings" pitchFamily="2" charset="2"/>
                            </a:rPr>
                            <m:t>𝑖</m:t>
                          </m:r>
                        </m:sub>
                      </m:sSub>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𝐾𝑚</m:t>
                      </m:r>
                      <m:r>
                        <a:rPr lang="en-US" i="1" smtClean="0">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p>
                            <m:sSupPr>
                              <m:ctrlPr>
                                <a:rPr lang="en-US" i="1">
                                  <a:solidFill>
                                    <a:srgbClr val="000000"/>
                                  </a:solidFill>
                                  <a:latin typeface="Cambria Math" panose="02040503050406030204" pitchFamily="18" charset="0"/>
                                </a:rPr>
                              </m:ctrlPr>
                            </m:sSupPr>
                            <m:e>
                              <m:d>
                                <m:dPr>
                                  <m:ctrlPr>
                                    <a:rPr lang="en-US" i="1">
                                      <a:solidFill>
                                        <a:srgbClr val="000000"/>
                                      </a:solidFill>
                                      <a:latin typeface="Cambria Math" panose="02040503050406030204" pitchFamily="18" charset="0"/>
                                    </a:rPr>
                                  </m:ctrlPr>
                                </m:d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𝑍</m:t>
                                      </m:r>
                                    </m:e>
                                    <m:sub>
                                      <m:f>
                                        <m:fPr>
                                          <m:type m:val="lin"/>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𝛼</m:t>
                                          </m:r>
                                        </m:num>
                                        <m:den>
                                          <m:r>
                                            <a:rPr lang="en-US" i="1">
                                              <a:solidFill>
                                                <a:srgbClr val="000000"/>
                                              </a:solidFill>
                                              <a:latin typeface="Cambria Math" panose="02040503050406030204" pitchFamily="18" charset="0"/>
                                            </a:rPr>
                                            <m:t>2</m:t>
                                          </m:r>
                                        </m:den>
                                      </m:f>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𝑍</m:t>
                                      </m:r>
                                    </m:e>
                                    <m:sub>
                                      <m:r>
                                        <a:rPr lang="en-US" i="1">
                                          <a:solidFill>
                                            <a:srgbClr val="000000"/>
                                          </a:solidFill>
                                          <a:latin typeface="Cambria Math" panose="02040503050406030204" pitchFamily="18" charset="0"/>
                                        </a:rPr>
                                        <m:t>𝛽</m:t>
                                      </m:r>
                                    </m:sub>
                                  </m:sSub>
                                </m:e>
                              </m:d>
                            </m:e>
                            <m:sup>
                              <m:r>
                                <a:rPr lang="en-US" i="1">
                                  <a:solidFill>
                                    <a:srgbClr val="000000"/>
                                  </a:solidFill>
                                  <a:latin typeface="Cambria Math" panose="02040503050406030204" pitchFamily="18" charset="0"/>
                                </a:rPr>
                                <m:t>2</m:t>
                              </m:r>
                            </m:sup>
                          </m:sSup>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𝑅</m:t>
                              </m:r>
                              <m:r>
                                <a:rPr lang="en-US" b="0" i="1" smtClean="0">
                                  <a:solidFill>
                                    <a:srgbClr val="000000"/>
                                  </a:solidFill>
                                  <a:latin typeface="Cambria Math" panose="02040503050406030204" pitchFamily="18" charset="0"/>
                                </a:rPr>
                                <m:t>𝑅</m:t>
                              </m:r>
                              <m:sSub>
                                <m:sSubPr>
                                  <m:ctrlPr>
                                    <a:rPr lang="en-US" i="1">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𝑝</m:t>
                                  </m:r>
                                </m:e>
                                <m:sub>
                                  <m:r>
                                    <a:rPr lang="en-US" b="0" i="1" smtClean="0">
                                      <a:solidFill>
                                        <a:srgbClr val="000000"/>
                                      </a:solidFill>
                                      <a:latin typeface="Cambria Math" panose="02040503050406030204" pitchFamily="18" charset="0"/>
                                    </a:rPr>
                                    <m:t>1</m:t>
                                  </m:r>
                                </m:sub>
                              </m:sSub>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𝑅𝑅</m:t>
                                  </m:r>
                                  <m:sSub>
                                    <m:sSubPr>
                                      <m:ctrlPr>
                                        <a:rPr lang="en-US" i="1">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𝑝</m:t>
                                      </m:r>
                                    </m:e>
                                    <m:sub>
                                      <m:r>
                                        <a:rPr lang="en-US" b="0" i="1" smtClean="0">
                                          <a:solidFill>
                                            <a:srgbClr val="000000"/>
                                          </a:solidFill>
                                          <a:latin typeface="Cambria Math" panose="02040503050406030204" pitchFamily="18" charset="0"/>
                                        </a:rPr>
                                        <m:t>1</m:t>
                                      </m:r>
                                    </m:sub>
                                  </m:sSub>
                                </m:e>
                              </m:d>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𝑝</m:t>
                                  </m:r>
                                </m:e>
                                <m:sub>
                                  <m:r>
                                    <a:rPr lang="en-US" b="0" i="1" smtClean="0">
                                      <a:solidFill>
                                        <a:srgbClr val="000000"/>
                                      </a:solidFill>
                                      <a:latin typeface="Cambria Math" panose="02040503050406030204" pitchFamily="18" charset="0"/>
                                    </a:rPr>
                                    <m:t>1</m:t>
                                  </m:r>
                                </m:sub>
                              </m:sSub>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1−</m:t>
                                  </m:r>
                                  <m:sSub>
                                    <m:sSubPr>
                                      <m:ctrlPr>
                                        <a:rPr lang="en-US" i="1">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𝑝</m:t>
                                      </m:r>
                                    </m:e>
                                    <m:sub>
                                      <m:r>
                                        <a:rPr lang="en-US" b="0" i="1" smtClean="0">
                                          <a:solidFill>
                                            <a:srgbClr val="000000"/>
                                          </a:solidFill>
                                          <a:latin typeface="Cambria Math" panose="02040503050406030204" pitchFamily="18" charset="0"/>
                                        </a:rPr>
                                        <m:t>1</m:t>
                                      </m:r>
                                    </m:sub>
                                  </m:sSub>
                                </m:e>
                              </m:d>
                            </m:e>
                          </m:d>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1+</m:t>
                              </m:r>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𝑚</m:t>
                                  </m:r>
                                  <m:r>
                                    <a:rPr lang="en-US" i="1">
                                      <a:solidFill>
                                        <a:srgbClr val="000000"/>
                                      </a:solidFill>
                                      <a:latin typeface="Cambria Math" panose="02040503050406030204" pitchFamily="18" charset="0"/>
                                    </a:rPr>
                                    <m:t>−1</m:t>
                                  </m:r>
                                </m:e>
                              </m:d>
                              <m:r>
                                <a:rPr lang="en-US" i="1">
                                  <a:solidFill>
                                    <a:srgbClr val="000000"/>
                                  </a:solidFill>
                                  <a:latin typeface="Cambria Math" panose="02040503050406030204" pitchFamily="18" charset="0"/>
                                </a:rPr>
                                <m:t>𝜌</m:t>
                              </m:r>
                            </m:e>
                          </m:d>
                        </m:num>
                        <m:den>
                          <m:sSubSup>
                            <m:sSubSupPr>
                              <m:ctrlPr>
                                <a:rPr lang="en-US" i="1">
                                  <a:solidFill>
                                    <a:srgbClr val="000000"/>
                                  </a:solidFill>
                                  <a:latin typeface="Cambria Math" panose="02040503050406030204" pitchFamily="18" charset="0"/>
                                </a:rPr>
                              </m:ctrlPr>
                            </m:sSubSupPr>
                            <m:e>
                              <m:r>
                                <a:rPr lang="en-US" b="0" i="1" smtClean="0">
                                  <a:solidFill>
                                    <a:srgbClr val="000000"/>
                                  </a:solidFill>
                                  <a:latin typeface="Cambria Math" panose="02040503050406030204" pitchFamily="18" charset="0"/>
                                </a:rPr>
                                <m:t>𝑝</m:t>
                              </m:r>
                            </m:e>
                            <m:sub>
                              <m:r>
                                <a:rPr lang="en-US" b="0" i="1" smtClean="0">
                                  <a:solidFill>
                                    <a:srgbClr val="000000"/>
                                  </a:solidFill>
                                  <a:latin typeface="Cambria Math" panose="02040503050406030204" pitchFamily="18" charset="0"/>
                                </a:rPr>
                                <m:t>1</m:t>
                              </m:r>
                            </m:sub>
                            <m:sup>
                              <m:r>
                                <a:rPr lang="en-US" i="1">
                                  <a:solidFill>
                                    <a:srgbClr val="000000"/>
                                  </a:solidFill>
                                  <a:latin typeface="Cambria Math" panose="02040503050406030204" pitchFamily="18" charset="0"/>
                                </a:rPr>
                                <m:t>2</m:t>
                              </m:r>
                            </m:sup>
                          </m:sSubSup>
                          <m:sSup>
                            <m:sSupPr>
                              <m:ctrlPr>
                                <a:rPr lang="en-US" i="1">
                                  <a:solidFill>
                                    <a:srgbClr val="000000"/>
                                  </a:solidFill>
                                  <a:latin typeface="Cambria Math" panose="02040503050406030204" pitchFamily="18" charset="0"/>
                                </a:rPr>
                              </m:ctrlPr>
                            </m:sSupPr>
                            <m:e>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𝑅</m:t>
                                  </m:r>
                                  <m:r>
                                    <a:rPr lang="en-US" b="0" i="1" smtClean="0">
                                      <a:solidFill>
                                        <a:srgbClr val="000000"/>
                                      </a:solidFill>
                                      <a:latin typeface="Cambria Math" panose="02040503050406030204" pitchFamily="18" charset="0"/>
                                    </a:rPr>
                                    <m:t>𝑅</m:t>
                                  </m:r>
                                  <m:r>
                                    <a:rPr lang="en-US" i="1">
                                      <a:solidFill>
                                        <a:srgbClr val="000000"/>
                                      </a:solidFill>
                                      <a:latin typeface="Cambria Math" panose="02040503050406030204" pitchFamily="18" charset="0"/>
                                    </a:rPr>
                                    <m:t>−1</m:t>
                                  </m:r>
                                </m:e>
                              </m:d>
                            </m:e>
                            <m:sup>
                              <m:r>
                                <a:rPr lang="en-US" i="1">
                                  <a:solidFill>
                                    <a:srgbClr val="000000"/>
                                  </a:solidFill>
                                  <a:latin typeface="Cambria Math" panose="02040503050406030204" pitchFamily="18" charset="0"/>
                                </a:rPr>
                                <m:t>2</m:t>
                              </m:r>
                            </m:sup>
                          </m:sSup>
                        </m:den>
                      </m:f>
                    </m:oMath>
                  </m:oMathPara>
                </a14:m>
                <a:endParaRPr lang="en-US" altLang="en-US" dirty="0">
                  <a:latin typeface="Arial" pitchFamily="34" charset="0"/>
                </a:endParaRPr>
              </a:p>
              <a:p>
                <a:pPr>
                  <a:spcAft>
                    <a:spcPts val="2400"/>
                  </a:spcAft>
                </a:pPr>
                <a:r>
                  <a:rPr lang="en-US" altLang="en-US" sz="2400" dirty="0">
                    <a:latin typeface="Arial" pitchFamily="34" charset="0"/>
                  </a:rPr>
                  <a:t>If </a:t>
                </a:r>
                <a:r>
                  <a:rPr lang="en-US" altLang="en-US" sz="2400" i="1" dirty="0">
                    <a:latin typeface="Cambria Math" panose="02040503050406030204" pitchFamily="18" charset="0"/>
                    <a:ea typeface="Cambria Math" panose="02040503050406030204" pitchFamily="18" charset="0"/>
                  </a:rPr>
                  <a:t>K</a:t>
                </a:r>
                <a:r>
                  <a:rPr lang="en-US" altLang="en-US" sz="2400" dirty="0">
                    <a:latin typeface="Arial" pitchFamily="34" charset="0"/>
                  </a:rPr>
                  <a:t> is fixed, then </a:t>
                </a:r>
                <a14:m>
                  <m:oMath xmlns:m="http://schemas.openxmlformats.org/officeDocument/2006/math">
                    <m:r>
                      <a:rPr lang="en-US" sz="2400" b="0" i="1" smtClean="0">
                        <a:solidFill>
                          <a:srgbClr val="000000"/>
                        </a:solidFill>
                        <a:highlight>
                          <a:srgbClr val="FFFF00"/>
                        </a:highlight>
                        <a:latin typeface="Cambria Math" panose="02040503050406030204" pitchFamily="18" charset="0"/>
                      </a:rPr>
                      <m:t>𝑚</m:t>
                    </m:r>
                    <m:r>
                      <a:rPr lang="en-US" sz="2400" i="1" smtClean="0">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sSup>
                          <m:sSupPr>
                            <m:ctrlPr>
                              <a:rPr lang="en-US" sz="2400" i="1">
                                <a:solidFill>
                                  <a:srgbClr val="000000"/>
                                </a:solidFill>
                                <a:latin typeface="Cambria Math" panose="02040503050406030204" pitchFamily="18" charset="0"/>
                              </a:rPr>
                            </m:ctrlPr>
                          </m:sSupPr>
                          <m:e>
                            <m:d>
                              <m:dPr>
                                <m:ctrlPr>
                                  <a:rPr lang="en-US" sz="2400" i="1">
                                    <a:solidFill>
                                      <a:srgbClr val="000000"/>
                                    </a:solidFill>
                                    <a:latin typeface="Cambria Math" panose="02040503050406030204" pitchFamily="18" charset="0"/>
                                  </a:rPr>
                                </m:ctrlPr>
                              </m:dPr>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𝑍</m:t>
                                    </m:r>
                                  </m:e>
                                  <m:sub>
                                    <m:f>
                                      <m:fPr>
                                        <m:type m:val="lin"/>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𝛼</m:t>
                                        </m:r>
                                      </m:num>
                                      <m:den>
                                        <m:r>
                                          <a:rPr lang="en-US" sz="2400" i="1">
                                            <a:solidFill>
                                              <a:srgbClr val="000000"/>
                                            </a:solidFill>
                                            <a:latin typeface="Cambria Math" panose="02040503050406030204" pitchFamily="18" charset="0"/>
                                          </a:rPr>
                                          <m:t>2</m:t>
                                        </m:r>
                                      </m:den>
                                    </m:f>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𝑍</m:t>
                                    </m:r>
                                  </m:e>
                                  <m:sub>
                                    <m:r>
                                      <a:rPr lang="en-US" sz="2400" i="1">
                                        <a:solidFill>
                                          <a:srgbClr val="000000"/>
                                        </a:solidFill>
                                        <a:latin typeface="Cambria Math" panose="02040503050406030204" pitchFamily="18" charset="0"/>
                                      </a:rPr>
                                      <m:t>𝛽</m:t>
                                    </m:r>
                                  </m:sub>
                                </m:sSub>
                              </m:e>
                            </m:d>
                          </m:e>
                          <m:sup>
                            <m:r>
                              <a:rPr lang="en-US" sz="2400" i="1">
                                <a:solidFill>
                                  <a:srgbClr val="000000"/>
                                </a:solidFill>
                                <a:latin typeface="Cambria Math" panose="02040503050406030204" pitchFamily="18" charset="0"/>
                              </a:rPr>
                              <m:t>2</m:t>
                            </m:r>
                          </m:sup>
                        </m:sSup>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𝑅</m:t>
                            </m:r>
                            <m:sSub>
                              <m:sSubPr>
                                <m:ctrlPr>
                                  <a:rPr lang="en-US" sz="2400" i="1">
                                    <a:solidFill>
                                      <a:srgbClr val="000000"/>
                                    </a:solidFill>
                                    <a:latin typeface="Cambria Math" panose="02040503050406030204" pitchFamily="18" charset="0"/>
                                  </a:rPr>
                                </m:ctrlPr>
                              </m:sSubPr>
                              <m:e>
                                <m:r>
                                  <a:rPr lang="en-US" sz="2400" b="0" i="1" smtClean="0">
                                    <a:solidFill>
                                      <a:srgbClr val="000000"/>
                                    </a:solidFill>
                                    <a:latin typeface="Cambria Math" panose="02040503050406030204" pitchFamily="18" charset="0"/>
                                  </a:rPr>
                                  <m:t>𝑅𝑝</m:t>
                                </m:r>
                              </m:e>
                              <m:sub>
                                <m:r>
                                  <a:rPr lang="en-US" sz="2400" b="0" i="1" smtClean="0">
                                    <a:solidFill>
                                      <a:srgbClr val="000000"/>
                                    </a:solidFill>
                                    <a:latin typeface="Cambria Math" panose="02040503050406030204" pitchFamily="18" charset="0"/>
                                  </a:rPr>
                                  <m:t>1</m:t>
                                </m:r>
                              </m:sub>
                            </m:sSub>
                            <m:d>
                              <m:dPr>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1−</m:t>
                                </m:r>
                                <m:r>
                                  <a:rPr lang="en-US" sz="2400" i="1">
                                    <a:solidFill>
                                      <a:srgbClr val="000000"/>
                                    </a:solidFill>
                                    <a:latin typeface="Cambria Math" panose="02040503050406030204" pitchFamily="18" charset="0"/>
                                  </a:rPr>
                                  <m:t>𝑅𝑅</m:t>
                                </m:r>
                                <m:sSub>
                                  <m:sSubPr>
                                    <m:ctrlPr>
                                      <a:rPr lang="en-US" sz="2400" i="1">
                                        <a:solidFill>
                                          <a:srgbClr val="000000"/>
                                        </a:solidFill>
                                        <a:latin typeface="Cambria Math" panose="02040503050406030204" pitchFamily="18" charset="0"/>
                                      </a:rPr>
                                    </m:ctrlPr>
                                  </m:sSubPr>
                                  <m:e>
                                    <m:r>
                                      <a:rPr lang="en-US" sz="2400" b="0" i="1" smtClean="0">
                                        <a:solidFill>
                                          <a:srgbClr val="000000"/>
                                        </a:solidFill>
                                        <a:latin typeface="Cambria Math" panose="02040503050406030204" pitchFamily="18" charset="0"/>
                                      </a:rPr>
                                      <m:t>𝑝</m:t>
                                    </m:r>
                                  </m:e>
                                  <m:sub>
                                    <m:r>
                                      <a:rPr lang="en-US" sz="2400" b="0" i="1" smtClean="0">
                                        <a:solidFill>
                                          <a:srgbClr val="000000"/>
                                        </a:solidFill>
                                        <a:latin typeface="Cambria Math" panose="02040503050406030204" pitchFamily="18" charset="0"/>
                                      </a:rPr>
                                      <m:t>1</m:t>
                                    </m:r>
                                  </m:sub>
                                </m:sSub>
                              </m:e>
                            </m:d>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b="0" i="1" smtClean="0">
                                    <a:solidFill>
                                      <a:srgbClr val="000000"/>
                                    </a:solidFill>
                                    <a:latin typeface="Cambria Math" panose="02040503050406030204" pitchFamily="18" charset="0"/>
                                  </a:rPr>
                                  <m:t>𝑝</m:t>
                                </m:r>
                              </m:e>
                              <m:sub>
                                <m:r>
                                  <a:rPr lang="en-US" sz="2400" b="0" i="1" smtClean="0">
                                    <a:solidFill>
                                      <a:srgbClr val="000000"/>
                                    </a:solidFill>
                                    <a:latin typeface="Cambria Math" panose="02040503050406030204" pitchFamily="18" charset="0"/>
                                  </a:rPr>
                                  <m:t>1</m:t>
                                </m:r>
                              </m:sub>
                            </m:sSub>
                            <m:d>
                              <m:dPr>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1−</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𝑝</m:t>
                                    </m:r>
                                  </m:e>
                                  <m:sub>
                                    <m:r>
                                      <a:rPr lang="en-US" sz="2400" i="1">
                                        <a:solidFill>
                                          <a:srgbClr val="000000"/>
                                        </a:solidFill>
                                        <a:latin typeface="Cambria Math" panose="02040503050406030204" pitchFamily="18" charset="0"/>
                                      </a:rPr>
                                      <m:t>1</m:t>
                                    </m:r>
                                  </m:sub>
                                </m:sSub>
                              </m:e>
                            </m:d>
                          </m:e>
                        </m:d>
                        <m:d>
                          <m:dPr>
                            <m:begChr m:val="["/>
                            <m:endChr m:val="]"/>
                            <m:ctrlPr>
                              <a:rPr lang="en-US" sz="2400" i="1">
                                <a:solidFill>
                                  <a:srgbClr val="000000"/>
                                </a:solidFill>
                                <a:latin typeface="Cambria Math" panose="02040503050406030204" pitchFamily="18" charset="0"/>
                              </a:rPr>
                            </m:ctrlPr>
                          </m:dPr>
                          <m:e>
                            <m:r>
                              <a:rPr lang="en-US" sz="2400" i="1" smtClean="0">
                                <a:solidFill>
                                  <a:srgbClr val="000000"/>
                                </a:solidFill>
                                <a:latin typeface="Cambria Math" panose="02040503050406030204" pitchFamily="18" charset="0"/>
                              </a:rPr>
                              <m:t>1+</m:t>
                            </m:r>
                            <m:d>
                              <m:dPr>
                                <m:ctrlPr>
                                  <a:rPr lang="en-US" sz="2400" i="1" smtClean="0">
                                    <a:solidFill>
                                      <a:srgbClr val="000000"/>
                                    </a:solidFill>
                                    <a:latin typeface="Cambria Math" panose="02040503050406030204" pitchFamily="18" charset="0"/>
                                  </a:rPr>
                                </m:ctrlPr>
                              </m:dPr>
                              <m:e>
                                <m:r>
                                  <a:rPr lang="en-US" sz="2400" i="1" smtClean="0">
                                    <a:solidFill>
                                      <a:srgbClr val="000000"/>
                                    </a:solidFill>
                                    <a:highlight>
                                      <a:srgbClr val="FFFF00"/>
                                    </a:highlight>
                                    <a:latin typeface="Cambria Math" panose="02040503050406030204" pitchFamily="18" charset="0"/>
                                  </a:rPr>
                                  <m:t>𝑚</m:t>
                                </m:r>
                                <m:r>
                                  <a:rPr lang="en-US" sz="240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1</m:t>
                                </m:r>
                              </m:e>
                            </m:d>
                            <m:r>
                              <a:rPr lang="en-US" sz="2400" i="1">
                                <a:solidFill>
                                  <a:srgbClr val="000000"/>
                                </a:solidFill>
                                <a:latin typeface="Cambria Math" panose="02040503050406030204" pitchFamily="18" charset="0"/>
                              </a:rPr>
                              <m:t>𝜌</m:t>
                            </m:r>
                          </m:e>
                        </m:d>
                      </m:num>
                      <m:den>
                        <m:r>
                          <a:rPr lang="en-US" sz="2400" b="0" i="1" smtClean="0">
                            <a:solidFill>
                              <a:srgbClr val="000000"/>
                            </a:solidFill>
                            <a:latin typeface="Cambria Math" panose="02040503050406030204" pitchFamily="18" charset="0"/>
                          </a:rPr>
                          <m:t>𝐾</m:t>
                        </m:r>
                        <m:sSubSup>
                          <m:sSubSupPr>
                            <m:ctrlPr>
                              <a:rPr lang="en-US" sz="2400" i="1">
                                <a:solidFill>
                                  <a:srgbClr val="000000"/>
                                </a:solidFill>
                                <a:latin typeface="Cambria Math" panose="02040503050406030204" pitchFamily="18" charset="0"/>
                              </a:rPr>
                            </m:ctrlPr>
                          </m:sSubSupPr>
                          <m:e>
                            <m:r>
                              <a:rPr lang="en-US" sz="2400" b="0" i="1" smtClean="0">
                                <a:solidFill>
                                  <a:srgbClr val="000000"/>
                                </a:solidFill>
                                <a:latin typeface="Cambria Math" panose="02040503050406030204" pitchFamily="18" charset="0"/>
                              </a:rPr>
                              <m:t>𝑝</m:t>
                            </m:r>
                          </m:e>
                          <m:sub>
                            <m:r>
                              <a:rPr lang="en-US" sz="2400" b="0" i="1" smtClean="0">
                                <a:solidFill>
                                  <a:srgbClr val="000000"/>
                                </a:solidFill>
                                <a:latin typeface="Cambria Math" panose="02040503050406030204" pitchFamily="18" charset="0"/>
                              </a:rPr>
                              <m:t>1</m:t>
                            </m:r>
                          </m:sub>
                          <m:sup>
                            <m:r>
                              <a:rPr lang="en-US" sz="2400" i="1">
                                <a:solidFill>
                                  <a:srgbClr val="000000"/>
                                </a:solidFill>
                                <a:latin typeface="Cambria Math" panose="02040503050406030204" pitchFamily="18" charset="0"/>
                              </a:rPr>
                              <m:t>2</m:t>
                            </m:r>
                          </m:sup>
                        </m:sSubSup>
                        <m:sSup>
                          <m:sSupPr>
                            <m:ctrlPr>
                              <a:rPr lang="en-US" sz="2400" i="1">
                                <a:solidFill>
                                  <a:srgbClr val="000000"/>
                                </a:solidFill>
                                <a:latin typeface="Cambria Math" panose="02040503050406030204" pitchFamily="18" charset="0"/>
                              </a:rPr>
                            </m:ctrlPr>
                          </m:sSupPr>
                          <m:e>
                            <m:d>
                              <m:dPr>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𝑅</m:t>
                                </m:r>
                                <m:r>
                                  <a:rPr lang="en-US" sz="2400" b="0" i="1" smtClean="0">
                                    <a:solidFill>
                                      <a:srgbClr val="000000"/>
                                    </a:solidFill>
                                    <a:latin typeface="Cambria Math" panose="02040503050406030204" pitchFamily="18" charset="0"/>
                                  </a:rPr>
                                  <m:t>𝑅</m:t>
                                </m:r>
                                <m:r>
                                  <a:rPr lang="en-US" sz="2400" i="1">
                                    <a:solidFill>
                                      <a:srgbClr val="000000"/>
                                    </a:solidFill>
                                    <a:latin typeface="Cambria Math" panose="02040503050406030204" pitchFamily="18" charset="0"/>
                                  </a:rPr>
                                  <m:t>−1</m:t>
                                </m:r>
                              </m:e>
                            </m:d>
                          </m:e>
                          <m:sup>
                            <m:r>
                              <a:rPr lang="en-US" sz="2400" i="1">
                                <a:solidFill>
                                  <a:srgbClr val="000000"/>
                                </a:solidFill>
                                <a:latin typeface="Cambria Math" panose="02040503050406030204" pitchFamily="18" charset="0"/>
                              </a:rPr>
                              <m:t>2</m:t>
                            </m:r>
                          </m:sup>
                        </m:sSup>
                      </m:den>
                    </m:f>
                  </m:oMath>
                </a14:m>
                <a:endParaRPr lang="en-US" altLang="en-US" sz="2400" dirty="0">
                  <a:latin typeface="Arial" pitchFamily="34" charset="0"/>
                </a:endParaRPr>
              </a:p>
              <a:p>
                <a:pPr algn="ctr">
                  <a:spcAft>
                    <a:spcPts val="2400"/>
                  </a:spcAft>
                </a:pPr>
                <a14:m>
                  <m:oMath xmlns:m="http://schemas.openxmlformats.org/officeDocument/2006/math">
                    <m:r>
                      <a:rPr lang="en-US" sz="2400" i="1" smtClean="0">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sSup>
                          <m:sSupPr>
                            <m:ctrlPr>
                              <a:rPr lang="en-US" sz="2400" i="1">
                                <a:solidFill>
                                  <a:srgbClr val="000000"/>
                                </a:solidFill>
                                <a:latin typeface="Cambria Math" panose="02040503050406030204" pitchFamily="18" charset="0"/>
                              </a:rPr>
                            </m:ctrlPr>
                          </m:sSupPr>
                          <m:e>
                            <m:d>
                              <m:dPr>
                                <m:ctrlPr>
                                  <a:rPr lang="en-US" sz="2400" i="1">
                                    <a:solidFill>
                                      <a:srgbClr val="000000"/>
                                    </a:solidFill>
                                    <a:latin typeface="Cambria Math" panose="02040503050406030204" pitchFamily="18" charset="0"/>
                                  </a:rPr>
                                </m:ctrlPr>
                              </m:dPr>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𝑍</m:t>
                                    </m:r>
                                  </m:e>
                                  <m:sub>
                                    <m:f>
                                      <m:fPr>
                                        <m:type m:val="lin"/>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𝛼</m:t>
                                        </m:r>
                                      </m:num>
                                      <m:den>
                                        <m:r>
                                          <a:rPr lang="en-US" sz="2400" i="1">
                                            <a:solidFill>
                                              <a:srgbClr val="000000"/>
                                            </a:solidFill>
                                            <a:latin typeface="Cambria Math" panose="02040503050406030204" pitchFamily="18" charset="0"/>
                                          </a:rPr>
                                          <m:t>2</m:t>
                                        </m:r>
                                      </m:den>
                                    </m:f>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𝑍</m:t>
                                    </m:r>
                                  </m:e>
                                  <m:sub>
                                    <m:r>
                                      <a:rPr lang="en-US" sz="2400" i="1">
                                        <a:solidFill>
                                          <a:srgbClr val="000000"/>
                                        </a:solidFill>
                                        <a:latin typeface="Cambria Math" panose="02040503050406030204" pitchFamily="18" charset="0"/>
                                      </a:rPr>
                                      <m:t>𝛽</m:t>
                                    </m:r>
                                  </m:sub>
                                </m:sSub>
                              </m:e>
                            </m:d>
                          </m:e>
                          <m:sup>
                            <m:r>
                              <a:rPr lang="en-US" sz="2400" i="1">
                                <a:solidFill>
                                  <a:srgbClr val="000000"/>
                                </a:solidFill>
                                <a:latin typeface="Cambria Math" panose="02040503050406030204" pitchFamily="18" charset="0"/>
                              </a:rPr>
                              <m:t>2</m:t>
                            </m:r>
                          </m:sup>
                        </m:sSup>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𝑅</m:t>
                            </m:r>
                            <m:sSub>
                              <m:sSubPr>
                                <m:ctrlPr>
                                  <a:rPr lang="en-US" sz="2400" i="1">
                                    <a:solidFill>
                                      <a:srgbClr val="000000"/>
                                    </a:solidFill>
                                    <a:latin typeface="Cambria Math" panose="02040503050406030204" pitchFamily="18" charset="0"/>
                                  </a:rPr>
                                </m:ctrlPr>
                              </m:sSubPr>
                              <m:e>
                                <m:r>
                                  <a:rPr lang="en-US" sz="2400" b="0" i="1" smtClean="0">
                                    <a:solidFill>
                                      <a:srgbClr val="000000"/>
                                    </a:solidFill>
                                    <a:latin typeface="Cambria Math" panose="02040503050406030204" pitchFamily="18" charset="0"/>
                                  </a:rPr>
                                  <m:t>𝑅𝑝</m:t>
                                </m:r>
                              </m:e>
                              <m:sub>
                                <m:r>
                                  <a:rPr lang="en-US" sz="2400" b="0" i="1" smtClean="0">
                                    <a:solidFill>
                                      <a:srgbClr val="000000"/>
                                    </a:solidFill>
                                    <a:latin typeface="Cambria Math" panose="02040503050406030204" pitchFamily="18" charset="0"/>
                                  </a:rPr>
                                  <m:t>1</m:t>
                                </m:r>
                              </m:sub>
                            </m:sSub>
                            <m:d>
                              <m:dPr>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1−</m:t>
                                </m:r>
                                <m:r>
                                  <a:rPr lang="en-US" sz="2400" i="1">
                                    <a:solidFill>
                                      <a:srgbClr val="000000"/>
                                    </a:solidFill>
                                    <a:latin typeface="Cambria Math" panose="02040503050406030204" pitchFamily="18" charset="0"/>
                                  </a:rPr>
                                  <m:t>𝑅𝑅</m:t>
                                </m:r>
                                <m:sSub>
                                  <m:sSubPr>
                                    <m:ctrlPr>
                                      <a:rPr lang="en-US" sz="2400" i="1">
                                        <a:solidFill>
                                          <a:srgbClr val="000000"/>
                                        </a:solidFill>
                                        <a:latin typeface="Cambria Math" panose="02040503050406030204" pitchFamily="18" charset="0"/>
                                      </a:rPr>
                                    </m:ctrlPr>
                                  </m:sSubPr>
                                  <m:e>
                                    <m:r>
                                      <a:rPr lang="en-US" sz="2400" b="0" i="1" smtClean="0">
                                        <a:solidFill>
                                          <a:srgbClr val="000000"/>
                                        </a:solidFill>
                                        <a:latin typeface="Cambria Math" panose="02040503050406030204" pitchFamily="18" charset="0"/>
                                      </a:rPr>
                                      <m:t>𝑝</m:t>
                                    </m:r>
                                  </m:e>
                                  <m:sub>
                                    <m:r>
                                      <a:rPr lang="en-US" sz="2400" b="0" i="1" smtClean="0">
                                        <a:solidFill>
                                          <a:srgbClr val="000000"/>
                                        </a:solidFill>
                                        <a:latin typeface="Cambria Math" panose="02040503050406030204" pitchFamily="18" charset="0"/>
                                      </a:rPr>
                                      <m:t>1</m:t>
                                    </m:r>
                                  </m:sub>
                                </m:sSub>
                              </m:e>
                            </m:d>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b="0" i="1" smtClean="0">
                                    <a:solidFill>
                                      <a:srgbClr val="000000"/>
                                    </a:solidFill>
                                    <a:latin typeface="Cambria Math" panose="02040503050406030204" pitchFamily="18" charset="0"/>
                                  </a:rPr>
                                  <m:t>𝑝</m:t>
                                </m:r>
                              </m:e>
                              <m:sub>
                                <m:r>
                                  <a:rPr lang="en-US" sz="2400" b="0" i="1" smtClean="0">
                                    <a:solidFill>
                                      <a:srgbClr val="000000"/>
                                    </a:solidFill>
                                    <a:latin typeface="Cambria Math" panose="02040503050406030204" pitchFamily="18" charset="0"/>
                                  </a:rPr>
                                  <m:t>1</m:t>
                                </m:r>
                              </m:sub>
                            </m:sSub>
                            <m:d>
                              <m:dPr>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1−</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𝑝</m:t>
                                    </m:r>
                                  </m:e>
                                  <m:sub>
                                    <m:r>
                                      <a:rPr lang="en-US" sz="2400" i="1">
                                        <a:solidFill>
                                          <a:srgbClr val="000000"/>
                                        </a:solidFill>
                                        <a:latin typeface="Cambria Math" panose="02040503050406030204" pitchFamily="18" charset="0"/>
                                      </a:rPr>
                                      <m:t>1</m:t>
                                    </m:r>
                                  </m:sub>
                                </m:sSub>
                              </m:e>
                            </m:d>
                          </m:e>
                        </m:d>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1</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𝜌</m:t>
                            </m:r>
                          </m:e>
                        </m:d>
                      </m:num>
                      <m:den>
                        <m:r>
                          <a:rPr lang="en-US" sz="2400" b="0" i="1" smtClean="0">
                            <a:solidFill>
                              <a:srgbClr val="000000"/>
                            </a:solidFill>
                            <a:latin typeface="Cambria Math" panose="02040503050406030204" pitchFamily="18" charset="0"/>
                          </a:rPr>
                          <m:t>𝐾</m:t>
                        </m:r>
                        <m:sSubSup>
                          <m:sSubSupPr>
                            <m:ctrlPr>
                              <a:rPr lang="en-US" sz="2400" i="1">
                                <a:solidFill>
                                  <a:srgbClr val="000000"/>
                                </a:solidFill>
                                <a:latin typeface="Cambria Math" panose="02040503050406030204" pitchFamily="18" charset="0"/>
                              </a:rPr>
                            </m:ctrlPr>
                          </m:sSubSupPr>
                          <m:e>
                            <m:r>
                              <a:rPr lang="en-US" sz="2400" b="0" i="1" smtClean="0">
                                <a:solidFill>
                                  <a:srgbClr val="000000"/>
                                </a:solidFill>
                                <a:latin typeface="Cambria Math" panose="02040503050406030204" pitchFamily="18" charset="0"/>
                              </a:rPr>
                              <m:t>𝑝</m:t>
                            </m:r>
                          </m:e>
                          <m:sub>
                            <m:r>
                              <a:rPr lang="en-US" sz="2400" b="0" i="1" smtClean="0">
                                <a:solidFill>
                                  <a:srgbClr val="000000"/>
                                </a:solidFill>
                                <a:latin typeface="Cambria Math" panose="02040503050406030204" pitchFamily="18" charset="0"/>
                              </a:rPr>
                              <m:t>1</m:t>
                            </m:r>
                          </m:sub>
                          <m:sup>
                            <m:r>
                              <a:rPr lang="en-US" sz="2400" i="1">
                                <a:solidFill>
                                  <a:srgbClr val="000000"/>
                                </a:solidFill>
                                <a:latin typeface="Cambria Math" panose="02040503050406030204" pitchFamily="18" charset="0"/>
                              </a:rPr>
                              <m:t>2</m:t>
                            </m:r>
                          </m:sup>
                        </m:sSubSup>
                        <m:sSup>
                          <m:sSupPr>
                            <m:ctrlPr>
                              <a:rPr lang="en-US" sz="2400" i="1">
                                <a:solidFill>
                                  <a:srgbClr val="000000"/>
                                </a:solidFill>
                                <a:latin typeface="Cambria Math" panose="02040503050406030204" pitchFamily="18" charset="0"/>
                              </a:rPr>
                            </m:ctrlPr>
                          </m:sSupPr>
                          <m:e>
                            <m:d>
                              <m:dPr>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𝑅</m:t>
                                </m:r>
                                <m:r>
                                  <a:rPr lang="en-US" sz="2400" b="0" i="1" smtClean="0">
                                    <a:solidFill>
                                      <a:srgbClr val="000000"/>
                                    </a:solidFill>
                                    <a:latin typeface="Cambria Math" panose="02040503050406030204" pitchFamily="18" charset="0"/>
                                  </a:rPr>
                                  <m:t>𝑅</m:t>
                                </m:r>
                                <m:r>
                                  <a:rPr lang="en-US" sz="2400" i="1">
                                    <a:solidFill>
                                      <a:srgbClr val="000000"/>
                                    </a:solidFill>
                                    <a:latin typeface="Cambria Math" panose="02040503050406030204" pitchFamily="18" charset="0"/>
                                  </a:rPr>
                                  <m:t>−1</m:t>
                                </m:r>
                              </m:e>
                            </m:d>
                          </m:e>
                          <m:sup>
                            <m:r>
                              <a:rPr lang="en-US" sz="2400" i="1">
                                <a:solidFill>
                                  <a:srgbClr val="000000"/>
                                </a:solidFill>
                                <a:latin typeface="Cambria Math" panose="02040503050406030204" pitchFamily="18" charset="0"/>
                              </a:rPr>
                              <m:t>2</m:t>
                            </m:r>
                          </m:sup>
                        </m:sSup>
                        <m:r>
                          <a:rPr lang="en-US" sz="2400" b="0" i="1" smtClean="0">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d>
                              <m:dPr>
                                <m:ctrlPr>
                                  <a:rPr lang="en-US" sz="2400" i="1">
                                    <a:solidFill>
                                      <a:srgbClr val="000000"/>
                                    </a:solidFill>
                                    <a:latin typeface="Cambria Math" panose="02040503050406030204" pitchFamily="18" charset="0"/>
                                  </a:rPr>
                                </m:ctrlPr>
                              </m:dPr>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𝑍</m:t>
                                    </m:r>
                                  </m:e>
                                  <m:sub>
                                    <m:f>
                                      <m:fPr>
                                        <m:type m:val="lin"/>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𝛼</m:t>
                                        </m:r>
                                      </m:num>
                                      <m:den>
                                        <m:r>
                                          <a:rPr lang="en-US" sz="2400" i="1">
                                            <a:solidFill>
                                              <a:srgbClr val="000000"/>
                                            </a:solidFill>
                                            <a:latin typeface="Cambria Math" panose="02040503050406030204" pitchFamily="18" charset="0"/>
                                          </a:rPr>
                                          <m:t>2</m:t>
                                        </m:r>
                                      </m:den>
                                    </m:f>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𝑍</m:t>
                                    </m:r>
                                  </m:e>
                                  <m:sub>
                                    <m:r>
                                      <a:rPr lang="en-US" sz="2400" i="1">
                                        <a:solidFill>
                                          <a:srgbClr val="000000"/>
                                        </a:solidFill>
                                        <a:latin typeface="Cambria Math" panose="02040503050406030204" pitchFamily="18" charset="0"/>
                                      </a:rPr>
                                      <m:t>𝛽</m:t>
                                    </m:r>
                                  </m:sub>
                                </m:sSub>
                              </m:e>
                            </m:d>
                          </m:e>
                          <m:sup>
                            <m:r>
                              <a:rPr lang="en-US" sz="2400" i="1">
                                <a:solidFill>
                                  <a:srgbClr val="000000"/>
                                </a:solidFill>
                                <a:latin typeface="Cambria Math" panose="02040503050406030204" pitchFamily="18" charset="0"/>
                              </a:rPr>
                              <m:t>2</m:t>
                            </m:r>
                          </m:sup>
                        </m:sSup>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𝑅</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𝑅𝑝</m:t>
                                </m:r>
                              </m:e>
                              <m:sub>
                                <m:r>
                                  <a:rPr lang="en-US" sz="2400" i="1">
                                    <a:solidFill>
                                      <a:srgbClr val="000000"/>
                                    </a:solidFill>
                                    <a:latin typeface="Cambria Math" panose="02040503050406030204" pitchFamily="18" charset="0"/>
                                  </a:rPr>
                                  <m:t>1</m:t>
                                </m:r>
                              </m:sub>
                            </m:sSub>
                            <m:d>
                              <m:dPr>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1−</m:t>
                                </m:r>
                                <m:r>
                                  <a:rPr lang="en-US" sz="2400" i="1">
                                    <a:solidFill>
                                      <a:srgbClr val="000000"/>
                                    </a:solidFill>
                                    <a:latin typeface="Cambria Math" panose="02040503050406030204" pitchFamily="18" charset="0"/>
                                  </a:rPr>
                                  <m:t>𝑅𝑅</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𝑝</m:t>
                                    </m:r>
                                  </m:e>
                                  <m:sub>
                                    <m:r>
                                      <a:rPr lang="en-US" sz="2400" i="1">
                                        <a:solidFill>
                                          <a:srgbClr val="000000"/>
                                        </a:solidFill>
                                        <a:latin typeface="Cambria Math" panose="02040503050406030204" pitchFamily="18" charset="0"/>
                                      </a:rPr>
                                      <m:t>1</m:t>
                                    </m:r>
                                  </m:sub>
                                </m:sSub>
                              </m:e>
                            </m:d>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𝑝</m:t>
                                </m:r>
                              </m:e>
                              <m:sub>
                                <m:r>
                                  <a:rPr lang="en-US" sz="2400" i="1">
                                    <a:solidFill>
                                      <a:srgbClr val="000000"/>
                                    </a:solidFill>
                                    <a:latin typeface="Cambria Math" panose="02040503050406030204" pitchFamily="18" charset="0"/>
                                  </a:rPr>
                                  <m:t>1</m:t>
                                </m:r>
                              </m:sub>
                            </m:sSub>
                            <m:d>
                              <m:dPr>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1−</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𝑝</m:t>
                                    </m:r>
                                  </m:e>
                                  <m:sub>
                                    <m:r>
                                      <a:rPr lang="en-US" sz="2400" i="1">
                                        <a:solidFill>
                                          <a:srgbClr val="000000"/>
                                        </a:solidFill>
                                        <a:latin typeface="Cambria Math" panose="02040503050406030204" pitchFamily="18" charset="0"/>
                                      </a:rPr>
                                      <m:t>1</m:t>
                                    </m:r>
                                  </m:sub>
                                </m:sSub>
                              </m:e>
                            </m:d>
                          </m:e>
                        </m:d>
                        <m:r>
                          <a:rPr lang="en-US" sz="2400" i="1">
                            <a:solidFill>
                              <a:srgbClr val="000000"/>
                            </a:solidFill>
                            <a:latin typeface="Cambria Math" panose="02040503050406030204" pitchFamily="18" charset="0"/>
                          </a:rPr>
                          <m:t>𝜌</m:t>
                        </m:r>
                      </m:den>
                    </m:f>
                  </m:oMath>
                </a14:m>
                <a:r>
                  <a:rPr lang="en-US" altLang="en-US" sz="2400" dirty="0">
                    <a:latin typeface="Arial" pitchFamily="34" charset="0"/>
                  </a:rPr>
                  <a:t> </a:t>
                </a:r>
                <a:r>
                  <a:rPr lang="en-US" altLang="en-US" sz="1200" dirty="0">
                    <a:latin typeface="Arial" pitchFamily="34" charset="0"/>
                  </a:rPr>
                  <a:t>(thanks to BIS MS student Lilo Wu)</a:t>
                </a:r>
              </a:p>
              <a:p>
                <a:r>
                  <a:rPr lang="en-US" altLang="en-US" sz="2000" dirty="0">
                    <a:latin typeface="Arial" pitchFamily="34" charset="0"/>
                  </a:rPr>
                  <a:t>Thus, one provides the baseline rate, </a:t>
                </a: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𝑝</m:t>
                        </m:r>
                      </m:e>
                      <m:sub>
                        <m:r>
                          <a:rPr lang="en-US" sz="2000" b="0" i="1" smtClean="0">
                            <a:solidFill>
                              <a:srgbClr val="000000"/>
                            </a:solidFill>
                            <a:latin typeface="Cambria Math" panose="02040503050406030204" pitchFamily="18" charset="0"/>
                          </a:rPr>
                          <m:t>1</m:t>
                        </m:r>
                      </m:sub>
                    </m:sSub>
                  </m:oMath>
                </a14:m>
                <a:r>
                  <a:rPr lang="en-US" altLang="en-US" sz="2000" dirty="0">
                    <a:latin typeface="Arial" pitchFamily="34" charset="0"/>
                  </a:rPr>
                  <a:t>, and the hypothesized </a:t>
                </a:r>
                <a14:m>
                  <m:oMath xmlns:m="http://schemas.openxmlformats.org/officeDocument/2006/math">
                    <m:r>
                      <a:rPr lang="en-US" altLang="en-US" sz="2000" i="1" dirty="0" smtClean="0">
                        <a:latin typeface="Cambria Math" panose="02040503050406030204" pitchFamily="18" charset="0"/>
                      </a:rPr>
                      <m:t>𝑅𝑅</m:t>
                    </m:r>
                  </m:oMath>
                </a14:m>
                <a:r>
                  <a:rPr lang="en-US" altLang="en-US" sz="2000" dirty="0">
                    <a:latin typeface="Arial" pitchFamily="34" charset="0"/>
                  </a:rPr>
                  <a:t> under the alternative, i.e. </a:t>
                </a:r>
                <a14:m>
                  <m:oMath xmlns:m="http://schemas.openxmlformats.org/officeDocument/2006/math">
                    <m:sSub>
                      <m:sSubPr>
                        <m:ctrlPr>
                          <a:rPr lang="en-US" altLang="en-US" sz="2000" i="1" smtClean="0">
                            <a:latin typeface="Cambria Math" panose="02040503050406030204" pitchFamily="18" charset="0"/>
                          </a:rPr>
                        </m:ctrlPr>
                      </m:sSubPr>
                      <m:e>
                        <m:r>
                          <a:rPr lang="en-US" altLang="en-US" sz="2000" b="0" i="1" smtClean="0">
                            <a:latin typeface="Cambria Math" panose="02040503050406030204" pitchFamily="18" charset="0"/>
                          </a:rPr>
                          <m:t>𝑝</m:t>
                        </m:r>
                      </m:e>
                      <m:sub>
                        <m:r>
                          <a:rPr lang="en-US" altLang="en-US" sz="2000" b="0" i="1" smtClean="0">
                            <a:latin typeface="Cambria Math" panose="02040503050406030204" pitchFamily="18" charset="0"/>
                          </a:rPr>
                          <m:t>2</m:t>
                        </m:r>
                      </m:sub>
                    </m:sSub>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𝑅𝑅</m:t>
                    </m:r>
                    <m:sSub>
                      <m:sSubPr>
                        <m:ctrlPr>
                          <a:rPr lang="en-US" altLang="en-US" sz="2000" b="0" i="1" smtClean="0">
                            <a:latin typeface="Cambria Math" panose="02040503050406030204" pitchFamily="18" charset="0"/>
                          </a:rPr>
                        </m:ctrlPr>
                      </m:sSubPr>
                      <m:e>
                        <m:r>
                          <a:rPr lang="en-US" altLang="en-US" sz="2000" b="0" i="1" smtClean="0">
                            <a:latin typeface="Cambria Math" panose="02040503050406030204" pitchFamily="18" charset="0"/>
                          </a:rPr>
                          <m:t>𝑝</m:t>
                        </m:r>
                      </m:e>
                      <m:sub>
                        <m:r>
                          <a:rPr lang="en-US" altLang="en-US" sz="2000" b="0" i="1" smtClean="0">
                            <a:latin typeface="Cambria Math" panose="02040503050406030204" pitchFamily="18" charset="0"/>
                          </a:rPr>
                          <m:t>1</m:t>
                        </m:r>
                      </m:sub>
                    </m:sSub>
                  </m:oMath>
                </a14:m>
                <a:r>
                  <a:rPr lang="en-US" altLang="en-US" sz="2000" dirty="0">
                    <a:latin typeface="Arial" pitchFamily="34" charset="0"/>
                  </a:rPr>
                  <a:t> since </a:t>
                </a:r>
                <a14:m>
                  <m:oMath xmlns:m="http://schemas.openxmlformats.org/officeDocument/2006/math">
                    <m:r>
                      <a:rPr lang="en-US" altLang="en-US" sz="2000" i="1">
                        <a:latin typeface="Cambria Math" panose="02040503050406030204" pitchFamily="18" charset="0"/>
                      </a:rPr>
                      <m:t>𝑅𝑅</m:t>
                    </m:r>
                    <m:r>
                      <a:rPr lang="en-US" altLang="en-US" sz="2000" i="1">
                        <a:latin typeface="Cambria Math" panose="02040503050406030204" pitchFamily="18" charset="0"/>
                      </a:rPr>
                      <m:t>=</m:t>
                    </m:r>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𝑝</m:t>
                        </m:r>
                      </m:e>
                      <m:sub>
                        <m:r>
                          <a:rPr lang="en-US" altLang="en-US" sz="2000" i="1">
                            <a:latin typeface="Cambria Math" panose="02040503050406030204" pitchFamily="18" charset="0"/>
                          </a:rPr>
                          <m:t>2</m:t>
                        </m:r>
                      </m:sub>
                    </m:sSub>
                    <m:r>
                      <a:rPr lang="en-US" altLang="en-US" sz="2000" b="0" i="1" smtClean="0">
                        <a:latin typeface="Cambria Math" panose="02040503050406030204" pitchFamily="18" charset="0"/>
                      </a:rPr>
                      <m:t>/</m:t>
                    </m:r>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𝑝</m:t>
                        </m:r>
                      </m:e>
                      <m:sub>
                        <m:r>
                          <a:rPr lang="en-US" altLang="en-US" sz="2000" i="1">
                            <a:latin typeface="Cambria Math" panose="02040503050406030204" pitchFamily="18" charset="0"/>
                          </a:rPr>
                          <m:t>1</m:t>
                        </m:r>
                      </m:sub>
                    </m:sSub>
                  </m:oMath>
                </a14:m>
                <a:r>
                  <a:rPr lang="en-US" altLang="en-US" sz="2000" dirty="0">
                    <a:latin typeface="Arial" pitchFamily="34" charset="0"/>
                  </a:rPr>
                  <a:t>.</a:t>
                </a:r>
              </a:p>
              <a:p>
                <a:pPr>
                  <a:spcAft>
                    <a:spcPts val="2400"/>
                  </a:spcAft>
                </a:pPr>
                <a:r>
                  <a:rPr lang="en-US" altLang="en-US" sz="1200" dirty="0">
                    <a:latin typeface="Arial" pitchFamily="34" charset="0"/>
                  </a:rPr>
                  <a:t>                             Citation: </a:t>
                </a:r>
                <a:r>
                  <a:rPr lang="en-US" sz="1200" b="0" i="0" dirty="0">
                    <a:solidFill>
                      <a:srgbClr val="1C1D1E"/>
                    </a:solidFill>
                    <a:effectLst/>
                    <a:latin typeface="Open Sans" panose="020B0606030504020204" pitchFamily="34" charset="0"/>
                  </a:rPr>
                  <a:t>Shih, W.J. (1997), Sample Size and Power Calculations for Periodontal and Other Studies with Clustered Samples Using the Method of                                         Generalized Estimating Equations. </a:t>
                </a:r>
                <a:r>
                  <a:rPr lang="en-US" sz="1200" b="0" i="0" dirty="0" err="1">
                    <a:solidFill>
                      <a:srgbClr val="1C1D1E"/>
                    </a:solidFill>
                    <a:effectLst/>
                    <a:latin typeface="Open Sans" panose="020B0606030504020204" pitchFamily="34" charset="0"/>
                  </a:rPr>
                  <a:t>Biom</a:t>
                </a:r>
                <a:r>
                  <a:rPr lang="en-US" sz="1200" b="0" i="0" dirty="0">
                    <a:solidFill>
                      <a:srgbClr val="1C1D1E"/>
                    </a:solidFill>
                    <a:effectLst/>
                    <a:latin typeface="Open Sans" panose="020B0606030504020204" pitchFamily="34" charset="0"/>
                  </a:rPr>
                  <a:t>. J., 39: 899-908.</a:t>
                </a:r>
                <a:endParaRPr lang="en-US" altLang="en-US" sz="1200" dirty="0">
                  <a:latin typeface="Arial" pitchFamily="34" charset="0"/>
                </a:endParaRPr>
              </a:p>
            </p:txBody>
          </p:sp>
        </mc:Choice>
        <mc:Fallback xmlns="">
          <p:sp>
            <p:nvSpPr>
              <p:cNvPr id="5" name="TextBox 4">
                <a:extLst>
                  <a:ext uri="{FF2B5EF4-FFF2-40B4-BE49-F238E27FC236}">
                    <a16:creationId xmlns:a16="http://schemas.microsoft.com/office/drawing/2014/main" id="{5A3172F6-1433-4FB3-A4BA-44D09A021579}"/>
                  </a:ext>
                </a:extLst>
              </p:cNvPr>
              <p:cNvSpPr txBox="1">
                <a:spLocks noRot="1" noChangeAspect="1" noMove="1" noResize="1" noEditPoints="1" noAdjustHandles="1" noChangeArrowheads="1" noChangeShapeType="1" noTextEdit="1"/>
              </p:cNvSpPr>
              <p:nvPr/>
            </p:nvSpPr>
            <p:spPr>
              <a:xfrm>
                <a:off x="0" y="713048"/>
                <a:ext cx="12064999" cy="6150466"/>
              </a:xfrm>
              <a:prstGeom prst="rect">
                <a:avLst/>
              </a:prstGeom>
              <a:blipFill>
                <a:blip r:embed="rId3"/>
                <a:stretch>
                  <a:fillRect l="-758" t="-595" r="-8034"/>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548F7200-501E-AD08-2BB6-1FB0BA18FEAC}"/>
              </a:ext>
            </a:extLst>
          </p:cNvPr>
          <p:cNvSpPr>
            <a:spLocks noGrp="1"/>
          </p:cNvSpPr>
          <p:nvPr>
            <p:ph type="sldNum" sz="quarter" idx="12"/>
          </p:nvPr>
        </p:nvSpPr>
        <p:spPr/>
        <p:txBody>
          <a:bodyPr/>
          <a:lstStyle/>
          <a:p>
            <a:fld id="{77C6A7FE-225D-49F1-B302-AA37EA92BB49}" type="slidenum">
              <a:rPr lang="en-US" smtClean="0"/>
              <a:t>52</a:t>
            </a:fld>
            <a:endParaRPr lang="en-US"/>
          </a:p>
        </p:txBody>
      </p:sp>
    </p:spTree>
    <p:extLst>
      <p:ext uri="{BB962C8B-B14F-4D97-AF65-F5344CB8AC3E}">
        <p14:creationId xmlns:p14="http://schemas.microsoft.com/office/powerpoint/2010/main" val="930760076"/>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i="1" dirty="0">
                <a:latin typeface="Arial" panose="020B0604020202020204" pitchFamily="34" charset="0"/>
                <a:cs typeface="Arial" panose="020B0604020202020204" pitchFamily="34" charset="0"/>
              </a:rPr>
              <a:t>Example</a:t>
            </a:r>
            <a:r>
              <a:rPr lang="en-US" sz="4400" dirty="0">
                <a:latin typeface="Arial" panose="020B0604020202020204" pitchFamily="34" charset="0"/>
                <a:cs typeface="Arial" panose="020B0604020202020204" pitchFamily="34" charset="0"/>
              </a:rPr>
              <a:t>:</a:t>
            </a:r>
            <a:endParaRPr lang="en-US" sz="2800" dirty="0">
              <a:solidFill>
                <a:schemeClr val="bg1"/>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DD99771-CB53-4794-B5D8-AB7E40ADA1D2}"/>
                  </a:ext>
                </a:extLst>
              </p:cNvPr>
              <p:cNvSpPr txBox="1"/>
              <p:nvPr/>
            </p:nvSpPr>
            <p:spPr>
              <a:xfrm>
                <a:off x="603839" y="1964725"/>
                <a:ext cx="10527957" cy="2781659"/>
              </a:xfrm>
              <a:prstGeom prst="rect">
                <a:avLst/>
              </a:prstGeom>
              <a:noFill/>
            </p:spPr>
            <p:txBody>
              <a:bodyPr wrap="square" rtlCol="0">
                <a:spAutoFit/>
              </a:bodyPr>
              <a:lstStyle/>
              <a:p>
                <a:r>
                  <a:rPr lang="en-US" altLang="en-US" sz="2800" dirty="0"/>
                  <a:t>Murray et al. (1992) reported on a study evaluating the effect of a school-based intervention for reducing adolescent tobacco use.  An estimate of </a:t>
                </a:r>
                <a14:m>
                  <m:oMath xmlns:m="http://schemas.openxmlformats.org/officeDocument/2006/math">
                    <m:r>
                      <a:rPr lang="en-US" altLang="en-US" sz="2800" i="1" smtClean="0">
                        <a:latin typeface="Cambria Math"/>
                        <a:ea typeface="Cambria Math"/>
                      </a:rPr>
                      <m:t>𝜌</m:t>
                    </m:r>
                  </m:oMath>
                </a14:m>
                <a:r>
                  <a:rPr lang="en-US" altLang="en-US" sz="2800" dirty="0"/>
                  <a:t> was obtained from </a:t>
                </a:r>
                <a14:m>
                  <m:oMath xmlns:m="http://schemas.openxmlformats.org/officeDocument/2006/math">
                    <m:r>
                      <a:rPr lang="en-US" altLang="en-US" sz="2800" i="1" dirty="0" smtClean="0">
                        <a:latin typeface="Cambria Math" panose="02040503050406030204" pitchFamily="18" charset="0"/>
                        <a:ea typeface="Cambria Math" panose="02040503050406030204" pitchFamily="18" charset="0"/>
                      </a:rPr>
                      <m:t>𝐾</m:t>
                    </m:r>
                  </m:oMath>
                </a14:m>
                <a:r>
                  <a:rPr lang="en-US" altLang="en-US" sz="2800" dirty="0">
                    <a:latin typeface="Cambria Math" panose="02040503050406030204" pitchFamily="18" charset="0"/>
                    <a:ea typeface="Cambria Math" panose="02040503050406030204" pitchFamily="18" charset="0"/>
                  </a:rPr>
                  <a:t>=24 </a:t>
                </a:r>
                <a:r>
                  <a:rPr lang="en-US" altLang="en-US" sz="2800" dirty="0"/>
                  <a:t>schools was calculated as 0.01.</a:t>
                </a:r>
              </a:p>
              <a:p>
                <a:endParaRPr lang="en-US" altLang="en-US" sz="2800" dirty="0"/>
              </a:p>
              <a:p>
                <a:r>
                  <a:rPr lang="en-US" altLang="en-US" sz="2800" dirty="0"/>
                  <a:t>Suppose we wish to detect a reduction in the proportion of students using tobacco from 0.06 to 0.04 percentage points  </a:t>
                </a:r>
                <a14:m>
                  <m:oMath xmlns:m="http://schemas.openxmlformats.org/officeDocument/2006/math">
                    <m:r>
                      <a:rPr lang="en-US" altLang="en-US" sz="2800" b="0" i="0" smtClean="0">
                        <a:latin typeface="Cambria Math" panose="02040503050406030204" pitchFamily="18" charset="0"/>
                      </a:rPr>
                      <m:t>(</m:t>
                    </m:r>
                    <m:sSub>
                      <m:sSubPr>
                        <m:ctrlPr>
                          <a:rPr lang="en-US" altLang="en-US" sz="2800" i="1" smtClean="0">
                            <a:latin typeface="Cambria Math" panose="02040503050406030204" pitchFamily="18" charset="0"/>
                          </a:rPr>
                        </m:ctrlPr>
                      </m:sSubPr>
                      <m:e>
                        <m:r>
                          <a:rPr lang="en-US" altLang="en-US" sz="2800" b="0" i="1" smtClean="0">
                            <a:latin typeface="Cambria Math" panose="02040503050406030204" pitchFamily="18" charset="0"/>
                          </a:rPr>
                          <m:t>𝐻</m:t>
                        </m:r>
                      </m:e>
                      <m:sub>
                        <m:r>
                          <a:rPr lang="en-US" altLang="en-US" sz="2800" b="0" i="1" smtClean="0">
                            <a:latin typeface="Cambria Math" panose="02040503050406030204" pitchFamily="18" charset="0"/>
                          </a:rPr>
                          <m:t>𝐴</m:t>
                        </m:r>
                      </m:sub>
                    </m:sSub>
                    <m:r>
                      <a:rPr lang="en-US" altLang="en-US" sz="2800" b="0" i="1" smtClean="0">
                        <a:latin typeface="Cambria Math" panose="02040503050406030204" pitchFamily="18" charset="0"/>
                      </a:rPr>
                      <m:t>).</m:t>
                    </m:r>
                  </m:oMath>
                </a14:m>
                <a:endParaRPr lang="en-CA" altLang="en-US" sz="2800" dirty="0"/>
              </a:p>
            </p:txBody>
          </p:sp>
        </mc:Choice>
        <mc:Fallback xmlns="">
          <p:sp>
            <p:nvSpPr>
              <p:cNvPr id="2" name="TextBox 1">
                <a:extLst>
                  <a:ext uri="{FF2B5EF4-FFF2-40B4-BE49-F238E27FC236}">
                    <a16:creationId xmlns:a16="http://schemas.microsoft.com/office/drawing/2014/main" id="{2DD99771-CB53-4794-B5D8-AB7E40ADA1D2}"/>
                  </a:ext>
                </a:extLst>
              </p:cNvPr>
              <p:cNvSpPr txBox="1">
                <a:spLocks noRot="1" noChangeAspect="1" noMove="1" noResize="1" noEditPoints="1" noAdjustHandles="1" noChangeArrowheads="1" noChangeShapeType="1" noTextEdit="1"/>
              </p:cNvSpPr>
              <p:nvPr/>
            </p:nvSpPr>
            <p:spPr>
              <a:xfrm>
                <a:off x="603839" y="1964725"/>
                <a:ext cx="10527957" cy="2781659"/>
              </a:xfrm>
              <a:prstGeom prst="rect">
                <a:avLst/>
              </a:prstGeom>
              <a:blipFill>
                <a:blip r:embed="rId4"/>
                <a:stretch>
                  <a:fillRect l="-1158" t="-1969" r="-58" b="-1532"/>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FC0C2AB1-14D3-244E-90DD-928D5BD07D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EF5C1AC-86E7-DF1C-E77F-7F426F131F3D}"/>
              </a:ext>
            </a:extLst>
          </p:cNvPr>
          <p:cNvSpPr>
            <a:spLocks noGrp="1"/>
          </p:cNvSpPr>
          <p:nvPr>
            <p:ph type="sldNum" sz="quarter" idx="12"/>
          </p:nvPr>
        </p:nvSpPr>
        <p:spPr/>
        <p:txBody>
          <a:bodyPr/>
          <a:lstStyle/>
          <a:p>
            <a:fld id="{77C6A7FE-225D-49F1-B302-AA37EA92BB49}" type="slidenum">
              <a:rPr lang="en-US" smtClean="0"/>
              <a:t>53</a:t>
            </a:fld>
            <a:endParaRPr lang="en-US"/>
          </a:p>
        </p:txBody>
      </p:sp>
    </p:spTree>
    <p:extLst>
      <p:ext uri="{BB962C8B-B14F-4D97-AF65-F5344CB8AC3E}">
        <p14:creationId xmlns:p14="http://schemas.microsoft.com/office/powerpoint/2010/main" val="3102930255"/>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i="1" dirty="0">
                <a:latin typeface="Arial" panose="020B0604020202020204" pitchFamily="34" charset="0"/>
                <a:cs typeface="Arial" panose="020B0604020202020204" pitchFamily="34" charset="0"/>
              </a:rPr>
              <a:t>Example 2</a:t>
            </a:r>
            <a:r>
              <a:rPr lang="en-US" sz="4400" dirty="0">
                <a:latin typeface="Arial" panose="020B0604020202020204" pitchFamily="34" charset="0"/>
                <a:cs typeface="Arial" panose="020B0604020202020204" pitchFamily="34" charset="0"/>
              </a:rPr>
              <a:t>: (cont.)</a:t>
            </a:r>
            <a:endParaRPr lang="en-US" sz="2800" dirty="0">
              <a:solidFill>
                <a:schemeClr val="bg1"/>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DD99771-CB53-4794-B5D8-AB7E40ADA1D2}"/>
                  </a:ext>
                </a:extLst>
              </p:cNvPr>
              <p:cNvSpPr txBox="1"/>
              <p:nvPr/>
            </p:nvSpPr>
            <p:spPr>
              <a:xfrm>
                <a:off x="603839" y="1964725"/>
                <a:ext cx="10769011" cy="3603166"/>
              </a:xfrm>
              <a:prstGeom prst="rect">
                <a:avLst/>
              </a:prstGeom>
              <a:noFill/>
            </p:spPr>
            <p:txBody>
              <a:bodyPr wrap="square" rtlCol="0">
                <a:spAutoFit/>
              </a:bodyPr>
              <a:lstStyle/>
              <a:p>
                <a:pPr>
                  <a:spcBef>
                    <a:spcPct val="50000"/>
                  </a:spcBef>
                </a:pPr>
                <a:r>
                  <a:rPr lang="en-US" altLang="en-US" sz="2800" dirty="0"/>
                  <a:t>If the number of students per school is approximately </a:t>
                </a:r>
                <a14:m>
                  <m:oMath xmlns:m="http://schemas.openxmlformats.org/officeDocument/2006/math">
                    <m:r>
                      <a:rPr lang="en-US" altLang="en-US" sz="2800" i="1" dirty="0" smtClean="0">
                        <a:latin typeface="Cambria Math" panose="02040503050406030204" pitchFamily="18" charset="0"/>
                        <a:ea typeface="Cambria Math" panose="02040503050406030204" pitchFamily="18" charset="0"/>
                      </a:rPr>
                      <m:t>𝑚</m:t>
                    </m:r>
                  </m:oMath>
                </a14:m>
                <a:r>
                  <a:rPr lang="en-US" altLang="en-US" sz="2800" dirty="0">
                    <a:latin typeface="Cambria Math" panose="02040503050406030204" pitchFamily="18" charset="0"/>
                    <a:ea typeface="Cambria Math" panose="02040503050406030204" pitchFamily="18" charset="0"/>
                  </a:rPr>
                  <a:t>=100</a:t>
                </a:r>
                <a:r>
                  <a:rPr lang="en-US" altLang="en-US" sz="2800" dirty="0"/>
                  <a:t>, then the total number of schools required per intervention arm, </a:t>
                </a:r>
                <a14:m>
                  <m:oMath xmlns:m="http://schemas.openxmlformats.org/officeDocument/2006/math">
                    <m:r>
                      <a:rPr lang="en-US" altLang="en-US" sz="2800" i="1" dirty="0" smtClean="0">
                        <a:latin typeface="Cambria Math" panose="02040503050406030204" pitchFamily="18" charset="0"/>
                        <a:ea typeface="Cambria Math" panose="02040503050406030204" pitchFamily="18" charset="0"/>
                      </a:rPr>
                      <m:t>𝐾</m:t>
                    </m:r>
                  </m:oMath>
                </a14:m>
                <a:r>
                  <a:rPr lang="en-US" altLang="en-US" sz="2800" dirty="0"/>
                  <a:t>,  at </a:t>
                </a:r>
                <a14:m>
                  <m:oMath xmlns:m="http://schemas.openxmlformats.org/officeDocument/2006/math">
                    <m:r>
                      <a:rPr lang="en-US" sz="2800" i="1" smtClean="0">
                        <a:solidFill>
                          <a:srgbClr val="000000"/>
                        </a:solidFill>
                        <a:latin typeface="Cambria Math" panose="02040503050406030204" pitchFamily="18" charset="0"/>
                      </a:rPr>
                      <m:t>𝛼</m:t>
                    </m:r>
                    <m:r>
                      <a:rPr lang="en-US" sz="2800" i="1" smtClean="0">
                        <a:solidFill>
                          <a:srgbClr val="000000"/>
                        </a:solidFill>
                        <a:latin typeface="Cambria Math" panose="02040503050406030204" pitchFamily="18" charset="0"/>
                      </a:rPr>
                      <m:t>=.05</m:t>
                    </m:r>
                  </m:oMath>
                </a14:m>
                <a:r>
                  <a:rPr lang="en-US" altLang="en-US" sz="2800" dirty="0"/>
                  <a:t> (2-sided), </a:t>
                </a:r>
                <a14:m>
                  <m:oMath xmlns:m="http://schemas.openxmlformats.org/officeDocument/2006/math">
                    <m:r>
                      <a:rPr lang="en-US" sz="2800" i="1">
                        <a:solidFill>
                          <a:srgbClr val="000000"/>
                        </a:solidFill>
                        <a:latin typeface="Cambria Math" panose="02040503050406030204" pitchFamily="18" charset="0"/>
                      </a:rPr>
                      <m:t>1−</m:t>
                    </m:r>
                    <m:r>
                      <a:rPr lang="en-US" sz="2800" i="1">
                        <a:solidFill>
                          <a:srgbClr val="000000"/>
                        </a:solidFill>
                        <a:latin typeface="Cambria Math" panose="02040503050406030204" pitchFamily="18" charset="0"/>
                      </a:rPr>
                      <m:t>𝛽</m:t>
                    </m:r>
                    <m:r>
                      <a:rPr lang="en-US" sz="2800" i="1">
                        <a:solidFill>
                          <a:srgbClr val="000000"/>
                        </a:solidFill>
                        <a:latin typeface="Cambria Math" panose="02040503050406030204" pitchFamily="18" charset="0"/>
                      </a:rPr>
                      <m:t>=.80</m:t>
                    </m:r>
                  </m:oMath>
                </a14:m>
                <a:r>
                  <a:rPr lang="en-US" altLang="en-US" sz="2800" dirty="0"/>
                  <a:t> is given by</a:t>
                </a:r>
                <a:endParaRPr lang="en-CA" altLang="en-US" sz="2800" dirty="0"/>
              </a:p>
              <a:p>
                <a:endParaRPr lang="en-US" altLang="en-US" sz="2800" dirty="0"/>
              </a:p>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𝐾</m:t>
                      </m:r>
                      <m:r>
                        <a:rPr lang="en-US" sz="2800" i="1" smtClean="0">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sSup>
                            <m:sSupPr>
                              <m:ctrlPr>
                                <a:rPr lang="en-US" sz="2800" i="1">
                                  <a:solidFill>
                                    <a:srgbClr val="000000"/>
                                  </a:solidFill>
                                  <a:latin typeface="Cambria Math" panose="02040503050406030204" pitchFamily="18" charset="0"/>
                                </a:rPr>
                              </m:ctrlPr>
                            </m:sSupPr>
                            <m:e>
                              <m:d>
                                <m:dPr>
                                  <m:ctrlPr>
                                    <a:rPr lang="en-US" sz="2800" i="1">
                                      <a:solidFill>
                                        <a:srgbClr val="000000"/>
                                      </a:solidFill>
                                      <a:latin typeface="Cambria Math" panose="02040503050406030204" pitchFamily="18" charset="0"/>
                                    </a:rPr>
                                  </m:ctrlPr>
                                </m:dPr>
                                <m:e>
                                  <m:r>
                                    <a:rPr lang="en-US" sz="2800" i="1">
                                      <a:solidFill>
                                        <a:srgbClr val="000000"/>
                                      </a:solidFill>
                                      <a:latin typeface="Cambria Math" panose="02040503050406030204" pitchFamily="18" charset="0"/>
                                    </a:rPr>
                                    <m:t>1.96+.84</m:t>
                                  </m:r>
                                </m:e>
                              </m:d>
                            </m:e>
                            <m:sup>
                              <m:r>
                                <a:rPr lang="en-US" sz="2800" i="1">
                                  <a:solidFill>
                                    <a:srgbClr val="000000"/>
                                  </a:solidFill>
                                  <a:latin typeface="Cambria Math" panose="02040503050406030204" pitchFamily="18" charset="0"/>
                                </a:rPr>
                                <m:t>2</m:t>
                              </m:r>
                            </m:sup>
                          </m:sSup>
                          <m:d>
                            <m:dPr>
                              <m:begChr m:val="["/>
                              <m:endChr m:val="]"/>
                              <m:ctrlPr>
                                <a:rPr lang="en-US" sz="2800" i="1">
                                  <a:solidFill>
                                    <a:srgbClr val="000000"/>
                                  </a:solidFill>
                                  <a:latin typeface="Cambria Math" panose="02040503050406030204" pitchFamily="18" charset="0"/>
                                </a:rPr>
                              </m:ctrlPr>
                            </m:dPr>
                            <m:e>
                              <m:d>
                                <m:dPr>
                                  <m:ctrlPr>
                                    <a:rPr lang="en-US" sz="2800" i="1">
                                      <a:solidFill>
                                        <a:srgbClr val="000000"/>
                                      </a:solidFill>
                                      <a:latin typeface="Cambria Math" panose="02040503050406030204" pitchFamily="18" charset="0"/>
                                    </a:rPr>
                                  </m:ctrlPr>
                                </m:dPr>
                                <m:e>
                                  <m:r>
                                    <a:rPr lang="en-US" sz="2800" i="1">
                                      <a:solidFill>
                                        <a:srgbClr val="000000"/>
                                      </a:solidFill>
                                      <a:latin typeface="Cambria Math" panose="02040503050406030204" pitchFamily="18" charset="0"/>
                                    </a:rPr>
                                    <m:t>.04</m:t>
                                  </m:r>
                                </m:e>
                              </m:d>
                              <m:d>
                                <m:dPr>
                                  <m:ctrlPr>
                                    <a:rPr lang="en-US" sz="2800" i="1">
                                      <a:solidFill>
                                        <a:srgbClr val="000000"/>
                                      </a:solidFill>
                                      <a:latin typeface="Cambria Math" panose="02040503050406030204" pitchFamily="18" charset="0"/>
                                    </a:rPr>
                                  </m:ctrlPr>
                                </m:dPr>
                                <m:e>
                                  <m:r>
                                    <a:rPr lang="en-US" sz="2800" i="1">
                                      <a:solidFill>
                                        <a:srgbClr val="000000"/>
                                      </a:solidFill>
                                      <a:latin typeface="Cambria Math" panose="02040503050406030204" pitchFamily="18" charset="0"/>
                                    </a:rPr>
                                    <m:t>.96</m:t>
                                  </m:r>
                                </m:e>
                              </m:d>
                              <m:r>
                                <a:rPr lang="en-US" sz="2800" i="1">
                                  <a:solidFill>
                                    <a:srgbClr val="000000"/>
                                  </a:solidFill>
                                  <a:latin typeface="Cambria Math" panose="02040503050406030204" pitchFamily="18" charset="0"/>
                                </a:rPr>
                                <m:t>+</m:t>
                              </m:r>
                              <m:d>
                                <m:dPr>
                                  <m:ctrlPr>
                                    <a:rPr lang="en-US" sz="2800" i="1">
                                      <a:solidFill>
                                        <a:srgbClr val="000000"/>
                                      </a:solidFill>
                                      <a:latin typeface="Cambria Math" panose="02040503050406030204" pitchFamily="18" charset="0"/>
                                    </a:rPr>
                                  </m:ctrlPr>
                                </m:dPr>
                                <m:e>
                                  <m:r>
                                    <a:rPr lang="en-US" sz="2800" i="1">
                                      <a:solidFill>
                                        <a:srgbClr val="000000"/>
                                      </a:solidFill>
                                      <a:latin typeface="Cambria Math" panose="02040503050406030204" pitchFamily="18" charset="0"/>
                                    </a:rPr>
                                    <m:t>.06</m:t>
                                  </m:r>
                                </m:e>
                              </m:d>
                              <m:d>
                                <m:dPr>
                                  <m:ctrlPr>
                                    <a:rPr lang="en-US" sz="2800" i="1">
                                      <a:solidFill>
                                        <a:srgbClr val="000000"/>
                                      </a:solidFill>
                                      <a:latin typeface="Cambria Math" panose="02040503050406030204" pitchFamily="18" charset="0"/>
                                    </a:rPr>
                                  </m:ctrlPr>
                                </m:dPr>
                                <m:e>
                                  <m:r>
                                    <a:rPr lang="en-US" sz="2800" i="1">
                                      <a:solidFill>
                                        <a:srgbClr val="000000"/>
                                      </a:solidFill>
                                      <a:latin typeface="Cambria Math" panose="02040503050406030204" pitchFamily="18" charset="0"/>
                                    </a:rPr>
                                    <m:t>.94</m:t>
                                  </m:r>
                                </m:e>
                              </m:d>
                            </m:e>
                          </m:d>
                          <m:d>
                            <m:dPr>
                              <m:begChr m:val="["/>
                              <m:endChr m:val="]"/>
                              <m:ctrlPr>
                                <a:rPr lang="en-US" sz="2800" i="1">
                                  <a:solidFill>
                                    <a:srgbClr val="000000"/>
                                  </a:solidFill>
                                  <a:latin typeface="Cambria Math" panose="02040503050406030204" pitchFamily="18" charset="0"/>
                                </a:rPr>
                              </m:ctrlPr>
                            </m:dPr>
                            <m:e>
                              <m:r>
                                <a:rPr lang="en-US" sz="2800" i="1">
                                  <a:solidFill>
                                    <a:srgbClr val="000000"/>
                                  </a:solidFill>
                                  <a:latin typeface="Cambria Math" panose="02040503050406030204" pitchFamily="18" charset="0"/>
                                </a:rPr>
                                <m:t>1+</m:t>
                              </m:r>
                              <m:d>
                                <m:dPr>
                                  <m:ctrlPr>
                                    <a:rPr lang="en-US" sz="2800" i="1">
                                      <a:solidFill>
                                        <a:srgbClr val="000000"/>
                                      </a:solidFill>
                                      <a:latin typeface="Cambria Math" panose="02040503050406030204" pitchFamily="18" charset="0"/>
                                    </a:rPr>
                                  </m:ctrlPr>
                                </m:dPr>
                                <m:e>
                                  <m:r>
                                    <a:rPr lang="en-US" sz="2800" i="1">
                                      <a:solidFill>
                                        <a:srgbClr val="000000"/>
                                      </a:solidFill>
                                      <a:latin typeface="Cambria Math" panose="02040503050406030204" pitchFamily="18" charset="0"/>
                                    </a:rPr>
                                    <m:t>100−1</m:t>
                                  </m:r>
                                </m:e>
                              </m:d>
                              <m:r>
                                <a:rPr lang="en-US" sz="2800" i="1">
                                  <a:solidFill>
                                    <a:srgbClr val="000000"/>
                                  </a:solidFill>
                                  <a:latin typeface="Cambria Math" panose="02040503050406030204" pitchFamily="18" charset="0"/>
                                </a:rPr>
                                <m:t>.01</m:t>
                              </m:r>
                            </m:e>
                          </m:d>
                        </m:num>
                        <m:den>
                          <m:sSup>
                            <m:sSupPr>
                              <m:ctrlPr>
                                <a:rPr lang="en-US" sz="2800" i="1">
                                  <a:solidFill>
                                    <a:srgbClr val="000000"/>
                                  </a:solidFill>
                                  <a:latin typeface="Cambria Math" panose="02040503050406030204" pitchFamily="18" charset="0"/>
                                </a:rPr>
                              </m:ctrlPr>
                            </m:sSupPr>
                            <m:e>
                              <m:r>
                                <a:rPr lang="en-US" sz="2800" b="0" i="1" smtClean="0">
                                  <a:solidFill>
                                    <a:srgbClr val="000000"/>
                                  </a:solidFill>
                                  <a:latin typeface="Cambria Math" panose="02040503050406030204" pitchFamily="18" charset="0"/>
                                </a:rPr>
                                <m:t>100</m:t>
                              </m:r>
                              <m:d>
                                <m:dPr>
                                  <m:ctrlPr>
                                    <a:rPr lang="en-US" sz="2800" i="1">
                                      <a:solidFill>
                                        <a:srgbClr val="000000"/>
                                      </a:solidFill>
                                      <a:latin typeface="Cambria Math" panose="02040503050406030204" pitchFamily="18" charset="0"/>
                                    </a:rPr>
                                  </m:ctrlPr>
                                </m:dPr>
                                <m:e>
                                  <m:r>
                                    <a:rPr lang="en-US" sz="2800" i="1">
                                      <a:solidFill>
                                        <a:srgbClr val="000000"/>
                                      </a:solidFill>
                                      <a:latin typeface="Cambria Math" panose="02040503050406030204" pitchFamily="18" charset="0"/>
                                    </a:rPr>
                                    <m:t>.06−.04</m:t>
                                  </m:r>
                                </m:e>
                              </m:d>
                            </m:e>
                            <m:sup>
                              <m:r>
                                <a:rPr lang="en-US" sz="2800" i="1">
                                  <a:solidFill>
                                    <a:srgbClr val="000000"/>
                                  </a:solidFill>
                                  <a:latin typeface="Cambria Math" panose="02040503050406030204" pitchFamily="18" charset="0"/>
                                </a:rPr>
                                <m:t>2</m:t>
                              </m:r>
                            </m:sup>
                          </m:sSup>
                        </m:den>
                      </m:f>
                    </m:oMath>
                  </m:oMathPara>
                </a14:m>
                <a:endParaRPr lang="en-US" altLang="en-US" sz="2800" dirty="0"/>
              </a:p>
              <a:p>
                <a:endParaRPr lang="en-US" altLang="en-US" sz="2800" dirty="0"/>
              </a:p>
              <a:p>
                <a:pPr algn="ctr"/>
                <a14:m>
                  <m:oMath xmlns:m="http://schemas.openxmlformats.org/officeDocument/2006/math">
                    <m:r>
                      <a:rPr lang="en-US" altLang="en-US" sz="2800" i="1">
                        <a:latin typeface="Cambria Math"/>
                        <a:ea typeface="Cambria Math"/>
                      </a:rPr>
                      <m:t>≈</m:t>
                    </m:r>
                  </m:oMath>
                </a14:m>
                <a:r>
                  <a:rPr lang="en-US" altLang="en-US" sz="2800" dirty="0"/>
                  <a:t>38 schools per intervention group.</a:t>
                </a:r>
                <a:endParaRPr lang="en-CA" altLang="en-US" sz="2800" dirty="0"/>
              </a:p>
            </p:txBody>
          </p:sp>
        </mc:Choice>
        <mc:Fallback xmlns="">
          <p:sp>
            <p:nvSpPr>
              <p:cNvPr id="2" name="TextBox 1">
                <a:extLst>
                  <a:ext uri="{FF2B5EF4-FFF2-40B4-BE49-F238E27FC236}">
                    <a16:creationId xmlns:a16="http://schemas.microsoft.com/office/drawing/2014/main" id="{2DD99771-CB53-4794-B5D8-AB7E40ADA1D2}"/>
                  </a:ext>
                </a:extLst>
              </p:cNvPr>
              <p:cNvSpPr txBox="1">
                <a:spLocks noRot="1" noChangeAspect="1" noMove="1" noResize="1" noEditPoints="1" noAdjustHandles="1" noChangeArrowheads="1" noChangeShapeType="1" noTextEdit="1"/>
              </p:cNvSpPr>
              <p:nvPr/>
            </p:nvSpPr>
            <p:spPr>
              <a:xfrm>
                <a:off x="603839" y="1964725"/>
                <a:ext cx="10769011" cy="3603166"/>
              </a:xfrm>
              <a:prstGeom prst="rect">
                <a:avLst/>
              </a:prstGeom>
              <a:blipFill>
                <a:blip r:embed="rId4"/>
                <a:stretch>
                  <a:fillRect l="-1132" t="-2030" r="-340" b="-3892"/>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AD5745FA-C58B-D347-AFA7-C91E2D0A86C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B1A2212-5514-128E-3680-AB8DD2087775}"/>
              </a:ext>
            </a:extLst>
          </p:cNvPr>
          <p:cNvSpPr>
            <a:spLocks noGrp="1"/>
          </p:cNvSpPr>
          <p:nvPr>
            <p:ph type="sldNum" sz="quarter" idx="12"/>
          </p:nvPr>
        </p:nvSpPr>
        <p:spPr/>
        <p:txBody>
          <a:bodyPr/>
          <a:lstStyle/>
          <a:p>
            <a:fld id="{77C6A7FE-225D-49F1-B302-AA37EA92BB49}" type="slidenum">
              <a:rPr lang="en-US" smtClean="0"/>
              <a:t>54</a:t>
            </a:fld>
            <a:endParaRPr lang="en-US"/>
          </a:p>
        </p:txBody>
      </p:sp>
    </p:spTree>
    <p:extLst>
      <p:ext uri="{BB962C8B-B14F-4D97-AF65-F5344CB8AC3E}">
        <p14:creationId xmlns:p14="http://schemas.microsoft.com/office/powerpoint/2010/main" val="3576316365"/>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084B1E5-8B1F-A8E6-3CD4-92039AE2D0F6}"/>
              </a:ext>
            </a:extLst>
          </p:cNvPr>
          <p:cNvSpPr>
            <a:spLocks noGrp="1"/>
          </p:cNvSpPr>
          <p:nvPr>
            <p:ph type="ftr" sz="quarter" idx="11"/>
          </p:nvPr>
        </p:nvSpPr>
        <p:spPr/>
        <p:txBody>
          <a:bodyPr/>
          <a:lstStyle/>
          <a:p>
            <a:endParaRPr lang="en-US"/>
          </a:p>
        </p:txBody>
      </p:sp>
      <p:pic>
        <p:nvPicPr>
          <p:cNvPr id="4" name="Picture 3">
            <a:extLst>
              <a:ext uri="{FF2B5EF4-FFF2-40B4-BE49-F238E27FC236}">
                <a16:creationId xmlns:a16="http://schemas.microsoft.com/office/drawing/2014/main" id="{A2F26080-6646-78EF-1C55-CE4F671A8754}"/>
              </a:ext>
            </a:extLst>
          </p:cNvPr>
          <p:cNvPicPr>
            <a:picLocks noChangeAspect="1"/>
          </p:cNvPicPr>
          <p:nvPr/>
        </p:nvPicPr>
        <p:blipFill>
          <a:blip r:embed="rId2"/>
          <a:stretch>
            <a:fillRect/>
          </a:stretch>
        </p:blipFill>
        <p:spPr>
          <a:xfrm>
            <a:off x="0" y="0"/>
            <a:ext cx="12192000"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6AE65B54-90B0-D312-1758-4CAC5B56B6C9}"/>
                  </a:ext>
                </a:extLst>
              </p14:cNvPr>
              <p14:cNvContentPartPr/>
              <p14:nvPr/>
            </p14:nvContentPartPr>
            <p14:xfrm>
              <a:off x="5485860" y="4353840"/>
              <a:ext cx="3845880" cy="1088280"/>
            </p14:xfrm>
          </p:contentPart>
        </mc:Choice>
        <mc:Fallback xmlns="">
          <p:pic>
            <p:nvPicPr>
              <p:cNvPr id="5" name="Ink 4">
                <a:extLst>
                  <a:ext uri="{FF2B5EF4-FFF2-40B4-BE49-F238E27FC236}">
                    <a16:creationId xmlns:a16="http://schemas.microsoft.com/office/drawing/2014/main" id="{6AE65B54-90B0-D312-1758-4CAC5B56B6C9}"/>
                  </a:ext>
                </a:extLst>
              </p:cNvPr>
              <p:cNvPicPr/>
              <p:nvPr/>
            </p:nvPicPr>
            <p:blipFill>
              <a:blip r:embed="rId4"/>
              <a:stretch>
                <a:fillRect/>
              </a:stretch>
            </p:blipFill>
            <p:spPr>
              <a:xfrm>
                <a:off x="5476860" y="4344840"/>
                <a:ext cx="3863520" cy="1105920"/>
              </a:xfrm>
              <a:prstGeom prst="rect">
                <a:avLst/>
              </a:prstGeom>
            </p:spPr>
          </p:pic>
        </mc:Fallback>
      </mc:AlternateContent>
      <p:sp>
        <p:nvSpPr>
          <p:cNvPr id="3" name="Slide Number Placeholder 2">
            <a:extLst>
              <a:ext uri="{FF2B5EF4-FFF2-40B4-BE49-F238E27FC236}">
                <a16:creationId xmlns:a16="http://schemas.microsoft.com/office/drawing/2014/main" id="{BA68AB99-9A08-C4E5-C612-0DE9F494CDEC}"/>
              </a:ext>
            </a:extLst>
          </p:cNvPr>
          <p:cNvSpPr>
            <a:spLocks noGrp="1"/>
          </p:cNvSpPr>
          <p:nvPr>
            <p:ph type="sldNum" sz="quarter" idx="12"/>
          </p:nvPr>
        </p:nvSpPr>
        <p:spPr/>
        <p:txBody>
          <a:bodyPr/>
          <a:lstStyle/>
          <a:p>
            <a:fld id="{77C6A7FE-225D-49F1-B302-AA37EA92BB49}" type="slidenum">
              <a:rPr lang="en-US" smtClean="0"/>
              <a:t>55</a:t>
            </a:fld>
            <a:endParaRPr lang="en-US"/>
          </a:p>
        </p:txBody>
      </p:sp>
    </p:spTree>
    <p:extLst>
      <p:ext uri="{BB962C8B-B14F-4D97-AF65-F5344CB8AC3E}">
        <p14:creationId xmlns:p14="http://schemas.microsoft.com/office/powerpoint/2010/main" val="353899875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i="1" dirty="0">
                <a:latin typeface="Arial" panose="020B0604020202020204" pitchFamily="34" charset="0"/>
                <a:cs typeface="Arial" panose="020B0604020202020204" pitchFamily="34" charset="0"/>
              </a:rPr>
              <a:t>Example 2</a:t>
            </a:r>
            <a:r>
              <a:rPr lang="en-US" sz="4400" dirty="0">
                <a:latin typeface="Arial" panose="020B0604020202020204" pitchFamily="34" charset="0"/>
                <a:cs typeface="Arial" panose="020B0604020202020204" pitchFamily="34" charset="0"/>
              </a:rPr>
              <a:t>: (cont.)</a:t>
            </a:r>
            <a:endParaRPr lang="en-US" sz="2800" dirty="0">
              <a:solidFill>
                <a:schemeClr val="bg1"/>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pic>
        <p:nvPicPr>
          <p:cNvPr id="5" name="Picture 4" descr="Graphical user interface, application&#10;&#10;Description automatically generated">
            <a:extLst>
              <a:ext uri="{FF2B5EF4-FFF2-40B4-BE49-F238E27FC236}">
                <a16:creationId xmlns:a16="http://schemas.microsoft.com/office/drawing/2014/main" id="{1085627B-41A4-3E4D-A4A3-12F3C45588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92308" y="0"/>
            <a:ext cx="7607384" cy="6858000"/>
          </a:xfrm>
          <a:prstGeom prst="rect">
            <a:avLst/>
          </a:prstGeom>
        </p:spPr>
      </p:pic>
      <p:sp>
        <p:nvSpPr>
          <p:cNvPr id="2" name="Footer Placeholder 1">
            <a:extLst>
              <a:ext uri="{FF2B5EF4-FFF2-40B4-BE49-F238E27FC236}">
                <a16:creationId xmlns:a16="http://schemas.microsoft.com/office/drawing/2014/main" id="{0474F310-C2BA-6F4A-8B53-ADD3E365A67E}"/>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32E8C24F-EB8F-7158-72BF-74D9EF4F455D}"/>
              </a:ext>
            </a:extLst>
          </p:cNvPr>
          <p:cNvSpPr>
            <a:spLocks noGrp="1"/>
          </p:cNvSpPr>
          <p:nvPr>
            <p:ph type="sldNum" sz="quarter" idx="12"/>
          </p:nvPr>
        </p:nvSpPr>
        <p:spPr/>
        <p:txBody>
          <a:bodyPr/>
          <a:lstStyle/>
          <a:p>
            <a:fld id="{77C6A7FE-225D-49F1-B302-AA37EA92BB49}" type="slidenum">
              <a:rPr lang="en-US" smtClean="0"/>
              <a:t>56</a:t>
            </a:fld>
            <a:endParaRPr lang="en-US"/>
          </a:p>
        </p:txBody>
      </p:sp>
    </p:spTree>
    <p:extLst>
      <p:ext uri="{BB962C8B-B14F-4D97-AF65-F5344CB8AC3E}">
        <p14:creationId xmlns:p14="http://schemas.microsoft.com/office/powerpoint/2010/main" val="14526787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i="1" dirty="0">
                <a:latin typeface="Arial" panose="020B0604020202020204" pitchFamily="34" charset="0"/>
                <a:cs typeface="Arial" panose="020B0604020202020204" pitchFamily="34" charset="0"/>
              </a:rPr>
              <a:t>Example 2</a:t>
            </a:r>
            <a:r>
              <a:rPr lang="en-US" sz="4400" dirty="0">
                <a:latin typeface="Arial" panose="020B0604020202020204" pitchFamily="34" charset="0"/>
                <a:cs typeface="Arial" panose="020B0604020202020204" pitchFamily="34" charset="0"/>
              </a:rPr>
              <a:t>: (cont.)</a:t>
            </a:r>
            <a:endParaRPr lang="en-US" sz="2800" dirty="0">
              <a:solidFill>
                <a:schemeClr val="bg1"/>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pic>
        <p:nvPicPr>
          <p:cNvPr id="3" name="Picture 2" descr="Text&#10;&#10;Description automatically generated with low confidence">
            <a:extLst>
              <a:ext uri="{FF2B5EF4-FFF2-40B4-BE49-F238E27FC236}">
                <a16:creationId xmlns:a16="http://schemas.microsoft.com/office/drawing/2014/main" id="{D64B5711-DE90-3942-8CB9-626B8394FE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16100" y="685800"/>
            <a:ext cx="8559800" cy="5486400"/>
          </a:xfrm>
          <a:prstGeom prst="rect">
            <a:avLst/>
          </a:prstGeom>
        </p:spPr>
      </p:pic>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0BE56F29-3B77-2244-AB96-ABD9AF46B1F7}"/>
                  </a:ext>
                </a:extLst>
              </p14:cNvPr>
              <p14:cNvContentPartPr/>
              <p14:nvPr/>
            </p14:nvContentPartPr>
            <p14:xfrm>
              <a:off x="2599255" y="1806785"/>
              <a:ext cx="2746440" cy="1558800"/>
            </p14:xfrm>
          </p:contentPart>
        </mc:Choice>
        <mc:Fallback xmlns="">
          <p:pic>
            <p:nvPicPr>
              <p:cNvPr id="7" name="Ink 6">
                <a:extLst>
                  <a:ext uri="{FF2B5EF4-FFF2-40B4-BE49-F238E27FC236}">
                    <a16:creationId xmlns:a16="http://schemas.microsoft.com/office/drawing/2014/main" id="{0BE56F29-3B77-2244-AB96-ABD9AF46B1F7}"/>
                  </a:ext>
                </a:extLst>
              </p:cNvPr>
              <p:cNvPicPr/>
              <p:nvPr/>
            </p:nvPicPr>
            <p:blipFill>
              <a:blip r:embed="rId6"/>
              <a:stretch>
                <a:fillRect/>
              </a:stretch>
            </p:blipFill>
            <p:spPr>
              <a:xfrm>
                <a:off x="2590615" y="1798145"/>
                <a:ext cx="2764080" cy="1576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5AB868D7-28E9-F442-897A-B0533DE8D3F1}"/>
                  </a:ext>
                </a:extLst>
              </p14:cNvPr>
              <p14:cNvContentPartPr/>
              <p14:nvPr/>
            </p14:nvContentPartPr>
            <p14:xfrm>
              <a:off x="581455" y="2383145"/>
              <a:ext cx="360" cy="360"/>
            </p14:xfrm>
          </p:contentPart>
        </mc:Choice>
        <mc:Fallback xmlns="">
          <p:pic>
            <p:nvPicPr>
              <p:cNvPr id="8" name="Ink 7">
                <a:extLst>
                  <a:ext uri="{FF2B5EF4-FFF2-40B4-BE49-F238E27FC236}">
                    <a16:creationId xmlns:a16="http://schemas.microsoft.com/office/drawing/2014/main" id="{5AB868D7-28E9-F442-897A-B0533DE8D3F1}"/>
                  </a:ext>
                </a:extLst>
              </p:cNvPr>
              <p:cNvPicPr/>
              <p:nvPr/>
            </p:nvPicPr>
            <p:blipFill>
              <a:blip r:embed="rId8"/>
              <a:stretch>
                <a:fillRect/>
              </a:stretch>
            </p:blipFill>
            <p:spPr>
              <a:xfrm>
                <a:off x="572815" y="2374505"/>
                <a:ext cx="18000" cy="18000"/>
              </a:xfrm>
              <a:prstGeom prst="rect">
                <a:avLst/>
              </a:prstGeom>
            </p:spPr>
          </p:pic>
        </mc:Fallback>
      </mc:AlternateContent>
      <p:sp>
        <p:nvSpPr>
          <p:cNvPr id="2" name="Footer Placeholder 1">
            <a:extLst>
              <a:ext uri="{FF2B5EF4-FFF2-40B4-BE49-F238E27FC236}">
                <a16:creationId xmlns:a16="http://schemas.microsoft.com/office/drawing/2014/main" id="{8236F7E6-8350-3F44-96F9-8A0D8D7CA10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6DA249-7A82-7BEB-DF7C-C37636AE2938}"/>
              </a:ext>
            </a:extLst>
          </p:cNvPr>
          <p:cNvSpPr>
            <a:spLocks noGrp="1"/>
          </p:cNvSpPr>
          <p:nvPr>
            <p:ph type="sldNum" sz="quarter" idx="12"/>
          </p:nvPr>
        </p:nvSpPr>
        <p:spPr/>
        <p:txBody>
          <a:bodyPr/>
          <a:lstStyle/>
          <a:p>
            <a:fld id="{77C6A7FE-225D-49F1-B302-AA37EA92BB49}" type="slidenum">
              <a:rPr lang="en-US" smtClean="0"/>
              <a:t>57</a:t>
            </a:fld>
            <a:endParaRPr lang="en-US"/>
          </a:p>
        </p:txBody>
      </p:sp>
    </p:spTree>
    <p:extLst>
      <p:ext uri="{BB962C8B-B14F-4D97-AF65-F5344CB8AC3E}">
        <p14:creationId xmlns:p14="http://schemas.microsoft.com/office/powerpoint/2010/main" val="246714607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200" dirty="0" err="1">
                <a:solidFill>
                  <a:schemeClr val="bg1"/>
                </a:solidFill>
                <a:latin typeface="Arial" panose="020B0604020202020204" pitchFamily="34" charset="0"/>
                <a:cs typeface="Arial" panose="020B0604020202020204" pitchFamily="34" charset="0"/>
              </a:rPr>
              <a:t>Familia</a:t>
            </a:r>
            <a:r>
              <a:rPr lang="en-US" altLang="en-US" sz="3200" dirty="0">
                <a:solidFill>
                  <a:schemeClr val="bg1"/>
                </a:solidFill>
                <a:latin typeface="Arial" panose="020B0604020202020204" pitchFamily="34" charset="0"/>
                <a:cs typeface="Arial" panose="020B0604020202020204" pitchFamily="34" charset="0"/>
              </a:rPr>
              <a:t> </a:t>
            </a:r>
            <a:r>
              <a:rPr lang="en-US" altLang="en-US" sz="3200" dirty="0" err="1">
                <a:solidFill>
                  <a:schemeClr val="bg1"/>
                </a:solidFill>
                <a:latin typeface="Arial" panose="020B0604020202020204" pitchFamily="34" charset="0"/>
                <a:cs typeface="Arial" panose="020B0604020202020204" pitchFamily="34" charset="0"/>
              </a:rPr>
              <a:t>Salama</a:t>
            </a:r>
            <a:r>
              <a:rPr lang="en-US" altLang="en-US" sz="3200" dirty="0">
                <a:solidFill>
                  <a:schemeClr val="bg1"/>
                </a:solidFill>
                <a:latin typeface="Arial" panose="020B0604020202020204" pitchFamily="34" charset="0"/>
                <a:cs typeface="Arial" panose="020B0604020202020204" pitchFamily="34" charset="0"/>
              </a:rPr>
              <a:t>:</a:t>
            </a:r>
          </a:p>
          <a:p>
            <a:pPr algn="ctr"/>
            <a:r>
              <a:rPr lang="en-US" altLang="en-US" sz="3200" dirty="0">
                <a:solidFill>
                  <a:schemeClr val="bg1"/>
                </a:solidFill>
                <a:latin typeface="Arial" panose="020B0604020202020204" pitchFamily="34" charset="0"/>
                <a:cs typeface="Arial" panose="020B0604020202020204" pitchFamily="34" charset="0"/>
              </a:rPr>
              <a:t>Wards were randomized to one of four arms in this cluster-randomized 2x2 factorial implementation trial</a:t>
            </a:r>
            <a:endParaRPr lang="en-US" sz="32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grpSp>
        <p:nvGrpSpPr>
          <p:cNvPr id="5" name="Group 24">
            <a:extLst>
              <a:ext uri="{FF2B5EF4-FFF2-40B4-BE49-F238E27FC236}">
                <a16:creationId xmlns:a16="http://schemas.microsoft.com/office/drawing/2014/main" id="{7478BBA2-2792-4D63-8001-368212ADBEE3}"/>
              </a:ext>
            </a:extLst>
          </p:cNvPr>
          <p:cNvGrpSpPr>
            <a:grpSpLocks noChangeAspect="1"/>
          </p:cNvGrpSpPr>
          <p:nvPr/>
        </p:nvGrpSpPr>
        <p:grpSpPr bwMode="auto">
          <a:xfrm>
            <a:off x="767100" y="1366248"/>
            <a:ext cx="10983729" cy="2804377"/>
            <a:chOff x="1102" y="3972"/>
            <a:chExt cx="8564" cy="1544"/>
          </a:xfrm>
        </p:grpSpPr>
        <p:sp>
          <p:nvSpPr>
            <p:cNvPr id="7" name="Text Box 37">
              <a:extLst>
                <a:ext uri="{FF2B5EF4-FFF2-40B4-BE49-F238E27FC236}">
                  <a16:creationId xmlns:a16="http://schemas.microsoft.com/office/drawing/2014/main" id="{A6801E2E-7296-423A-AB33-C4F31B0E7409}"/>
                </a:ext>
              </a:extLst>
            </p:cNvPr>
            <p:cNvSpPr txBox="1">
              <a:spLocks noChangeArrowheads="1"/>
            </p:cNvSpPr>
            <p:nvPr/>
          </p:nvSpPr>
          <p:spPr bwMode="auto">
            <a:xfrm>
              <a:off x="4424" y="3972"/>
              <a:ext cx="1630" cy="271"/>
            </a:xfrm>
            <a:prstGeom prst="rect">
              <a:avLst/>
            </a:prstGeom>
            <a:solidFill>
              <a:srgbClr val="FFC000"/>
            </a:solidFill>
            <a:ln w="9525">
              <a:solidFill>
                <a:srgbClr val="000000"/>
              </a:solidFill>
              <a:miter lim="800000"/>
              <a:headEnd/>
              <a:tailEnd/>
            </a:ln>
          </p:spPr>
          <p:txBody>
            <a:bodyPr/>
            <a:lstStyle>
              <a:lvl1pPr eaLnBrk="0" hangingPunct="0">
                <a:defRPr sz="2400">
                  <a:solidFill>
                    <a:schemeClr val="tx1"/>
                  </a:solidFill>
                  <a:latin typeface="Book Antiqua" charset="0"/>
                  <a:ea typeface="ＭＳ Ｐゴシック" charset="0"/>
                  <a:cs typeface="ＭＳ Ｐゴシック" charset="0"/>
                </a:defRPr>
              </a:lvl1pPr>
              <a:lvl2pPr marL="742950" indent="-285750" eaLnBrk="0" hangingPunct="0">
                <a:defRPr sz="2400">
                  <a:solidFill>
                    <a:schemeClr val="tx1"/>
                  </a:solidFill>
                  <a:latin typeface="Book Antiqua" charset="0"/>
                  <a:ea typeface="ＭＳ Ｐゴシック" charset="0"/>
                </a:defRPr>
              </a:lvl2pPr>
              <a:lvl3pPr marL="1143000" indent="-228600" eaLnBrk="0" hangingPunct="0">
                <a:defRPr sz="2400">
                  <a:solidFill>
                    <a:schemeClr val="tx1"/>
                  </a:solidFill>
                  <a:latin typeface="Book Antiqua" charset="0"/>
                  <a:ea typeface="ＭＳ Ｐゴシック" charset="0"/>
                </a:defRPr>
              </a:lvl3pPr>
              <a:lvl4pPr marL="1600200" indent="-228600" eaLnBrk="0" hangingPunct="0">
                <a:defRPr sz="2400">
                  <a:solidFill>
                    <a:schemeClr val="tx1"/>
                  </a:solidFill>
                  <a:latin typeface="Book Antiqua" charset="0"/>
                  <a:ea typeface="ＭＳ Ｐゴシック" charset="0"/>
                </a:defRPr>
              </a:lvl4pPr>
              <a:lvl5pPr marL="2057400" indent="-228600" eaLnBrk="0" hangingPunct="0">
                <a:defRPr sz="2400">
                  <a:solidFill>
                    <a:schemeClr val="tx1"/>
                  </a:solidFill>
                  <a:latin typeface="Book Antiqua" charset="0"/>
                  <a:ea typeface="ＭＳ Ｐゴシック" charset="0"/>
                </a:defRPr>
              </a:lvl5pPr>
              <a:lvl6pPr marL="2514600" indent="-228600" eaLnBrk="0" fontAlgn="base" hangingPunct="0">
                <a:spcBef>
                  <a:spcPct val="0"/>
                </a:spcBef>
                <a:spcAft>
                  <a:spcPct val="0"/>
                </a:spcAft>
                <a:defRPr sz="2400">
                  <a:solidFill>
                    <a:schemeClr val="tx1"/>
                  </a:solidFill>
                  <a:latin typeface="Book Antiqua" charset="0"/>
                  <a:ea typeface="ＭＳ Ｐゴシック" charset="0"/>
                </a:defRPr>
              </a:lvl6pPr>
              <a:lvl7pPr marL="2971800" indent="-228600" eaLnBrk="0" fontAlgn="base" hangingPunct="0">
                <a:spcBef>
                  <a:spcPct val="0"/>
                </a:spcBef>
                <a:spcAft>
                  <a:spcPct val="0"/>
                </a:spcAft>
                <a:defRPr sz="2400">
                  <a:solidFill>
                    <a:schemeClr val="tx1"/>
                  </a:solidFill>
                  <a:latin typeface="Book Antiqua" charset="0"/>
                  <a:ea typeface="ＭＳ Ｐゴシック" charset="0"/>
                </a:defRPr>
              </a:lvl7pPr>
              <a:lvl8pPr marL="3429000" indent="-228600" eaLnBrk="0" fontAlgn="base" hangingPunct="0">
                <a:spcBef>
                  <a:spcPct val="0"/>
                </a:spcBef>
                <a:spcAft>
                  <a:spcPct val="0"/>
                </a:spcAft>
                <a:defRPr sz="2400">
                  <a:solidFill>
                    <a:schemeClr val="tx1"/>
                  </a:solidFill>
                  <a:latin typeface="Book Antiqua" charset="0"/>
                  <a:ea typeface="ＭＳ Ｐゴシック" charset="0"/>
                </a:defRPr>
              </a:lvl8pPr>
              <a:lvl9pPr marL="3886200" indent="-228600" eaLnBrk="0" fontAlgn="base" hangingPunct="0">
                <a:spcBef>
                  <a:spcPct val="0"/>
                </a:spcBef>
                <a:spcAft>
                  <a:spcPct val="0"/>
                </a:spcAft>
                <a:defRPr sz="2400">
                  <a:solidFill>
                    <a:schemeClr val="tx1"/>
                  </a:solidFill>
                  <a:latin typeface="Book Antiqua" charset="0"/>
                  <a:ea typeface="ＭＳ Ｐゴシック" charset="0"/>
                </a:defRPr>
              </a:lvl9pPr>
            </a:lstStyle>
            <a:p>
              <a:pPr algn="ctr" eaLnBrk="1" hangingPunct="1">
                <a:defRPr/>
              </a:pPr>
              <a:r>
                <a:rPr lang="en-US" sz="1600" b="1" dirty="0">
                  <a:latin typeface="+mn-lt"/>
                  <a:cs typeface="Times New Roman" charset="0"/>
                </a:rPr>
                <a:t>60 wards</a:t>
              </a:r>
              <a:endParaRPr lang="en-US" sz="1600" dirty="0">
                <a:latin typeface="+mn-lt"/>
              </a:endParaRPr>
            </a:p>
          </p:txBody>
        </p:sp>
        <p:sp>
          <p:nvSpPr>
            <p:cNvPr id="8" name="Text Box 36">
              <a:extLst>
                <a:ext uri="{FF2B5EF4-FFF2-40B4-BE49-F238E27FC236}">
                  <a16:creationId xmlns:a16="http://schemas.microsoft.com/office/drawing/2014/main" id="{7BA26958-9CAA-4FE2-A78F-5F049A2738E0}"/>
                </a:ext>
              </a:extLst>
            </p:cNvPr>
            <p:cNvSpPr txBox="1">
              <a:spLocks noChangeArrowheads="1"/>
            </p:cNvSpPr>
            <p:nvPr/>
          </p:nvSpPr>
          <p:spPr bwMode="auto">
            <a:xfrm>
              <a:off x="2508" y="4530"/>
              <a:ext cx="2565" cy="337"/>
            </a:xfrm>
            <a:prstGeom prst="rect">
              <a:avLst/>
            </a:prstGeom>
            <a:solidFill>
              <a:schemeClr val="bg1">
                <a:lumMod val="65000"/>
              </a:schemeClr>
            </a:solidFill>
            <a:ln w="9525">
              <a:solidFill>
                <a:srgbClr val="000000"/>
              </a:solidFill>
              <a:miter lim="800000"/>
              <a:headEnd/>
              <a:tailEnd/>
            </a:ln>
          </p:spPr>
          <p:txBody>
            <a:bodyPr/>
            <a:lstStyle/>
            <a:p>
              <a:pPr>
                <a:defRPr/>
              </a:pPr>
              <a:r>
                <a:rPr lang="en-US" sz="1600" dirty="0">
                  <a:ea typeface="Times New Roman" pitchFamily="18" charset="0"/>
                  <a:cs typeface="Arial" charset="0"/>
                </a:rPr>
                <a:t>Community intervention:</a:t>
              </a:r>
              <a:endParaRPr lang="en-US" sz="1600" dirty="0">
                <a:cs typeface="Arial" charset="0"/>
              </a:endParaRPr>
            </a:p>
            <a:p>
              <a:pPr eaLnBrk="0" hangingPunct="0">
                <a:defRPr/>
              </a:pPr>
              <a:r>
                <a:rPr lang="en-US" sz="1600" b="1" dirty="0">
                  <a:ea typeface="Times New Roman" pitchFamily="18" charset="0"/>
                  <a:cs typeface="Arial" charset="0"/>
                </a:rPr>
                <a:t>36 wards</a:t>
              </a:r>
              <a:endParaRPr lang="en-US" sz="1600" dirty="0">
                <a:cs typeface="Arial" charset="0"/>
              </a:endParaRPr>
            </a:p>
          </p:txBody>
        </p:sp>
        <p:sp>
          <p:nvSpPr>
            <p:cNvPr id="9" name="Text Box 35">
              <a:extLst>
                <a:ext uri="{FF2B5EF4-FFF2-40B4-BE49-F238E27FC236}">
                  <a16:creationId xmlns:a16="http://schemas.microsoft.com/office/drawing/2014/main" id="{55A4F7FD-6DA1-402F-ADBE-D30E4AE150F8}"/>
                </a:ext>
              </a:extLst>
            </p:cNvPr>
            <p:cNvSpPr txBox="1">
              <a:spLocks noChangeArrowheads="1"/>
            </p:cNvSpPr>
            <p:nvPr/>
          </p:nvSpPr>
          <p:spPr bwMode="auto">
            <a:xfrm>
              <a:off x="5924" y="4498"/>
              <a:ext cx="2875" cy="369"/>
            </a:xfrm>
            <a:prstGeom prst="rect">
              <a:avLst/>
            </a:prstGeom>
            <a:solidFill>
              <a:schemeClr val="accent4"/>
            </a:solidFill>
            <a:ln w="9525">
              <a:solidFill>
                <a:srgbClr val="000000"/>
              </a:solidFill>
              <a:miter lim="800000"/>
              <a:headEnd/>
              <a:tailEnd/>
            </a:ln>
          </p:spPr>
          <p:txBody>
            <a:bodyPr/>
            <a:lstStyle/>
            <a:p>
              <a:pPr>
                <a:defRPr/>
              </a:pPr>
              <a:r>
                <a:rPr lang="en-US" sz="1600" dirty="0">
                  <a:ea typeface="Times New Roman" pitchFamily="18" charset="0"/>
                  <a:cs typeface="Arial" charset="0"/>
                </a:rPr>
                <a:t>No community intervention</a:t>
              </a:r>
              <a:r>
                <a:rPr lang="en-US" sz="1600" dirty="0">
                  <a:cs typeface="Arial" charset="0"/>
                </a:rPr>
                <a:t>:</a:t>
              </a:r>
            </a:p>
            <a:p>
              <a:pPr>
                <a:defRPr/>
              </a:pPr>
              <a:r>
                <a:rPr lang="en-US" sz="1600" dirty="0">
                  <a:cs typeface="Arial" charset="0"/>
                </a:rPr>
                <a:t> </a:t>
              </a:r>
              <a:r>
                <a:rPr lang="en-US" sz="1600" b="1" dirty="0">
                  <a:ea typeface="Times New Roman" pitchFamily="18" charset="0"/>
                  <a:cs typeface="Arial" charset="0"/>
                </a:rPr>
                <a:t>24 wards</a:t>
              </a:r>
              <a:endParaRPr lang="en-US" sz="1600" dirty="0">
                <a:cs typeface="Arial" charset="0"/>
              </a:endParaRPr>
            </a:p>
          </p:txBody>
        </p:sp>
        <p:sp>
          <p:nvSpPr>
            <p:cNvPr id="10" name="Text Box 34">
              <a:extLst>
                <a:ext uri="{FF2B5EF4-FFF2-40B4-BE49-F238E27FC236}">
                  <a16:creationId xmlns:a16="http://schemas.microsoft.com/office/drawing/2014/main" id="{8ACFB77E-DBB3-4A7C-AF26-7C082C0790C0}"/>
                </a:ext>
              </a:extLst>
            </p:cNvPr>
            <p:cNvSpPr txBox="1">
              <a:spLocks noChangeArrowheads="1"/>
            </p:cNvSpPr>
            <p:nvPr/>
          </p:nvSpPr>
          <p:spPr bwMode="auto">
            <a:xfrm>
              <a:off x="1102" y="5171"/>
              <a:ext cx="1946" cy="337"/>
            </a:xfrm>
            <a:prstGeom prst="rect">
              <a:avLst/>
            </a:prstGeom>
            <a:solidFill>
              <a:schemeClr val="bg2">
                <a:lumMod val="75000"/>
              </a:schemeClr>
            </a:solidFill>
            <a:ln w="9525">
              <a:solidFill>
                <a:srgbClr val="000000"/>
              </a:solidFill>
              <a:miter lim="800000"/>
              <a:headEnd/>
              <a:tailEnd/>
            </a:ln>
          </p:spPr>
          <p:txBody>
            <a:bodyPr lIns="18288" tIns="18288" rIns="18288" bIns="18288"/>
            <a:lstStyle/>
            <a:p>
              <a:pPr>
                <a:defRPr/>
              </a:pPr>
              <a:r>
                <a:rPr lang="en-US" sz="1600" dirty="0">
                  <a:ea typeface="Times New Roman" pitchFamily="18" charset="0"/>
                  <a:cs typeface="Arial" charset="0"/>
                </a:rPr>
                <a:t>Option B: </a:t>
              </a:r>
              <a:r>
                <a:rPr lang="en-US" sz="1600" b="1" dirty="0">
                  <a:ea typeface="Times New Roman" pitchFamily="18" charset="0"/>
                  <a:cs typeface="Arial" charset="0"/>
                </a:rPr>
                <a:t>22 wards </a:t>
              </a:r>
            </a:p>
            <a:p>
              <a:pPr>
                <a:defRPr/>
              </a:pPr>
              <a:r>
                <a:rPr lang="en-US" sz="1600" dirty="0">
                  <a:ea typeface="Times New Roman" pitchFamily="18" charset="0"/>
                  <a:cs typeface="Arial" charset="0"/>
                </a:rPr>
                <a:t>(36,540 pregnancies)</a:t>
              </a:r>
              <a:endParaRPr lang="en-US" sz="1600" dirty="0">
                <a:cs typeface="Arial" charset="0"/>
              </a:endParaRPr>
            </a:p>
            <a:p>
              <a:pPr eaLnBrk="0" hangingPunct="0">
                <a:defRPr/>
              </a:pPr>
              <a:endParaRPr lang="en-US" sz="1600" dirty="0">
                <a:cs typeface="Arial" charset="0"/>
              </a:endParaRPr>
            </a:p>
          </p:txBody>
        </p:sp>
        <p:sp>
          <p:nvSpPr>
            <p:cNvPr id="11" name="Text Box 33">
              <a:extLst>
                <a:ext uri="{FF2B5EF4-FFF2-40B4-BE49-F238E27FC236}">
                  <a16:creationId xmlns:a16="http://schemas.microsoft.com/office/drawing/2014/main" id="{641E854C-0D3A-4BF6-BFF0-90627A102CD1}"/>
                </a:ext>
              </a:extLst>
            </p:cNvPr>
            <p:cNvSpPr txBox="1">
              <a:spLocks noChangeArrowheads="1"/>
            </p:cNvSpPr>
            <p:nvPr/>
          </p:nvSpPr>
          <p:spPr bwMode="auto">
            <a:xfrm>
              <a:off x="3333" y="5180"/>
              <a:ext cx="1986" cy="336"/>
            </a:xfrm>
            <a:prstGeom prst="rect">
              <a:avLst/>
            </a:prstGeom>
            <a:solidFill>
              <a:schemeClr val="accent6">
                <a:lumMod val="40000"/>
                <a:lumOff val="60000"/>
              </a:schemeClr>
            </a:solidFill>
            <a:ln w="9525">
              <a:solidFill>
                <a:srgbClr val="000000"/>
              </a:solidFill>
              <a:miter lim="800000"/>
              <a:headEnd/>
              <a:tailEnd/>
            </a:ln>
          </p:spPr>
          <p:txBody>
            <a:bodyPr lIns="18288" tIns="18288" rIns="18288" bIns="18288"/>
            <a:lstStyle/>
            <a:p>
              <a:pPr>
                <a:defRPr/>
              </a:pPr>
              <a:r>
                <a:rPr lang="en-US" sz="1600" dirty="0">
                  <a:ea typeface="Times New Roman" pitchFamily="18" charset="0"/>
                  <a:cs typeface="Arial" charset="0"/>
                </a:rPr>
                <a:t>Option A:</a:t>
              </a:r>
              <a:r>
                <a:rPr lang="en-US" sz="1600" b="1" dirty="0">
                  <a:ea typeface="Times New Roman" pitchFamily="18" charset="0"/>
                  <a:cs typeface="Arial" charset="0"/>
                </a:rPr>
                <a:t> 14 wards </a:t>
              </a:r>
              <a:r>
                <a:rPr lang="en-US" sz="1600" dirty="0">
                  <a:ea typeface="Times New Roman" pitchFamily="18" charset="0"/>
                  <a:cs typeface="Arial" charset="0"/>
                </a:rPr>
                <a:t>(35,622 pregnancies)</a:t>
              </a:r>
              <a:endParaRPr lang="en-US" sz="1600" dirty="0">
                <a:cs typeface="Arial" charset="0"/>
              </a:endParaRPr>
            </a:p>
            <a:p>
              <a:pPr eaLnBrk="0" hangingPunct="0">
                <a:defRPr/>
              </a:pPr>
              <a:endParaRPr lang="en-US" sz="1600" dirty="0">
                <a:cs typeface="Arial" charset="0"/>
              </a:endParaRPr>
            </a:p>
          </p:txBody>
        </p:sp>
        <p:sp>
          <p:nvSpPr>
            <p:cNvPr id="12" name="Text Box 32">
              <a:extLst>
                <a:ext uri="{FF2B5EF4-FFF2-40B4-BE49-F238E27FC236}">
                  <a16:creationId xmlns:a16="http://schemas.microsoft.com/office/drawing/2014/main" id="{DB96394F-9C66-48C0-86DE-7E7AF151FA1B}"/>
                </a:ext>
              </a:extLst>
            </p:cNvPr>
            <p:cNvSpPr txBox="1">
              <a:spLocks noChangeArrowheads="1"/>
            </p:cNvSpPr>
            <p:nvPr/>
          </p:nvSpPr>
          <p:spPr bwMode="auto">
            <a:xfrm>
              <a:off x="5556" y="5180"/>
              <a:ext cx="1986" cy="336"/>
            </a:xfrm>
            <a:prstGeom prst="rect">
              <a:avLst/>
            </a:prstGeom>
            <a:solidFill>
              <a:schemeClr val="bg2">
                <a:lumMod val="75000"/>
              </a:schemeClr>
            </a:solidFill>
            <a:ln w="9525">
              <a:solidFill>
                <a:srgbClr val="000000"/>
              </a:solidFill>
              <a:miter lim="800000"/>
              <a:headEnd/>
              <a:tailEnd/>
            </a:ln>
          </p:spPr>
          <p:txBody>
            <a:bodyPr lIns="18288" tIns="18288" rIns="18288" bIns="18288"/>
            <a:lstStyle/>
            <a:p>
              <a:pPr>
                <a:defRPr/>
              </a:pPr>
              <a:r>
                <a:rPr lang="en-US" sz="1600" dirty="0">
                  <a:ea typeface="Times New Roman" pitchFamily="18" charset="0"/>
                  <a:cs typeface="Arial" charset="0"/>
                </a:rPr>
                <a:t>Option B: </a:t>
              </a:r>
              <a:r>
                <a:rPr lang="en-US" sz="1600" b="1" dirty="0">
                  <a:ea typeface="Times New Roman" pitchFamily="18" charset="0"/>
                  <a:cs typeface="Arial" charset="0"/>
                </a:rPr>
                <a:t>10 wards</a:t>
              </a:r>
              <a:r>
                <a:rPr lang="en-US" sz="1600" dirty="0">
                  <a:ea typeface="Times New Roman" pitchFamily="18" charset="0"/>
                  <a:cs typeface="Arial" charset="0"/>
                </a:rPr>
                <a:t> (44,424 pregnancies)</a:t>
              </a:r>
              <a:endParaRPr lang="en-US" sz="1600" dirty="0">
                <a:cs typeface="Arial" charset="0"/>
              </a:endParaRPr>
            </a:p>
          </p:txBody>
        </p:sp>
        <p:sp>
          <p:nvSpPr>
            <p:cNvPr id="13" name="Text Box 31">
              <a:extLst>
                <a:ext uri="{FF2B5EF4-FFF2-40B4-BE49-F238E27FC236}">
                  <a16:creationId xmlns:a16="http://schemas.microsoft.com/office/drawing/2014/main" id="{88082F7A-8CBE-4423-B16A-0EF926F9FB5D}"/>
                </a:ext>
              </a:extLst>
            </p:cNvPr>
            <p:cNvSpPr txBox="1">
              <a:spLocks noChangeArrowheads="1"/>
            </p:cNvSpPr>
            <p:nvPr/>
          </p:nvSpPr>
          <p:spPr bwMode="auto">
            <a:xfrm>
              <a:off x="7690" y="5180"/>
              <a:ext cx="1976" cy="334"/>
            </a:xfrm>
            <a:prstGeom prst="rect">
              <a:avLst/>
            </a:prstGeom>
            <a:solidFill>
              <a:schemeClr val="accent6">
                <a:lumMod val="40000"/>
                <a:lumOff val="60000"/>
              </a:schemeClr>
            </a:solidFill>
            <a:ln w="9525">
              <a:solidFill>
                <a:srgbClr val="000000"/>
              </a:solidFill>
              <a:miter lim="800000"/>
              <a:headEnd/>
              <a:tailEnd/>
            </a:ln>
          </p:spPr>
          <p:txBody>
            <a:bodyPr lIns="18288" tIns="18288" rIns="18288" bIns="18288"/>
            <a:lstStyle/>
            <a:p>
              <a:pPr>
                <a:defRPr/>
              </a:pPr>
              <a:r>
                <a:rPr lang="en-US" sz="1600" dirty="0">
                  <a:ea typeface="Times New Roman" pitchFamily="18" charset="0"/>
                  <a:cs typeface="Arial" charset="0"/>
                </a:rPr>
                <a:t>Option A: </a:t>
              </a:r>
              <a:r>
                <a:rPr lang="en-US" sz="1600" b="1" dirty="0">
                  <a:ea typeface="Times New Roman" pitchFamily="18" charset="0"/>
                  <a:cs typeface="Arial" charset="0"/>
                </a:rPr>
                <a:t>14 wards</a:t>
              </a:r>
              <a:r>
                <a:rPr lang="en-US" sz="1600" dirty="0">
                  <a:ea typeface="Times New Roman" pitchFamily="18" charset="0"/>
                  <a:cs typeface="Arial" charset="0"/>
                </a:rPr>
                <a:t> </a:t>
              </a:r>
            </a:p>
            <a:p>
              <a:pPr>
                <a:defRPr/>
              </a:pPr>
              <a:r>
                <a:rPr lang="en-US" sz="1600" dirty="0">
                  <a:ea typeface="Times New Roman" pitchFamily="18" charset="0"/>
                  <a:cs typeface="Arial" charset="0"/>
                </a:rPr>
                <a:t>(37,098</a:t>
              </a:r>
              <a:r>
                <a:rPr lang="en-US" sz="1600" b="1" dirty="0">
                  <a:ea typeface="Times New Roman" pitchFamily="18" charset="0"/>
                  <a:cs typeface="Arial" charset="0"/>
                </a:rPr>
                <a:t> </a:t>
              </a:r>
              <a:r>
                <a:rPr lang="en-US" sz="1600" dirty="0">
                  <a:ea typeface="Times New Roman" pitchFamily="18" charset="0"/>
                  <a:cs typeface="Arial" charset="0"/>
                </a:rPr>
                <a:t>pregnancies)</a:t>
              </a:r>
              <a:endParaRPr lang="en-US" sz="1600" dirty="0">
                <a:cs typeface="Arial" charset="0"/>
              </a:endParaRPr>
            </a:p>
          </p:txBody>
        </p:sp>
        <p:cxnSp>
          <p:nvCxnSpPr>
            <p:cNvPr id="14" name="AutoShape 30">
              <a:extLst>
                <a:ext uri="{FF2B5EF4-FFF2-40B4-BE49-F238E27FC236}">
                  <a16:creationId xmlns:a16="http://schemas.microsoft.com/office/drawing/2014/main" id="{9EF0938E-5BC0-4916-9110-62BAB9A68A4A}"/>
                </a:ext>
              </a:extLst>
            </p:cNvPr>
            <p:cNvCxnSpPr>
              <a:cxnSpLocks noChangeShapeType="1"/>
            </p:cNvCxnSpPr>
            <p:nvPr/>
          </p:nvCxnSpPr>
          <p:spPr bwMode="auto">
            <a:xfrm flipH="1">
              <a:off x="3551" y="4246"/>
              <a:ext cx="1535" cy="257"/>
            </a:xfrm>
            <a:prstGeom prst="straightConnector1">
              <a:avLst/>
            </a:prstGeom>
            <a:noFill/>
            <a:ln w="9525">
              <a:solidFill>
                <a:srgbClr val="000000"/>
              </a:solidFill>
              <a:round/>
              <a:headEnd/>
              <a:tailEnd type="triangle" w="med" len="med"/>
            </a:ln>
          </p:spPr>
        </p:cxnSp>
        <p:cxnSp>
          <p:nvCxnSpPr>
            <p:cNvPr id="15" name="AutoShape 29">
              <a:extLst>
                <a:ext uri="{FF2B5EF4-FFF2-40B4-BE49-F238E27FC236}">
                  <a16:creationId xmlns:a16="http://schemas.microsoft.com/office/drawing/2014/main" id="{4978974F-662B-40C6-8229-6930B58B084D}"/>
                </a:ext>
              </a:extLst>
            </p:cNvPr>
            <p:cNvCxnSpPr>
              <a:cxnSpLocks noChangeShapeType="1"/>
              <a:stCxn id="7" idx="2"/>
            </p:cNvCxnSpPr>
            <p:nvPr/>
          </p:nvCxnSpPr>
          <p:spPr bwMode="auto">
            <a:xfrm>
              <a:off x="5239" y="4243"/>
              <a:ext cx="1653" cy="255"/>
            </a:xfrm>
            <a:prstGeom prst="straightConnector1">
              <a:avLst/>
            </a:prstGeom>
            <a:noFill/>
            <a:ln w="9525">
              <a:solidFill>
                <a:srgbClr val="000000"/>
              </a:solidFill>
              <a:round/>
              <a:headEnd/>
              <a:tailEnd type="triangle" w="med" len="med"/>
            </a:ln>
          </p:spPr>
        </p:cxnSp>
        <p:cxnSp>
          <p:nvCxnSpPr>
            <p:cNvPr id="16" name="AutoShape 28">
              <a:extLst>
                <a:ext uri="{FF2B5EF4-FFF2-40B4-BE49-F238E27FC236}">
                  <a16:creationId xmlns:a16="http://schemas.microsoft.com/office/drawing/2014/main" id="{11985E94-F5B5-486A-B5F3-59B0F5AE99E6}"/>
                </a:ext>
              </a:extLst>
            </p:cNvPr>
            <p:cNvCxnSpPr>
              <a:cxnSpLocks noChangeShapeType="1"/>
            </p:cNvCxnSpPr>
            <p:nvPr/>
          </p:nvCxnSpPr>
          <p:spPr bwMode="auto">
            <a:xfrm flipH="1">
              <a:off x="2635" y="4867"/>
              <a:ext cx="826" cy="278"/>
            </a:xfrm>
            <a:prstGeom prst="straightConnector1">
              <a:avLst/>
            </a:prstGeom>
            <a:noFill/>
            <a:ln w="9525">
              <a:solidFill>
                <a:srgbClr val="000000"/>
              </a:solidFill>
              <a:round/>
              <a:headEnd/>
              <a:tailEnd type="triangle" w="med" len="med"/>
            </a:ln>
          </p:spPr>
        </p:cxnSp>
        <p:cxnSp>
          <p:nvCxnSpPr>
            <p:cNvPr id="17" name="AutoShape 27">
              <a:extLst>
                <a:ext uri="{FF2B5EF4-FFF2-40B4-BE49-F238E27FC236}">
                  <a16:creationId xmlns:a16="http://schemas.microsoft.com/office/drawing/2014/main" id="{3D9F101A-8188-4DE0-A345-D4F40189CAC5}"/>
                </a:ext>
              </a:extLst>
            </p:cNvPr>
            <p:cNvCxnSpPr>
              <a:cxnSpLocks noChangeShapeType="1"/>
            </p:cNvCxnSpPr>
            <p:nvPr/>
          </p:nvCxnSpPr>
          <p:spPr bwMode="auto">
            <a:xfrm>
              <a:off x="3819" y="4867"/>
              <a:ext cx="620" cy="278"/>
            </a:xfrm>
            <a:prstGeom prst="straightConnector1">
              <a:avLst/>
            </a:prstGeom>
            <a:noFill/>
            <a:ln w="9525">
              <a:solidFill>
                <a:srgbClr val="000000"/>
              </a:solidFill>
              <a:round/>
              <a:headEnd/>
              <a:tailEnd type="triangle" w="med" len="med"/>
            </a:ln>
          </p:spPr>
        </p:cxnSp>
        <p:cxnSp>
          <p:nvCxnSpPr>
            <p:cNvPr id="18" name="AutoShape 26">
              <a:extLst>
                <a:ext uri="{FF2B5EF4-FFF2-40B4-BE49-F238E27FC236}">
                  <a16:creationId xmlns:a16="http://schemas.microsoft.com/office/drawing/2014/main" id="{80A42BFD-A3F6-42BE-B5A5-4016FD863879}"/>
                </a:ext>
              </a:extLst>
            </p:cNvPr>
            <p:cNvCxnSpPr>
              <a:cxnSpLocks noChangeShapeType="1"/>
              <a:stCxn id="9" idx="2"/>
            </p:cNvCxnSpPr>
            <p:nvPr/>
          </p:nvCxnSpPr>
          <p:spPr bwMode="auto">
            <a:xfrm flipH="1">
              <a:off x="6712" y="4867"/>
              <a:ext cx="650" cy="271"/>
            </a:xfrm>
            <a:prstGeom prst="straightConnector1">
              <a:avLst/>
            </a:prstGeom>
            <a:noFill/>
            <a:ln w="9525">
              <a:solidFill>
                <a:srgbClr val="000000"/>
              </a:solidFill>
              <a:round/>
              <a:headEnd/>
              <a:tailEnd type="triangle" w="med" len="med"/>
            </a:ln>
          </p:spPr>
        </p:cxnSp>
        <p:cxnSp>
          <p:nvCxnSpPr>
            <p:cNvPr id="19" name="AutoShape 25">
              <a:extLst>
                <a:ext uri="{FF2B5EF4-FFF2-40B4-BE49-F238E27FC236}">
                  <a16:creationId xmlns:a16="http://schemas.microsoft.com/office/drawing/2014/main" id="{0BACCF19-529D-4122-BC9D-9D3CBBDCBE0A}"/>
                </a:ext>
              </a:extLst>
            </p:cNvPr>
            <p:cNvCxnSpPr>
              <a:cxnSpLocks noChangeShapeType="1"/>
            </p:cNvCxnSpPr>
            <p:nvPr/>
          </p:nvCxnSpPr>
          <p:spPr bwMode="auto">
            <a:xfrm>
              <a:off x="7690" y="4867"/>
              <a:ext cx="625" cy="278"/>
            </a:xfrm>
            <a:prstGeom prst="straightConnector1">
              <a:avLst/>
            </a:prstGeom>
            <a:noFill/>
            <a:ln w="9525">
              <a:solidFill>
                <a:srgbClr val="000000"/>
              </a:solidFill>
              <a:round/>
              <a:headEnd/>
              <a:tailEnd type="triangle" w="med" len="med"/>
            </a:ln>
          </p:spPr>
        </p:cxnSp>
      </p:grpSp>
      <p:sp>
        <p:nvSpPr>
          <p:cNvPr id="24" name="TextBox 23">
            <a:extLst>
              <a:ext uri="{FF2B5EF4-FFF2-40B4-BE49-F238E27FC236}">
                <a16:creationId xmlns:a16="http://schemas.microsoft.com/office/drawing/2014/main" id="{5932AC1D-9B86-4589-84C1-513B42DA5573}"/>
              </a:ext>
            </a:extLst>
          </p:cNvPr>
          <p:cNvSpPr txBox="1"/>
          <p:nvPr/>
        </p:nvSpPr>
        <p:spPr>
          <a:xfrm>
            <a:off x="4026026" y="4410250"/>
            <a:ext cx="6184490" cy="1938992"/>
          </a:xfrm>
          <a:prstGeom prst="rect">
            <a:avLst/>
          </a:prstGeom>
          <a:noFill/>
        </p:spPr>
        <p:txBody>
          <a:bodyPr wrap="square">
            <a:spAutoFit/>
          </a:bodyPr>
          <a:lstStyle/>
          <a:p>
            <a:r>
              <a:rPr lang="en-US" sz="2400" dirty="0"/>
              <a:t>80,964 B vs. 77,720 A expected,</a:t>
            </a:r>
          </a:p>
          <a:p>
            <a:r>
              <a:rPr lang="en-US" sz="2400" dirty="0"/>
              <a:t>89,014 B vs. 98,419 A observed</a:t>
            </a:r>
          </a:p>
          <a:p>
            <a:endParaRPr lang="en-US" sz="2400" dirty="0"/>
          </a:p>
          <a:p>
            <a:r>
              <a:rPr lang="en-US" sz="2400" dirty="0"/>
              <a:t>72,162 CHW vs. 81,522 SOC expected</a:t>
            </a:r>
          </a:p>
          <a:p>
            <a:r>
              <a:rPr lang="en-US" sz="2400" dirty="0"/>
              <a:t>103,628 CHW vs. 83,805 SOC observed</a:t>
            </a:r>
          </a:p>
        </p:txBody>
      </p:sp>
      <p:sp>
        <p:nvSpPr>
          <p:cNvPr id="2" name="Footer Placeholder 1">
            <a:extLst>
              <a:ext uri="{FF2B5EF4-FFF2-40B4-BE49-F238E27FC236}">
                <a16:creationId xmlns:a16="http://schemas.microsoft.com/office/drawing/2014/main" id="{9F184B07-E0B1-7843-859F-22F35792B4CF}"/>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ACD817BE-2987-97B3-3A1C-0732163746F6}"/>
              </a:ext>
            </a:extLst>
          </p:cNvPr>
          <p:cNvSpPr>
            <a:spLocks noGrp="1"/>
          </p:cNvSpPr>
          <p:nvPr>
            <p:ph type="sldNum" sz="quarter" idx="12"/>
          </p:nvPr>
        </p:nvSpPr>
        <p:spPr/>
        <p:txBody>
          <a:bodyPr/>
          <a:lstStyle/>
          <a:p>
            <a:fld id="{77C6A7FE-225D-49F1-B302-AA37EA92BB49}" type="slidenum">
              <a:rPr lang="en-US" smtClean="0"/>
              <a:t>58</a:t>
            </a:fld>
            <a:endParaRPr lang="en-US"/>
          </a:p>
        </p:txBody>
      </p:sp>
    </p:spTree>
    <p:extLst>
      <p:ext uri="{BB962C8B-B14F-4D97-AF65-F5344CB8AC3E}">
        <p14:creationId xmlns:p14="http://schemas.microsoft.com/office/powerpoint/2010/main" val="211869167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FA2AFBA0-B906-4A1A-8F2B-7DABBA8D5113}"/>
                  </a:ext>
                </a:extLst>
              </p:cNvPr>
              <p:cNvSpPr/>
              <p:nvPr/>
            </p:nvSpPr>
            <p:spPr>
              <a:xfrm>
                <a:off x="0" y="-18029"/>
                <a:ext cx="12192000" cy="932429"/>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200" b="1" dirty="0">
                    <a:solidFill>
                      <a:schemeClr val="bg1"/>
                    </a:solidFill>
                    <a:latin typeface="Arial" panose="020B0604020202020204" pitchFamily="34" charset="0"/>
                    <a:cs typeface="Arial" panose="020B0604020202020204" pitchFamily="34" charset="0"/>
                  </a:rPr>
                  <a:t>Let’s find the minimum detectable PMTCT rate difference (</a:t>
                </a:r>
                <a14:m>
                  <m:oMath xmlns:m="http://schemas.openxmlformats.org/officeDocument/2006/math">
                    <m:r>
                      <a:rPr lang="en-US" altLang="en-US" sz="3200" b="1" i="1" dirty="0" smtClean="0">
                        <a:solidFill>
                          <a:schemeClr val="bg1"/>
                        </a:solidFill>
                        <a:latin typeface="Cambria Math" panose="02040503050406030204" pitchFamily="18" charset="0"/>
                        <a:cs typeface="Arial" panose="020B0604020202020204" pitchFamily="34" charset="0"/>
                      </a:rPr>
                      <m:t>𝑹𝑹</m:t>
                    </m:r>
                  </m:oMath>
                </a14:m>
                <a:r>
                  <a:rPr lang="en-US" altLang="en-US" sz="3200" b="1" dirty="0">
                    <a:solidFill>
                      <a:schemeClr val="bg1"/>
                    </a:solidFill>
                    <a:latin typeface="Arial" panose="020B0604020202020204" pitchFamily="34" charset="0"/>
                    <a:cs typeface="Arial" panose="020B0604020202020204" pitchFamily="34" charset="0"/>
                  </a:rPr>
                  <a:t>) comparing Option B to A, Familia Salama (</a:t>
                </a:r>
                <a14:m>
                  <m:oMath xmlns:m="http://schemas.openxmlformats.org/officeDocument/2006/math">
                    <m:sSub>
                      <m:sSubPr>
                        <m:ctrlPr>
                          <a:rPr lang="en-US" altLang="en-US" sz="3200" b="1" i="1" smtClean="0">
                            <a:solidFill>
                              <a:schemeClr val="bg1"/>
                            </a:solidFill>
                            <a:latin typeface="Cambria Math" panose="02040503050406030204" pitchFamily="18" charset="0"/>
                            <a:cs typeface="Arial" panose="020B0604020202020204" pitchFamily="34" charset="0"/>
                          </a:rPr>
                        </m:ctrlPr>
                      </m:sSubPr>
                      <m:e>
                        <m:r>
                          <a:rPr lang="en-US" altLang="en-US" sz="3200" b="1" i="1" smtClean="0">
                            <a:solidFill>
                              <a:schemeClr val="bg1"/>
                            </a:solidFill>
                            <a:latin typeface="Cambria Math" panose="02040503050406030204" pitchFamily="18" charset="0"/>
                            <a:cs typeface="Arial" panose="020B0604020202020204" pitchFamily="34" charset="0"/>
                          </a:rPr>
                          <m:t>𝑲</m:t>
                        </m:r>
                      </m:e>
                      <m:sub>
                        <m:r>
                          <a:rPr lang="en-US" altLang="en-US" sz="3200" b="1" i="1" smtClean="0">
                            <a:solidFill>
                              <a:schemeClr val="bg1"/>
                            </a:solidFill>
                            <a:latin typeface="Cambria Math" panose="02040503050406030204" pitchFamily="18" charset="0"/>
                            <a:cs typeface="Arial" panose="020B0604020202020204" pitchFamily="34" charset="0"/>
                          </a:rPr>
                          <m:t>𝟏</m:t>
                        </m:r>
                      </m:sub>
                    </m:sSub>
                  </m:oMath>
                </a14:m>
                <a:r>
                  <a:rPr lang="en-US" altLang="en-US" sz="3200" b="1" dirty="0">
                    <a:solidFill>
                      <a:schemeClr val="bg1"/>
                    </a:solidFill>
                    <a:latin typeface="Arial" panose="020B0604020202020204" pitchFamily="34" charset="0"/>
                    <a:cs typeface="Arial" panose="020B0604020202020204" pitchFamily="34" charset="0"/>
                  </a:rPr>
                  <a:t>+</a:t>
                </a:r>
                <a:r>
                  <a:rPr lang="en-US" altLang="en-US" sz="3200" b="1" dirty="0">
                    <a:solidFill>
                      <a:schemeClr val="bg1"/>
                    </a:solidFill>
                    <a:cs typeface="Arial" panose="020B0604020202020204" pitchFamily="34" charset="0"/>
                  </a:rPr>
                  <a:t> </a:t>
                </a:r>
                <a14:m>
                  <m:oMath xmlns:m="http://schemas.openxmlformats.org/officeDocument/2006/math">
                    <m:sSub>
                      <m:sSubPr>
                        <m:ctrlPr>
                          <a:rPr lang="en-US" altLang="en-US" sz="3200" b="1" i="1">
                            <a:solidFill>
                              <a:schemeClr val="bg1"/>
                            </a:solidFill>
                            <a:latin typeface="Cambria Math" panose="02040503050406030204" pitchFamily="18" charset="0"/>
                            <a:cs typeface="Arial" panose="020B0604020202020204" pitchFamily="34" charset="0"/>
                          </a:rPr>
                        </m:ctrlPr>
                      </m:sSubPr>
                      <m:e>
                        <m:r>
                          <a:rPr lang="en-US" altLang="en-US" sz="3200" b="1" i="1">
                            <a:solidFill>
                              <a:schemeClr val="bg1"/>
                            </a:solidFill>
                            <a:latin typeface="Cambria Math" panose="02040503050406030204" pitchFamily="18" charset="0"/>
                            <a:cs typeface="Arial" panose="020B0604020202020204" pitchFamily="34" charset="0"/>
                          </a:rPr>
                          <m:t>𝑲</m:t>
                        </m:r>
                      </m:e>
                      <m:sub>
                        <m:r>
                          <a:rPr lang="en-US" altLang="en-US" sz="3200" b="1" i="1" smtClean="0">
                            <a:solidFill>
                              <a:schemeClr val="bg1"/>
                            </a:solidFill>
                            <a:latin typeface="Cambria Math" panose="02040503050406030204" pitchFamily="18" charset="0"/>
                            <a:cs typeface="Arial" panose="020B0604020202020204" pitchFamily="34" charset="0"/>
                          </a:rPr>
                          <m:t>𝟐</m:t>
                        </m:r>
                      </m:sub>
                    </m:sSub>
                    <m:r>
                      <a:rPr lang="en-US" altLang="en-US" sz="3200" b="1" i="1">
                        <a:solidFill>
                          <a:schemeClr val="bg1"/>
                        </a:solidFill>
                        <a:latin typeface="Cambria Math" panose="02040503050406030204" pitchFamily="18" charset="0"/>
                        <a:cs typeface="Arial" panose="020B0604020202020204" pitchFamily="34" charset="0"/>
                      </a:rPr>
                      <m:t> </m:t>
                    </m:r>
                  </m:oMath>
                </a14:m>
                <a:r>
                  <a:rPr lang="en-US" altLang="en-US" sz="3200" b="1" dirty="0">
                    <a:solidFill>
                      <a:schemeClr val="bg1"/>
                    </a:solidFill>
                    <a:latin typeface="Arial" panose="020B0604020202020204" pitchFamily="34" charset="0"/>
                    <a:cs typeface="Arial" panose="020B0604020202020204" pitchFamily="34" charset="0"/>
                  </a:rPr>
                  <a:t>=60)</a:t>
                </a:r>
                <a:endParaRPr lang="en-US" b="1" dirty="0">
                  <a:solidFill>
                    <a:schemeClr val="bg1"/>
                  </a:solidFill>
                </a:endParaRPr>
              </a:p>
            </p:txBody>
          </p:sp>
        </mc:Choice>
        <mc:Fallback xmlns="">
          <p:sp>
            <p:nvSpPr>
              <p:cNvPr id="4" name="Rectangle 3">
                <a:extLst>
                  <a:ext uri="{FF2B5EF4-FFF2-40B4-BE49-F238E27FC236}">
                    <a16:creationId xmlns:a16="http://schemas.microsoft.com/office/drawing/2014/main" id="{FA2AFBA0-B906-4A1A-8F2B-7DABBA8D5113}"/>
                  </a:ext>
                </a:extLst>
              </p:cNvPr>
              <p:cNvSpPr>
                <a:spLocks noRot="1" noChangeAspect="1" noMove="1" noResize="1" noEditPoints="1" noAdjustHandles="1" noChangeArrowheads="1" noChangeShapeType="1" noTextEdit="1"/>
              </p:cNvSpPr>
              <p:nvPr/>
            </p:nvSpPr>
            <p:spPr>
              <a:xfrm>
                <a:off x="0" y="-18029"/>
                <a:ext cx="12192000" cy="932429"/>
              </a:xfrm>
              <a:prstGeom prst="rect">
                <a:avLst/>
              </a:prstGeom>
              <a:blipFill>
                <a:blip r:embed="rId3"/>
                <a:stretch>
                  <a:fillRect l="-850" t="-15686" r="-1850" b="-27451"/>
                </a:stretch>
              </a:blipFill>
              <a:ln>
                <a:noFill/>
              </a:ln>
            </p:spPr>
            <p:txBody>
              <a:bodyPr/>
              <a:lstStyle/>
              <a:p>
                <a:r>
                  <a:rPr lang="en-US">
                    <a:noFill/>
                  </a:rPr>
                  <a:t> </a:t>
                </a:r>
              </a:p>
            </p:txBody>
          </p:sp>
        </mc:Fallback>
      </mc:AlternateContent>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graphicFrame>
            <p:nvGraphicFramePr>
              <p:cNvPr id="5" name="Content Placeholder 3">
                <a:extLst>
                  <a:ext uri="{FF2B5EF4-FFF2-40B4-BE49-F238E27FC236}">
                    <a16:creationId xmlns:a16="http://schemas.microsoft.com/office/drawing/2014/main" id="{46032D9B-542C-4507-9E84-2AE427C039F1}"/>
                  </a:ext>
                </a:extLst>
              </p:cNvPr>
              <p:cNvGraphicFramePr>
                <a:graphicFrameLocks noGrp="1"/>
              </p:cNvGraphicFramePr>
              <p:nvPr>
                <p:ph idx="1"/>
                <p:extLst>
                  <p:ext uri="{D42A27DB-BD31-4B8C-83A1-F6EECF244321}">
                    <p14:modId xmlns:p14="http://schemas.microsoft.com/office/powerpoint/2010/main" val="563545324"/>
                  </p:ext>
                </p:extLst>
              </p:nvPr>
            </p:nvGraphicFramePr>
            <p:xfrm>
              <a:off x="-63249" y="932359"/>
              <a:ext cx="12140361" cy="3068879"/>
            </p:xfrm>
            <a:graphic>
              <a:graphicData uri="http://schemas.openxmlformats.org/drawingml/2006/table">
                <a:tbl>
                  <a:tblPr firstRow="1" firstCol="1" bandRow="1">
                    <a:tableStyleId>{5C22544A-7EE6-4342-B048-85BDC9FD1C3A}</a:tableStyleId>
                  </a:tblPr>
                  <a:tblGrid>
                    <a:gridCol w="574291">
                      <a:extLst>
                        <a:ext uri="{9D8B030D-6E8A-4147-A177-3AD203B41FA5}">
                          <a16:colId xmlns:a16="http://schemas.microsoft.com/office/drawing/2014/main" val="20000"/>
                        </a:ext>
                      </a:extLst>
                    </a:gridCol>
                    <a:gridCol w="650143">
                      <a:extLst>
                        <a:ext uri="{9D8B030D-6E8A-4147-A177-3AD203B41FA5}">
                          <a16:colId xmlns:a16="http://schemas.microsoft.com/office/drawing/2014/main" val="3127361680"/>
                        </a:ext>
                      </a:extLst>
                    </a:gridCol>
                    <a:gridCol w="797074">
                      <a:extLst>
                        <a:ext uri="{9D8B030D-6E8A-4147-A177-3AD203B41FA5}">
                          <a16:colId xmlns:a16="http://schemas.microsoft.com/office/drawing/2014/main" val="4030173950"/>
                        </a:ext>
                      </a:extLst>
                    </a:gridCol>
                    <a:gridCol w="3396103">
                      <a:extLst>
                        <a:ext uri="{9D8B030D-6E8A-4147-A177-3AD203B41FA5}">
                          <a16:colId xmlns:a16="http://schemas.microsoft.com/office/drawing/2014/main" val="3546930763"/>
                        </a:ext>
                      </a:extLst>
                    </a:gridCol>
                    <a:gridCol w="897745">
                      <a:extLst>
                        <a:ext uri="{9D8B030D-6E8A-4147-A177-3AD203B41FA5}">
                          <a16:colId xmlns:a16="http://schemas.microsoft.com/office/drawing/2014/main" val="20001"/>
                        </a:ext>
                      </a:extLst>
                    </a:gridCol>
                    <a:gridCol w="627296">
                      <a:extLst>
                        <a:ext uri="{9D8B030D-6E8A-4147-A177-3AD203B41FA5}">
                          <a16:colId xmlns:a16="http://schemas.microsoft.com/office/drawing/2014/main" val="20002"/>
                        </a:ext>
                      </a:extLst>
                    </a:gridCol>
                    <a:gridCol w="767895">
                      <a:extLst>
                        <a:ext uri="{9D8B030D-6E8A-4147-A177-3AD203B41FA5}">
                          <a16:colId xmlns:a16="http://schemas.microsoft.com/office/drawing/2014/main" val="20003"/>
                        </a:ext>
                      </a:extLst>
                    </a:gridCol>
                    <a:gridCol w="386047">
                      <a:extLst>
                        <a:ext uri="{9D8B030D-6E8A-4147-A177-3AD203B41FA5}">
                          <a16:colId xmlns:a16="http://schemas.microsoft.com/office/drawing/2014/main" val="20004"/>
                        </a:ext>
                      </a:extLst>
                    </a:gridCol>
                    <a:gridCol w="991658">
                      <a:extLst>
                        <a:ext uri="{9D8B030D-6E8A-4147-A177-3AD203B41FA5}">
                          <a16:colId xmlns:a16="http://schemas.microsoft.com/office/drawing/2014/main" val="708479787"/>
                        </a:ext>
                      </a:extLst>
                    </a:gridCol>
                    <a:gridCol w="2047164">
                      <a:extLst>
                        <a:ext uri="{9D8B030D-6E8A-4147-A177-3AD203B41FA5}">
                          <a16:colId xmlns:a16="http://schemas.microsoft.com/office/drawing/2014/main" val="1955623264"/>
                        </a:ext>
                      </a:extLst>
                    </a:gridCol>
                    <a:gridCol w="1004945">
                      <a:extLst>
                        <a:ext uri="{9D8B030D-6E8A-4147-A177-3AD203B41FA5}">
                          <a16:colId xmlns:a16="http://schemas.microsoft.com/office/drawing/2014/main" val="20006"/>
                        </a:ext>
                      </a:extLst>
                    </a:gridCol>
                  </a:tblGrid>
                  <a:tr h="1417101">
                    <a:tc>
                      <a:txBody>
                        <a:bodyPr/>
                        <a:lstStyle/>
                        <a:p>
                          <a:pPr marL="0" marR="0">
                            <a:spcBef>
                              <a:spcPts val="0"/>
                            </a:spcBef>
                            <a:spcAft>
                              <a:spcPts val="0"/>
                            </a:spcAft>
                          </a:pPr>
                          <a:endParaRPr lang="en-US" sz="11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US" sz="1100" dirty="0">
                              <a:effectLst/>
                              <a:latin typeface="Times New Roman"/>
                              <a:ea typeface="Times New Roman"/>
                              <a:cs typeface="Times New Roman"/>
                            </a:rPr>
                            <a:t>Deliveries during study period (n)</a:t>
                          </a:r>
                        </a:p>
                      </a:txBody>
                      <a:tcPr marL="16889" marR="16889" marT="0" marB="0" anchor="ctr"/>
                    </a:tc>
                    <a:tc>
                      <a:txBody>
                        <a:bodyPr/>
                        <a:lstStyle/>
                        <a:p>
                          <a:pPr marL="0" marR="0" algn="ctr">
                            <a:spcBef>
                              <a:spcPts val="0"/>
                            </a:spcBef>
                            <a:spcAft>
                              <a:spcPts val="0"/>
                            </a:spcAft>
                          </a:pPr>
                          <a:r>
                            <a:rPr lang="en-US" sz="1100" dirty="0">
                              <a:effectLst/>
                              <a:latin typeface="Times New Roman"/>
                              <a:ea typeface="Times New Roman"/>
                              <a:cs typeface="Times New Roman"/>
                            </a:rPr>
                            <a:t> HIV+ rate  among pregnant and post-partum women</a:t>
                          </a:r>
                        </a:p>
                      </a:txBody>
                      <a:tcPr marL="16889" marR="16889" marT="0" marB="0" anchor="ctr"/>
                    </a:tc>
                    <a:tc>
                      <a:txBody>
                        <a:bodyPr/>
                        <a:lstStyle/>
                        <a:p>
                          <a:pPr marL="0" marR="0" algn="ctr">
                            <a:spcBef>
                              <a:spcPts val="0"/>
                            </a:spcBef>
                            <a:spcAft>
                              <a:spcPts val="0"/>
                            </a:spcAft>
                          </a:pPr>
                          <a:r>
                            <a:rPr lang="en-US" sz="1100" dirty="0">
                              <a:effectLst/>
                              <a:latin typeface="Times New Roman"/>
                              <a:ea typeface="Times New Roman"/>
                              <a:cs typeface="Times New Roman"/>
                            </a:rPr>
                            <a:t>Baseline sample size for studying Option  A vs. B:HIV+ </a:t>
                          </a:r>
                        </a:p>
                      </a:txBody>
                      <a:tcPr marL="16889" marR="16889"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dirty="0">
                              <a:effectLst/>
                            </a:rPr>
                            <a:t>Control PMTCT Rate from Option A:% of infants infected by 18 months</a:t>
                          </a:r>
                          <a:endParaRPr lang="en-US" sz="1100" dirty="0">
                            <a:effectLst/>
                            <a:latin typeface="Times New Roman"/>
                            <a:ea typeface="Times New Roman"/>
                            <a:cs typeface="Times New Roman"/>
                          </a:endParaRPr>
                        </a:p>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100" dirty="0">
                              <a:effectLst/>
                            </a:rPr>
                            <a:t>Power</a:t>
                          </a:r>
                          <a:endParaRPr lang="en-US" sz="11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100" dirty="0">
                              <a:effectLst/>
                            </a:rPr>
                            <a:t>ICC</a:t>
                          </a:r>
                          <a:endParaRPr lang="en-US" sz="11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US" sz="1100" dirty="0">
                              <a:effectLst/>
                              <a:latin typeface="Times New Roman"/>
                              <a:ea typeface="Times New Roman"/>
                              <a:cs typeface="Times New Roman"/>
                            </a:rPr>
                            <a:t>Average cluster size </a:t>
                          </a:r>
                        </a:p>
                        <a:p>
                          <a:pPr marL="0" marR="0" algn="ctr">
                            <a:spcBef>
                              <a:spcPts val="0"/>
                            </a:spcBef>
                            <a:spcAft>
                              <a:spcPts val="0"/>
                            </a:spcAft>
                          </a:pPr>
                          <a:r>
                            <a:rPr lang="en-US" sz="1100" dirty="0">
                              <a:effectLst/>
                              <a:latin typeface="Times New Roman"/>
                              <a:ea typeface="Times New Roman"/>
                              <a:cs typeface="Times New Roman"/>
                            </a:rPr>
                            <a:t>(</a:t>
                          </a:r>
                          <a:r>
                            <a:rPr lang="en-GB" sz="1100" dirty="0">
                              <a:effectLst/>
                            </a:rPr>
                            <a:t> </a:t>
                          </a:r>
                          <a14:m>
                            <m:oMath xmlns:m="http://schemas.openxmlformats.org/officeDocument/2006/math">
                              <m:acc>
                                <m:accPr>
                                  <m:chr m:val="̅"/>
                                  <m:ctrlPr>
                                    <a:rPr lang="en-GB" sz="1100" i="1" smtClean="0">
                                      <a:effectLst/>
                                      <a:latin typeface="Cambria Math" panose="02040503050406030204" pitchFamily="18" charset="0"/>
                                    </a:rPr>
                                  </m:ctrlPr>
                                </m:accPr>
                                <m:e>
                                  <m:r>
                                    <a:rPr lang="en-US" sz="1100" b="1" i="1" smtClean="0">
                                      <a:effectLst/>
                                      <a:latin typeface="Cambria Math" panose="02040503050406030204" pitchFamily="18" charset="0"/>
                                    </a:rPr>
                                    <m:t>𝒎</m:t>
                                  </m:r>
                                </m:e>
                              </m:acc>
                            </m:oMath>
                          </a14:m>
                          <a:r>
                            <a:rPr lang="en-GB" sz="1100" dirty="0">
                              <a:effectLst/>
                            </a:rPr>
                            <a:t>)</a:t>
                          </a:r>
                          <a:endParaRPr lang="en-US" sz="1100" dirty="0">
                            <a:effectLst/>
                            <a:latin typeface="Times New Roman"/>
                            <a:ea typeface="Times New Roman"/>
                            <a:cs typeface="Times New Roman"/>
                          </a:endParaRPr>
                        </a:p>
                      </a:txBody>
                      <a:tcPr marL="16889" marR="16889"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dirty="0">
                              <a:effectLst/>
                            </a:rPr>
                            <a:t>Minimum detectable difference (RD)</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dirty="0">
                              <a:effectLst/>
                            </a:rPr>
                            <a:t> (assuming constant cluster size)</a:t>
                          </a:r>
                          <a:endParaRPr lang="en-US" sz="11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100" dirty="0">
                              <a:effectLst/>
                            </a:rPr>
                            <a:t>Average cluster size adjusted for cluster</a:t>
                          </a:r>
                          <a:r>
                            <a:rPr lang="en-GB" sz="1100" baseline="0" dirty="0">
                              <a:effectLst/>
                            </a:rPr>
                            <a:t> size variation </a:t>
                          </a:r>
                          <a14:m>
                            <m:oMath xmlns:m="http://schemas.openxmlformats.org/officeDocument/2006/math">
                              <m:acc>
                                <m:accPr>
                                  <m:chr m:val="̃"/>
                                  <m:ctrlPr>
                                    <a:rPr lang="en-GB" sz="1100" i="1" baseline="0" smtClean="0">
                                      <a:effectLst/>
                                      <a:latin typeface="Cambria Math" panose="02040503050406030204" pitchFamily="18" charset="0"/>
                                    </a:rPr>
                                  </m:ctrlPr>
                                </m:accPr>
                                <m:e>
                                  <m:r>
                                    <a:rPr lang="en-US" sz="1100" b="1" i="1" baseline="0" smtClean="0">
                                      <a:effectLst/>
                                      <a:latin typeface="Cambria Math" panose="02040503050406030204" pitchFamily="18" charset="0"/>
                                    </a:rPr>
                                    <m:t>𝒎</m:t>
                                  </m:r>
                                </m:e>
                              </m:acc>
                              <m:r>
                                <a:rPr lang="en-US" sz="1100" b="1" i="1" baseline="0" smtClean="0">
                                  <a:effectLst/>
                                  <a:latin typeface="Cambria Math" panose="02040503050406030204" pitchFamily="18" charset="0"/>
                                </a:rPr>
                                <m:t>=</m:t>
                              </m:r>
                              <m:acc>
                                <m:accPr>
                                  <m:chr m:val="̅"/>
                                  <m:ctrlPr>
                                    <a:rPr lang="en-US" sz="1100" b="1" i="1" baseline="0" smtClean="0">
                                      <a:effectLst/>
                                      <a:latin typeface="Cambria Math" panose="02040503050406030204" pitchFamily="18" charset="0"/>
                                    </a:rPr>
                                  </m:ctrlPr>
                                </m:accPr>
                                <m:e>
                                  <m:r>
                                    <a:rPr lang="en-US" sz="1100" b="1" i="1" baseline="0" smtClean="0">
                                      <a:effectLst/>
                                      <a:latin typeface="Cambria Math" panose="02040503050406030204" pitchFamily="18" charset="0"/>
                                    </a:rPr>
                                    <m:t>𝒎</m:t>
                                  </m:r>
                                </m:e>
                              </m:acc>
                            </m:oMath>
                          </a14:m>
                          <a:r>
                            <a:rPr lang="en-GB" sz="1100" dirty="0">
                              <a:effectLst/>
                            </a:rPr>
                            <a:t>/(1+</a:t>
                          </a:r>
                          <a14:m>
                            <m:oMath xmlns:m="http://schemas.openxmlformats.org/officeDocument/2006/math">
                              <m:sSup>
                                <m:sSupPr>
                                  <m:ctrlPr>
                                    <a:rPr lang="en-GB" sz="1100" i="1" smtClean="0">
                                      <a:effectLst/>
                                      <a:latin typeface="Cambria Math" panose="02040503050406030204" pitchFamily="18" charset="0"/>
                                    </a:rPr>
                                  </m:ctrlPr>
                                </m:sSupPr>
                                <m:e>
                                  <m:r>
                                    <a:rPr lang="en-US" sz="1100" b="1" i="1" smtClean="0">
                                      <a:effectLst/>
                                      <a:latin typeface="Cambria Math" panose="02040503050406030204" pitchFamily="18" charset="0"/>
                                    </a:rPr>
                                    <m:t>𝑪𝑽</m:t>
                                  </m:r>
                                </m:e>
                                <m:sup>
                                  <m:r>
                                    <a:rPr lang="en-US" sz="1100" b="1" i="1" smtClean="0">
                                      <a:effectLst/>
                                      <a:latin typeface="Cambria Math" panose="02040503050406030204" pitchFamily="18" charset="0"/>
                                    </a:rPr>
                                    <m:t>𝟐</m:t>
                                  </m:r>
                                </m:sup>
                              </m:sSup>
                            </m:oMath>
                          </a14:m>
                          <a:r>
                            <a:rPr lang="en-GB" sz="1100" dirty="0">
                              <a:effectLst/>
                            </a:rPr>
                            <a:t>)*</a:t>
                          </a:r>
                          <a:endParaRPr lang="en-US" sz="11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GB" sz="1100" i="1" dirty="0" smtClean="0">
                                    <a:effectLst/>
                                    <a:latin typeface="Cambria Math" panose="02040503050406030204" pitchFamily="18" charset="0"/>
                                  </a:rPr>
                                  <m:t>𝑀𝐷𝐷</m:t>
                                </m:r>
                                <m:r>
                                  <a:rPr lang="en-GB" sz="1100" i="1" dirty="0" smtClean="0">
                                    <a:effectLst/>
                                    <a:latin typeface="Cambria Math" panose="02040503050406030204" pitchFamily="18" charset="0"/>
                                  </a:rPr>
                                  <m:t> (</m:t>
                                </m:r>
                                <m:r>
                                  <a:rPr lang="en-GB" sz="1100" i="1" dirty="0" smtClean="0">
                                    <a:effectLst/>
                                    <a:latin typeface="Cambria Math" panose="02040503050406030204" pitchFamily="18" charset="0"/>
                                  </a:rPr>
                                  <m:t>𝑅𝐷</m:t>
                                </m:r>
                                <m:r>
                                  <a:rPr lang="en-GB" sz="1100" i="1" dirty="0" smtClean="0">
                                    <a:effectLst/>
                                    <a:latin typeface="Cambria Math" panose="02040503050406030204" pitchFamily="18" charset="0"/>
                                  </a:rPr>
                                  <m:t>) </m:t>
                                </m:r>
                              </m:oMath>
                            </m:oMathPara>
                          </a14:m>
                          <a:endParaRPr lang="en-GB" sz="1100" dirty="0">
                            <a:effectLst/>
                          </a:endParaRPr>
                        </a:p>
                        <a:p>
                          <a:pPr marL="0" marR="0" algn="ctr">
                            <a:spcBef>
                              <a:spcPts val="0"/>
                            </a:spcBef>
                            <a:spcAft>
                              <a:spcPts val="0"/>
                            </a:spcAft>
                          </a:pPr>
                          <a:r>
                            <a:rPr lang="en-GB" sz="1100" dirty="0">
                              <a:effectLst/>
                            </a:rPr>
                            <a:t>allowing for variable cluster size</a:t>
                          </a:r>
                          <a:endParaRPr lang="en-US" sz="1100" dirty="0">
                            <a:effectLst/>
                            <a:latin typeface="Times New Roman"/>
                            <a:ea typeface="Times New Roman"/>
                            <a:cs typeface="Times New Roman"/>
                          </a:endParaRPr>
                        </a:p>
                      </a:txBody>
                      <a:tcPr marL="62897" marR="62897" marT="0" marB="0" anchor="ctr"/>
                    </a:tc>
                    <a:extLst>
                      <a:ext uri="{0D108BD9-81ED-4DB2-BD59-A6C34878D82A}">
                        <a16:rowId xmlns:a16="http://schemas.microsoft.com/office/drawing/2014/main" val="10000"/>
                      </a:ext>
                    </a:extLst>
                  </a:tr>
                  <a:tr h="313288">
                    <a:tc rowSpan="3">
                      <a:txBody>
                        <a:bodyPr/>
                        <a:lstStyle/>
                        <a:p>
                          <a:pPr marL="0" marR="0">
                            <a:spcBef>
                              <a:spcPts val="0"/>
                            </a:spcBef>
                            <a:spcAft>
                              <a:spcPts val="0"/>
                            </a:spcAft>
                          </a:pPr>
                          <a:r>
                            <a:rPr lang="en-GB" sz="1100" dirty="0">
                              <a:effectLst/>
                            </a:rPr>
                            <a:t>Pre-trial values</a:t>
                          </a:r>
                          <a:endParaRPr lang="en-US" sz="1100" dirty="0">
                            <a:effectLst/>
                            <a:latin typeface="Times New Roman"/>
                            <a:ea typeface="Times New Roman"/>
                            <a:cs typeface="Times New Roman"/>
                          </a:endParaRPr>
                        </a:p>
                      </a:txBody>
                      <a:tcPr marL="16889" marR="16889" marT="0" marB="0"/>
                    </a:tc>
                    <a:tc>
                      <a:txBody>
                        <a:bodyPr/>
                        <a:lstStyle/>
                        <a:p>
                          <a:pPr marL="0" marR="0" algn="ctr">
                            <a:spcBef>
                              <a:spcPts val="0"/>
                            </a:spcBef>
                            <a:spcAft>
                              <a:spcPts val="0"/>
                            </a:spcAft>
                          </a:pPr>
                          <a:r>
                            <a:rPr lang="en-US" sz="1100" dirty="0">
                              <a:effectLst/>
                              <a:latin typeface="Times New Roman"/>
                              <a:ea typeface="Times New Roman"/>
                              <a:cs typeface="Times New Roman"/>
                            </a:rPr>
                            <a:t>158,684</a:t>
                          </a:r>
                        </a:p>
                      </a:txBody>
                      <a:tcPr marL="16889" marR="16889" marT="0" marB="0" anchor="b"/>
                    </a:tc>
                    <a:tc>
                      <a:txBody>
                        <a:bodyPr/>
                        <a:lstStyle/>
                        <a:p>
                          <a:pPr marL="0" marR="0" algn="ctr">
                            <a:spcBef>
                              <a:spcPts val="0"/>
                            </a:spcBef>
                            <a:spcAft>
                              <a:spcPts val="0"/>
                            </a:spcAft>
                          </a:pPr>
                          <a:r>
                            <a:rPr lang="en-US" sz="1100" dirty="0">
                              <a:effectLst/>
                              <a:latin typeface="Times New Roman"/>
                              <a:ea typeface="Times New Roman"/>
                              <a:cs typeface="Times New Roman"/>
                            </a:rPr>
                            <a:t>9.3%</a:t>
                          </a:r>
                        </a:p>
                      </a:txBody>
                      <a:tcPr marL="16889" marR="16889" marT="0" marB="0" anchor="b"/>
                    </a:tc>
                    <a:tc>
                      <a:txBody>
                        <a:bodyPr/>
                        <a:lstStyle/>
                        <a:p>
                          <a:pPr marL="0" marR="0" algn="ctr">
                            <a:spcBef>
                              <a:spcPts val="0"/>
                            </a:spcBef>
                            <a:spcAft>
                              <a:spcPts val="0"/>
                            </a:spcAft>
                          </a:pPr>
                          <a:r>
                            <a:rPr lang="en-US" sz="1100" dirty="0">
                              <a:effectLst/>
                              <a:latin typeface="Times New Roman"/>
                              <a:ea typeface="Times New Roman"/>
                              <a:cs typeface="Times New Roman"/>
                            </a:rPr>
                            <a:t>14,758</a:t>
                          </a:r>
                        </a:p>
                      </a:txBody>
                      <a:tcPr marL="16889" marR="16889" marT="0" marB="0" anchor="b"/>
                    </a:tc>
                    <a:tc>
                      <a:txBody>
                        <a:bodyPr/>
                        <a:lstStyle/>
                        <a:p>
                          <a:pPr marL="0" marR="0" algn="ctr">
                            <a:spcBef>
                              <a:spcPts val="0"/>
                            </a:spcBef>
                            <a:spcAft>
                              <a:spcPts val="0"/>
                            </a:spcAft>
                          </a:pPr>
                          <a:r>
                            <a:rPr lang="en-GB" sz="1100" dirty="0">
                              <a:effectLst/>
                            </a:rPr>
                            <a:t>12.8%</a:t>
                          </a:r>
                          <a:endParaRPr lang="en-US" sz="1100" dirty="0">
                            <a:effectLst/>
                            <a:latin typeface="Times New Roman"/>
                            <a:ea typeface="Times New Roman"/>
                            <a:cs typeface="Times New Roman"/>
                          </a:endParaRPr>
                        </a:p>
                      </a:txBody>
                      <a:tcPr marL="16889" marR="16889" marT="0" marB="0" anchor="b"/>
                    </a:tc>
                    <a:tc>
                      <a:txBody>
                        <a:bodyPr/>
                        <a:lstStyle/>
                        <a:p>
                          <a:pPr marL="0" marR="0" algn="r">
                            <a:spcBef>
                              <a:spcPts val="0"/>
                            </a:spcBef>
                            <a:spcAft>
                              <a:spcPts val="0"/>
                            </a:spcAft>
                          </a:pPr>
                          <a:r>
                            <a:rPr lang="en-GB" sz="1100" dirty="0">
                              <a:effectLst/>
                            </a:rPr>
                            <a:t>0.90</a:t>
                          </a:r>
                          <a:endParaRPr lang="en-US" sz="1100" dirty="0">
                            <a:effectLst/>
                            <a:latin typeface="Times New Roman"/>
                            <a:ea typeface="Times New Roman"/>
                            <a:cs typeface="Times New Roman"/>
                          </a:endParaRPr>
                        </a:p>
                      </a:txBody>
                      <a:tcPr marL="16889" marR="16889" marT="0" marB="0" anchor="ctr"/>
                    </a:tc>
                    <a:tc>
                      <a:txBody>
                        <a:bodyPr/>
                        <a:lstStyle/>
                        <a:p>
                          <a:pPr marL="0" marR="0" algn="r">
                            <a:spcBef>
                              <a:spcPts val="0"/>
                            </a:spcBef>
                            <a:spcAft>
                              <a:spcPts val="0"/>
                            </a:spcAft>
                          </a:pPr>
                          <a:r>
                            <a:rPr lang="en-GB" sz="1100" dirty="0">
                              <a:effectLst/>
                            </a:rPr>
                            <a:t>0.001</a:t>
                          </a:r>
                          <a:endParaRPr lang="en-US" sz="11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US" sz="1100" dirty="0">
                              <a:effectLst/>
                              <a:latin typeface="Times New Roman"/>
                              <a:ea typeface="Times New Roman"/>
                              <a:cs typeface="Times New Roman"/>
                            </a:rPr>
                            <a:t>246</a:t>
                          </a: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r>
                            <a:rPr lang="en-US" sz="1100" dirty="0">
                              <a:effectLst/>
                              <a:latin typeface="Times New Roman"/>
                              <a:ea typeface="Times New Roman"/>
                              <a:cs typeface="Times New Roman"/>
                            </a:rPr>
                            <a:t>128</a:t>
                          </a: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62897" marR="62897" marT="0" marB="0"/>
                    </a:tc>
                    <a:extLst>
                      <a:ext uri="{0D108BD9-81ED-4DB2-BD59-A6C34878D82A}">
                        <a16:rowId xmlns:a16="http://schemas.microsoft.com/office/drawing/2014/main" val="10009"/>
                      </a:ext>
                    </a:extLst>
                  </a:tr>
                  <a:tr h="207619">
                    <a:tc vMerge="1">
                      <a:txBody>
                        <a:bodyPr/>
                        <a:lstStyle/>
                        <a:p>
                          <a:endParaRPr lang="en-US"/>
                        </a:p>
                      </a:txBody>
                      <a:tcPr/>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r>
                            <a:rPr lang="en-GB" sz="1100" dirty="0">
                              <a:effectLst/>
                            </a:rPr>
                            <a:t> </a:t>
                          </a:r>
                          <a:endParaRPr lang="en-US" sz="1100" dirty="0">
                            <a:effectLst/>
                            <a:latin typeface="Times New Roman"/>
                            <a:ea typeface="Times New Roman"/>
                            <a:cs typeface="Times New Roman"/>
                          </a:endParaRPr>
                        </a:p>
                      </a:txBody>
                      <a:tcPr marL="16889" marR="16889" marT="0" marB="0" anchor="b"/>
                    </a:tc>
                    <a:tc>
                      <a:txBody>
                        <a:bodyPr/>
                        <a:lstStyle/>
                        <a:p>
                          <a:pPr marL="0" marR="0" algn="r">
                            <a:spcBef>
                              <a:spcPts val="0"/>
                            </a:spcBef>
                            <a:spcAft>
                              <a:spcPts val="0"/>
                            </a:spcAft>
                          </a:pPr>
                          <a:r>
                            <a:rPr lang="en-GB" sz="1100" dirty="0">
                              <a:effectLst/>
                            </a:rPr>
                            <a:t> </a:t>
                          </a:r>
                          <a:endParaRPr lang="en-US" sz="1100" dirty="0">
                            <a:effectLst/>
                            <a:latin typeface="Times New Roman"/>
                            <a:ea typeface="Times New Roman"/>
                            <a:cs typeface="Times New Roman"/>
                          </a:endParaRPr>
                        </a:p>
                      </a:txBody>
                      <a:tcPr marL="16889" marR="16889" marT="0" marB="0" anchor="ctr"/>
                    </a:tc>
                    <a:tc>
                      <a:txBody>
                        <a:bodyPr/>
                        <a:lstStyle/>
                        <a:p>
                          <a:pPr marL="0" marR="0" algn="r">
                            <a:spcBef>
                              <a:spcPts val="0"/>
                            </a:spcBef>
                            <a:spcAft>
                              <a:spcPts val="0"/>
                            </a:spcAft>
                          </a:pPr>
                          <a:r>
                            <a:rPr lang="en-GB" sz="1100" dirty="0">
                              <a:effectLst/>
                            </a:rPr>
                            <a:t>0.030</a:t>
                          </a:r>
                          <a:endParaRPr lang="en-US" sz="11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62897" marR="62897" marT="0" marB="0"/>
                    </a:tc>
                    <a:extLst>
                      <a:ext uri="{0D108BD9-81ED-4DB2-BD59-A6C34878D82A}">
                        <a16:rowId xmlns:a16="http://schemas.microsoft.com/office/drawing/2014/main" val="10012"/>
                      </a:ext>
                    </a:extLst>
                  </a:tr>
                  <a:tr h="184220">
                    <a:tc vMerge="1">
                      <a:txBody>
                        <a:bodyPr/>
                        <a:lstStyle/>
                        <a:p>
                          <a:endParaRPr lang="en-US"/>
                        </a:p>
                      </a:txBody>
                      <a:tcPr/>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r>
                            <a:rPr lang="en-GB" sz="1100" dirty="0">
                              <a:effectLst/>
                            </a:rPr>
                            <a:t> </a:t>
                          </a:r>
                          <a:endParaRPr lang="en-US" sz="1100" dirty="0">
                            <a:effectLst/>
                            <a:latin typeface="Times New Roman"/>
                            <a:ea typeface="Times New Roman"/>
                            <a:cs typeface="Times New Roman"/>
                          </a:endParaRPr>
                        </a:p>
                      </a:txBody>
                      <a:tcPr marL="16889" marR="16889" marT="0" marB="0" anchor="b"/>
                    </a:tc>
                    <a:tc>
                      <a:txBody>
                        <a:bodyPr/>
                        <a:lstStyle/>
                        <a:p>
                          <a:pPr marL="0" marR="0" algn="r">
                            <a:spcBef>
                              <a:spcPts val="0"/>
                            </a:spcBef>
                            <a:spcAft>
                              <a:spcPts val="0"/>
                            </a:spcAft>
                          </a:pPr>
                          <a:r>
                            <a:rPr lang="en-GB" sz="1100" dirty="0">
                              <a:effectLst/>
                            </a:rPr>
                            <a:t>0.80</a:t>
                          </a:r>
                          <a:endParaRPr lang="en-US" sz="1100" dirty="0">
                            <a:effectLst/>
                            <a:latin typeface="Times New Roman"/>
                            <a:ea typeface="Times New Roman"/>
                            <a:cs typeface="Times New Roman"/>
                          </a:endParaRPr>
                        </a:p>
                      </a:txBody>
                      <a:tcPr marL="16889" marR="16889" marT="0" marB="0" anchor="ctr"/>
                    </a:tc>
                    <a:tc>
                      <a:txBody>
                        <a:bodyPr/>
                        <a:lstStyle/>
                        <a:p>
                          <a:pPr marL="0" marR="0" algn="r">
                            <a:spcBef>
                              <a:spcPts val="0"/>
                            </a:spcBef>
                            <a:spcAft>
                              <a:spcPts val="0"/>
                            </a:spcAft>
                          </a:pPr>
                          <a:r>
                            <a:rPr lang="en-GB" sz="1100" dirty="0">
                              <a:effectLst/>
                            </a:rPr>
                            <a:t>0.001</a:t>
                          </a:r>
                          <a:endParaRPr lang="en-US" sz="11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62897" marR="62897" marT="0" marB="0"/>
                    </a:tc>
                    <a:extLst>
                      <a:ext uri="{0D108BD9-81ED-4DB2-BD59-A6C34878D82A}">
                        <a16:rowId xmlns:a16="http://schemas.microsoft.com/office/drawing/2014/main" val="10013"/>
                      </a:ext>
                    </a:extLst>
                  </a:tr>
                  <a:tr h="207619">
                    <a:tc>
                      <a:txBody>
                        <a:bodyPr/>
                        <a:lstStyle/>
                        <a:p>
                          <a:pPr marL="0" marR="0" algn="r">
                            <a:spcBef>
                              <a:spcPts val="0"/>
                            </a:spcBef>
                            <a:spcAft>
                              <a:spcPts val="0"/>
                            </a:spcAft>
                          </a:pPr>
                          <a:r>
                            <a:rPr lang="en-GB" sz="1100" dirty="0">
                              <a:effectLst/>
                            </a:rPr>
                            <a:t> </a:t>
                          </a: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r>
                            <a:rPr lang="en-GB" sz="1100" dirty="0">
                              <a:effectLst/>
                            </a:rPr>
                            <a:t> </a:t>
                          </a:r>
                          <a:endParaRPr lang="en-US" sz="1100" dirty="0">
                            <a:effectLst/>
                            <a:latin typeface="Times New Roman"/>
                            <a:ea typeface="Times New Roman"/>
                            <a:cs typeface="Times New Roman"/>
                          </a:endParaRPr>
                        </a:p>
                      </a:txBody>
                      <a:tcPr marL="16889" marR="16889" marT="0" marB="0" anchor="b"/>
                    </a:tc>
                    <a:tc>
                      <a:txBody>
                        <a:bodyPr/>
                        <a:lstStyle/>
                        <a:p>
                          <a:pPr marL="0" marR="0" algn="r">
                            <a:spcBef>
                              <a:spcPts val="0"/>
                            </a:spcBef>
                            <a:spcAft>
                              <a:spcPts val="0"/>
                            </a:spcAft>
                          </a:pPr>
                          <a:r>
                            <a:rPr lang="en-GB" sz="1100" dirty="0">
                              <a:effectLst/>
                            </a:rPr>
                            <a:t> </a:t>
                          </a:r>
                          <a:endParaRPr lang="en-US" sz="1100" dirty="0">
                            <a:effectLst/>
                            <a:latin typeface="Times New Roman"/>
                            <a:ea typeface="Times New Roman"/>
                            <a:cs typeface="Times New Roman"/>
                          </a:endParaRPr>
                        </a:p>
                      </a:txBody>
                      <a:tcPr marL="16889" marR="16889" marT="0" marB="0" anchor="ctr"/>
                    </a:tc>
                    <a:tc>
                      <a:txBody>
                        <a:bodyPr/>
                        <a:lstStyle/>
                        <a:p>
                          <a:pPr marL="0" marR="0" algn="r">
                            <a:spcBef>
                              <a:spcPts val="0"/>
                            </a:spcBef>
                            <a:spcAft>
                              <a:spcPts val="0"/>
                            </a:spcAft>
                          </a:pPr>
                          <a:r>
                            <a:rPr lang="en-GB" sz="1100" dirty="0">
                              <a:effectLst/>
                            </a:rPr>
                            <a:t>0.030</a:t>
                          </a:r>
                          <a:endParaRPr lang="en-US" sz="11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62897" marR="62897" marT="0" marB="0"/>
                    </a:tc>
                    <a:extLst>
                      <a:ext uri="{0D108BD9-81ED-4DB2-BD59-A6C34878D82A}">
                        <a16:rowId xmlns:a16="http://schemas.microsoft.com/office/drawing/2014/main" val="10016"/>
                      </a:ext>
                    </a:extLst>
                  </a:tr>
                  <a:tr h="531413">
                    <a:tc>
                      <a:txBody>
                        <a:bodyPr/>
                        <a:lstStyle/>
                        <a:p>
                          <a:pPr marL="0" marR="0" algn="r">
                            <a:spcBef>
                              <a:spcPts val="0"/>
                            </a:spcBef>
                            <a:spcAft>
                              <a:spcPts val="0"/>
                            </a:spcAft>
                          </a:pPr>
                          <a:r>
                            <a:rPr lang="en-US" sz="1100" dirty="0">
                              <a:effectLst/>
                              <a:latin typeface="Times New Roman"/>
                              <a:ea typeface="Times New Roman"/>
                              <a:cs typeface="Times New Roman"/>
                            </a:rPr>
                            <a:t>Post-trial values</a:t>
                          </a:r>
                        </a:p>
                      </a:txBody>
                      <a:tcPr marL="16889" marR="16889" marT="0" marB="0" anchor="b"/>
                    </a:tc>
                    <a:tc>
                      <a:txBody>
                        <a:bodyPr/>
                        <a:lstStyle/>
                        <a:p>
                          <a:pPr marL="0" marR="0" algn="ctr">
                            <a:spcBef>
                              <a:spcPts val="0"/>
                            </a:spcBef>
                            <a:spcAft>
                              <a:spcPts val="0"/>
                            </a:spcAft>
                          </a:pPr>
                          <a:r>
                            <a:rPr lang="en-US" sz="1100" dirty="0">
                              <a:effectLst/>
                              <a:latin typeface="Times New Roman"/>
                              <a:ea typeface="Times New Roman"/>
                              <a:cs typeface="Times New Roman"/>
                            </a:rPr>
                            <a:t>187,433</a:t>
                          </a:r>
                        </a:p>
                      </a:txBody>
                      <a:tcPr marL="16889" marR="16889" marT="0" marB="0" anchor="b"/>
                    </a:tc>
                    <a:tc>
                      <a:txBody>
                        <a:bodyPr/>
                        <a:lstStyle/>
                        <a:p>
                          <a:pPr marL="0" marR="0" algn="ctr">
                            <a:spcBef>
                              <a:spcPts val="0"/>
                            </a:spcBef>
                            <a:spcAft>
                              <a:spcPts val="0"/>
                            </a:spcAft>
                          </a:pPr>
                          <a:r>
                            <a:rPr lang="en-US" sz="1100" dirty="0">
                              <a:effectLst/>
                              <a:latin typeface="Times New Roman"/>
                              <a:ea typeface="Times New Roman"/>
                              <a:cs typeface="Times New Roman"/>
                            </a:rPr>
                            <a:t>6.9%</a:t>
                          </a:r>
                        </a:p>
                      </a:txBody>
                      <a:tcPr marL="16889" marR="16889" marT="0" marB="0" anchor="b"/>
                    </a:tc>
                    <a:tc>
                      <a:txBody>
                        <a:bodyPr/>
                        <a:lstStyle/>
                        <a:p>
                          <a:pPr marL="0" marR="0" algn="ctr">
                            <a:spcBef>
                              <a:spcPts val="0"/>
                            </a:spcBef>
                            <a:spcAft>
                              <a:spcPts val="0"/>
                            </a:spcAft>
                          </a:pPr>
                          <a:r>
                            <a:rPr lang="en-US" sz="1100" dirty="0">
                              <a:effectLst/>
                              <a:latin typeface="Times New Roman"/>
                              <a:ea typeface="Times New Roman"/>
                              <a:cs typeface="Times New Roman"/>
                            </a:rPr>
                            <a:t>12,933</a:t>
                          </a:r>
                        </a:p>
                      </a:txBody>
                      <a:tcPr marL="16889" marR="16889" marT="0" marB="0" anchor="b"/>
                    </a:tc>
                    <a:tc>
                      <a:txBody>
                        <a:bodyPr/>
                        <a:lstStyle/>
                        <a:p>
                          <a:pPr marL="0" marR="0" algn="ctr">
                            <a:spcBef>
                              <a:spcPts val="0"/>
                            </a:spcBef>
                            <a:spcAft>
                              <a:spcPts val="0"/>
                            </a:spcAft>
                          </a:pPr>
                          <a:r>
                            <a:rPr lang="en-US" sz="1100" dirty="0">
                              <a:effectLst/>
                              <a:latin typeface="Times New Roman"/>
                              <a:ea typeface="Times New Roman"/>
                              <a:cs typeface="Times New Roman"/>
                            </a:rPr>
                            <a:t>3.4%</a:t>
                          </a:r>
                        </a:p>
                      </a:txBody>
                      <a:tcPr marL="16889" marR="16889" marT="0" marB="0" anchor="b"/>
                    </a:tc>
                    <a:tc>
                      <a:txBody>
                        <a:bodyPr/>
                        <a:lstStyle/>
                        <a:p>
                          <a:pPr marL="0" marR="0" algn="r">
                            <a:spcBef>
                              <a:spcPts val="0"/>
                            </a:spcBef>
                            <a:spcAft>
                              <a:spcPts val="0"/>
                            </a:spcAft>
                          </a:pPr>
                          <a:r>
                            <a:rPr lang="en-US" sz="1100" dirty="0">
                              <a:effectLst/>
                              <a:latin typeface="Times New Roman"/>
                              <a:ea typeface="Times New Roman"/>
                              <a:cs typeface="Times New Roman"/>
                            </a:rPr>
                            <a:t>0.90</a:t>
                          </a:r>
                        </a:p>
                      </a:txBody>
                      <a:tcPr marL="16889" marR="16889" marT="0" marB="0" anchor="ctr"/>
                    </a:tc>
                    <a:tc>
                      <a:txBody>
                        <a:bodyPr/>
                        <a:lstStyle/>
                        <a:p>
                          <a:pPr marL="0" marR="0" algn="r">
                            <a:spcBef>
                              <a:spcPts val="0"/>
                            </a:spcBef>
                            <a:spcAft>
                              <a:spcPts val="0"/>
                            </a:spcAft>
                          </a:pPr>
                          <a:r>
                            <a:rPr lang="en-US" sz="1100" dirty="0">
                              <a:effectLst/>
                              <a:latin typeface="Times New Roman"/>
                              <a:ea typeface="Times New Roman"/>
                              <a:cs typeface="Times New Roman"/>
                            </a:rPr>
                            <a:t>0.05</a:t>
                          </a:r>
                        </a:p>
                      </a:txBody>
                      <a:tcPr marL="16889" marR="16889" marT="0" marB="0" anchor="ctr"/>
                    </a:tc>
                    <a:tc>
                      <a:txBody>
                        <a:bodyPr/>
                        <a:lstStyle/>
                        <a:p>
                          <a:pPr marL="0" marR="0" algn="ctr">
                            <a:spcBef>
                              <a:spcPts val="0"/>
                            </a:spcBef>
                            <a:spcAft>
                              <a:spcPts val="0"/>
                            </a:spcAft>
                          </a:pPr>
                          <a:r>
                            <a:rPr lang="en-US" sz="1100" dirty="0">
                              <a:effectLst/>
                              <a:latin typeface="Times New Roman"/>
                              <a:ea typeface="Times New Roman"/>
                              <a:cs typeface="Times New Roman"/>
                            </a:rPr>
                            <a:t>216</a:t>
                          </a: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r>
                            <a:rPr lang="en-US" sz="1100" dirty="0">
                              <a:effectLst/>
                              <a:latin typeface="Times New Roman"/>
                              <a:ea typeface="Times New Roman"/>
                              <a:cs typeface="Times New Roman"/>
                            </a:rPr>
                            <a:t>112</a:t>
                          </a: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62897" marR="62897" marT="0" marB="0"/>
                    </a:tc>
                    <a:extLst>
                      <a:ext uri="{0D108BD9-81ED-4DB2-BD59-A6C34878D82A}">
                        <a16:rowId xmlns:a16="http://schemas.microsoft.com/office/drawing/2014/main" val="4265737127"/>
                      </a:ext>
                    </a:extLst>
                  </a:tr>
                  <a:tr h="207619">
                    <a:tc>
                      <a:txBody>
                        <a:bodyPr/>
                        <a:lstStyle/>
                        <a:p>
                          <a:pPr marL="0" marR="0" algn="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r">
                            <a:spcBef>
                              <a:spcPts val="0"/>
                            </a:spcBef>
                            <a:spcAft>
                              <a:spcPts val="0"/>
                            </a:spcAft>
                          </a:pPr>
                          <a:r>
                            <a:rPr lang="en-US" sz="1100" dirty="0">
                              <a:effectLst/>
                              <a:latin typeface="Times New Roman"/>
                              <a:ea typeface="Times New Roman"/>
                              <a:cs typeface="Times New Roman"/>
                            </a:rPr>
                            <a:t>0.80</a:t>
                          </a:r>
                        </a:p>
                      </a:txBody>
                      <a:tcPr marL="16889" marR="16889" marT="0" marB="0" anchor="ctr"/>
                    </a:tc>
                    <a:tc>
                      <a:txBody>
                        <a:bodyPr/>
                        <a:lstStyle/>
                        <a:p>
                          <a:pPr marL="0" marR="0" algn="r">
                            <a:spcBef>
                              <a:spcPts val="0"/>
                            </a:spcBef>
                            <a:spcAft>
                              <a:spcPts val="0"/>
                            </a:spcAft>
                          </a:pPr>
                          <a:r>
                            <a:rPr lang="en-US" sz="1100" dirty="0">
                              <a:effectLst/>
                              <a:latin typeface="Times New Roman"/>
                              <a:ea typeface="Times New Roman"/>
                              <a:cs typeface="Times New Roman"/>
                            </a:rPr>
                            <a:t>0.05</a:t>
                          </a:r>
                        </a:p>
                      </a:txBody>
                      <a:tcPr marL="16889" marR="16889" marT="0" marB="0" anchor="ctr"/>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62897" marR="62897" marT="0" marB="0"/>
                    </a:tc>
                    <a:extLst>
                      <a:ext uri="{0D108BD9-81ED-4DB2-BD59-A6C34878D82A}">
                        <a16:rowId xmlns:a16="http://schemas.microsoft.com/office/drawing/2014/main" val="174748202"/>
                      </a:ext>
                    </a:extLst>
                  </a:tr>
                </a:tbl>
              </a:graphicData>
            </a:graphic>
          </p:graphicFrame>
        </mc:Choice>
        <mc:Fallback xmlns="">
          <p:graphicFrame>
            <p:nvGraphicFramePr>
              <p:cNvPr id="5" name="Content Placeholder 3">
                <a:extLst>
                  <a:ext uri="{FF2B5EF4-FFF2-40B4-BE49-F238E27FC236}">
                    <a16:creationId xmlns:a16="http://schemas.microsoft.com/office/drawing/2014/main" id="{46032D9B-542C-4507-9E84-2AE427C039F1}"/>
                  </a:ext>
                </a:extLst>
              </p:cNvPr>
              <p:cNvGraphicFramePr>
                <a:graphicFrameLocks noGrp="1"/>
              </p:cNvGraphicFramePr>
              <p:nvPr>
                <p:ph idx="1"/>
                <p:extLst>
                  <p:ext uri="{D42A27DB-BD31-4B8C-83A1-F6EECF244321}">
                    <p14:modId xmlns:p14="http://schemas.microsoft.com/office/powerpoint/2010/main" val="563545324"/>
                  </p:ext>
                </p:extLst>
              </p:nvPr>
            </p:nvGraphicFramePr>
            <p:xfrm>
              <a:off x="-63249" y="932359"/>
              <a:ext cx="12140361" cy="3068879"/>
            </p:xfrm>
            <a:graphic>
              <a:graphicData uri="http://schemas.openxmlformats.org/drawingml/2006/table">
                <a:tbl>
                  <a:tblPr firstRow="1" firstCol="1" bandRow="1">
                    <a:tableStyleId>{5C22544A-7EE6-4342-B048-85BDC9FD1C3A}</a:tableStyleId>
                  </a:tblPr>
                  <a:tblGrid>
                    <a:gridCol w="574291">
                      <a:extLst>
                        <a:ext uri="{9D8B030D-6E8A-4147-A177-3AD203B41FA5}">
                          <a16:colId xmlns:a16="http://schemas.microsoft.com/office/drawing/2014/main" val="20000"/>
                        </a:ext>
                      </a:extLst>
                    </a:gridCol>
                    <a:gridCol w="650143">
                      <a:extLst>
                        <a:ext uri="{9D8B030D-6E8A-4147-A177-3AD203B41FA5}">
                          <a16:colId xmlns:a16="http://schemas.microsoft.com/office/drawing/2014/main" val="3127361680"/>
                        </a:ext>
                      </a:extLst>
                    </a:gridCol>
                    <a:gridCol w="797074">
                      <a:extLst>
                        <a:ext uri="{9D8B030D-6E8A-4147-A177-3AD203B41FA5}">
                          <a16:colId xmlns:a16="http://schemas.microsoft.com/office/drawing/2014/main" val="4030173950"/>
                        </a:ext>
                      </a:extLst>
                    </a:gridCol>
                    <a:gridCol w="3396103">
                      <a:extLst>
                        <a:ext uri="{9D8B030D-6E8A-4147-A177-3AD203B41FA5}">
                          <a16:colId xmlns:a16="http://schemas.microsoft.com/office/drawing/2014/main" val="3546930763"/>
                        </a:ext>
                      </a:extLst>
                    </a:gridCol>
                    <a:gridCol w="897745">
                      <a:extLst>
                        <a:ext uri="{9D8B030D-6E8A-4147-A177-3AD203B41FA5}">
                          <a16:colId xmlns:a16="http://schemas.microsoft.com/office/drawing/2014/main" val="20001"/>
                        </a:ext>
                      </a:extLst>
                    </a:gridCol>
                    <a:gridCol w="627296">
                      <a:extLst>
                        <a:ext uri="{9D8B030D-6E8A-4147-A177-3AD203B41FA5}">
                          <a16:colId xmlns:a16="http://schemas.microsoft.com/office/drawing/2014/main" val="20002"/>
                        </a:ext>
                      </a:extLst>
                    </a:gridCol>
                    <a:gridCol w="767895">
                      <a:extLst>
                        <a:ext uri="{9D8B030D-6E8A-4147-A177-3AD203B41FA5}">
                          <a16:colId xmlns:a16="http://schemas.microsoft.com/office/drawing/2014/main" val="20003"/>
                        </a:ext>
                      </a:extLst>
                    </a:gridCol>
                    <a:gridCol w="386047">
                      <a:extLst>
                        <a:ext uri="{9D8B030D-6E8A-4147-A177-3AD203B41FA5}">
                          <a16:colId xmlns:a16="http://schemas.microsoft.com/office/drawing/2014/main" val="20004"/>
                        </a:ext>
                      </a:extLst>
                    </a:gridCol>
                    <a:gridCol w="991658">
                      <a:extLst>
                        <a:ext uri="{9D8B030D-6E8A-4147-A177-3AD203B41FA5}">
                          <a16:colId xmlns:a16="http://schemas.microsoft.com/office/drawing/2014/main" val="708479787"/>
                        </a:ext>
                      </a:extLst>
                    </a:gridCol>
                    <a:gridCol w="2047164">
                      <a:extLst>
                        <a:ext uri="{9D8B030D-6E8A-4147-A177-3AD203B41FA5}">
                          <a16:colId xmlns:a16="http://schemas.microsoft.com/office/drawing/2014/main" val="1955623264"/>
                        </a:ext>
                      </a:extLst>
                    </a:gridCol>
                    <a:gridCol w="1004945">
                      <a:extLst>
                        <a:ext uri="{9D8B030D-6E8A-4147-A177-3AD203B41FA5}">
                          <a16:colId xmlns:a16="http://schemas.microsoft.com/office/drawing/2014/main" val="20006"/>
                        </a:ext>
                      </a:extLst>
                    </a:gridCol>
                  </a:tblGrid>
                  <a:tr h="1417101">
                    <a:tc>
                      <a:txBody>
                        <a:bodyPr/>
                        <a:lstStyle/>
                        <a:p>
                          <a:pPr marL="0" marR="0">
                            <a:spcBef>
                              <a:spcPts val="0"/>
                            </a:spcBef>
                            <a:spcAft>
                              <a:spcPts val="0"/>
                            </a:spcAft>
                          </a:pPr>
                          <a:endParaRPr lang="en-US" sz="11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US" sz="1100" dirty="0">
                              <a:effectLst/>
                              <a:latin typeface="Times New Roman"/>
                              <a:ea typeface="Times New Roman"/>
                              <a:cs typeface="Times New Roman"/>
                            </a:rPr>
                            <a:t>Deliveries during study period (n)</a:t>
                          </a:r>
                        </a:p>
                      </a:txBody>
                      <a:tcPr marL="16889" marR="16889" marT="0" marB="0" anchor="ctr"/>
                    </a:tc>
                    <a:tc>
                      <a:txBody>
                        <a:bodyPr/>
                        <a:lstStyle/>
                        <a:p>
                          <a:pPr marL="0" marR="0" algn="ctr">
                            <a:spcBef>
                              <a:spcPts val="0"/>
                            </a:spcBef>
                            <a:spcAft>
                              <a:spcPts val="0"/>
                            </a:spcAft>
                          </a:pPr>
                          <a:r>
                            <a:rPr lang="en-US" sz="1100" dirty="0">
                              <a:effectLst/>
                              <a:latin typeface="Times New Roman"/>
                              <a:ea typeface="Times New Roman"/>
                              <a:cs typeface="Times New Roman"/>
                            </a:rPr>
                            <a:t> HIV+ rate  among pregnant and post-partum women</a:t>
                          </a:r>
                        </a:p>
                      </a:txBody>
                      <a:tcPr marL="16889" marR="16889" marT="0" marB="0" anchor="ctr"/>
                    </a:tc>
                    <a:tc>
                      <a:txBody>
                        <a:bodyPr/>
                        <a:lstStyle/>
                        <a:p>
                          <a:pPr marL="0" marR="0" algn="ctr">
                            <a:spcBef>
                              <a:spcPts val="0"/>
                            </a:spcBef>
                            <a:spcAft>
                              <a:spcPts val="0"/>
                            </a:spcAft>
                          </a:pPr>
                          <a:r>
                            <a:rPr lang="en-US" sz="1100" dirty="0">
                              <a:effectLst/>
                              <a:latin typeface="Times New Roman"/>
                              <a:ea typeface="Times New Roman"/>
                              <a:cs typeface="Times New Roman"/>
                            </a:rPr>
                            <a:t>Baseline sample size for studying Option  A vs. B:HIV+ </a:t>
                          </a:r>
                        </a:p>
                      </a:txBody>
                      <a:tcPr marL="16889" marR="16889"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dirty="0">
                              <a:effectLst/>
                            </a:rPr>
                            <a:t>Control PMTCT Rate from Option A:% of infants infected by 18 months</a:t>
                          </a:r>
                          <a:endParaRPr lang="en-US" sz="1100" dirty="0">
                            <a:effectLst/>
                            <a:latin typeface="Times New Roman"/>
                            <a:ea typeface="Times New Roman"/>
                            <a:cs typeface="Times New Roman"/>
                          </a:endParaRPr>
                        </a:p>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100" dirty="0">
                              <a:effectLst/>
                            </a:rPr>
                            <a:t>Power</a:t>
                          </a:r>
                          <a:endParaRPr lang="en-US" sz="11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100" dirty="0">
                              <a:effectLst/>
                            </a:rPr>
                            <a:t>ICC</a:t>
                          </a:r>
                          <a:endParaRPr lang="en-US" sz="1100" dirty="0">
                            <a:effectLst/>
                            <a:latin typeface="Times New Roman"/>
                            <a:ea typeface="Times New Roman"/>
                            <a:cs typeface="Times New Roman"/>
                          </a:endParaRPr>
                        </a:p>
                      </a:txBody>
                      <a:tcPr marL="16889" marR="16889" marT="0" marB="0" anchor="ctr"/>
                    </a:tc>
                    <a:tc>
                      <a:txBody>
                        <a:bodyPr/>
                        <a:lstStyle/>
                        <a:p>
                          <a:endParaRPr lang="en-US"/>
                        </a:p>
                      </a:txBody>
                      <a:tcPr marL="16889" marR="16889" marT="0" marB="0" anchor="ctr">
                        <a:blipFill>
                          <a:blip r:embed="rId5"/>
                          <a:stretch>
                            <a:fillRect l="-2011111" t="-429" r="-1060317" b="-121459"/>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dirty="0">
                              <a:effectLst/>
                            </a:rPr>
                            <a:t>Minimum detectable difference (RD)</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dirty="0">
                              <a:effectLst/>
                            </a:rPr>
                            <a:t> (assuming constant cluster size)</a:t>
                          </a:r>
                          <a:endParaRPr lang="en-US" sz="1100" dirty="0">
                            <a:effectLst/>
                            <a:latin typeface="Times New Roman"/>
                            <a:ea typeface="Times New Roman"/>
                            <a:cs typeface="Times New Roman"/>
                          </a:endParaRPr>
                        </a:p>
                      </a:txBody>
                      <a:tcPr marL="16889" marR="16889" marT="0" marB="0" anchor="ctr"/>
                    </a:tc>
                    <a:tc>
                      <a:txBody>
                        <a:bodyPr/>
                        <a:lstStyle/>
                        <a:p>
                          <a:endParaRPr lang="en-US"/>
                        </a:p>
                      </a:txBody>
                      <a:tcPr marL="16889" marR="16889" marT="0" marB="0" anchor="ctr">
                        <a:blipFill>
                          <a:blip r:embed="rId5"/>
                          <a:stretch>
                            <a:fillRect l="-444345" t="-429" r="-50298" b="-121459"/>
                          </a:stretch>
                        </a:blipFill>
                      </a:tcPr>
                    </a:tc>
                    <a:tc>
                      <a:txBody>
                        <a:bodyPr/>
                        <a:lstStyle/>
                        <a:p>
                          <a:endParaRPr lang="en-US"/>
                        </a:p>
                      </a:txBody>
                      <a:tcPr marL="62897" marR="62897" marT="0" marB="0" anchor="ctr">
                        <a:blipFill>
                          <a:blip r:embed="rId5"/>
                          <a:stretch>
                            <a:fillRect l="-1108485" t="-429" r="-2424" b="-121459"/>
                          </a:stretch>
                        </a:blipFill>
                      </a:tcPr>
                    </a:tc>
                    <a:extLst>
                      <a:ext uri="{0D108BD9-81ED-4DB2-BD59-A6C34878D82A}">
                        <a16:rowId xmlns:a16="http://schemas.microsoft.com/office/drawing/2014/main" val="10000"/>
                      </a:ext>
                    </a:extLst>
                  </a:tr>
                  <a:tr h="313288">
                    <a:tc rowSpan="3">
                      <a:txBody>
                        <a:bodyPr/>
                        <a:lstStyle/>
                        <a:p>
                          <a:pPr marL="0" marR="0">
                            <a:spcBef>
                              <a:spcPts val="0"/>
                            </a:spcBef>
                            <a:spcAft>
                              <a:spcPts val="0"/>
                            </a:spcAft>
                          </a:pPr>
                          <a:r>
                            <a:rPr lang="en-GB" sz="1100" dirty="0">
                              <a:effectLst/>
                            </a:rPr>
                            <a:t>Pre-trial values</a:t>
                          </a:r>
                          <a:endParaRPr lang="en-US" sz="1100" dirty="0">
                            <a:effectLst/>
                            <a:latin typeface="Times New Roman"/>
                            <a:ea typeface="Times New Roman"/>
                            <a:cs typeface="Times New Roman"/>
                          </a:endParaRPr>
                        </a:p>
                      </a:txBody>
                      <a:tcPr marL="16889" marR="16889" marT="0" marB="0"/>
                    </a:tc>
                    <a:tc>
                      <a:txBody>
                        <a:bodyPr/>
                        <a:lstStyle/>
                        <a:p>
                          <a:pPr marL="0" marR="0" algn="ctr">
                            <a:spcBef>
                              <a:spcPts val="0"/>
                            </a:spcBef>
                            <a:spcAft>
                              <a:spcPts val="0"/>
                            </a:spcAft>
                          </a:pPr>
                          <a:r>
                            <a:rPr lang="en-US" sz="1100" dirty="0">
                              <a:effectLst/>
                              <a:latin typeface="Times New Roman"/>
                              <a:ea typeface="Times New Roman"/>
                              <a:cs typeface="Times New Roman"/>
                            </a:rPr>
                            <a:t>158,684</a:t>
                          </a:r>
                        </a:p>
                      </a:txBody>
                      <a:tcPr marL="16889" marR="16889" marT="0" marB="0" anchor="b"/>
                    </a:tc>
                    <a:tc>
                      <a:txBody>
                        <a:bodyPr/>
                        <a:lstStyle/>
                        <a:p>
                          <a:pPr marL="0" marR="0" algn="ctr">
                            <a:spcBef>
                              <a:spcPts val="0"/>
                            </a:spcBef>
                            <a:spcAft>
                              <a:spcPts val="0"/>
                            </a:spcAft>
                          </a:pPr>
                          <a:r>
                            <a:rPr lang="en-US" sz="1100" dirty="0">
                              <a:effectLst/>
                              <a:latin typeface="Times New Roman"/>
                              <a:ea typeface="Times New Roman"/>
                              <a:cs typeface="Times New Roman"/>
                            </a:rPr>
                            <a:t>9.3%</a:t>
                          </a:r>
                        </a:p>
                      </a:txBody>
                      <a:tcPr marL="16889" marR="16889" marT="0" marB="0" anchor="b"/>
                    </a:tc>
                    <a:tc>
                      <a:txBody>
                        <a:bodyPr/>
                        <a:lstStyle/>
                        <a:p>
                          <a:pPr marL="0" marR="0" algn="ctr">
                            <a:spcBef>
                              <a:spcPts val="0"/>
                            </a:spcBef>
                            <a:spcAft>
                              <a:spcPts val="0"/>
                            </a:spcAft>
                          </a:pPr>
                          <a:r>
                            <a:rPr lang="en-US" sz="1100" dirty="0">
                              <a:effectLst/>
                              <a:latin typeface="Times New Roman"/>
                              <a:ea typeface="Times New Roman"/>
                              <a:cs typeface="Times New Roman"/>
                            </a:rPr>
                            <a:t>14,758</a:t>
                          </a:r>
                        </a:p>
                      </a:txBody>
                      <a:tcPr marL="16889" marR="16889" marT="0" marB="0" anchor="b"/>
                    </a:tc>
                    <a:tc>
                      <a:txBody>
                        <a:bodyPr/>
                        <a:lstStyle/>
                        <a:p>
                          <a:pPr marL="0" marR="0" algn="ctr">
                            <a:spcBef>
                              <a:spcPts val="0"/>
                            </a:spcBef>
                            <a:spcAft>
                              <a:spcPts val="0"/>
                            </a:spcAft>
                          </a:pPr>
                          <a:r>
                            <a:rPr lang="en-GB" sz="1100" dirty="0">
                              <a:effectLst/>
                            </a:rPr>
                            <a:t>12.8%</a:t>
                          </a:r>
                          <a:endParaRPr lang="en-US" sz="1100" dirty="0">
                            <a:effectLst/>
                            <a:latin typeface="Times New Roman"/>
                            <a:ea typeface="Times New Roman"/>
                            <a:cs typeface="Times New Roman"/>
                          </a:endParaRPr>
                        </a:p>
                      </a:txBody>
                      <a:tcPr marL="16889" marR="16889" marT="0" marB="0" anchor="b"/>
                    </a:tc>
                    <a:tc>
                      <a:txBody>
                        <a:bodyPr/>
                        <a:lstStyle/>
                        <a:p>
                          <a:pPr marL="0" marR="0" algn="r">
                            <a:spcBef>
                              <a:spcPts val="0"/>
                            </a:spcBef>
                            <a:spcAft>
                              <a:spcPts val="0"/>
                            </a:spcAft>
                          </a:pPr>
                          <a:r>
                            <a:rPr lang="en-GB" sz="1100" dirty="0">
                              <a:effectLst/>
                            </a:rPr>
                            <a:t>0.90</a:t>
                          </a:r>
                          <a:endParaRPr lang="en-US" sz="1100" dirty="0">
                            <a:effectLst/>
                            <a:latin typeface="Times New Roman"/>
                            <a:ea typeface="Times New Roman"/>
                            <a:cs typeface="Times New Roman"/>
                          </a:endParaRPr>
                        </a:p>
                      </a:txBody>
                      <a:tcPr marL="16889" marR="16889" marT="0" marB="0" anchor="ctr"/>
                    </a:tc>
                    <a:tc>
                      <a:txBody>
                        <a:bodyPr/>
                        <a:lstStyle/>
                        <a:p>
                          <a:pPr marL="0" marR="0" algn="r">
                            <a:spcBef>
                              <a:spcPts val="0"/>
                            </a:spcBef>
                            <a:spcAft>
                              <a:spcPts val="0"/>
                            </a:spcAft>
                          </a:pPr>
                          <a:r>
                            <a:rPr lang="en-GB" sz="1100" dirty="0">
                              <a:effectLst/>
                            </a:rPr>
                            <a:t>0.001</a:t>
                          </a:r>
                          <a:endParaRPr lang="en-US" sz="11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US" sz="1100" dirty="0">
                              <a:effectLst/>
                              <a:latin typeface="Times New Roman"/>
                              <a:ea typeface="Times New Roman"/>
                              <a:cs typeface="Times New Roman"/>
                            </a:rPr>
                            <a:t>246</a:t>
                          </a: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r>
                            <a:rPr lang="en-US" sz="1100" dirty="0">
                              <a:effectLst/>
                              <a:latin typeface="Times New Roman"/>
                              <a:ea typeface="Times New Roman"/>
                              <a:cs typeface="Times New Roman"/>
                            </a:rPr>
                            <a:t>128</a:t>
                          </a: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62897" marR="62897" marT="0" marB="0"/>
                    </a:tc>
                    <a:extLst>
                      <a:ext uri="{0D108BD9-81ED-4DB2-BD59-A6C34878D82A}">
                        <a16:rowId xmlns:a16="http://schemas.microsoft.com/office/drawing/2014/main" val="10009"/>
                      </a:ext>
                    </a:extLst>
                  </a:tr>
                  <a:tr h="207619">
                    <a:tc vMerge="1">
                      <a:txBody>
                        <a:bodyPr/>
                        <a:lstStyle/>
                        <a:p>
                          <a:endParaRPr lang="en-US"/>
                        </a:p>
                      </a:txBody>
                      <a:tcPr/>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r>
                            <a:rPr lang="en-GB" sz="1100" dirty="0">
                              <a:effectLst/>
                            </a:rPr>
                            <a:t> </a:t>
                          </a:r>
                          <a:endParaRPr lang="en-US" sz="1100" dirty="0">
                            <a:effectLst/>
                            <a:latin typeface="Times New Roman"/>
                            <a:ea typeface="Times New Roman"/>
                            <a:cs typeface="Times New Roman"/>
                          </a:endParaRPr>
                        </a:p>
                      </a:txBody>
                      <a:tcPr marL="16889" marR="16889" marT="0" marB="0" anchor="b"/>
                    </a:tc>
                    <a:tc>
                      <a:txBody>
                        <a:bodyPr/>
                        <a:lstStyle/>
                        <a:p>
                          <a:pPr marL="0" marR="0" algn="r">
                            <a:spcBef>
                              <a:spcPts val="0"/>
                            </a:spcBef>
                            <a:spcAft>
                              <a:spcPts val="0"/>
                            </a:spcAft>
                          </a:pPr>
                          <a:r>
                            <a:rPr lang="en-GB" sz="1100" dirty="0">
                              <a:effectLst/>
                            </a:rPr>
                            <a:t> </a:t>
                          </a:r>
                          <a:endParaRPr lang="en-US" sz="1100" dirty="0">
                            <a:effectLst/>
                            <a:latin typeface="Times New Roman"/>
                            <a:ea typeface="Times New Roman"/>
                            <a:cs typeface="Times New Roman"/>
                          </a:endParaRPr>
                        </a:p>
                      </a:txBody>
                      <a:tcPr marL="16889" marR="16889" marT="0" marB="0" anchor="ctr"/>
                    </a:tc>
                    <a:tc>
                      <a:txBody>
                        <a:bodyPr/>
                        <a:lstStyle/>
                        <a:p>
                          <a:pPr marL="0" marR="0" algn="r">
                            <a:spcBef>
                              <a:spcPts val="0"/>
                            </a:spcBef>
                            <a:spcAft>
                              <a:spcPts val="0"/>
                            </a:spcAft>
                          </a:pPr>
                          <a:r>
                            <a:rPr lang="en-GB" sz="1100" dirty="0">
                              <a:effectLst/>
                            </a:rPr>
                            <a:t>0.030</a:t>
                          </a:r>
                          <a:endParaRPr lang="en-US" sz="11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62897" marR="62897" marT="0" marB="0"/>
                    </a:tc>
                    <a:extLst>
                      <a:ext uri="{0D108BD9-81ED-4DB2-BD59-A6C34878D82A}">
                        <a16:rowId xmlns:a16="http://schemas.microsoft.com/office/drawing/2014/main" val="10012"/>
                      </a:ext>
                    </a:extLst>
                  </a:tr>
                  <a:tr h="184220">
                    <a:tc vMerge="1">
                      <a:txBody>
                        <a:bodyPr/>
                        <a:lstStyle/>
                        <a:p>
                          <a:endParaRPr lang="en-US"/>
                        </a:p>
                      </a:txBody>
                      <a:tcPr/>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r>
                            <a:rPr lang="en-GB" sz="1100" dirty="0">
                              <a:effectLst/>
                            </a:rPr>
                            <a:t> </a:t>
                          </a:r>
                          <a:endParaRPr lang="en-US" sz="1100" dirty="0">
                            <a:effectLst/>
                            <a:latin typeface="Times New Roman"/>
                            <a:ea typeface="Times New Roman"/>
                            <a:cs typeface="Times New Roman"/>
                          </a:endParaRPr>
                        </a:p>
                      </a:txBody>
                      <a:tcPr marL="16889" marR="16889" marT="0" marB="0" anchor="b"/>
                    </a:tc>
                    <a:tc>
                      <a:txBody>
                        <a:bodyPr/>
                        <a:lstStyle/>
                        <a:p>
                          <a:pPr marL="0" marR="0" algn="r">
                            <a:spcBef>
                              <a:spcPts val="0"/>
                            </a:spcBef>
                            <a:spcAft>
                              <a:spcPts val="0"/>
                            </a:spcAft>
                          </a:pPr>
                          <a:r>
                            <a:rPr lang="en-GB" sz="1100" dirty="0">
                              <a:effectLst/>
                            </a:rPr>
                            <a:t>0.80</a:t>
                          </a:r>
                          <a:endParaRPr lang="en-US" sz="1100" dirty="0">
                            <a:effectLst/>
                            <a:latin typeface="Times New Roman"/>
                            <a:ea typeface="Times New Roman"/>
                            <a:cs typeface="Times New Roman"/>
                          </a:endParaRPr>
                        </a:p>
                      </a:txBody>
                      <a:tcPr marL="16889" marR="16889" marT="0" marB="0" anchor="ctr"/>
                    </a:tc>
                    <a:tc>
                      <a:txBody>
                        <a:bodyPr/>
                        <a:lstStyle/>
                        <a:p>
                          <a:pPr marL="0" marR="0" algn="r">
                            <a:spcBef>
                              <a:spcPts val="0"/>
                            </a:spcBef>
                            <a:spcAft>
                              <a:spcPts val="0"/>
                            </a:spcAft>
                          </a:pPr>
                          <a:r>
                            <a:rPr lang="en-GB" sz="1100" dirty="0">
                              <a:effectLst/>
                            </a:rPr>
                            <a:t>0.001</a:t>
                          </a:r>
                          <a:endParaRPr lang="en-US" sz="11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62897" marR="62897" marT="0" marB="0"/>
                    </a:tc>
                    <a:extLst>
                      <a:ext uri="{0D108BD9-81ED-4DB2-BD59-A6C34878D82A}">
                        <a16:rowId xmlns:a16="http://schemas.microsoft.com/office/drawing/2014/main" val="10013"/>
                      </a:ext>
                    </a:extLst>
                  </a:tr>
                  <a:tr h="207619">
                    <a:tc>
                      <a:txBody>
                        <a:bodyPr/>
                        <a:lstStyle/>
                        <a:p>
                          <a:pPr marL="0" marR="0" algn="r">
                            <a:spcBef>
                              <a:spcPts val="0"/>
                            </a:spcBef>
                            <a:spcAft>
                              <a:spcPts val="0"/>
                            </a:spcAft>
                          </a:pPr>
                          <a:r>
                            <a:rPr lang="en-GB" sz="1100" dirty="0">
                              <a:effectLst/>
                            </a:rPr>
                            <a:t> </a:t>
                          </a: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r>
                            <a:rPr lang="en-GB" sz="1100" dirty="0">
                              <a:effectLst/>
                            </a:rPr>
                            <a:t> </a:t>
                          </a:r>
                          <a:endParaRPr lang="en-US" sz="1100" dirty="0">
                            <a:effectLst/>
                            <a:latin typeface="Times New Roman"/>
                            <a:ea typeface="Times New Roman"/>
                            <a:cs typeface="Times New Roman"/>
                          </a:endParaRPr>
                        </a:p>
                      </a:txBody>
                      <a:tcPr marL="16889" marR="16889" marT="0" marB="0" anchor="b"/>
                    </a:tc>
                    <a:tc>
                      <a:txBody>
                        <a:bodyPr/>
                        <a:lstStyle/>
                        <a:p>
                          <a:pPr marL="0" marR="0" algn="r">
                            <a:spcBef>
                              <a:spcPts val="0"/>
                            </a:spcBef>
                            <a:spcAft>
                              <a:spcPts val="0"/>
                            </a:spcAft>
                          </a:pPr>
                          <a:r>
                            <a:rPr lang="en-GB" sz="1100" dirty="0">
                              <a:effectLst/>
                            </a:rPr>
                            <a:t> </a:t>
                          </a:r>
                          <a:endParaRPr lang="en-US" sz="1100" dirty="0">
                            <a:effectLst/>
                            <a:latin typeface="Times New Roman"/>
                            <a:ea typeface="Times New Roman"/>
                            <a:cs typeface="Times New Roman"/>
                          </a:endParaRPr>
                        </a:p>
                      </a:txBody>
                      <a:tcPr marL="16889" marR="16889" marT="0" marB="0" anchor="ctr"/>
                    </a:tc>
                    <a:tc>
                      <a:txBody>
                        <a:bodyPr/>
                        <a:lstStyle/>
                        <a:p>
                          <a:pPr marL="0" marR="0" algn="r">
                            <a:spcBef>
                              <a:spcPts val="0"/>
                            </a:spcBef>
                            <a:spcAft>
                              <a:spcPts val="0"/>
                            </a:spcAft>
                          </a:pPr>
                          <a:r>
                            <a:rPr lang="en-GB" sz="1100" dirty="0">
                              <a:effectLst/>
                            </a:rPr>
                            <a:t>0.030</a:t>
                          </a:r>
                          <a:endParaRPr lang="en-US" sz="11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62897" marR="62897" marT="0" marB="0"/>
                    </a:tc>
                    <a:extLst>
                      <a:ext uri="{0D108BD9-81ED-4DB2-BD59-A6C34878D82A}">
                        <a16:rowId xmlns:a16="http://schemas.microsoft.com/office/drawing/2014/main" val="10016"/>
                      </a:ext>
                    </a:extLst>
                  </a:tr>
                  <a:tr h="531413">
                    <a:tc>
                      <a:txBody>
                        <a:bodyPr/>
                        <a:lstStyle/>
                        <a:p>
                          <a:pPr marL="0" marR="0" algn="r">
                            <a:spcBef>
                              <a:spcPts val="0"/>
                            </a:spcBef>
                            <a:spcAft>
                              <a:spcPts val="0"/>
                            </a:spcAft>
                          </a:pPr>
                          <a:r>
                            <a:rPr lang="en-US" sz="1100" dirty="0">
                              <a:effectLst/>
                              <a:latin typeface="Times New Roman"/>
                              <a:ea typeface="Times New Roman"/>
                              <a:cs typeface="Times New Roman"/>
                            </a:rPr>
                            <a:t>Post-trial values</a:t>
                          </a:r>
                        </a:p>
                      </a:txBody>
                      <a:tcPr marL="16889" marR="16889" marT="0" marB="0" anchor="b"/>
                    </a:tc>
                    <a:tc>
                      <a:txBody>
                        <a:bodyPr/>
                        <a:lstStyle/>
                        <a:p>
                          <a:pPr marL="0" marR="0" algn="ctr">
                            <a:spcBef>
                              <a:spcPts val="0"/>
                            </a:spcBef>
                            <a:spcAft>
                              <a:spcPts val="0"/>
                            </a:spcAft>
                          </a:pPr>
                          <a:r>
                            <a:rPr lang="en-US" sz="1100" dirty="0">
                              <a:effectLst/>
                              <a:latin typeface="Times New Roman"/>
                              <a:ea typeface="Times New Roman"/>
                              <a:cs typeface="Times New Roman"/>
                            </a:rPr>
                            <a:t>187,433</a:t>
                          </a:r>
                        </a:p>
                      </a:txBody>
                      <a:tcPr marL="16889" marR="16889" marT="0" marB="0" anchor="b"/>
                    </a:tc>
                    <a:tc>
                      <a:txBody>
                        <a:bodyPr/>
                        <a:lstStyle/>
                        <a:p>
                          <a:pPr marL="0" marR="0" algn="ctr">
                            <a:spcBef>
                              <a:spcPts val="0"/>
                            </a:spcBef>
                            <a:spcAft>
                              <a:spcPts val="0"/>
                            </a:spcAft>
                          </a:pPr>
                          <a:r>
                            <a:rPr lang="en-US" sz="1100" dirty="0">
                              <a:effectLst/>
                              <a:latin typeface="Times New Roman"/>
                              <a:ea typeface="Times New Roman"/>
                              <a:cs typeface="Times New Roman"/>
                            </a:rPr>
                            <a:t>6.9%</a:t>
                          </a:r>
                        </a:p>
                      </a:txBody>
                      <a:tcPr marL="16889" marR="16889" marT="0" marB="0" anchor="b"/>
                    </a:tc>
                    <a:tc>
                      <a:txBody>
                        <a:bodyPr/>
                        <a:lstStyle/>
                        <a:p>
                          <a:pPr marL="0" marR="0" algn="ctr">
                            <a:spcBef>
                              <a:spcPts val="0"/>
                            </a:spcBef>
                            <a:spcAft>
                              <a:spcPts val="0"/>
                            </a:spcAft>
                          </a:pPr>
                          <a:r>
                            <a:rPr lang="en-US" sz="1100" dirty="0">
                              <a:effectLst/>
                              <a:latin typeface="Times New Roman"/>
                              <a:ea typeface="Times New Roman"/>
                              <a:cs typeface="Times New Roman"/>
                            </a:rPr>
                            <a:t>12,933</a:t>
                          </a:r>
                        </a:p>
                      </a:txBody>
                      <a:tcPr marL="16889" marR="16889" marT="0" marB="0" anchor="b"/>
                    </a:tc>
                    <a:tc>
                      <a:txBody>
                        <a:bodyPr/>
                        <a:lstStyle/>
                        <a:p>
                          <a:pPr marL="0" marR="0" algn="ctr">
                            <a:spcBef>
                              <a:spcPts val="0"/>
                            </a:spcBef>
                            <a:spcAft>
                              <a:spcPts val="0"/>
                            </a:spcAft>
                          </a:pPr>
                          <a:r>
                            <a:rPr lang="en-US" sz="1100" dirty="0">
                              <a:effectLst/>
                              <a:latin typeface="Times New Roman"/>
                              <a:ea typeface="Times New Roman"/>
                              <a:cs typeface="Times New Roman"/>
                            </a:rPr>
                            <a:t>3.4%</a:t>
                          </a:r>
                        </a:p>
                      </a:txBody>
                      <a:tcPr marL="16889" marR="16889" marT="0" marB="0" anchor="b"/>
                    </a:tc>
                    <a:tc>
                      <a:txBody>
                        <a:bodyPr/>
                        <a:lstStyle/>
                        <a:p>
                          <a:pPr marL="0" marR="0" algn="r">
                            <a:spcBef>
                              <a:spcPts val="0"/>
                            </a:spcBef>
                            <a:spcAft>
                              <a:spcPts val="0"/>
                            </a:spcAft>
                          </a:pPr>
                          <a:r>
                            <a:rPr lang="en-US" sz="1100" dirty="0">
                              <a:effectLst/>
                              <a:latin typeface="Times New Roman"/>
                              <a:ea typeface="Times New Roman"/>
                              <a:cs typeface="Times New Roman"/>
                            </a:rPr>
                            <a:t>0.90</a:t>
                          </a:r>
                        </a:p>
                      </a:txBody>
                      <a:tcPr marL="16889" marR="16889" marT="0" marB="0" anchor="ctr"/>
                    </a:tc>
                    <a:tc>
                      <a:txBody>
                        <a:bodyPr/>
                        <a:lstStyle/>
                        <a:p>
                          <a:pPr marL="0" marR="0" algn="r">
                            <a:spcBef>
                              <a:spcPts val="0"/>
                            </a:spcBef>
                            <a:spcAft>
                              <a:spcPts val="0"/>
                            </a:spcAft>
                          </a:pPr>
                          <a:r>
                            <a:rPr lang="en-US" sz="1100" dirty="0">
                              <a:effectLst/>
                              <a:latin typeface="Times New Roman"/>
                              <a:ea typeface="Times New Roman"/>
                              <a:cs typeface="Times New Roman"/>
                            </a:rPr>
                            <a:t>0.05</a:t>
                          </a:r>
                        </a:p>
                      </a:txBody>
                      <a:tcPr marL="16889" marR="16889" marT="0" marB="0" anchor="ctr"/>
                    </a:tc>
                    <a:tc>
                      <a:txBody>
                        <a:bodyPr/>
                        <a:lstStyle/>
                        <a:p>
                          <a:pPr marL="0" marR="0" algn="ctr">
                            <a:spcBef>
                              <a:spcPts val="0"/>
                            </a:spcBef>
                            <a:spcAft>
                              <a:spcPts val="0"/>
                            </a:spcAft>
                          </a:pPr>
                          <a:r>
                            <a:rPr lang="en-US" sz="1100" dirty="0">
                              <a:effectLst/>
                              <a:latin typeface="Times New Roman"/>
                              <a:ea typeface="Times New Roman"/>
                              <a:cs typeface="Times New Roman"/>
                            </a:rPr>
                            <a:t>216</a:t>
                          </a: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r>
                            <a:rPr lang="en-US" sz="1100" dirty="0">
                              <a:effectLst/>
                              <a:latin typeface="Times New Roman"/>
                              <a:ea typeface="Times New Roman"/>
                              <a:cs typeface="Times New Roman"/>
                            </a:rPr>
                            <a:t>112</a:t>
                          </a: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62897" marR="62897" marT="0" marB="0"/>
                    </a:tc>
                    <a:extLst>
                      <a:ext uri="{0D108BD9-81ED-4DB2-BD59-A6C34878D82A}">
                        <a16:rowId xmlns:a16="http://schemas.microsoft.com/office/drawing/2014/main" val="4265737127"/>
                      </a:ext>
                    </a:extLst>
                  </a:tr>
                  <a:tr h="207619">
                    <a:tc>
                      <a:txBody>
                        <a:bodyPr/>
                        <a:lstStyle/>
                        <a:p>
                          <a:pPr marL="0" marR="0" algn="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r">
                            <a:spcBef>
                              <a:spcPts val="0"/>
                            </a:spcBef>
                            <a:spcAft>
                              <a:spcPts val="0"/>
                            </a:spcAft>
                          </a:pPr>
                          <a:r>
                            <a:rPr lang="en-US" sz="1100" dirty="0">
                              <a:effectLst/>
                              <a:latin typeface="Times New Roman"/>
                              <a:ea typeface="Times New Roman"/>
                              <a:cs typeface="Times New Roman"/>
                            </a:rPr>
                            <a:t>0.80</a:t>
                          </a:r>
                        </a:p>
                      </a:txBody>
                      <a:tcPr marL="16889" marR="16889" marT="0" marB="0" anchor="ctr"/>
                    </a:tc>
                    <a:tc>
                      <a:txBody>
                        <a:bodyPr/>
                        <a:lstStyle/>
                        <a:p>
                          <a:pPr marL="0" marR="0" algn="r">
                            <a:spcBef>
                              <a:spcPts val="0"/>
                            </a:spcBef>
                            <a:spcAft>
                              <a:spcPts val="0"/>
                            </a:spcAft>
                          </a:pPr>
                          <a:r>
                            <a:rPr lang="en-US" sz="1100" dirty="0">
                              <a:effectLst/>
                              <a:latin typeface="Times New Roman"/>
                              <a:ea typeface="Times New Roman"/>
                              <a:cs typeface="Times New Roman"/>
                            </a:rPr>
                            <a:t>0.05</a:t>
                          </a:r>
                        </a:p>
                      </a:txBody>
                      <a:tcPr marL="16889" marR="16889" marT="0" marB="0" anchor="ctr"/>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100" dirty="0">
                            <a:effectLst/>
                            <a:latin typeface="Times New Roman"/>
                            <a:ea typeface="Times New Roman"/>
                            <a:cs typeface="Times New Roman"/>
                          </a:endParaRPr>
                        </a:p>
                      </a:txBody>
                      <a:tcPr marL="62897" marR="62897" marT="0" marB="0"/>
                    </a:tc>
                    <a:extLst>
                      <a:ext uri="{0D108BD9-81ED-4DB2-BD59-A6C34878D82A}">
                        <a16:rowId xmlns:a16="http://schemas.microsoft.com/office/drawing/2014/main" val="174748202"/>
                      </a:ext>
                    </a:extLst>
                  </a:tr>
                </a:tbl>
              </a:graphicData>
            </a:graphic>
          </p:graphicFrame>
        </mc:Fallback>
      </mc:AlternateContent>
      <p:sp>
        <p:nvSpPr>
          <p:cNvPr id="7" name="TextBox 6">
            <a:extLst>
              <a:ext uri="{FF2B5EF4-FFF2-40B4-BE49-F238E27FC236}">
                <a16:creationId xmlns:a16="http://schemas.microsoft.com/office/drawing/2014/main" id="{12AD769B-6E6D-455D-8D6C-8279BC1F37A4}"/>
              </a:ext>
            </a:extLst>
          </p:cNvPr>
          <p:cNvSpPr txBox="1"/>
          <p:nvPr/>
        </p:nvSpPr>
        <p:spPr>
          <a:xfrm>
            <a:off x="63610" y="4169275"/>
            <a:ext cx="4413538" cy="2308324"/>
          </a:xfrm>
          <a:prstGeom prst="rect">
            <a:avLst/>
          </a:prstGeom>
          <a:noFill/>
        </p:spPr>
        <p:txBody>
          <a:bodyPr wrap="square">
            <a:spAutoFit/>
          </a:bodyPr>
          <a:lstStyle/>
          <a:p>
            <a:r>
              <a:rPr lang="en-US" dirty="0"/>
              <a:t>Actual 18 month PMTCT rate in option A was 3.4%, and in option B, 2.3%! Baseline outcome rates used for pre-trial planning came from modeling paper for Zimbabwe (</a:t>
            </a:r>
            <a:r>
              <a:rPr lang="en-US" dirty="0" err="1"/>
              <a:t>Ciaranello</a:t>
            </a:r>
            <a:r>
              <a:rPr lang="en-US" dirty="0"/>
              <a:t>, 2011) </a:t>
            </a:r>
          </a:p>
          <a:p>
            <a:endParaRPr lang="en-US" dirty="0"/>
          </a:p>
          <a:p>
            <a:r>
              <a:rPr lang="en-US" dirty="0"/>
              <a:t>ICCs from </a:t>
            </a:r>
            <a:r>
              <a:rPr lang="en-US" dirty="0" err="1"/>
              <a:t>Feldblum</a:t>
            </a:r>
            <a:r>
              <a:rPr lang="en-US" dirty="0"/>
              <a:t>, 1999; </a:t>
            </a:r>
            <a:r>
              <a:rPr lang="en-US" dirty="0" err="1"/>
              <a:t>Jokhio</a:t>
            </a:r>
            <a:r>
              <a:rPr lang="en-US" dirty="0"/>
              <a:t>, 2005; </a:t>
            </a:r>
            <a:r>
              <a:rPr lang="en-US" dirty="0" err="1"/>
              <a:t>Ukwuani</a:t>
            </a:r>
            <a:r>
              <a:rPr lang="en-US" dirty="0"/>
              <a:t>, 2003.</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2AE17FF-8959-468B-9C3C-AA82AC3EDE0F}"/>
                  </a:ext>
                </a:extLst>
              </p:cNvPr>
              <p:cNvSpPr txBox="1"/>
              <p:nvPr/>
            </p:nvSpPr>
            <p:spPr>
              <a:xfrm>
                <a:off x="9304511" y="4079342"/>
                <a:ext cx="2887489" cy="707886"/>
              </a:xfrm>
              <a:prstGeom prst="rect">
                <a:avLst/>
              </a:prstGeom>
              <a:noFill/>
            </p:spPr>
            <p:txBody>
              <a:bodyPr wrap="square">
                <a:spAutoFit/>
              </a:bodyPr>
              <a:lstStyle/>
              <a:p>
                <a:r>
                  <a:rPr lang="en-US" dirty="0"/>
                  <a:t>*  </a:t>
                </a:r>
                <a:r>
                  <a:rPr lang="en-US" sz="2000" dirty="0"/>
                  <a:t>From slide 11, the cluster size </a:t>
                </a:r>
                <a14:m>
                  <m:oMath xmlns:m="http://schemas.openxmlformats.org/officeDocument/2006/math">
                    <m:r>
                      <a:rPr lang="en-US" sz="2000" i="1" dirty="0" smtClean="0">
                        <a:latin typeface="Cambria Math" panose="02040503050406030204" pitchFamily="18" charset="0"/>
                      </a:rPr>
                      <m:t>𝐶𝑉</m:t>
                    </m:r>
                  </m:oMath>
                </a14:m>
                <a:r>
                  <a:rPr lang="en-US" sz="2000" dirty="0"/>
                  <a:t>=0.96. </a:t>
                </a:r>
                <a:endParaRPr lang="en-US" sz="2000" dirty="0">
                  <a:highlight>
                    <a:srgbClr val="FFFF00"/>
                  </a:highlight>
                </a:endParaRPr>
              </a:p>
            </p:txBody>
          </p:sp>
        </mc:Choice>
        <mc:Fallback xmlns="">
          <p:sp>
            <p:nvSpPr>
              <p:cNvPr id="9" name="TextBox 8">
                <a:extLst>
                  <a:ext uri="{FF2B5EF4-FFF2-40B4-BE49-F238E27FC236}">
                    <a16:creationId xmlns:a16="http://schemas.microsoft.com/office/drawing/2014/main" id="{F2AE17FF-8959-468B-9C3C-AA82AC3EDE0F}"/>
                  </a:ext>
                </a:extLst>
              </p:cNvPr>
              <p:cNvSpPr txBox="1">
                <a:spLocks noRot="1" noChangeAspect="1" noMove="1" noResize="1" noEditPoints="1" noAdjustHandles="1" noChangeArrowheads="1" noChangeShapeType="1" noTextEdit="1"/>
              </p:cNvSpPr>
              <p:nvPr/>
            </p:nvSpPr>
            <p:spPr>
              <a:xfrm>
                <a:off x="9304511" y="4079342"/>
                <a:ext cx="2887489" cy="707886"/>
              </a:xfrm>
              <a:prstGeom prst="rect">
                <a:avLst/>
              </a:prstGeom>
              <a:blipFill>
                <a:blip r:embed="rId6"/>
                <a:stretch>
                  <a:fillRect l="-2110" t="-4310" b="-14655"/>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9CE5E9EC-CA38-4C82-BA6F-3DB2E7C2607E}"/>
              </a:ext>
            </a:extLst>
          </p:cNvPr>
          <p:cNvSpPr txBox="1"/>
          <p:nvPr/>
        </p:nvSpPr>
        <p:spPr>
          <a:xfrm>
            <a:off x="4342471" y="4354077"/>
            <a:ext cx="5150874" cy="2246769"/>
          </a:xfrm>
          <a:prstGeom prst="rect">
            <a:avLst/>
          </a:prstGeom>
          <a:noFill/>
        </p:spPr>
        <p:txBody>
          <a:bodyPr wrap="square">
            <a:spAutoFit/>
          </a:bodyPr>
          <a:lstStyle/>
          <a:p>
            <a:pPr marL="445770" lvl="1" indent="-171450">
              <a:buFont typeface="Arial"/>
              <a:buChar char="•"/>
              <a:defRPr/>
            </a:pPr>
            <a:r>
              <a:rPr lang="en-US" sz="2000" dirty="0"/>
              <a:t>Pre-trial HIV prevalence in DSM Region: 9.3% among 15-49 year olds   (2</a:t>
            </a:r>
            <a:r>
              <a:rPr lang="en-US" sz="2000" baseline="30000" dirty="0"/>
              <a:t>nd</a:t>
            </a:r>
            <a:r>
              <a:rPr lang="en-US" sz="2000" dirty="0"/>
              <a:t> highest of any region in Tanzania)</a:t>
            </a:r>
          </a:p>
          <a:p>
            <a:pPr marL="445770" lvl="1" indent="-171450">
              <a:buFont typeface="Arial"/>
              <a:buChar char="•"/>
              <a:defRPr/>
            </a:pPr>
            <a:endParaRPr lang="en-US" sz="2000" dirty="0"/>
          </a:p>
          <a:p>
            <a:pPr marL="445770" lvl="1" indent="-171450">
              <a:buFont typeface="Arial"/>
              <a:buChar char="•"/>
              <a:defRPr/>
            </a:pPr>
            <a:r>
              <a:rPr lang="en-US" sz="2000" dirty="0"/>
              <a:t>Actual: 5.1% at delivery, 6.0% at the first ANC visit, 6.9% at ANC according to national data 2010</a:t>
            </a:r>
          </a:p>
        </p:txBody>
      </p:sp>
      <p:sp>
        <p:nvSpPr>
          <p:cNvPr id="2" name="TextBox 1">
            <a:extLst>
              <a:ext uri="{FF2B5EF4-FFF2-40B4-BE49-F238E27FC236}">
                <a16:creationId xmlns:a16="http://schemas.microsoft.com/office/drawing/2014/main" id="{00428DDF-A5C8-4D13-B403-C068DA5CC2CB}"/>
              </a:ext>
            </a:extLst>
          </p:cNvPr>
          <p:cNvSpPr txBox="1"/>
          <p:nvPr/>
        </p:nvSpPr>
        <p:spPr>
          <a:xfrm>
            <a:off x="2383151" y="2792663"/>
            <a:ext cx="2644078" cy="923330"/>
          </a:xfrm>
          <a:prstGeom prst="rect">
            <a:avLst/>
          </a:prstGeom>
          <a:noFill/>
        </p:spPr>
        <p:txBody>
          <a:bodyPr wrap="square" rtlCol="0">
            <a:spAutoFit/>
          </a:bodyPr>
          <a:lstStyle/>
          <a:p>
            <a:r>
              <a:rPr lang="en-US" sz="1200" dirty="0"/>
              <a:t>Recall:</a:t>
            </a:r>
          </a:p>
          <a:p>
            <a:r>
              <a:rPr lang="en-US" sz="1200" dirty="0"/>
              <a:t>80,964 B vs. 77,720 A expected,</a:t>
            </a:r>
          </a:p>
          <a:p>
            <a:r>
              <a:rPr lang="en-US" sz="1200" dirty="0"/>
              <a:t>89,014 B vs. 98,419 A observed</a:t>
            </a:r>
          </a:p>
          <a:p>
            <a:endParaRPr lang="en-US" b="1"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E0D315E-6530-427F-8BB0-0C281676E808}"/>
                  </a:ext>
                </a:extLst>
              </p:cNvPr>
              <p:cNvSpPr txBox="1"/>
              <p:nvPr/>
            </p:nvSpPr>
            <p:spPr>
              <a:xfrm>
                <a:off x="9360163" y="4690150"/>
                <a:ext cx="2966798" cy="1754326"/>
              </a:xfrm>
              <a:prstGeom prst="rect">
                <a:avLst/>
              </a:prstGeom>
              <a:noFill/>
            </p:spPr>
            <p:txBody>
              <a:bodyPr wrap="square" rtlCol="0">
                <a:spAutoFit/>
              </a:bodyPr>
              <a:lstStyle/>
              <a:p>
                <a:r>
                  <a:rPr lang="en-US" dirty="0"/>
                  <a:t>*The effective cluster size is reduced by a factor </a:t>
                </a:r>
                <a14:m>
                  <m:oMath xmlns:m="http://schemas.openxmlformats.org/officeDocument/2006/math">
                    <m:r>
                      <a:rPr lang="en-US" i="1" dirty="0" smtClean="0">
                        <a:latin typeface="Cambria Math" panose="02040503050406030204" pitchFamily="18" charset="0"/>
                      </a:rPr>
                      <m:t>1/(1+</m:t>
                    </m:r>
                    <m:r>
                      <a:rPr lang="en-US" i="1" dirty="0" smtClean="0">
                        <a:latin typeface="Cambria Math" panose="02040503050406030204" pitchFamily="18" charset="0"/>
                      </a:rPr>
                      <m:t>𝐶𝑉</m:t>
                    </m:r>
                    <m:r>
                      <a:rPr lang="en-US" i="1" dirty="0" smtClean="0">
                        <a:latin typeface="Cambria Math" panose="02040503050406030204" pitchFamily="18" charset="0"/>
                      </a:rPr>
                      <m:t>^2) </m:t>
                    </m:r>
                  </m:oMath>
                </a14:m>
                <a:r>
                  <a:rPr lang="en-US" dirty="0"/>
                  <a:t>because of the loss of power due to variability in cluster sizes, creating imbalance in the design</a:t>
                </a:r>
              </a:p>
            </p:txBody>
          </p:sp>
        </mc:Choice>
        <mc:Fallback xmlns="">
          <p:sp>
            <p:nvSpPr>
              <p:cNvPr id="3" name="TextBox 2">
                <a:extLst>
                  <a:ext uri="{FF2B5EF4-FFF2-40B4-BE49-F238E27FC236}">
                    <a16:creationId xmlns:a16="http://schemas.microsoft.com/office/drawing/2014/main" id="{CE0D315E-6530-427F-8BB0-0C281676E808}"/>
                  </a:ext>
                </a:extLst>
              </p:cNvPr>
              <p:cNvSpPr txBox="1">
                <a:spLocks noRot="1" noChangeAspect="1" noMove="1" noResize="1" noEditPoints="1" noAdjustHandles="1" noChangeArrowheads="1" noChangeShapeType="1" noTextEdit="1"/>
              </p:cNvSpPr>
              <p:nvPr/>
            </p:nvSpPr>
            <p:spPr>
              <a:xfrm>
                <a:off x="9360163" y="4690150"/>
                <a:ext cx="2966798" cy="1754326"/>
              </a:xfrm>
              <a:prstGeom prst="rect">
                <a:avLst/>
              </a:prstGeom>
              <a:blipFill>
                <a:blip r:embed="rId7"/>
                <a:stretch>
                  <a:fillRect l="-1643" t="-1736" r="-821" b="-4514"/>
                </a:stretch>
              </a:blipFill>
            </p:spPr>
            <p:txBody>
              <a:bodyPr/>
              <a:lstStyle/>
              <a:p>
                <a:r>
                  <a:rPr lang="en-US">
                    <a:noFill/>
                  </a:rPr>
                  <a:t> </a:t>
                </a:r>
              </a:p>
            </p:txBody>
          </p:sp>
        </mc:Fallback>
      </mc:AlternateContent>
      <p:sp>
        <p:nvSpPr>
          <p:cNvPr id="10" name="Slide Number Placeholder 9">
            <a:extLst>
              <a:ext uri="{FF2B5EF4-FFF2-40B4-BE49-F238E27FC236}">
                <a16:creationId xmlns:a16="http://schemas.microsoft.com/office/drawing/2014/main" id="{8939453C-5CD9-99B5-CBC9-A45D8188B64C}"/>
              </a:ext>
            </a:extLst>
          </p:cNvPr>
          <p:cNvSpPr>
            <a:spLocks noGrp="1"/>
          </p:cNvSpPr>
          <p:nvPr>
            <p:ph type="sldNum" sz="quarter" idx="12"/>
          </p:nvPr>
        </p:nvSpPr>
        <p:spPr/>
        <p:txBody>
          <a:bodyPr/>
          <a:lstStyle/>
          <a:p>
            <a:fld id="{77C6A7FE-225D-49F1-B302-AA37EA92BB49}" type="slidenum">
              <a:rPr lang="en-US" smtClean="0"/>
              <a:t>59</a:t>
            </a:fld>
            <a:endParaRPr lang="en-US"/>
          </a:p>
        </p:txBody>
      </p:sp>
    </p:spTree>
    <p:extLst>
      <p:ext uri="{BB962C8B-B14F-4D97-AF65-F5344CB8AC3E}">
        <p14:creationId xmlns:p14="http://schemas.microsoft.com/office/powerpoint/2010/main" val="217020436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6909FF-AC78-8F43-B50E-C6A59FCADE46}"/>
              </a:ext>
            </a:extLst>
          </p:cNvPr>
          <p:cNvSpPr/>
          <p:nvPr/>
        </p:nvSpPr>
        <p:spPr>
          <a:xfrm>
            <a:off x="0" y="-18029"/>
            <a:ext cx="12192000" cy="932429"/>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200" b="1" dirty="0">
                <a:solidFill>
                  <a:schemeClr val="bg1"/>
                </a:solidFill>
                <a:latin typeface="Arial" panose="020B0604020202020204" pitchFamily="34" charset="0"/>
                <a:cs typeface="Arial" panose="020B0604020202020204" pitchFamily="34" charset="0"/>
              </a:rPr>
              <a:t>Minimum detectable PMTCT rate comparing Option A to B, Familia Salama</a:t>
            </a:r>
            <a:endParaRPr lang="en-US" b="1" dirty="0">
              <a:solidFill>
                <a:schemeClr val="bg1"/>
              </a:solidFill>
            </a:endParaRPr>
          </a:p>
        </p:txBody>
      </p:sp>
      <p:pic>
        <p:nvPicPr>
          <p:cNvPr id="9" name="Picture 8">
            <a:extLst>
              <a:ext uri="{FF2B5EF4-FFF2-40B4-BE49-F238E27FC236}">
                <a16:creationId xmlns:a16="http://schemas.microsoft.com/office/drawing/2014/main" id="{B8E18F17-39B8-9049-BE32-FD586C4BEE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graphicFrame>
        <p:nvGraphicFramePr>
          <p:cNvPr id="11" name="Content Placeholder 3">
            <a:extLst>
              <a:ext uri="{FF2B5EF4-FFF2-40B4-BE49-F238E27FC236}">
                <a16:creationId xmlns:a16="http://schemas.microsoft.com/office/drawing/2014/main" id="{DB5DBD74-A963-4541-A445-C02851C9CD58}"/>
              </a:ext>
            </a:extLst>
          </p:cNvPr>
          <p:cNvGraphicFramePr>
            <a:graphicFrameLocks noGrp="1"/>
          </p:cNvGraphicFramePr>
          <p:nvPr>
            <p:ph idx="1"/>
            <p:extLst>
              <p:ext uri="{D42A27DB-BD31-4B8C-83A1-F6EECF244321}">
                <p14:modId xmlns:p14="http://schemas.microsoft.com/office/powerpoint/2010/main" val="2388425365"/>
              </p:ext>
            </p:extLst>
          </p:nvPr>
        </p:nvGraphicFramePr>
        <p:xfrm>
          <a:off x="48213" y="1046974"/>
          <a:ext cx="6564547" cy="2382026"/>
        </p:xfrm>
        <a:graphic>
          <a:graphicData uri="http://schemas.openxmlformats.org/drawingml/2006/table">
            <a:tbl>
              <a:tblPr firstRow="1" firstCol="1" bandRow="1">
                <a:tableStyleId>{5C22544A-7EE6-4342-B048-85BDC9FD1C3A}</a:tableStyleId>
              </a:tblPr>
              <a:tblGrid>
                <a:gridCol w="1409705">
                  <a:extLst>
                    <a:ext uri="{9D8B030D-6E8A-4147-A177-3AD203B41FA5}">
                      <a16:colId xmlns:a16="http://schemas.microsoft.com/office/drawing/2014/main" val="20000"/>
                    </a:ext>
                  </a:extLst>
                </a:gridCol>
                <a:gridCol w="1096257">
                  <a:extLst>
                    <a:ext uri="{9D8B030D-6E8A-4147-A177-3AD203B41FA5}">
                      <a16:colId xmlns:a16="http://schemas.microsoft.com/office/drawing/2014/main" val="20001"/>
                    </a:ext>
                  </a:extLst>
                </a:gridCol>
                <a:gridCol w="623648">
                  <a:extLst>
                    <a:ext uri="{9D8B030D-6E8A-4147-A177-3AD203B41FA5}">
                      <a16:colId xmlns:a16="http://schemas.microsoft.com/office/drawing/2014/main" val="20002"/>
                    </a:ext>
                  </a:extLst>
                </a:gridCol>
                <a:gridCol w="1534758">
                  <a:extLst>
                    <a:ext uri="{9D8B030D-6E8A-4147-A177-3AD203B41FA5}">
                      <a16:colId xmlns:a16="http://schemas.microsoft.com/office/drawing/2014/main" val="20003"/>
                    </a:ext>
                  </a:extLst>
                </a:gridCol>
                <a:gridCol w="1900179">
                  <a:extLst>
                    <a:ext uri="{9D8B030D-6E8A-4147-A177-3AD203B41FA5}">
                      <a16:colId xmlns:a16="http://schemas.microsoft.com/office/drawing/2014/main" val="20006"/>
                    </a:ext>
                  </a:extLst>
                </a:gridCol>
              </a:tblGrid>
              <a:tr h="1283697">
                <a:tc>
                  <a:txBody>
                    <a:bodyPr/>
                    <a:lstStyle/>
                    <a:p>
                      <a:pPr marL="0" marR="0" algn="ctr">
                        <a:spcBef>
                          <a:spcPts val="0"/>
                        </a:spcBef>
                        <a:spcAft>
                          <a:spcPts val="0"/>
                        </a:spcAft>
                      </a:pPr>
                      <a:r>
                        <a:rPr lang="en-GB" sz="1100" dirty="0">
                          <a:effectLst/>
                        </a:rPr>
                        <a:t>Endpoints</a:t>
                      </a:r>
                      <a:endParaRPr lang="en-US" sz="11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100">
                          <a:effectLst/>
                        </a:rPr>
                        <a:t>Control (Option A)</a:t>
                      </a:r>
                      <a:endParaRPr lang="en-US" sz="110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100">
                          <a:effectLst/>
                        </a:rPr>
                        <a:t>Power</a:t>
                      </a:r>
                      <a:endParaRPr lang="en-US" sz="110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100" dirty="0">
                          <a:effectLst/>
                        </a:rPr>
                        <a:t>ICC</a:t>
                      </a:r>
                      <a:endParaRPr lang="en-US" sz="11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100" dirty="0">
                          <a:effectLst/>
                        </a:rPr>
                        <a:t>Minimum detectable difference after adjusting cluster size </a:t>
                      </a:r>
                      <a:endParaRPr lang="en-US" sz="1100" dirty="0">
                        <a:effectLst/>
                        <a:latin typeface="Times New Roman"/>
                        <a:ea typeface="Times New Roman"/>
                        <a:cs typeface="Times New Roman"/>
                      </a:endParaRPr>
                    </a:p>
                  </a:txBody>
                  <a:tcPr marL="62897" marR="62897" marT="0" marB="0" anchor="ctr"/>
                </a:tc>
                <a:extLst>
                  <a:ext uri="{0D108BD9-81ED-4DB2-BD59-A6C34878D82A}">
                    <a16:rowId xmlns:a16="http://schemas.microsoft.com/office/drawing/2014/main" val="10000"/>
                  </a:ext>
                </a:extLst>
              </a:tr>
              <a:tr h="1098329">
                <a:tc>
                  <a:txBody>
                    <a:bodyPr/>
                    <a:lstStyle/>
                    <a:p>
                      <a:pPr marL="0" marR="0" algn="r">
                        <a:spcBef>
                          <a:spcPts val="0"/>
                        </a:spcBef>
                        <a:spcAft>
                          <a:spcPts val="0"/>
                        </a:spcAft>
                      </a:pPr>
                      <a:r>
                        <a:rPr lang="en-GB" sz="1100" dirty="0">
                          <a:effectLst/>
                        </a:rPr>
                        <a:t> </a:t>
                      </a:r>
                    </a:p>
                    <a:p>
                      <a:pPr marL="0" marR="0" algn="r">
                        <a:spcBef>
                          <a:spcPts val="0"/>
                        </a:spcBef>
                        <a:spcAft>
                          <a:spcPts val="0"/>
                        </a:spcAft>
                      </a:pPr>
                      <a:r>
                        <a:rPr lang="en-GB" sz="1100" dirty="0">
                          <a:effectLst/>
                        </a:rPr>
                        <a:t> </a:t>
                      </a:r>
                    </a:p>
                    <a:p>
                      <a:pPr marL="0" marR="0" lvl="0" indent="0" algn="r" defTabSz="914400" rtl="0" eaLnBrk="1" fontAlgn="auto" latinLnBrk="0" hangingPunct="1">
                        <a:lnSpc>
                          <a:spcPct val="100000"/>
                        </a:lnSpc>
                        <a:spcBef>
                          <a:spcPts val="0"/>
                        </a:spcBef>
                        <a:spcAft>
                          <a:spcPts val="0"/>
                        </a:spcAft>
                        <a:buClrTx/>
                        <a:buSzTx/>
                        <a:buFontTx/>
                        <a:buNone/>
                        <a:tabLst/>
                        <a:defRPr/>
                      </a:pPr>
                      <a:r>
                        <a:rPr lang="en-GB" sz="1100" dirty="0">
                          <a:effectLst/>
                        </a:rPr>
                        <a:t>% of infants infected by 18 months</a:t>
                      </a:r>
                      <a:endParaRPr lang="en-US" sz="1100" dirty="0">
                        <a:effectLst/>
                        <a:latin typeface="Times New Roman"/>
                        <a:ea typeface="Times New Roman"/>
                        <a:cs typeface="Times New Roman"/>
                      </a:endParaRPr>
                    </a:p>
                    <a:p>
                      <a:pPr marL="0" marR="0" algn="r">
                        <a:spcBef>
                          <a:spcPts val="0"/>
                        </a:spcBef>
                        <a:spcAft>
                          <a:spcPts val="0"/>
                        </a:spcAft>
                      </a:pPr>
                      <a:r>
                        <a:rPr lang="en-GB" sz="1100" dirty="0">
                          <a:effectLst/>
                        </a:rPr>
                        <a:t> </a:t>
                      </a:r>
                      <a:endParaRPr lang="en-US" sz="1100" dirty="0">
                        <a:effectLst/>
                        <a:latin typeface="Times New Roman"/>
                        <a:cs typeface="Times New Roman"/>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dirty="0">
                          <a:effectLst/>
                        </a:rPr>
                        <a:t> 3.4%</a:t>
                      </a:r>
                      <a:endParaRPr lang="en-US" sz="1100" dirty="0">
                        <a:effectLst/>
                        <a:latin typeface="Times New Roman"/>
                        <a:ea typeface="Times New Roman"/>
                        <a:cs typeface="Times New Roman"/>
                      </a:endParaRPr>
                    </a:p>
                  </a:txBody>
                  <a:tcPr marL="16889" marR="16889" marT="0" marB="0" anchor="ctr"/>
                </a:tc>
                <a:tc>
                  <a:txBody>
                    <a:bodyPr/>
                    <a:lstStyle/>
                    <a:p>
                      <a:pPr marL="0" marR="0" algn="r">
                        <a:spcBef>
                          <a:spcPts val="0"/>
                        </a:spcBef>
                        <a:spcAft>
                          <a:spcPts val="0"/>
                        </a:spcAft>
                      </a:pPr>
                      <a:r>
                        <a:rPr lang="en-GB" sz="1100">
                          <a:effectLst/>
                        </a:rPr>
                        <a:t>0.80</a:t>
                      </a:r>
                      <a:endParaRPr lang="en-US" sz="1100">
                        <a:effectLst/>
                        <a:latin typeface="Times New Roman"/>
                        <a:ea typeface="Times New Roman"/>
                        <a:cs typeface="Times New Roman"/>
                      </a:endParaRPr>
                    </a:p>
                  </a:txBody>
                  <a:tcPr marL="16889" marR="16889" marT="0" marB="0" anchor="ctr"/>
                </a:tc>
                <a:tc>
                  <a:txBody>
                    <a:bodyPr/>
                    <a:lstStyle/>
                    <a:p>
                      <a:pPr marL="0" marR="0" algn="r">
                        <a:spcBef>
                          <a:spcPts val="0"/>
                        </a:spcBef>
                        <a:spcAft>
                          <a:spcPts val="0"/>
                        </a:spcAft>
                      </a:pPr>
                      <a:r>
                        <a:rPr lang="en-GB" sz="1100" dirty="0">
                          <a:effectLst/>
                        </a:rPr>
                        <a:t>0.05</a:t>
                      </a:r>
                      <a:endParaRPr lang="en-US" sz="11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US" sz="1100" dirty="0">
                          <a:effectLst/>
                          <a:latin typeface="Times New Roman"/>
                          <a:ea typeface="Times New Roman"/>
                          <a:cs typeface="Times New Roman"/>
                        </a:rPr>
                        <a:t>What is the value?</a:t>
                      </a:r>
                    </a:p>
                  </a:txBody>
                  <a:tcPr marL="62897" marR="62897" marT="0" marB="0" anchor="ctr"/>
                </a:tc>
                <a:extLst>
                  <a:ext uri="{0D108BD9-81ED-4DB2-BD59-A6C34878D82A}">
                    <a16:rowId xmlns:a16="http://schemas.microsoft.com/office/drawing/2014/main" val="10013"/>
                  </a:ext>
                </a:extLst>
              </a:tr>
            </a:tbl>
          </a:graphicData>
        </a:graphic>
      </p:graphicFrame>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938FC45-5372-5045-BE0F-6451733846C2}"/>
                  </a:ext>
                </a:extLst>
              </p:cNvPr>
              <p:cNvSpPr txBox="1"/>
              <p:nvPr/>
            </p:nvSpPr>
            <p:spPr>
              <a:xfrm>
                <a:off x="6026436" y="3725826"/>
                <a:ext cx="5794178" cy="124239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sz="2400" b="0" i="1" smtClean="0">
                          <a:latin typeface="Cambria Math" panose="02040503050406030204" pitchFamily="18" charset="0"/>
                          <a:ea typeface="Cambria Math" panose="02040503050406030204" pitchFamily="18" charset="0"/>
                        </a:rPr>
                        <m:t>λ</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𝜋</m:t>
                      </m:r>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rPr>
                          </m:ctrlPr>
                        </m:fPr>
                        <m:num>
                          <m:sSup>
                            <m:sSupPr>
                              <m:ctrlPr>
                                <a:rPr lang="en-US" sz="2400" b="0" i="1" smtClean="0">
                                  <a:latin typeface="Cambria Math" panose="02040503050406030204" pitchFamily="18" charset="0"/>
                                </a:rPr>
                              </m:ctrlPr>
                            </m:sSupPr>
                            <m:e>
                              <m:sSubSup>
                                <m:sSubSupPr>
                                  <m:ctrlPr>
                                    <a:rPr lang="en-US" sz="2400" i="1">
                                      <a:latin typeface="Cambria Math" panose="02040503050406030204" pitchFamily="18" charset="0"/>
                                    </a:rPr>
                                  </m:ctrlPr>
                                </m:sSubSupPr>
                                <m:e>
                                  <m:r>
                                    <a:rPr lang="en-US" sz="2400" i="1">
                                      <a:latin typeface="Cambria Math" panose="02040503050406030204" pitchFamily="18" charset="0"/>
                                    </a:rPr>
                                    <m:t>𝑝</m:t>
                                  </m:r>
                                </m:e>
                                <m:sub>
                                  <m:r>
                                    <a:rPr lang="en-US" sz="2400" b="0" i="1" smtClean="0">
                                      <a:latin typeface="Cambria Math" panose="02040503050406030204" pitchFamily="18" charset="0"/>
                                    </a:rPr>
                                    <m:t>1</m:t>
                                  </m:r>
                                </m:sub>
                                <m:sup>
                                  <m:r>
                                    <a:rPr lang="en-US" sz="2400" b="0" i="1" smtClean="0">
                                      <a:latin typeface="Cambria Math" panose="02040503050406030204" pitchFamily="18" charset="0"/>
                                    </a:rPr>
                                    <m:t>2</m:t>
                                  </m:r>
                                </m:sup>
                              </m:sSubSup>
                              <m:sSup>
                                <m:sSupPr>
                                  <m:ctrlPr>
                                    <a:rPr lang="en-US" sz="2400" i="1">
                                      <a:latin typeface="Cambria Math" panose="02040503050406030204" pitchFamily="18" charset="0"/>
                                    </a:rPr>
                                  </m:ctrlPr>
                                </m:sSupPr>
                                <m:e>
                                  <m:r>
                                    <a:rPr lang="en-US" sz="2400" i="1">
                                      <a:latin typeface="Cambria Math" panose="02040503050406030204" pitchFamily="18" charset="0"/>
                                    </a:rPr>
                                    <m:t> (</m:t>
                                  </m:r>
                                  <m:r>
                                    <a:rPr lang="en-US" sz="2400" i="1">
                                      <a:latin typeface="Cambria Math" panose="02040503050406030204" pitchFamily="18" charset="0"/>
                                    </a:rPr>
                                    <m:t>𝑅𝑅</m:t>
                                  </m:r>
                                  <m:r>
                                    <a:rPr lang="en-US" sz="2400" i="1">
                                      <a:latin typeface="Cambria Math" panose="02040503050406030204" pitchFamily="18" charset="0"/>
                                    </a:rPr>
                                    <m:t>−1)</m:t>
                                  </m:r>
                                </m:e>
                                <m:sup>
                                  <m:r>
                                    <a:rPr lang="en-US" sz="2400" i="1">
                                      <a:latin typeface="Cambria Math" panose="02040503050406030204" pitchFamily="18" charset="0"/>
                                    </a:rPr>
                                    <m:t>2</m:t>
                                  </m:r>
                                </m:sup>
                              </m:sSup>
                            </m:e>
                            <m:sup/>
                          </m:sSup>
                        </m:num>
                        <m:den>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𝑅𝑅</m:t>
                                      </m:r>
                                      <m:r>
                                        <a:rPr lang="en-US" sz="2400" i="1">
                                          <a:latin typeface="Cambria Math" panose="02040503050406030204" pitchFamily="18" charset="0"/>
                                        </a:rPr>
                                        <m:t> </m:t>
                                      </m:r>
                                      <m:r>
                                        <a:rPr lang="en-US" sz="2400" i="1">
                                          <a:latin typeface="Cambria Math" panose="02040503050406030204" pitchFamily="18" charset="0"/>
                                        </a:rPr>
                                        <m:t>𝑝</m:t>
                                      </m:r>
                                    </m:e>
                                    <m:sub>
                                      <m:r>
                                        <a:rPr lang="en-US" sz="2400" b="0" i="1" smtClean="0">
                                          <a:latin typeface="Cambria Math" panose="02040503050406030204" pitchFamily="18" charset="0"/>
                                        </a:rPr>
                                        <m:t>1</m:t>
                                      </m:r>
                                    </m:sub>
                                  </m:sSub>
                                  <m:r>
                                    <a:rPr lang="en-US" sz="2400" i="1">
                                      <a:latin typeface="Cambria Math" panose="02040503050406030204" pitchFamily="18" charset="0"/>
                                    </a:rPr>
                                    <m:t>(1−</m:t>
                                  </m:r>
                                  <m:sSub>
                                    <m:sSubPr>
                                      <m:ctrlPr>
                                        <a:rPr lang="en-US" sz="2400" i="1">
                                          <a:latin typeface="Cambria Math" panose="02040503050406030204" pitchFamily="18" charset="0"/>
                                        </a:rPr>
                                      </m:ctrlPr>
                                    </m:sSubPr>
                                    <m:e>
                                      <m:r>
                                        <a:rPr lang="en-US" sz="2400" i="1">
                                          <a:latin typeface="Cambria Math" panose="02040503050406030204" pitchFamily="18" charset="0"/>
                                        </a:rPr>
                                        <m:t>𝑅𝑅</m:t>
                                      </m:r>
                                      <m:r>
                                        <a:rPr lang="en-US" sz="2400" i="1">
                                          <a:latin typeface="Cambria Math" panose="02040503050406030204" pitchFamily="18" charset="0"/>
                                        </a:rPr>
                                        <m:t> </m:t>
                                      </m:r>
                                      <m:r>
                                        <a:rPr lang="en-US" sz="2400" i="1">
                                          <a:latin typeface="Cambria Math" panose="02040503050406030204" pitchFamily="18" charset="0"/>
                                        </a:rPr>
                                        <m:t>𝑝</m:t>
                                      </m:r>
                                    </m:e>
                                    <m:sub>
                                      <m:r>
                                        <a:rPr lang="en-US" sz="2400" b="0" i="1" smtClean="0">
                                          <a:latin typeface="Cambria Math" panose="02040503050406030204" pitchFamily="18" charset="0"/>
                                        </a:rPr>
                                        <m:t>1</m:t>
                                      </m:r>
                                    </m:sub>
                                  </m:sSub>
                                  <m:r>
                                    <a:rPr lang="en-US" sz="2400" i="1">
                                      <a:latin typeface="Cambria Math" panose="02040503050406030204" pitchFamily="18" charset="0"/>
                                    </a:rPr>
                                    <m:t>)</m:t>
                                  </m:r>
                                </m:num>
                                <m:den>
                                  <m:sSub>
                                    <m:sSubPr>
                                      <m:ctrlPr>
                                        <a:rPr lang="en-US" sz="2400" i="1">
                                          <a:latin typeface="Cambria Math" panose="02040503050406030204" pitchFamily="18" charset="0"/>
                                        </a:rPr>
                                      </m:ctrlPr>
                                    </m:sSubPr>
                                    <m:e>
                                      <m:r>
                                        <a:rPr lang="en-US" sz="2400" i="1">
                                          <a:latin typeface="Cambria Math" panose="02040503050406030204" pitchFamily="18" charset="0"/>
                                        </a:rPr>
                                        <m:t>𝑛</m:t>
                                      </m:r>
                                    </m:e>
                                    <m:sub>
                                      <m:r>
                                        <a:rPr lang="en-US" sz="2400" b="0" i="1" smtClean="0">
                                          <a:latin typeface="Cambria Math" panose="02040503050406030204" pitchFamily="18" charset="0"/>
                                        </a:rPr>
                                        <m:t>2</m:t>
                                      </m:r>
                                    </m:sub>
                                  </m:sSub>
                                </m:den>
                              </m:f>
                              <m:r>
                                <a:rPr lang="en-US" sz="2400" i="1">
                                  <a:latin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a:rPr lang="en-US" sz="2400" b="0" i="1" smtClean="0">
                                          <a:latin typeface="Cambria Math" panose="02040503050406030204" pitchFamily="18" charset="0"/>
                                        </a:rPr>
                                        <m:t>1</m:t>
                                      </m:r>
                                    </m:sub>
                                  </m:sSub>
                                  <m:r>
                                    <a:rPr lang="en-US" sz="2400" i="1">
                                      <a:latin typeface="Cambria Math" panose="02040503050406030204" pitchFamily="18" charset="0"/>
                                    </a:rPr>
                                    <m:t>(1−</m:t>
                                  </m:r>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a:rPr lang="en-US" sz="2400" b="0" i="1" smtClean="0">
                                          <a:latin typeface="Cambria Math" panose="02040503050406030204" pitchFamily="18" charset="0"/>
                                        </a:rPr>
                                        <m:t>1</m:t>
                                      </m:r>
                                    </m:sub>
                                  </m:sSub>
                                  <m:r>
                                    <a:rPr lang="en-US" sz="2400" i="1">
                                      <a:latin typeface="Cambria Math" panose="02040503050406030204" pitchFamily="18" charset="0"/>
                                    </a:rPr>
                                    <m:t>)</m:t>
                                  </m:r>
                                </m:num>
                                <m:den>
                                  <m:sSub>
                                    <m:sSubPr>
                                      <m:ctrlPr>
                                        <a:rPr lang="en-US" sz="2400" i="1">
                                          <a:latin typeface="Cambria Math" panose="02040503050406030204" pitchFamily="18" charset="0"/>
                                        </a:rPr>
                                      </m:ctrlPr>
                                    </m:sSubPr>
                                    <m:e>
                                      <m:r>
                                        <a:rPr lang="en-US" sz="2400" i="1">
                                          <a:latin typeface="Cambria Math" panose="02040503050406030204" pitchFamily="18" charset="0"/>
                                        </a:rPr>
                                        <m:t>𝑛</m:t>
                                      </m:r>
                                    </m:e>
                                    <m:sub>
                                      <m:r>
                                        <a:rPr lang="en-US" sz="2400" b="0" i="1" smtClean="0">
                                          <a:latin typeface="Cambria Math" panose="02040503050406030204" pitchFamily="18" charset="0"/>
                                        </a:rPr>
                                        <m:t>1</m:t>
                                      </m:r>
                                    </m:sub>
                                  </m:sSub>
                                </m:den>
                              </m:f>
                            </m:e>
                          </m:d>
                          <m:r>
                            <a:rPr lang="en-US" sz="2400" i="1">
                              <a:latin typeface="Cambria Math" panose="02040503050406030204" pitchFamily="18" charset="0"/>
                            </a:rPr>
                            <m:t>𝐼𝐹</m:t>
                          </m:r>
                        </m:den>
                      </m:f>
                    </m:oMath>
                  </m:oMathPara>
                </a14:m>
                <a:endParaRPr lang="en-US" sz="2400" dirty="0"/>
              </a:p>
            </p:txBody>
          </p:sp>
        </mc:Choice>
        <mc:Fallback xmlns="">
          <p:sp>
            <p:nvSpPr>
              <p:cNvPr id="14" name="TextBox 13">
                <a:extLst>
                  <a:ext uri="{FF2B5EF4-FFF2-40B4-BE49-F238E27FC236}">
                    <a16:creationId xmlns:a16="http://schemas.microsoft.com/office/drawing/2014/main" id="{7938FC45-5372-5045-BE0F-6451733846C2}"/>
                  </a:ext>
                </a:extLst>
              </p:cNvPr>
              <p:cNvSpPr txBox="1">
                <a:spLocks noRot="1" noChangeAspect="1" noMove="1" noResize="1" noEditPoints="1" noAdjustHandles="1" noChangeArrowheads="1" noChangeShapeType="1" noTextEdit="1"/>
              </p:cNvSpPr>
              <p:nvPr/>
            </p:nvSpPr>
            <p:spPr>
              <a:xfrm>
                <a:off x="6026436" y="3725826"/>
                <a:ext cx="5794178" cy="124239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D343DB82-5DF1-474A-8D64-232B0863AE4F}"/>
                  </a:ext>
                </a:extLst>
              </p:cNvPr>
              <p:cNvSpPr txBox="1"/>
              <p:nvPr/>
            </p:nvSpPr>
            <p:spPr>
              <a:xfrm>
                <a:off x="6781079" y="1190606"/>
                <a:ext cx="5235430" cy="1938992"/>
              </a:xfrm>
              <a:prstGeom prst="rect">
                <a:avLst/>
              </a:prstGeom>
              <a:noFill/>
            </p:spPr>
            <p:txBody>
              <a:bodyPr wrap="square" rtlCol="0">
                <a:spAutoFit/>
              </a:bodyPr>
              <a:lstStyle/>
              <a:p>
                <a:r>
                  <a:rPr lang="en-US" sz="2000" dirty="0"/>
                  <a:t>The minimum detectable effect (MDE) between two proportions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b="0" i="1" smtClean="0">
                            <a:latin typeface="Cambria Math" panose="02040503050406030204" pitchFamily="18" charset="0"/>
                          </a:rPr>
                          <m:t>2</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b="0" i="1" smtClean="0">
                            <a:latin typeface="Cambria Math" panose="02040503050406030204" pitchFamily="18" charset="0"/>
                          </a:rPr>
                          <m:t>𝑅𝑅</m:t>
                        </m:r>
                        <m:r>
                          <a:rPr lang="en-US" sz="2000" b="0" i="1" smtClean="0">
                            <a:latin typeface="Cambria Math" panose="02040503050406030204" pitchFamily="18" charset="0"/>
                          </a:rPr>
                          <m:t> </m:t>
                        </m:r>
                        <m:r>
                          <a:rPr lang="en-US" sz="2000" i="1">
                            <a:latin typeface="Cambria Math" panose="02040503050406030204" pitchFamily="18" charset="0"/>
                          </a:rPr>
                          <m:t>𝑝</m:t>
                        </m:r>
                      </m:e>
                      <m:sub>
                        <m:r>
                          <a:rPr lang="en-US" sz="2000" b="0" i="1" smtClean="0">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b="0" i="1" smtClean="0">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b="0" i="1" smtClean="0">
                            <a:latin typeface="Cambria Math" panose="02040503050406030204" pitchFamily="18" charset="0"/>
                          </a:rPr>
                          <m:t>1</m:t>
                        </m:r>
                      </m:sub>
                    </m:sSub>
                  </m:oMath>
                </a14:m>
                <a:r>
                  <a:rPr lang="en-US" sz="2000" dirty="0"/>
                  <a:t>(RR-1) can be calculated by solving for </a:t>
                </a:r>
                <a14:m>
                  <m:oMath xmlns:m="http://schemas.openxmlformats.org/officeDocument/2006/math">
                    <m:r>
                      <a:rPr lang="en-US" sz="2000" b="0" i="1" smtClean="0">
                        <a:latin typeface="Cambria Math" panose="02040503050406030204" pitchFamily="18" charset="0"/>
                      </a:rPr>
                      <m:t>𝑅𝑅</m:t>
                    </m:r>
                  </m:oMath>
                </a14:m>
                <a:r>
                  <a:rPr lang="en-US" sz="2000" dirty="0"/>
                  <a:t> given </a:t>
                </a:r>
                <a14:m>
                  <m:oMath xmlns:m="http://schemas.openxmlformats.org/officeDocument/2006/math">
                    <m:r>
                      <a:rPr lang="en-US" sz="2000" i="1">
                        <a:latin typeface="Cambria Math" panose="02040503050406030204" pitchFamily="18" charset="0"/>
                        <a:ea typeface="Cambria Math" panose="02040503050406030204" pitchFamily="18" charset="0"/>
                      </a:rPr>
                      <m:t>𝜋</m:t>
                    </m:r>
                    <m:r>
                      <a:rPr lang="en-US" sz="2000" i="1">
                        <a:latin typeface="Cambria Math" panose="02040503050406030204" pitchFamily="18" charset="0"/>
                        <a:ea typeface="Cambria Math" panose="02040503050406030204" pitchFamily="18" charset="0"/>
                      </a:rPr>
                      <m:t>%</m:t>
                    </m:r>
                  </m:oMath>
                </a14:m>
                <a:r>
                  <a:rPr lang="en-US" sz="2000" dirty="0"/>
                  <a:t> power using the following formulation for </a:t>
                </a:r>
                <a14:m>
                  <m:oMath xmlns:m="http://schemas.openxmlformats.org/officeDocument/2006/math">
                    <m:r>
                      <m:rPr>
                        <m:sty m:val="p"/>
                      </m:rPr>
                      <a:rPr lang="el-GR" sz="2000" i="1">
                        <a:latin typeface="Cambria Math" panose="02040503050406030204" pitchFamily="18" charset="0"/>
                        <a:ea typeface="Cambria Math" panose="02040503050406030204" pitchFamily="18" charset="0"/>
                      </a:rPr>
                      <m:t>λ</m:t>
                    </m:r>
                    <m:r>
                      <a:rPr lang="en-US" sz="2000" b="0" i="1" smtClean="0">
                        <a:latin typeface="Cambria Math" panose="02040503050406030204" pitchFamily="18" charset="0"/>
                        <a:ea typeface="Cambria Math" panose="02040503050406030204" pitchFamily="18" charset="0"/>
                      </a:rPr>
                      <m:t>,</m:t>
                    </m:r>
                  </m:oMath>
                </a14:m>
                <a:r>
                  <a:rPr lang="en-US" sz="2000" dirty="0"/>
                  <a:t> based on the normal approximation to the binomial and the Wald test approach</a:t>
                </a:r>
              </a:p>
            </p:txBody>
          </p:sp>
        </mc:Choice>
        <mc:Fallback xmlns="">
          <p:sp>
            <p:nvSpPr>
              <p:cNvPr id="18" name="TextBox 17">
                <a:extLst>
                  <a:ext uri="{FF2B5EF4-FFF2-40B4-BE49-F238E27FC236}">
                    <a16:creationId xmlns:a16="http://schemas.microsoft.com/office/drawing/2014/main" id="{D343DB82-5DF1-474A-8D64-232B0863AE4F}"/>
                  </a:ext>
                </a:extLst>
              </p:cNvPr>
              <p:cNvSpPr txBox="1">
                <a:spLocks noRot="1" noChangeAspect="1" noMove="1" noResize="1" noEditPoints="1" noAdjustHandles="1" noChangeArrowheads="1" noChangeShapeType="1" noTextEdit="1"/>
              </p:cNvSpPr>
              <p:nvPr/>
            </p:nvSpPr>
            <p:spPr>
              <a:xfrm>
                <a:off x="6781079" y="1190606"/>
                <a:ext cx="5235430" cy="1938992"/>
              </a:xfrm>
              <a:prstGeom prst="rect">
                <a:avLst/>
              </a:prstGeom>
              <a:blipFill>
                <a:blip r:embed="rId5"/>
                <a:stretch>
                  <a:fillRect l="-1164" t="-1572" r="-1164" b="-4717"/>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A6D511B3-C68B-B82C-EBE4-963063A63290}"/>
              </a:ext>
            </a:extLst>
          </p:cNvPr>
          <p:cNvSpPr>
            <a:spLocks noGrp="1"/>
          </p:cNvSpPr>
          <p:nvPr>
            <p:ph type="sldNum" sz="quarter" idx="12"/>
          </p:nvPr>
        </p:nvSpPr>
        <p:spPr/>
        <p:txBody>
          <a:bodyPr/>
          <a:lstStyle/>
          <a:p>
            <a:fld id="{77C6A7FE-225D-49F1-B302-AA37EA92BB49}" type="slidenum">
              <a:rPr lang="en-US" smtClean="0"/>
              <a:t>60</a:t>
            </a:fld>
            <a:endParaRPr lang="en-US"/>
          </a:p>
        </p:txBody>
      </p:sp>
    </p:spTree>
    <p:extLst>
      <p:ext uri="{BB962C8B-B14F-4D97-AF65-F5344CB8AC3E}">
        <p14:creationId xmlns:p14="http://schemas.microsoft.com/office/powerpoint/2010/main" val="180488462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052B315-D24A-4443-B819-EFDD2EF828F6}"/>
              </a:ext>
            </a:extLst>
          </p:cNvPr>
          <p:cNvSpPr/>
          <p:nvPr/>
        </p:nvSpPr>
        <p:spPr>
          <a:xfrm>
            <a:off x="0" y="-18029"/>
            <a:ext cx="12192000" cy="932429"/>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200" b="1" dirty="0">
                <a:solidFill>
                  <a:schemeClr val="bg1"/>
                </a:solidFill>
                <a:latin typeface="Arial" panose="020B0604020202020204" pitchFamily="34" charset="0"/>
                <a:cs typeface="Arial" panose="020B0604020202020204" pitchFamily="34" charset="0"/>
              </a:rPr>
              <a:t>Minimum detectable PMTCT rate in Option B, Familia Salama</a:t>
            </a:r>
            <a:endParaRPr lang="en-US" b="1" dirty="0">
              <a:solidFill>
                <a:schemeClr val="bg1"/>
              </a:solidFill>
            </a:endParaRPr>
          </a:p>
        </p:txBody>
      </p:sp>
      <p:pic>
        <p:nvPicPr>
          <p:cNvPr id="5" name="Picture 4">
            <a:extLst>
              <a:ext uri="{FF2B5EF4-FFF2-40B4-BE49-F238E27FC236}">
                <a16:creationId xmlns:a16="http://schemas.microsoft.com/office/drawing/2014/main" id="{E8B66ECC-6DC9-804E-9CAD-D81254209E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6" name="TextBox 5">
            <a:extLst>
              <a:ext uri="{FF2B5EF4-FFF2-40B4-BE49-F238E27FC236}">
                <a16:creationId xmlns:a16="http://schemas.microsoft.com/office/drawing/2014/main" id="{C261B2D3-DCD0-134D-ACAD-4D8F6E3ECDE8}"/>
              </a:ext>
            </a:extLst>
          </p:cNvPr>
          <p:cNvSpPr txBox="1"/>
          <p:nvPr/>
        </p:nvSpPr>
        <p:spPr>
          <a:xfrm>
            <a:off x="286257" y="1340076"/>
            <a:ext cx="3208019" cy="3046988"/>
          </a:xfrm>
          <a:prstGeom prst="rect">
            <a:avLst/>
          </a:prstGeom>
          <a:noFill/>
        </p:spPr>
        <p:txBody>
          <a:bodyPr wrap="square" rtlCol="0">
            <a:spAutoFit/>
          </a:bodyPr>
          <a:lstStyle/>
          <a:p>
            <a:r>
              <a:rPr lang="en-US" sz="2400" dirty="0"/>
              <a:t>In “Tests for Two Proportions in a Cluster-Randomized Design” module</a:t>
            </a:r>
          </a:p>
          <a:p>
            <a:endParaRPr lang="en-US" sz="2400" dirty="0"/>
          </a:p>
          <a:p>
            <a:r>
              <a:rPr lang="en-US" sz="2400" dirty="0"/>
              <a:t>Adjusted for variable cluster size using Manatunga method</a:t>
            </a:r>
          </a:p>
        </p:txBody>
      </p:sp>
      <p:pic>
        <p:nvPicPr>
          <p:cNvPr id="3" name="Picture 2" descr="Graphical user interface, application&#10;&#10;Description automatically generated">
            <a:extLst>
              <a:ext uri="{FF2B5EF4-FFF2-40B4-BE49-F238E27FC236}">
                <a16:creationId xmlns:a16="http://schemas.microsoft.com/office/drawing/2014/main" id="{DCEDBA12-BF3F-D24F-AA6A-602010182A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1248" y="1024692"/>
            <a:ext cx="5648259" cy="5928610"/>
          </a:xfrm>
          <a:prstGeom prst="rect">
            <a:avLst/>
          </a:prstGeom>
        </p:spPr>
      </p:pic>
      <p:sp>
        <p:nvSpPr>
          <p:cNvPr id="7" name="Slide Number Placeholder 6">
            <a:extLst>
              <a:ext uri="{FF2B5EF4-FFF2-40B4-BE49-F238E27FC236}">
                <a16:creationId xmlns:a16="http://schemas.microsoft.com/office/drawing/2014/main" id="{3436C5D3-A20D-C2ED-4048-AE9F62F91F15}"/>
              </a:ext>
            </a:extLst>
          </p:cNvPr>
          <p:cNvSpPr>
            <a:spLocks noGrp="1"/>
          </p:cNvSpPr>
          <p:nvPr>
            <p:ph type="sldNum" sz="quarter" idx="12"/>
          </p:nvPr>
        </p:nvSpPr>
        <p:spPr/>
        <p:txBody>
          <a:bodyPr/>
          <a:lstStyle/>
          <a:p>
            <a:fld id="{77C6A7FE-225D-49F1-B302-AA37EA92BB49}" type="slidenum">
              <a:rPr lang="en-US" smtClean="0"/>
              <a:t>61</a:t>
            </a:fld>
            <a:endParaRPr lang="en-US"/>
          </a:p>
        </p:txBody>
      </p:sp>
    </p:spTree>
    <p:extLst>
      <p:ext uri="{BB962C8B-B14F-4D97-AF65-F5344CB8AC3E}">
        <p14:creationId xmlns:p14="http://schemas.microsoft.com/office/powerpoint/2010/main" val="4179001154"/>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7B80F62-E235-A647-BE78-F62365E50A65}"/>
              </a:ext>
            </a:extLst>
          </p:cNvPr>
          <p:cNvSpPr/>
          <p:nvPr/>
        </p:nvSpPr>
        <p:spPr>
          <a:xfrm>
            <a:off x="0" y="-18029"/>
            <a:ext cx="12192000" cy="932429"/>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200" b="1" dirty="0">
                <a:solidFill>
                  <a:schemeClr val="bg1"/>
                </a:solidFill>
                <a:latin typeface="Arial" panose="020B0604020202020204" pitchFamily="34" charset="0"/>
                <a:cs typeface="Arial" panose="020B0604020202020204" pitchFamily="34" charset="0"/>
              </a:rPr>
              <a:t>Minimum detectable PMTCT rate in Option B, Familia Salama</a:t>
            </a:r>
            <a:endParaRPr lang="en-US" b="1" dirty="0">
              <a:solidFill>
                <a:schemeClr val="bg1"/>
              </a:solidFill>
            </a:endParaRPr>
          </a:p>
        </p:txBody>
      </p:sp>
      <p:pic>
        <p:nvPicPr>
          <p:cNvPr id="8" name="Picture 7">
            <a:extLst>
              <a:ext uri="{FF2B5EF4-FFF2-40B4-BE49-F238E27FC236}">
                <a16:creationId xmlns:a16="http://schemas.microsoft.com/office/drawing/2014/main" id="{78168CE2-EA65-2444-9570-D391BCE15D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9" name="TextBox 8">
            <a:extLst>
              <a:ext uri="{FF2B5EF4-FFF2-40B4-BE49-F238E27FC236}">
                <a16:creationId xmlns:a16="http://schemas.microsoft.com/office/drawing/2014/main" id="{7D6EBAFB-BA15-8545-9FD1-20035436606D}"/>
              </a:ext>
            </a:extLst>
          </p:cNvPr>
          <p:cNvSpPr txBox="1"/>
          <p:nvPr/>
        </p:nvSpPr>
        <p:spPr>
          <a:xfrm>
            <a:off x="8586788" y="2486025"/>
            <a:ext cx="184731" cy="369332"/>
          </a:xfrm>
          <a:prstGeom prst="rect">
            <a:avLst/>
          </a:prstGeom>
          <a:noFill/>
        </p:spPr>
        <p:txBody>
          <a:bodyPr wrap="none" rtlCol="0">
            <a:spAutoFit/>
          </a:bodyPr>
          <a:lstStyle/>
          <a:p>
            <a:endParaRPr lang="en-US" dirty="0"/>
          </a:p>
        </p:txBody>
      </p:sp>
      <p:pic>
        <p:nvPicPr>
          <p:cNvPr id="3" name="Picture 2" descr="Text, letter&#10;&#10;Description automatically generated">
            <a:extLst>
              <a:ext uri="{FF2B5EF4-FFF2-40B4-BE49-F238E27FC236}">
                <a16:creationId xmlns:a16="http://schemas.microsoft.com/office/drawing/2014/main" id="{AC6254C9-275C-864E-9319-7F94FC02138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59890" y="914400"/>
            <a:ext cx="9169400" cy="5499100"/>
          </a:xfrm>
          <a:prstGeom prst="rect">
            <a:avLst/>
          </a:prstGeom>
        </p:spPr>
      </p:pic>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8BE475FA-3621-F44C-A3BC-4FED55186689}"/>
                  </a:ext>
                </a:extLst>
              </p14:cNvPr>
              <p14:cNvContentPartPr/>
              <p14:nvPr/>
            </p14:nvContentPartPr>
            <p14:xfrm>
              <a:off x="6811380" y="2581920"/>
              <a:ext cx="910440" cy="1221480"/>
            </p14:xfrm>
          </p:contentPart>
        </mc:Choice>
        <mc:Fallback xmlns="">
          <p:pic>
            <p:nvPicPr>
              <p:cNvPr id="4" name="Ink 3">
                <a:extLst>
                  <a:ext uri="{FF2B5EF4-FFF2-40B4-BE49-F238E27FC236}">
                    <a16:creationId xmlns:a16="http://schemas.microsoft.com/office/drawing/2014/main" id="{8BE475FA-3621-F44C-A3BC-4FED55186689}"/>
                  </a:ext>
                </a:extLst>
              </p:cNvPr>
              <p:cNvPicPr/>
              <p:nvPr/>
            </p:nvPicPr>
            <p:blipFill>
              <a:blip r:embed="rId6"/>
              <a:stretch>
                <a:fillRect/>
              </a:stretch>
            </p:blipFill>
            <p:spPr>
              <a:xfrm>
                <a:off x="6802380" y="2573280"/>
                <a:ext cx="928080" cy="1239120"/>
              </a:xfrm>
              <a:prstGeom prst="rect">
                <a:avLst/>
              </a:prstGeom>
            </p:spPr>
          </p:pic>
        </mc:Fallback>
      </mc:AlternateContent>
      <p:sp>
        <p:nvSpPr>
          <p:cNvPr id="2" name="Footer Placeholder 1">
            <a:extLst>
              <a:ext uri="{FF2B5EF4-FFF2-40B4-BE49-F238E27FC236}">
                <a16:creationId xmlns:a16="http://schemas.microsoft.com/office/drawing/2014/main" id="{EEBCF623-8358-D146-A9A4-FF838E94FF5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493AF5E-FC92-07AD-C1A8-1C6BDEFC5AA8}"/>
              </a:ext>
            </a:extLst>
          </p:cNvPr>
          <p:cNvSpPr>
            <a:spLocks noGrp="1"/>
          </p:cNvSpPr>
          <p:nvPr>
            <p:ph type="sldNum" sz="quarter" idx="12"/>
          </p:nvPr>
        </p:nvSpPr>
        <p:spPr/>
        <p:txBody>
          <a:bodyPr/>
          <a:lstStyle/>
          <a:p>
            <a:fld id="{77C6A7FE-225D-49F1-B302-AA37EA92BB49}" type="slidenum">
              <a:rPr lang="en-US" smtClean="0"/>
              <a:t>62</a:t>
            </a:fld>
            <a:endParaRPr lang="en-US"/>
          </a:p>
        </p:txBody>
      </p:sp>
    </p:spTree>
    <p:extLst>
      <p:ext uri="{BB962C8B-B14F-4D97-AF65-F5344CB8AC3E}">
        <p14:creationId xmlns:p14="http://schemas.microsoft.com/office/powerpoint/2010/main" val="283851636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4F55A4D-6049-1F4B-83CE-595E744E5E8A}"/>
              </a:ext>
            </a:extLst>
          </p:cNvPr>
          <p:cNvSpPr/>
          <p:nvPr/>
        </p:nvSpPr>
        <p:spPr>
          <a:xfrm>
            <a:off x="0" y="-18029"/>
            <a:ext cx="12192000" cy="932429"/>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200" b="1" dirty="0">
                <a:solidFill>
                  <a:schemeClr val="bg1"/>
                </a:solidFill>
                <a:latin typeface="Arial" panose="020B0604020202020204" pitchFamily="34" charset="0"/>
                <a:cs typeface="Arial" panose="020B0604020202020204" pitchFamily="34" charset="0"/>
              </a:rPr>
              <a:t>Power for observed PMTCT rate in Option B, Familia Salama</a:t>
            </a:r>
            <a:endParaRPr lang="en-US" b="1" dirty="0">
              <a:solidFill>
                <a:schemeClr val="bg1"/>
              </a:solidFil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4609FC1-8E0A-4F4E-B6FE-F05AF3499D43}"/>
                  </a:ext>
                </a:extLst>
              </p:cNvPr>
              <p:cNvSpPr txBox="1"/>
              <p:nvPr/>
            </p:nvSpPr>
            <p:spPr>
              <a:xfrm>
                <a:off x="257175" y="1111739"/>
                <a:ext cx="11619591" cy="923330"/>
              </a:xfrm>
              <a:prstGeom prst="rect">
                <a:avLst/>
              </a:prstGeom>
              <a:noFill/>
            </p:spPr>
            <p:txBody>
              <a:bodyPr wrap="none" rtlCol="0">
                <a:spAutoFit/>
              </a:bodyPr>
              <a:lstStyle/>
              <a:p>
                <a:r>
                  <a:rPr lang="en-US" dirty="0"/>
                  <a:t>Here, we show the power given by PASS for the observed difference (2.3% -3.4% =-1.1%) between the two rates </a:t>
                </a:r>
              </a:p>
              <a:p>
                <a:r>
                  <a:rPr lang="en-US" dirty="0"/>
                  <a:t>       given </a:t>
                </a:r>
                <a14:m>
                  <m:oMath xmlns:m="http://schemas.openxmlformats.org/officeDocument/2006/math">
                    <m:r>
                      <a:rPr lang="en-US" i="1" dirty="0" smtClean="0">
                        <a:latin typeface="Cambria Math" panose="02040503050406030204" pitchFamily="18" charset="0"/>
                      </a:rPr>
                      <m:t>𝐾</m:t>
                    </m:r>
                  </m:oMath>
                </a14:m>
                <a:r>
                  <a:rPr lang="en-US" dirty="0"/>
                  <a:t>=30, </a:t>
                </a:r>
                <a14:m>
                  <m:oMath xmlns:m="http://schemas.openxmlformats.org/officeDocument/2006/math">
                    <m:r>
                      <a:rPr lang="en-US" i="1" dirty="0" smtClean="0">
                        <a:latin typeface="Cambria Math" panose="02040503050406030204" pitchFamily="18" charset="0"/>
                      </a:rPr>
                      <m:t>𝑚</m:t>
                    </m:r>
                  </m:oMath>
                </a14:m>
                <a:r>
                  <a:rPr lang="en-US" dirty="0"/>
                  <a:t>=12933/60=216, ICC of 0.05, where 12,933 is the total sample size; not adjusted for variable cluster size</a:t>
                </a:r>
              </a:p>
              <a:p>
                <a:endParaRPr lang="en-US" dirty="0"/>
              </a:p>
            </p:txBody>
          </p:sp>
        </mc:Choice>
        <mc:Fallback xmlns="">
          <p:sp>
            <p:nvSpPr>
              <p:cNvPr id="2" name="TextBox 1">
                <a:extLst>
                  <a:ext uri="{FF2B5EF4-FFF2-40B4-BE49-F238E27FC236}">
                    <a16:creationId xmlns:a16="http://schemas.microsoft.com/office/drawing/2014/main" id="{94609FC1-8E0A-4F4E-B6FE-F05AF3499D43}"/>
                  </a:ext>
                </a:extLst>
              </p:cNvPr>
              <p:cNvSpPr txBox="1">
                <a:spLocks noRot="1" noChangeAspect="1" noMove="1" noResize="1" noEditPoints="1" noAdjustHandles="1" noChangeArrowheads="1" noChangeShapeType="1" noTextEdit="1"/>
              </p:cNvSpPr>
              <p:nvPr/>
            </p:nvSpPr>
            <p:spPr>
              <a:xfrm>
                <a:off x="257175" y="1111739"/>
                <a:ext cx="11619591" cy="923330"/>
              </a:xfrm>
              <a:prstGeom prst="rect">
                <a:avLst/>
              </a:prstGeom>
              <a:blipFill>
                <a:blip r:embed="rId2"/>
                <a:stretch>
                  <a:fillRect l="-420" t="-3289"/>
                </a:stretch>
              </a:blipFill>
            </p:spPr>
            <p:txBody>
              <a:bodyPr/>
              <a:lstStyle/>
              <a:p>
                <a:r>
                  <a:rPr lang="en-US">
                    <a:noFill/>
                  </a:rPr>
                  <a:t> </a:t>
                </a:r>
              </a:p>
            </p:txBody>
          </p:sp>
        </mc:Fallback>
      </mc:AlternateContent>
      <p:pic>
        <p:nvPicPr>
          <p:cNvPr id="6" name="Picture 5" descr="Text, letter&#10;&#10;Description automatically generated">
            <a:extLst>
              <a:ext uri="{FF2B5EF4-FFF2-40B4-BE49-F238E27FC236}">
                <a16:creationId xmlns:a16="http://schemas.microsoft.com/office/drawing/2014/main" id="{B17AD8DE-FE09-0C44-8F83-F2BB6BE90A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7120" y="1794510"/>
            <a:ext cx="7104206" cy="4405630"/>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120BDEF6-ED1F-E746-B8C8-7F57AA39753D}"/>
                  </a:ext>
                </a:extLst>
              </p14:cNvPr>
              <p14:cNvContentPartPr/>
              <p14:nvPr/>
            </p14:nvContentPartPr>
            <p14:xfrm>
              <a:off x="2312820" y="3391560"/>
              <a:ext cx="956160" cy="623160"/>
            </p14:xfrm>
          </p:contentPart>
        </mc:Choice>
        <mc:Fallback xmlns="">
          <p:pic>
            <p:nvPicPr>
              <p:cNvPr id="8" name="Ink 7">
                <a:extLst>
                  <a:ext uri="{FF2B5EF4-FFF2-40B4-BE49-F238E27FC236}">
                    <a16:creationId xmlns:a16="http://schemas.microsoft.com/office/drawing/2014/main" id="{120BDEF6-ED1F-E746-B8C8-7F57AA39753D}"/>
                  </a:ext>
                </a:extLst>
              </p:cNvPr>
              <p:cNvPicPr/>
              <p:nvPr/>
            </p:nvPicPr>
            <p:blipFill>
              <a:blip r:embed="rId5"/>
              <a:stretch>
                <a:fillRect/>
              </a:stretch>
            </p:blipFill>
            <p:spPr>
              <a:xfrm>
                <a:off x="2303820" y="3382920"/>
                <a:ext cx="973800" cy="640800"/>
              </a:xfrm>
              <a:prstGeom prst="rect">
                <a:avLst/>
              </a:prstGeom>
            </p:spPr>
          </p:pic>
        </mc:Fallback>
      </mc:AlternateContent>
      <p:sp>
        <p:nvSpPr>
          <p:cNvPr id="5" name="Slide Number Placeholder 4">
            <a:extLst>
              <a:ext uri="{FF2B5EF4-FFF2-40B4-BE49-F238E27FC236}">
                <a16:creationId xmlns:a16="http://schemas.microsoft.com/office/drawing/2014/main" id="{DBF9E811-AD03-FAEB-9D04-51F7BB9B959F}"/>
              </a:ext>
            </a:extLst>
          </p:cNvPr>
          <p:cNvSpPr>
            <a:spLocks noGrp="1"/>
          </p:cNvSpPr>
          <p:nvPr>
            <p:ph type="sldNum" sz="quarter" idx="12"/>
          </p:nvPr>
        </p:nvSpPr>
        <p:spPr/>
        <p:txBody>
          <a:bodyPr/>
          <a:lstStyle/>
          <a:p>
            <a:fld id="{77C6A7FE-225D-49F1-B302-AA37EA92BB49}" type="slidenum">
              <a:rPr lang="en-US" smtClean="0"/>
              <a:t>63</a:t>
            </a:fld>
            <a:endParaRPr lang="en-US"/>
          </a:p>
        </p:txBody>
      </p:sp>
    </p:spTree>
    <p:extLst>
      <p:ext uri="{BB962C8B-B14F-4D97-AF65-F5344CB8AC3E}">
        <p14:creationId xmlns:p14="http://schemas.microsoft.com/office/powerpoint/2010/main" val="3592807451"/>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3459F11-6650-9F44-874F-BB2D5FD292C7}"/>
              </a:ext>
            </a:extLst>
          </p:cNvPr>
          <p:cNvSpPr/>
          <p:nvPr/>
        </p:nvSpPr>
        <p:spPr>
          <a:xfrm>
            <a:off x="0" y="-18029"/>
            <a:ext cx="12192000" cy="932429"/>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200" b="1" dirty="0">
                <a:solidFill>
                  <a:schemeClr val="bg1"/>
                </a:solidFill>
                <a:latin typeface="Arial" panose="020B0604020202020204" pitchFamily="34" charset="0"/>
                <a:cs typeface="Arial" panose="020B0604020202020204" pitchFamily="34" charset="0"/>
              </a:rPr>
              <a:t>Power for observed PMTCT rate in Option B, Familia Salama</a:t>
            </a:r>
            <a:endParaRPr lang="en-US" b="1" dirty="0">
              <a:solidFill>
                <a:schemeClr val="bg1"/>
              </a:solidFill>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E7173A0-EAB5-5E45-BE49-C04972CC96B6}"/>
                  </a:ext>
                </a:extLst>
              </p:cNvPr>
              <p:cNvSpPr txBox="1"/>
              <p:nvPr/>
            </p:nvSpPr>
            <p:spPr>
              <a:xfrm>
                <a:off x="334335" y="814525"/>
                <a:ext cx="4229177" cy="6195157"/>
              </a:xfrm>
              <a:prstGeom prst="rect">
                <a:avLst/>
              </a:prstGeom>
              <a:noFill/>
            </p:spPr>
            <p:txBody>
              <a:bodyPr wrap="square" rtlCol="0">
                <a:spAutoFit/>
              </a:bodyPr>
              <a:lstStyle/>
              <a:p>
                <a:endParaRPr lang="en-US" dirty="0"/>
              </a:p>
              <a:p>
                <a:r>
                  <a:rPr lang="en-US" dirty="0"/>
                  <a:t>Here we show how to calculate the power for observed difference between the two rates allowing for </a:t>
                </a:r>
                <a:r>
                  <a:rPr lang="en-US" b="1" dirty="0"/>
                  <a:t>variable clusters per arm </a:t>
                </a:r>
                <a:r>
                  <a:rPr lang="en-US" dirty="0"/>
                  <a:t>and </a:t>
                </a:r>
                <a:r>
                  <a:rPr lang="en-US" b="1" dirty="0"/>
                  <a:t>variable cluster size per arm</a:t>
                </a:r>
                <a:r>
                  <a:rPr lang="en-US" dirty="0"/>
                  <a:t>. PASS does not allow for variable cluster size within arm – the formula on slide 35-36 should be used, with </a:t>
                </a:r>
                <a14:m>
                  <m:oMath xmlns:m="http://schemas.openxmlformats.org/officeDocument/2006/math">
                    <m:acc>
                      <m:accPr>
                        <m:chr m:val="̃"/>
                        <m:ctrlPr>
                          <a:rPr lang="en-GB" i="1">
                            <a:latin typeface="Cambria Math" panose="02040503050406030204" pitchFamily="18" charset="0"/>
                          </a:rPr>
                        </m:ctrlPr>
                      </m:accPr>
                      <m:e>
                        <m:r>
                          <a:rPr lang="en-US" b="1" i="1">
                            <a:latin typeface="Cambria Math" panose="02040503050406030204" pitchFamily="18" charset="0"/>
                          </a:rPr>
                          <m:t>𝒎</m:t>
                        </m:r>
                      </m:e>
                    </m:acc>
                    <m:r>
                      <a:rPr lang="en-US" b="1" i="1">
                        <a:latin typeface="Cambria Math" panose="02040503050406030204" pitchFamily="18" charset="0"/>
                      </a:rPr>
                      <m:t>=</m:t>
                    </m:r>
                    <m:acc>
                      <m:accPr>
                        <m:chr m:val="̅"/>
                        <m:ctrlPr>
                          <a:rPr lang="en-US" b="1" i="1">
                            <a:latin typeface="Cambria Math" panose="02040503050406030204" pitchFamily="18" charset="0"/>
                          </a:rPr>
                        </m:ctrlPr>
                      </m:accPr>
                      <m:e>
                        <m:r>
                          <a:rPr lang="en-US" b="1" i="1">
                            <a:latin typeface="Cambria Math" panose="02040503050406030204" pitchFamily="18" charset="0"/>
                          </a:rPr>
                          <m:t>𝒎</m:t>
                        </m:r>
                      </m:e>
                    </m:acc>
                  </m:oMath>
                </a14:m>
                <a:r>
                  <a:rPr lang="en-GB" dirty="0"/>
                  <a:t>/(1+</a:t>
                </a:r>
                <a14:m>
                  <m:oMath xmlns:m="http://schemas.openxmlformats.org/officeDocument/2006/math">
                    <m:sSubSup>
                      <m:sSubSupPr>
                        <m:ctrlPr>
                          <a:rPr lang="en-GB" i="1" smtClean="0">
                            <a:latin typeface="Cambria Math" panose="02040503050406030204" pitchFamily="18" charset="0"/>
                          </a:rPr>
                        </m:ctrlPr>
                      </m:sSubSupPr>
                      <m:e>
                        <m:r>
                          <a:rPr lang="en-US" b="0" i="1" smtClean="0">
                            <a:latin typeface="Cambria Math" panose="02040503050406030204" pitchFamily="18" charset="0"/>
                          </a:rPr>
                          <m:t>𝐶𝑉</m:t>
                        </m:r>
                      </m:e>
                      <m:sub>
                        <m:r>
                          <a:rPr lang="en-US" b="0" i="1" smtClean="0">
                            <a:latin typeface="Cambria Math" panose="02040503050406030204" pitchFamily="18" charset="0"/>
                          </a:rPr>
                          <m:t>𝑚</m:t>
                        </m:r>
                      </m:sub>
                      <m:sup>
                        <m:r>
                          <a:rPr lang="en-US" b="0" i="1" smtClean="0">
                            <a:latin typeface="Cambria Math" panose="02040503050406030204" pitchFamily="18" charset="0"/>
                          </a:rPr>
                          <m:t>2</m:t>
                        </m:r>
                      </m:sup>
                    </m:sSubSup>
                  </m:oMath>
                </a14:m>
                <a:r>
                  <a:rPr lang="en-GB" dirty="0"/>
                  <a:t>)</a:t>
                </a:r>
              </a:p>
              <a:p>
                <a:endParaRPr lang="en-US" dirty="0"/>
              </a:p>
              <a:p>
                <a:r>
                  <a:rPr lang="en-US" dirty="0"/>
                  <a:t> </a:t>
                </a:r>
                <a14:m>
                  <m:oMath xmlns:m="http://schemas.openxmlformats.org/officeDocument/2006/math">
                    <m:r>
                      <m:rPr>
                        <m:sty m:val="p"/>
                      </m:rPr>
                      <a:rPr lang="en-US" b="0" i="0" smtClean="0">
                        <a:latin typeface="Cambria Math" panose="02040503050406030204" pitchFamily="18" charset="0"/>
                      </a:rPr>
                      <m:t>From</m:t>
                    </m:r>
                    <m:r>
                      <a:rPr lang="en-US" b="0" i="0" smtClean="0">
                        <a:latin typeface="Cambria Math" panose="02040503050406030204" pitchFamily="18" charset="0"/>
                      </a:rPr>
                      <m:t> </m:t>
                    </m:r>
                    <m:r>
                      <m:rPr>
                        <m:sty m:val="p"/>
                      </m:rPr>
                      <a:rPr lang="en-US" b="0" i="0" smtClean="0">
                        <a:latin typeface="Cambria Math" panose="02040503050406030204" pitchFamily="18" charset="0"/>
                      </a:rPr>
                      <m:t>slide</m:t>
                    </m:r>
                    <m:r>
                      <a:rPr lang="en-US" b="0" i="0" smtClean="0">
                        <a:latin typeface="Cambria Math" panose="02040503050406030204" pitchFamily="18" charset="0"/>
                      </a:rPr>
                      <m:t> 54, </m:t>
                    </m:r>
                    <m:sSub>
                      <m:sSubPr>
                        <m:ctrlPr>
                          <a:rPr lang="en-US"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1</m:t>
                        </m:r>
                      </m:sub>
                    </m:sSub>
                    <m:r>
                      <a:rPr lang="en-US" b="0" i="1" smtClean="0">
                        <a:latin typeface="Cambria Math" panose="02040503050406030204" pitchFamily="18" charset="0"/>
                      </a:rPr>
                      <m:t>=32</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b="0" i="1" smtClean="0">
                            <a:latin typeface="Cambria Math" panose="02040503050406030204" pitchFamily="18" charset="0"/>
                          </a:rPr>
                          <m:t>2</m:t>
                        </m:r>
                      </m:sub>
                    </m:sSub>
                    <m:r>
                      <a:rPr lang="en-US" i="1">
                        <a:latin typeface="Cambria Math" panose="02040503050406030204" pitchFamily="18" charset="0"/>
                      </a:rPr>
                      <m:t>=</m:t>
                    </m:r>
                    <m:r>
                      <a:rPr lang="en-US" b="0" i="1" smtClean="0">
                        <a:latin typeface="Cambria Math" panose="02040503050406030204" pitchFamily="18" charset="0"/>
                      </a:rPr>
                      <m:t>2</m:t>
                    </m:r>
                    <m:r>
                      <a:rPr lang="en-US" b="0" i="0" smtClean="0">
                        <a:latin typeface="Cambria Math" panose="02040503050406030204" pitchFamily="18" charset="0"/>
                      </a:rPr>
                      <m:t>8</m:t>
                    </m:r>
                  </m:oMath>
                </a14:m>
                <a:r>
                  <a:rPr lang="en-US" dirty="0"/>
                  <a:t>, </a:t>
                </a:r>
                <a14:m>
                  <m:oMath xmlns:m="http://schemas.openxmlformats.org/officeDocument/2006/math">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𝑚</m:t>
                            </m:r>
                          </m:e>
                        </m:acc>
                      </m:e>
                      <m:sub>
                        <m:r>
                          <a:rPr lang="en-US" b="0" i="1" smtClean="0">
                            <a:latin typeface="Cambria Math" panose="02040503050406030204" pitchFamily="18" charset="0"/>
                          </a:rPr>
                          <m:t>1</m:t>
                        </m:r>
                      </m:sub>
                    </m:sSub>
                  </m:oMath>
                </a14:m>
                <a:r>
                  <a:rPr lang="en-US" dirty="0"/>
                  <a:t>=</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𝑛</m:t>
                        </m:r>
                      </m:e>
                      <m:sub>
                        <m:r>
                          <a:rPr lang="en-US" b="0" i="1" dirty="0" smtClean="0">
                            <a:latin typeface="Cambria Math" panose="02040503050406030204" pitchFamily="18" charset="0"/>
                          </a:rPr>
                          <m:t>1</m:t>
                        </m:r>
                      </m:sub>
                    </m:sSub>
                  </m:oMath>
                </a14:m>
                <a:r>
                  <a:rPr lang="en-US" dirty="0"/>
                  <a:t>*</a:t>
                </a:r>
                <a:r>
                  <a:rPr lang="en-US" dirty="0" err="1"/>
                  <a:t>HIV_rate</a:t>
                </a:r>
                <a:r>
                  <a:rPr lang="en-US" dirty="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𝐾</m:t>
                        </m:r>
                      </m:e>
                      <m:sub>
                        <m:r>
                          <a:rPr lang="en-US" b="0" i="1" dirty="0" smtClean="0">
                            <a:latin typeface="Cambria Math" panose="02040503050406030204" pitchFamily="18" charset="0"/>
                          </a:rPr>
                          <m:t>1</m:t>
                        </m:r>
                      </m:sub>
                    </m:sSub>
                    <m:r>
                      <a:rPr lang="en-US" i="1" dirty="0" smtClean="0">
                        <a:latin typeface="Cambria Math" panose="02040503050406030204" pitchFamily="18" charset="0"/>
                      </a:rPr>
                      <m:t> </m:t>
                    </m:r>
                  </m:oMath>
                </a14:m>
                <a:endParaRPr lang="en-US" dirty="0"/>
              </a:p>
              <a:p>
                <a:r>
                  <a:rPr lang="en-US" dirty="0"/>
                  <a:t>      = 89,014*0.069/32 = 192</a:t>
                </a:r>
              </a:p>
              <a:p>
                <a:pPr/>
                <a14:m>
                  <m:oMathPara xmlns:m="http://schemas.openxmlformats.org/officeDocument/2006/math">
                    <m:oMathParaPr>
                      <m:jc m:val="left"/>
                    </m:oMathParaPr>
                    <m:oMath xmlns:m="http://schemas.openxmlformats.org/officeDocument/2006/math">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𝑚</m:t>
                              </m:r>
                            </m:e>
                          </m:acc>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192</m:t>
                          </m:r>
                        </m:num>
                        <m:den>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0.96</m:t>
                              </m:r>
                            </m:e>
                            <m:sup>
                              <m:r>
                                <a:rPr lang="en-US" b="0" i="1" smtClean="0">
                                  <a:latin typeface="Cambria Math" panose="02040503050406030204" pitchFamily="18" charset="0"/>
                                </a:rPr>
                                <m:t>2</m:t>
                              </m:r>
                            </m:sup>
                          </m:sSup>
                        </m:den>
                      </m:f>
                      <m:r>
                        <a:rPr lang="en-US" b="0" i="1" smtClean="0">
                          <a:latin typeface="Cambria Math" panose="02040503050406030204" pitchFamily="18" charset="0"/>
                        </a:rPr>
                        <m:t>=99.9</m:t>
                      </m:r>
                    </m:oMath>
                  </m:oMathPara>
                </a14:m>
                <a:endParaRPr lang="en-US" dirty="0"/>
              </a:p>
              <a:p>
                <a:endParaRPr lang="en-US" dirty="0"/>
              </a:p>
              <a:p>
                <a14:m>
                  <m:oMath xmlns:m="http://schemas.openxmlformats.org/officeDocument/2006/math">
                    <m:sSub>
                      <m:sSubPr>
                        <m:ctrlPr>
                          <a:rPr lang="en-US" i="1">
                            <a:latin typeface="Cambria Math" panose="02040503050406030204" pitchFamily="18" charset="0"/>
                          </a:rPr>
                        </m:ctrlPr>
                      </m:sSub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𝑚</m:t>
                            </m:r>
                          </m:e>
                        </m:acc>
                      </m:e>
                      <m:sub>
                        <m:r>
                          <a:rPr lang="en-US" b="0" i="1" smtClean="0">
                            <a:latin typeface="Cambria Math" panose="02040503050406030204" pitchFamily="18" charset="0"/>
                          </a:rPr>
                          <m:t>2</m:t>
                        </m:r>
                      </m:sub>
                    </m:sSub>
                    <m:r>
                      <a:rPr lang="en-US" i="1">
                        <a:latin typeface="Cambria Math" panose="02040503050406030204" pitchFamily="18" charset="0"/>
                      </a:rPr>
                      <m:t> </m:t>
                    </m:r>
                  </m:oMath>
                </a14:m>
                <a:r>
                  <a:rPr lang="en-US" dirty="0"/>
                  <a:t>= 98,419*0.069/28=243</a:t>
                </a:r>
              </a:p>
              <a:p>
                <a:pPr/>
                <a14:m>
                  <m:oMathPara xmlns:m="http://schemas.openxmlformats.org/officeDocument/2006/math">
                    <m:oMathParaPr>
                      <m:jc m:val="left"/>
                    </m:oMathParaPr>
                    <m:oMath xmlns:m="http://schemas.openxmlformats.org/officeDocument/2006/math">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𝑚</m:t>
                              </m:r>
                            </m:e>
                          </m:acc>
                        </m:e>
                        <m:sub>
                          <m:r>
                            <a:rPr lang="en-US" b="0" i="1" smtClean="0">
                              <a:latin typeface="Cambria Math" panose="02040503050406030204" pitchFamily="18" charset="0"/>
                            </a:rPr>
                            <m:t>2</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243</m:t>
                          </m:r>
                        </m:num>
                        <m:den>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0.96</m:t>
                              </m:r>
                            </m:e>
                            <m:sup>
                              <m:r>
                                <a:rPr lang="en-US" b="0" i="1" smtClean="0">
                                  <a:latin typeface="Cambria Math" panose="02040503050406030204" pitchFamily="18" charset="0"/>
                                </a:rPr>
                                <m:t>2</m:t>
                              </m:r>
                            </m:sup>
                          </m:sSup>
                        </m:den>
                      </m:f>
                      <m:r>
                        <a:rPr lang="en-US" b="0" i="1" smtClean="0">
                          <a:latin typeface="Cambria Math" panose="02040503050406030204" pitchFamily="18" charset="0"/>
                        </a:rPr>
                        <m:t>=126.5</m:t>
                      </m:r>
                    </m:oMath>
                  </m:oMathPara>
                </a14:m>
                <a:endParaRPr lang="en-US" dirty="0"/>
              </a:p>
              <a:p>
                <a:endParaRPr lang="en-US" dirty="0"/>
              </a:p>
              <a:p>
                <a:r>
                  <a:rPr lang="en-US" dirty="0"/>
                  <a:t>Power is 0.183</a:t>
                </a:r>
              </a:p>
              <a:p>
                <a:endParaRPr lang="en-US" dirty="0"/>
              </a:p>
              <a:p>
                <a:endParaRPr lang="en-US" dirty="0"/>
              </a:p>
            </p:txBody>
          </p:sp>
        </mc:Choice>
        <mc:Fallback xmlns="">
          <p:sp>
            <p:nvSpPr>
              <p:cNvPr id="5" name="TextBox 4">
                <a:extLst>
                  <a:ext uri="{FF2B5EF4-FFF2-40B4-BE49-F238E27FC236}">
                    <a16:creationId xmlns:a16="http://schemas.microsoft.com/office/drawing/2014/main" id="{1E7173A0-EAB5-5E45-BE49-C04972CC96B6}"/>
                  </a:ext>
                </a:extLst>
              </p:cNvPr>
              <p:cNvSpPr txBox="1">
                <a:spLocks noRot="1" noChangeAspect="1" noMove="1" noResize="1" noEditPoints="1" noAdjustHandles="1" noChangeArrowheads="1" noChangeShapeType="1" noTextEdit="1"/>
              </p:cNvSpPr>
              <p:nvPr/>
            </p:nvSpPr>
            <p:spPr>
              <a:xfrm>
                <a:off x="334335" y="814525"/>
                <a:ext cx="4229177" cy="6195157"/>
              </a:xfrm>
              <a:prstGeom prst="rect">
                <a:avLst/>
              </a:prstGeom>
              <a:blipFill>
                <a:blip r:embed="rId2"/>
                <a:stretch>
                  <a:fillRect l="-1297"/>
                </a:stretch>
              </a:blipFill>
            </p:spPr>
            <p:txBody>
              <a:bodyPr/>
              <a:lstStyle/>
              <a:p>
                <a:r>
                  <a:rPr lang="en-US">
                    <a:noFill/>
                  </a:rPr>
                  <a:t> </a:t>
                </a:r>
              </a:p>
            </p:txBody>
          </p:sp>
        </mc:Fallback>
      </mc:AlternateContent>
      <p:pic>
        <p:nvPicPr>
          <p:cNvPr id="7" name="Picture 6" descr="Text&#10;&#10;Description automatically generated with low confidence">
            <a:extLst>
              <a:ext uri="{FF2B5EF4-FFF2-40B4-BE49-F238E27FC236}">
                <a16:creationId xmlns:a16="http://schemas.microsoft.com/office/drawing/2014/main" id="{7E9174F2-ACF2-D643-AED7-E8AA8B68E1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7460" y="719122"/>
            <a:ext cx="7802175" cy="4257675"/>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FBF328DB-F43C-FE49-8A6D-444DB54677CA}"/>
                  </a:ext>
                </a:extLst>
              </p14:cNvPr>
              <p14:cNvContentPartPr/>
              <p14:nvPr/>
            </p14:nvContentPartPr>
            <p14:xfrm>
              <a:off x="4105095" y="1714779"/>
              <a:ext cx="1136880" cy="921240"/>
            </p14:xfrm>
          </p:contentPart>
        </mc:Choice>
        <mc:Fallback xmlns="">
          <p:pic>
            <p:nvPicPr>
              <p:cNvPr id="8" name="Ink 7">
                <a:extLst>
                  <a:ext uri="{FF2B5EF4-FFF2-40B4-BE49-F238E27FC236}">
                    <a16:creationId xmlns:a16="http://schemas.microsoft.com/office/drawing/2014/main" id="{FBF328DB-F43C-FE49-8A6D-444DB54677CA}"/>
                  </a:ext>
                </a:extLst>
              </p:cNvPr>
              <p:cNvPicPr/>
              <p:nvPr/>
            </p:nvPicPr>
            <p:blipFill>
              <a:blip r:embed="rId5"/>
              <a:stretch>
                <a:fillRect/>
              </a:stretch>
            </p:blipFill>
            <p:spPr>
              <a:xfrm>
                <a:off x="4096095" y="1705779"/>
                <a:ext cx="1154520" cy="938880"/>
              </a:xfrm>
              <a:prstGeom prst="rect">
                <a:avLst/>
              </a:prstGeom>
            </p:spPr>
          </p:pic>
        </mc:Fallback>
      </mc:AlternateContent>
      <p:sp>
        <p:nvSpPr>
          <p:cNvPr id="3" name="Slide Number Placeholder 2">
            <a:extLst>
              <a:ext uri="{FF2B5EF4-FFF2-40B4-BE49-F238E27FC236}">
                <a16:creationId xmlns:a16="http://schemas.microsoft.com/office/drawing/2014/main" id="{61BF0922-F3CF-90AB-9626-31A55A10DDAD}"/>
              </a:ext>
            </a:extLst>
          </p:cNvPr>
          <p:cNvSpPr>
            <a:spLocks noGrp="1"/>
          </p:cNvSpPr>
          <p:nvPr>
            <p:ph type="sldNum" sz="quarter" idx="12"/>
          </p:nvPr>
        </p:nvSpPr>
        <p:spPr/>
        <p:txBody>
          <a:bodyPr/>
          <a:lstStyle/>
          <a:p>
            <a:fld id="{77C6A7FE-225D-49F1-B302-AA37EA92BB49}" type="slidenum">
              <a:rPr lang="en-US" smtClean="0"/>
              <a:t>64</a:t>
            </a:fld>
            <a:endParaRPr lang="en-US" dirty="0"/>
          </a:p>
        </p:txBody>
      </p:sp>
      <p:pic>
        <p:nvPicPr>
          <p:cNvPr id="9" name="Picture 8">
            <a:extLst>
              <a:ext uri="{FF2B5EF4-FFF2-40B4-BE49-F238E27FC236}">
                <a16:creationId xmlns:a16="http://schemas.microsoft.com/office/drawing/2014/main" id="{0FCB9C35-7A8B-F95A-ACF5-684ACD6FB1C4}"/>
              </a:ext>
            </a:extLst>
          </p:cNvPr>
          <p:cNvPicPr>
            <a:picLocks noChangeAspect="1"/>
          </p:cNvPicPr>
          <p:nvPr/>
        </p:nvPicPr>
        <p:blipFill>
          <a:blip r:embed="rId6"/>
          <a:stretch>
            <a:fillRect/>
          </a:stretch>
        </p:blipFill>
        <p:spPr>
          <a:xfrm>
            <a:off x="4247460" y="4623162"/>
            <a:ext cx="7530506" cy="2181572"/>
          </a:xfrm>
          <a:prstGeom prst="rect">
            <a:avLst/>
          </a:prstGeom>
        </p:spPr>
      </p:pic>
    </p:spTree>
    <p:extLst>
      <p:ext uri="{BB962C8B-B14F-4D97-AF65-F5344CB8AC3E}">
        <p14:creationId xmlns:p14="http://schemas.microsoft.com/office/powerpoint/2010/main" val="618911636"/>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D93B0D-ABC7-B746-BC86-CC928F8C8D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6" name="Rectangle 5">
            <a:extLst>
              <a:ext uri="{FF2B5EF4-FFF2-40B4-BE49-F238E27FC236}">
                <a16:creationId xmlns:a16="http://schemas.microsoft.com/office/drawing/2014/main" id="{BCF8CBBA-E8D5-014B-9792-F81D7F7878E9}"/>
              </a:ext>
            </a:extLst>
          </p:cNvPr>
          <p:cNvSpPr/>
          <p:nvPr/>
        </p:nvSpPr>
        <p:spPr>
          <a:xfrm>
            <a:off x="-16111" y="121125"/>
            <a:ext cx="12192000" cy="932429"/>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200" b="1" dirty="0">
                <a:solidFill>
                  <a:schemeClr val="bg1"/>
                </a:solidFill>
                <a:latin typeface="Arial" panose="020B0604020202020204" pitchFamily="34" charset="0"/>
                <a:cs typeface="Arial" panose="020B0604020202020204" pitchFamily="34" charset="0"/>
              </a:rPr>
              <a:t>Minimum detectable PMTCT rate in Option B, Familia Salama</a:t>
            </a:r>
            <a:endParaRPr lang="en-US" b="1" dirty="0">
              <a:solidFill>
                <a:schemeClr val="bg1"/>
              </a:solidFill>
            </a:endParaRPr>
          </a:p>
        </p:txBody>
      </p:sp>
      <mc:AlternateContent xmlns:mc="http://schemas.openxmlformats.org/markup-compatibility/2006" xmlns:a14="http://schemas.microsoft.com/office/drawing/2010/main">
        <mc:Choice Requires="a14">
          <p:graphicFrame>
            <p:nvGraphicFramePr>
              <p:cNvPr id="7" name="Content Placeholder 3">
                <a:extLst>
                  <a:ext uri="{FF2B5EF4-FFF2-40B4-BE49-F238E27FC236}">
                    <a16:creationId xmlns:a16="http://schemas.microsoft.com/office/drawing/2014/main" id="{6743712C-4E72-694C-B95C-10E8147FD9AA}"/>
                  </a:ext>
                </a:extLst>
              </p:cNvPr>
              <p:cNvGraphicFramePr>
                <a:graphicFrameLocks noGrp="1"/>
              </p:cNvGraphicFramePr>
              <p:nvPr>
                <p:ph idx="1"/>
                <p:extLst>
                  <p:ext uri="{D42A27DB-BD31-4B8C-83A1-F6EECF244321}">
                    <p14:modId xmlns:p14="http://schemas.microsoft.com/office/powerpoint/2010/main" val="2878484724"/>
                  </p:ext>
                </p:extLst>
              </p:nvPr>
            </p:nvGraphicFramePr>
            <p:xfrm>
              <a:off x="681170" y="1280235"/>
              <a:ext cx="11215554" cy="3494384"/>
            </p:xfrm>
            <a:graphic>
              <a:graphicData uri="http://schemas.openxmlformats.org/drawingml/2006/table">
                <a:tbl>
                  <a:tblPr firstRow="1" firstCol="1" bandRow="1">
                    <a:tableStyleId>{5C22544A-7EE6-4342-B048-85BDC9FD1C3A}</a:tableStyleId>
                  </a:tblPr>
                  <a:tblGrid>
                    <a:gridCol w="1233365">
                      <a:extLst>
                        <a:ext uri="{9D8B030D-6E8A-4147-A177-3AD203B41FA5}">
                          <a16:colId xmlns:a16="http://schemas.microsoft.com/office/drawing/2014/main" val="20000"/>
                        </a:ext>
                      </a:extLst>
                    </a:gridCol>
                    <a:gridCol w="746659">
                      <a:extLst>
                        <a:ext uri="{9D8B030D-6E8A-4147-A177-3AD203B41FA5}">
                          <a16:colId xmlns:a16="http://schemas.microsoft.com/office/drawing/2014/main" val="3127361680"/>
                        </a:ext>
                      </a:extLst>
                    </a:gridCol>
                    <a:gridCol w="915402">
                      <a:extLst>
                        <a:ext uri="{9D8B030D-6E8A-4147-A177-3AD203B41FA5}">
                          <a16:colId xmlns:a16="http://schemas.microsoft.com/office/drawing/2014/main" val="4030173950"/>
                        </a:ext>
                      </a:extLst>
                    </a:gridCol>
                    <a:gridCol w="813851">
                      <a:extLst>
                        <a:ext uri="{9D8B030D-6E8A-4147-A177-3AD203B41FA5}">
                          <a16:colId xmlns:a16="http://schemas.microsoft.com/office/drawing/2014/main" val="3546930763"/>
                        </a:ext>
                      </a:extLst>
                    </a:gridCol>
                    <a:gridCol w="1031017">
                      <a:extLst>
                        <a:ext uri="{9D8B030D-6E8A-4147-A177-3AD203B41FA5}">
                          <a16:colId xmlns:a16="http://schemas.microsoft.com/office/drawing/2014/main" val="20001"/>
                        </a:ext>
                      </a:extLst>
                    </a:gridCol>
                    <a:gridCol w="720417">
                      <a:extLst>
                        <a:ext uri="{9D8B030D-6E8A-4147-A177-3AD203B41FA5}">
                          <a16:colId xmlns:a16="http://schemas.microsoft.com/office/drawing/2014/main" val="20002"/>
                        </a:ext>
                      </a:extLst>
                    </a:gridCol>
                    <a:gridCol w="881892">
                      <a:extLst>
                        <a:ext uri="{9D8B030D-6E8A-4147-A177-3AD203B41FA5}">
                          <a16:colId xmlns:a16="http://schemas.microsoft.com/office/drawing/2014/main" val="20003"/>
                        </a:ext>
                      </a:extLst>
                    </a:gridCol>
                    <a:gridCol w="814247">
                      <a:extLst>
                        <a:ext uri="{9D8B030D-6E8A-4147-A177-3AD203B41FA5}">
                          <a16:colId xmlns:a16="http://schemas.microsoft.com/office/drawing/2014/main" val="20004"/>
                        </a:ext>
                      </a:extLst>
                    </a:gridCol>
                    <a:gridCol w="1425439">
                      <a:extLst>
                        <a:ext uri="{9D8B030D-6E8A-4147-A177-3AD203B41FA5}">
                          <a16:colId xmlns:a16="http://schemas.microsoft.com/office/drawing/2014/main" val="708479787"/>
                        </a:ext>
                      </a:extLst>
                    </a:gridCol>
                    <a:gridCol w="1119845">
                      <a:extLst>
                        <a:ext uri="{9D8B030D-6E8A-4147-A177-3AD203B41FA5}">
                          <a16:colId xmlns:a16="http://schemas.microsoft.com/office/drawing/2014/main" val="1955623264"/>
                        </a:ext>
                      </a:extLst>
                    </a:gridCol>
                    <a:gridCol w="1513420">
                      <a:extLst>
                        <a:ext uri="{9D8B030D-6E8A-4147-A177-3AD203B41FA5}">
                          <a16:colId xmlns:a16="http://schemas.microsoft.com/office/drawing/2014/main" val="20006"/>
                        </a:ext>
                      </a:extLst>
                    </a:gridCol>
                  </a:tblGrid>
                  <a:tr h="1520022">
                    <a:tc>
                      <a:txBody>
                        <a:bodyPr/>
                        <a:lstStyle/>
                        <a:p>
                          <a:pPr marL="0" marR="0">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Deliveries during study period (n)</a:t>
                          </a: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 HIV+ rate  among pregnant and post-partum women</a:t>
                          </a: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Baseline sample size for studying Option  A vs. B:HIV+ </a:t>
                          </a:r>
                        </a:p>
                      </a:txBody>
                      <a:tcPr marL="16889" marR="16889"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dirty="0">
                              <a:effectLst/>
                            </a:rPr>
                            <a:t>Control PMTCT Rate from Option A:% of infants infected by 18 months</a:t>
                          </a:r>
                          <a:endParaRPr lang="en-US" sz="1400" dirty="0">
                            <a:effectLst/>
                            <a:latin typeface="Times New Roman"/>
                            <a:ea typeface="Times New Roman"/>
                            <a:cs typeface="Times New Roman"/>
                          </a:endParaRPr>
                        </a:p>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400" dirty="0">
                              <a:effectLst/>
                            </a:rPr>
                            <a:t>Power</a:t>
                          </a: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400" dirty="0">
                              <a:effectLst/>
                            </a:rPr>
                            <a:t>ICC</a:t>
                          </a: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Average cluster size </a:t>
                          </a:r>
                        </a:p>
                        <a:p>
                          <a:pPr marL="0" marR="0" algn="ctr">
                            <a:spcBef>
                              <a:spcPts val="0"/>
                            </a:spcBef>
                            <a:spcAft>
                              <a:spcPts val="0"/>
                            </a:spcAft>
                          </a:pPr>
                          <a:r>
                            <a:rPr lang="en-US" sz="1400" dirty="0">
                              <a:effectLst/>
                              <a:latin typeface="Times New Roman"/>
                              <a:ea typeface="Times New Roman"/>
                              <a:cs typeface="Times New Roman"/>
                            </a:rPr>
                            <a:t>(</a:t>
                          </a:r>
                          <a:r>
                            <a:rPr lang="en-GB" sz="1400" dirty="0">
                              <a:effectLst/>
                            </a:rPr>
                            <a:t> </a:t>
                          </a:r>
                          <a14:m>
                            <m:oMath xmlns:m="http://schemas.openxmlformats.org/officeDocument/2006/math">
                              <m:acc>
                                <m:accPr>
                                  <m:chr m:val="̅"/>
                                  <m:ctrlPr>
                                    <a:rPr lang="en-GB" sz="1400" i="1" smtClean="0">
                                      <a:effectLst/>
                                      <a:latin typeface="Cambria Math" panose="02040503050406030204" pitchFamily="18" charset="0"/>
                                    </a:rPr>
                                  </m:ctrlPr>
                                </m:accPr>
                                <m:e>
                                  <m:r>
                                    <a:rPr lang="en-US" sz="1400" b="1" i="1" smtClean="0">
                                      <a:effectLst/>
                                      <a:latin typeface="Cambria Math" panose="02040503050406030204" pitchFamily="18" charset="0"/>
                                    </a:rPr>
                                    <m:t>𝒎</m:t>
                                  </m:r>
                                </m:e>
                              </m:acc>
                            </m:oMath>
                          </a14:m>
                          <a:r>
                            <a:rPr lang="en-GB" sz="1400" dirty="0">
                              <a:effectLst/>
                            </a:rPr>
                            <a:t>)</a:t>
                          </a:r>
                          <a:endParaRPr lang="en-US" sz="1400" dirty="0">
                            <a:effectLst/>
                            <a:latin typeface="Times New Roman"/>
                            <a:ea typeface="Times New Roman"/>
                            <a:cs typeface="Times New Roman"/>
                          </a:endParaRPr>
                        </a:p>
                      </a:txBody>
                      <a:tcPr marL="16889" marR="16889"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dirty="0">
                              <a:effectLst/>
                            </a:rPr>
                            <a:t>Minimum detectable difference (RR) (assuming constant cluster size)</a:t>
                          </a: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400" dirty="0">
                              <a:effectLst/>
                            </a:rPr>
                            <a:t>Average cluster size adjusted for cluster</a:t>
                          </a:r>
                          <a:r>
                            <a:rPr lang="en-GB" sz="1400" baseline="0" dirty="0">
                              <a:effectLst/>
                            </a:rPr>
                            <a:t> size variation </a:t>
                          </a:r>
                          <a14:m>
                            <m:oMath xmlns:m="http://schemas.openxmlformats.org/officeDocument/2006/math">
                              <m:acc>
                                <m:accPr>
                                  <m:chr m:val="̃"/>
                                  <m:ctrlPr>
                                    <a:rPr lang="en-GB" sz="1400" i="1" baseline="0" smtClean="0">
                                      <a:effectLst/>
                                      <a:latin typeface="Cambria Math" panose="02040503050406030204" pitchFamily="18" charset="0"/>
                                    </a:rPr>
                                  </m:ctrlPr>
                                </m:accPr>
                                <m:e>
                                  <m:r>
                                    <a:rPr lang="en-US" sz="1400" b="1" i="1" baseline="0" smtClean="0">
                                      <a:effectLst/>
                                      <a:latin typeface="Cambria Math" panose="02040503050406030204" pitchFamily="18" charset="0"/>
                                    </a:rPr>
                                    <m:t>𝒎</m:t>
                                  </m:r>
                                </m:e>
                              </m:acc>
                              <m:r>
                                <a:rPr lang="en-US" sz="1400" b="1" i="1" baseline="0" smtClean="0">
                                  <a:effectLst/>
                                  <a:latin typeface="Cambria Math" panose="02040503050406030204" pitchFamily="18" charset="0"/>
                                </a:rPr>
                                <m:t>=</m:t>
                              </m:r>
                              <m:acc>
                                <m:accPr>
                                  <m:chr m:val="̅"/>
                                  <m:ctrlPr>
                                    <a:rPr lang="en-US" sz="1400" b="1" i="1" baseline="0" smtClean="0">
                                      <a:effectLst/>
                                      <a:latin typeface="Cambria Math" panose="02040503050406030204" pitchFamily="18" charset="0"/>
                                    </a:rPr>
                                  </m:ctrlPr>
                                </m:accPr>
                                <m:e>
                                  <m:r>
                                    <a:rPr lang="en-US" sz="1400" b="1" i="1" baseline="0" smtClean="0">
                                      <a:effectLst/>
                                      <a:latin typeface="Cambria Math" panose="02040503050406030204" pitchFamily="18" charset="0"/>
                                    </a:rPr>
                                    <m:t>𝒎</m:t>
                                  </m:r>
                                </m:e>
                              </m:acc>
                            </m:oMath>
                          </a14:m>
                          <a:r>
                            <a:rPr lang="en-GB" sz="1400" dirty="0">
                              <a:effectLst/>
                            </a:rPr>
                            <a:t>/(1+</a:t>
                          </a:r>
                          <a14:m>
                            <m:oMath xmlns:m="http://schemas.openxmlformats.org/officeDocument/2006/math">
                              <m:sSup>
                                <m:sSupPr>
                                  <m:ctrlPr>
                                    <a:rPr lang="en-GB" sz="1400" i="1" smtClean="0">
                                      <a:effectLst/>
                                      <a:latin typeface="Cambria Math" panose="02040503050406030204" pitchFamily="18" charset="0"/>
                                    </a:rPr>
                                  </m:ctrlPr>
                                </m:sSupPr>
                                <m:e>
                                  <m:r>
                                    <a:rPr lang="en-US" sz="1400" b="1" i="1" smtClean="0">
                                      <a:effectLst/>
                                      <a:latin typeface="Cambria Math" panose="02040503050406030204" pitchFamily="18" charset="0"/>
                                    </a:rPr>
                                    <m:t>𝑪𝑽</m:t>
                                  </m:r>
                                </m:e>
                                <m:sup>
                                  <m:r>
                                    <a:rPr lang="en-US" sz="1400" b="1" i="1" smtClean="0">
                                      <a:effectLst/>
                                      <a:latin typeface="Cambria Math" panose="02040503050406030204" pitchFamily="18" charset="0"/>
                                    </a:rPr>
                                    <m:t>𝟐</m:t>
                                  </m:r>
                                </m:sup>
                              </m:sSup>
                            </m:oMath>
                          </a14:m>
                          <a:r>
                            <a:rPr lang="en-GB" sz="1400" dirty="0">
                              <a:effectLst/>
                            </a:rPr>
                            <a:t>)*</a:t>
                          </a: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400" dirty="0">
                              <a:effectLst/>
                            </a:rPr>
                            <a:t>MDE (RR) allowing for variable cluster size</a:t>
                          </a:r>
                          <a:endParaRPr lang="en-US" sz="1400" dirty="0">
                            <a:effectLst/>
                            <a:latin typeface="Times New Roman"/>
                            <a:ea typeface="Times New Roman"/>
                            <a:cs typeface="Times New Roman"/>
                          </a:endParaRPr>
                        </a:p>
                      </a:txBody>
                      <a:tcPr marL="62897" marR="62897" marT="0" marB="0" anchor="ctr"/>
                    </a:tc>
                    <a:extLst>
                      <a:ext uri="{0D108BD9-81ED-4DB2-BD59-A6C34878D82A}">
                        <a16:rowId xmlns:a16="http://schemas.microsoft.com/office/drawing/2014/main" val="10000"/>
                      </a:ext>
                    </a:extLst>
                  </a:tr>
                  <a:tr h="336042">
                    <a:tc rowSpan="3">
                      <a:txBody>
                        <a:bodyPr/>
                        <a:lstStyle/>
                        <a:p>
                          <a:pPr marL="0" marR="0">
                            <a:spcBef>
                              <a:spcPts val="0"/>
                            </a:spcBef>
                            <a:spcAft>
                              <a:spcPts val="0"/>
                            </a:spcAft>
                          </a:pPr>
                          <a:r>
                            <a:rPr lang="en-GB" sz="1400" dirty="0">
                              <a:effectLst/>
                            </a:rPr>
                            <a:t>Pre-trial</a:t>
                          </a:r>
                          <a:endParaRPr lang="en-US" sz="1400" dirty="0">
                            <a:effectLst/>
                            <a:latin typeface="Times New Roman"/>
                            <a:ea typeface="Times New Roman"/>
                            <a:cs typeface="Times New Roman"/>
                          </a:endParaRPr>
                        </a:p>
                      </a:txBody>
                      <a:tcPr marL="16889" marR="16889" marT="0" marB="0"/>
                    </a:tc>
                    <a:tc>
                      <a:txBody>
                        <a:bodyPr/>
                        <a:lstStyle/>
                        <a:p>
                          <a:pPr marL="0" marR="0" algn="ctr">
                            <a:spcBef>
                              <a:spcPts val="0"/>
                            </a:spcBef>
                            <a:spcAft>
                              <a:spcPts val="0"/>
                            </a:spcAft>
                          </a:pPr>
                          <a:r>
                            <a:rPr lang="en-US" sz="1400" dirty="0">
                              <a:effectLst/>
                              <a:latin typeface="Times New Roman"/>
                              <a:ea typeface="Times New Roman"/>
                              <a:cs typeface="Times New Roman"/>
                            </a:rPr>
                            <a:t>158,684</a:t>
                          </a: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9.3%</a:t>
                          </a: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14,758</a:t>
                          </a:r>
                        </a:p>
                      </a:txBody>
                      <a:tcPr marL="16889" marR="16889" marT="0" marB="0" anchor="ctr"/>
                    </a:tc>
                    <a:tc>
                      <a:txBody>
                        <a:bodyPr/>
                        <a:lstStyle/>
                        <a:p>
                          <a:pPr marL="0" marR="0" algn="ctr">
                            <a:spcBef>
                              <a:spcPts val="0"/>
                            </a:spcBef>
                            <a:spcAft>
                              <a:spcPts val="0"/>
                            </a:spcAft>
                          </a:pPr>
                          <a:r>
                            <a:rPr lang="en-GB" sz="1400" dirty="0">
                              <a:effectLst/>
                            </a:rPr>
                            <a:t>12.8%</a:t>
                          </a: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400" dirty="0">
                              <a:effectLst/>
                            </a:rPr>
                            <a:t>0.90</a:t>
                          </a: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400">
                              <a:effectLst/>
                            </a:rPr>
                            <a:t>0.001</a:t>
                          </a:r>
                          <a:endParaRPr lang="en-US" sz="140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246</a:t>
                          </a: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-0.019(0.85)</a:t>
                          </a: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128</a:t>
                          </a: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-0.025(0.80)</a:t>
                          </a:r>
                        </a:p>
                      </a:txBody>
                      <a:tcPr marL="62897" marR="62897" marT="0" marB="0" anchor="ctr"/>
                    </a:tc>
                    <a:extLst>
                      <a:ext uri="{0D108BD9-81ED-4DB2-BD59-A6C34878D82A}">
                        <a16:rowId xmlns:a16="http://schemas.microsoft.com/office/drawing/2014/main" val="10009"/>
                      </a:ext>
                    </a:extLst>
                  </a:tr>
                  <a:tr h="222698">
                    <a:tc vMerge="1">
                      <a:txBody>
                        <a:bodyPr/>
                        <a:lstStyle/>
                        <a:p>
                          <a:endParaRPr lang="en-US"/>
                        </a:p>
                      </a:txBody>
                      <a:tcP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400" dirty="0">
                              <a:effectLst/>
                            </a:rPr>
                            <a:t> </a:t>
                          </a: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400" dirty="0">
                              <a:effectLst/>
                            </a:rPr>
                            <a:t> </a:t>
                          </a: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400" dirty="0">
                              <a:effectLst/>
                            </a:rPr>
                            <a:t>0.030</a:t>
                          </a: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-0.047(0.63)</a:t>
                          </a: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-0.049(0.62)</a:t>
                          </a:r>
                        </a:p>
                      </a:txBody>
                      <a:tcPr marL="62897" marR="62897" marT="0" marB="0" anchor="ctr"/>
                    </a:tc>
                    <a:extLst>
                      <a:ext uri="{0D108BD9-81ED-4DB2-BD59-A6C34878D82A}">
                        <a16:rowId xmlns:a16="http://schemas.microsoft.com/office/drawing/2014/main" val="10012"/>
                      </a:ext>
                    </a:extLst>
                  </a:tr>
                  <a:tr h="197600">
                    <a:tc vMerge="1">
                      <a:txBody>
                        <a:bodyPr/>
                        <a:lstStyle/>
                        <a:p>
                          <a:endParaRPr lang="en-US"/>
                        </a:p>
                      </a:txBody>
                      <a:tcP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400" dirty="0">
                              <a:effectLst/>
                            </a:rPr>
                            <a:t> </a:t>
                          </a: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400">
                              <a:effectLst/>
                            </a:rPr>
                            <a:t>0.80</a:t>
                          </a:r>
                          <a:endParaRPr lang="en-US" sz="140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400">
                              <a:effectLst/>
                            </a:rPr>
                            <a:t>0.001</a:t>
                          </a:r>
                          <a:endParaRPr lang="en-US" sz="140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-0.017(0.87)</a:t>
                          </a: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-0.022(0.83)</a:t>
                          </a:r>
                        </a:p>
                      </a:txBody>
                      <a:tcPr marL="62897" marR="62897" marT="0" marB="0" anchor="ctr"/>
                    </a:tc>
                    <a:extLst>
                      <a:ext uri="{0D108BD9-81ED-4DB2-BD59-A6C34878D82A}">
                        <a16:rowId xmlns:a16="http://schemas.microsoft.com/office/drawing/2014/main" val="10013"/>
                      </a:ext>
                    </a:extLst>
                  </a:tr>
                  <a:tr h="222698">
                    <a:tc>
                      <a:txBody>
                        <a:bodyPr/>
                        <a:lstStyle/>
                        <a:p>
                          <a:pPr marL="0" marR="0" algn="r">
                            <a:spcBef>
                              <a:spcPts val="0"/>
                            </a:spcBef>
                            <a:spcAft>
                              <a:spcPts val="0"/>
                            </a:spcAft>
                          </a:pPr>
                          <a:r>
                            <a:rPr lang="en-GB" sz="1400" dirty="0">
                              <a:effectLst/>
                            </a:rPr>
                            <a:t> </a:t>
                          </a:r>
                          <a:endParaRPr lang="en-US" sz="14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400" dirty="0">
                              <a:effectLst/>
                            </a:rPr>
                            <a:t> </a:t>
                          </a: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400">
                              <a:effectLst/>
                            </a:rPr>
                            <a:t> </a:t>
                          </a:r>
                          <a:endParaRPr lang="en-US" sz="140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400">
                              <a:effectLst/>
                            </a:rPr>
                            <a:t>0.030</a:t>
                          </a:r>
                          <a:endParaRPr lang="en-US" sz="140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-0.041(0.68)</a:t>
                          </a: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-0.043(0.66)</a:t>
                          </a:r>
                        </a:p>
                      </a:txBody>
                      <a:tcPr marL="62897" marR="62897" marT="0" marB="0" anchor="ctr"/>
                    </a:tc>
                    <a:extLst>
                      <a:ext uri="{0D108BD9-81ED-4DB2-BD59-A6C34878D82A}">
                        <a16:rowId xmlns:a16="http://schemas.microsoft.com/office/drawing/2014/main" val="10016"/>
                      </a:ext>
                    </a:extLst>
                  </a:tr>
                  <a:tr h="570008">
                    <a:tc>
                      <a:txBody>
                        <a:bodyPr/>
                        <a:lstStyle/>
                        <a:p>
                          <a:pPr marL="0" marR="0" algn="l">
                            <a:spcBef>
                              <a:spcPts val="0"/>
                            </a:spcBef>
                            <a:spcAft>
                              <a:spcPts val="0"/>
                            </a:spcAft>
                          </a:pPr>
                          <a:r>
                            <a:rPr lang="en-US" sz="1400" dirty="0">
                              <a:effectLst/>
                              <a:latin typeface="Times New Roman"/>
                              <a:ea typeface="Times New Roman"/>
                              <a:cs typeface="Times New Roman"/>
                            </a:rPr>
                            <a:t>Post-trial</a:t>
                          </a:r>
                        </a:p>
                      </a:txBody>
                      <a:tcPr marL="16889" marR="16889" marT="0" marB="0" anchor="b"/>
                    </a:tc>
                    <a:tc>
                      <a:txBody>
                        <a:bodyPr/>
                        <a:lstStyle/>
                        <a:p>
                          <a:pPr marL="0" marR="0" algn="ctr">
                            <a:spcBef>
                              <a:spcPts val="0"/>
                            </a:spcBef>
                            <a:spcAft>
                              <a:spcPts val="0"/>
                            </a:spcAft>
                          </a:pPr>
                          <a:r>
                            <a:rPr lang="en-US" sz="1400" dirty="0">
                              <a:effectLst/>
                              <a:latin typeface="Times New Roman"/>
                              <a:ea typeface="Times New Roman"/>
                              <a:cs typeface="Times New Roman"/>
                            </a:rPr>
                            <a:t>187,433</a:t>
                          </a: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6.9%</a:t>
                          </a: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12,933</a:t>
                          </a: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3.4%</a:t>
                          </a: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0.90</a:t>
                          </a: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0.05</a:t>
                          </a: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21</a:t>
                          </a:r>
                          <a:r>
                            <a:rPr lang="en-US" altLang="zh-CN" sz="1400" dirty="0">
                              <a:effectLst/>
                              <a:latin typeface="Times New Roman"/>
                              <a:ea typeface="Times New Roman"/>
                              <a:cs typeface="Times New Roman"/>
                            </a:rPr>
                            <a:t>6</a:t>
                          </a: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-0.027(0.21)</a:t>
                          </a: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112</a:t>
                          </a: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-0.028(0.18)</a:t>
                          </a:r>
                        </a:p>
                      </a:txBody>
                      <a:tcPr marL="62897" marR="62897" marT="0" marB="0" anchor="ctr"/>
                    </a:tc>
                    <a:extLst>
                      <a:ext uri="{0D108BD9-81ED-4DB2-BD59-A6C34878D82A}">
                        <a16:rowId xmlns:a16="http://schemas.microsoft.com/office/drawing/2014/main" val="4265737127"/>
                      </a:ext>
                    </a:extLst>
                  </a:tr>
                  <a:tr h="222698">
                    <a:tc>
                      <a:txBody>
                        <a:bodyPr/>
                        <a:lstStyle/>
                        <a:p>
                          <a:pPr marL="0" marR="0" algn="r">
                            <a:spcBef>
                              <a:spcPts val="0"/>
                            </a:spcBef>
                            <a:spcAft>
                              <a:spcPts val="0"/>
                            </a:spcAft>
                          </a:pPr>
                          <a:endParaRPr lang="en-US" sz="14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0.80</a:t>
                          </a: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0.05</a:t>
                          </a: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-0.025(0.26)</a:t>
                          </a: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-0.025(0.26)</a:t>
                          </a:r>
                        </a:p>
                      </a:txBody>
                      <a:tcPr marL="62897" marR="62897" marT="0" marB="0" anchor="ctr"/>
                    </a:tc>
                    <a:extLst>
                      <a:ext uri="{0D108BD9-81ED-4DB2-BD59-A6C34878D82A}">
                        <a16:rowId xmlns:a16="http://schemas.microsoft.com/office/drawing/2014/main" val="174748202"/>
                      </a:ext>
                    </a:extLst>
                  </a:tr>
                </a:tbl>
              </a:graphicData>
            </a:graphic>
          </p:graphicFrame>
        </mc:Choice>
        <mc:Fallback xmlns="">
          <p:graphicFrame>
            <p:nvGraphicFramePr>
              <p:cNvPr id="7" name="Content Placeholder 3">
                <a:extLst>
                  <a:ext uri="{FF2B5EF4-FFF2-40B4-BE49-F238E27FC236}">
                    <a16:creationId xmlns:a16="http://schemas.microsoft.com/office/drawing/2014/main" id="{6743712C-4E72-694C-B95C-10E8147FD9AA}"/>
                  </a:ext>
                </a:extLst>
              </p:cNvPr>
              <p:cNvGraphicFramePr>
                <a:graphicFrameLocks noGrp="1"/>
              </p:cNvGraphicFramePr>
              <p:nvPr>
                <p:ph idx="1"/>
                <p:extLst>
                  <p:ext uri="{D42A27DB-BD31-4B8C-83A1-F6EECF244321}">
                    <p14:modId xmlns:p14="http://schemas.microsoft.com/office/powerpoint/2010/main" val="2878484724"/>
                  </p:ext>
                </p:extLst>
              </p:nvPr>
            </p:nvGraphicFramePr>
            <p:xfrm>
              <a:off x="681170" y="1280235"/>
              <a:ext cx="11215554" cy="3494384"/>
            </p:xfrm>
            <a:graphic>
              <a:graphicData uri="http://schemas.openxmlformats.org/drawingml/2006/table">
                <a:tbl>
                  <a:tblPr firstRow="1" firstCol="1" bandRow="1">
                    <a:tableStyleId>{5C22544A-7EE6-4342-B048-85BDC9FD1C3A}</a:tableStyleId>
                  </a:tblPr>
                  <a:tblGrid>
                    <a:gridCol w="1233365">
                      <a:extLst>
                        <a:ext uri="{9D8B030D-6E8A-4147-A177-3AD203B41FA5}">
                          <a16:colId xmlns:a16="http://schemas.microsoft.com/office/drawing/2014/main" val="20000"/>
                        </a:ext>
                      </a:extLst>
                    </a:gridCol>
                    <a:gridCol w="746659">
                      <a:extLst>
                        <a:ext uri="{9D8B030D-6E8A-4147-A177-3AD203B41FA5}">
                          <a16:colId xmlns:a16="http://schemas.microsoft.com/office/drawing/2014/main" val="3127361680"/>
                        </a:ext>
                      </a:extLst>
                    </a:gridCol>
                    <a:gridCol w="915402">
                      <a:extLst>
                        <a:ext uri="{9D8B030D-6E8A-4147-A177-3AD203B41FA5}">
                          <a16:colId xmlns:a16="http://schemas.microsoft.com/office/drawing/2014/main" val="4030173950"/>
                        </a:ext>
                      </a:extLst>
                    </a:gridCol>
                    <a:gridCol w="813851">
                      <a:extLst>
                        <a:ext uri="{9D8B030D-6E8A-4147-A177-3AD203B41FA5}">
                          <a16:colId xmlns:a16="http://schemas.microsoft.com/office/drawing/2014/main" val="3546930763"/>
                        </a:ext>
                      </a:extLst>
                    </a:gridCol>
                    <a:gridCol w="1031017">
                      <a:extLst>
                        <a:ext uri="{9D8B030D-6E8A-4147-A177-3AD203B41FA5}">
                          <a16:colId xmlns:a16="http://schemas.microsoft.com/office/drawing/2014/main" val="20001"/>
                        </a:ext>
                      </a:extLst>
                    </a:gridCol>
                    <a:gridCol w="720417">
                      <a:extLst>
                        <a:ext uri="{9D8B030D-6E8A-4147-A177-3AD203B41FA5}">
                          <a16:colId xmlns:a16="http://schemas.microsoft.com/office/drawing/2014/main" val="20002"/>
                        </a:ext>
                      </a:extLst>
                    </a:gridCol>
                    <a:gridCol w="881892">
                      <a:extLst>
                        <a:ext uri="{9D8B030D-6E8A-4147-A177-3AD203B41FA5}">
                          <a16:colId xmlns:a16="http://schemas.microsoft.com/office/drawing/2014/main" val="20003"/>
                        </a:ext>
                      </a:extLst>
                    </a:gridCol>
                    <a:gridCol w="814247">
                      <a:extLst>
                        <a:ext uri="{9D8B030D-6E8A-4147-A177-3AD203B41FA5}">
                          <a16:colId xmlns:a16="http://schemas.microsoft.com/office/drawing/2014/main" val="20004"/>
                        </a:ext>
                      </a:extLst>
                    </a:gridCol>
                    <a:gridCol w="1425439">
                      <a:extLst>
                        <a:ext uri="{9D8B030D-6E8A-4147-A177-3AD203B41FA5}">
                          <a16:colId xmlns:a16="http://schemas.microsoft.com/office/drawing/2014/main" val="708479787"/>
                        </a:ext>
                      </a:extLst>
                    </a:gridCol>
                    <a:gridCol w="1119845">
                      <a:extLst>
                        <a:ext uri="{9D8B030D-6E8A-4147-A177-3AD203B41FA5}">
                          <a16:colId xmlns:a16="http://schemas.microsoft.com/office/drawing/2014/main" val="1955623264"/>
                        </a:ext>
                      </a:extLst>
                    </a:gridCol>
                    <a:gridCol w="1513420">
                      <a:extLst>
                        <a:ext uri="{9D8B030D-6E8A-4147-A177-3AD203B41FA5}">
                          <a16:colId xmlns:a16="http://schemas.microsoft.com/office/drawing/2014/main" val="20006"/>
                        </a:ext>
                      </a:extLst>
                    </a:gridCol>
                  </a:tblGrid>
                  <a:tr h="1706880">
                    <a:tc>
                      <a:txBody>
                        <a:bodyPr/>
                        <a:lstStyle/>
                        <a:p>
                          <a:pPr marL="0" marR="0">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Deliveries during study period (n)</a:t>
                          </a: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 HIV+ rate  among pregnant and post-partum women</a:t>
                          </a: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Baseline sample size for studying Option  A vs. B:HIV+ </a:t>
                          </a:r>
                        </a:p>
                      </a:txBody>
                      <a:tcPr marL="16889" marR="16889"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dirty="0">
                              <a:effectLst/>
                            </a:rPr>
                            <a:t>Control PMTCT Rate from Option A:% of infants infected by 18 months</a:t>
                          </a:r>
                          <a:endParaRPr lang="en-US" sz="1400" dirty="0">
                            <a:effectLst/>
                            <a:latin typeface="Times New Roman"/>
                            <a:ea typeface="Times New Roman"/>
                            <a:cs typeface="Times New Roman"/>
                          </a:endParaRPr>
                        </a:p>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400" dirty="0">
                              <a:effectLst/>
                            </a:rPr>
                            <a:t>Power</a:t>
                          </a: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400" dirty="0">
                              <a:effectLst/>
                            </a:rPr>
                            <a:t>ICC</a:t>
                          </a:r>
                          <a:endParaRPr lang="en-US" sz="1400" dirty="0">
                            <a:effectLst/>
                            <a:latin typeface="Times New Roman"/>
                            <a:ea typeface="Times New Roman"/>
                            <a:cs typeface="Times New Roman"/>
                          </a:endParaRPr>
                        </a:p>
                      </a:txBody>
                      <a:tcPr marL="16889" marR="16889" marT="0" marB="0" anchor="ctr"/>
                    </a:tc>
                    <a:tc>
                      <a:txBody>
                        <a:bodyPr/>
                        <a:lstStyle/>
                        <a:p>
                          <a:endParaRPr lang="en-US"/>
                        </a:p>
                      </a:txBody>
                      <a:tcPr marL="16889" marR="16889" marT="0" marB="0" anchor="ctr">
                        <a:blipFill>
                          <a:blip r:embed="rId3"/>
                          <a:stretch>
                            <a:fillRect l="-777612" t="-3214" r="-500000" b="-110714"/>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dirty="0">
                              <a:effectLst/>
                            </a:rPr>
                            <a:t>Minimum detectable difference (RR) (assuming constant cluster size)</a:t>
                          </a:r>
                          <a:endParaRPr lang="en-US" sz="1400" dirty="0">
                            <a:effectLst/>
                            <a:latin typeface="Times New Roman"/>
                            <a:ea typeface="Times New Roman"/>
                            <a:cs typeface="Times New Roman"/>
                          </a:endParaRPr>
                        </a:p>
                      </a:txBody>
                      <a:tcPr marL="16889" marR="16889" marT="0" marB="0" anchor="ctr"/>
                    </a:tc>
                    <a:tc>
                      <a:txBody>
                        <a:bodyPr/>
                        <a:lstStyle/>
                        <a:p>
                          <a:endParaRPr lang="en-US"/>
                        </a:p>
                      </a:txBody>
                      <a:tcPr marL="16889" marR="16889" marT="0" marB="0" anchor="ctr">
                        <a:blipFill>
                          <a:blip r:embed="rId3"/>
                          <a:stretch>
                            <a:fillRect l="-766304" t="-3214" r="-136957" b="-110714"/>
                          </a:stretch>
                        </a:blipFill>
                      </a:tcPr>
                    </a:tc>
                    <a:tc>
                      <a:txBody>
                        <a:bodyPr/>
                        <a:lstStyle/>
                        <a:p>
                          <a:pPr marL="0" marR="0" algn="ctr">
                            <a:spcBef>
                              <a:spcPts val="0"/>
                            </a:spcBef>
                            <a:spcAft>
                              <a:spcPts val="0"/>
                            </a:spcAft>
                          </a:pPr>
                          <a:r>
                            <a:rPr lang="en-GB" sz="1400" dirty="0">
                              <a:effectLst/>
                            </a:rPr>
                            <a:t>MDE (RR) allowing for variable cluster size</a:t>
                          </a:r>
                          <a:endParaRPr lang="en-US" sz="1400" dirty="0">
                            <a:effectLst/>
                            <a:latin typeface="Times New Roman"/>
                            <a:ea typeface="Times New Roman"/>
                            <a:cs typeface="Times New Roman"/>
                          </a:endParaRPr>
                        </a:p>
                      </a:txBody>
                      <a:tcPr marL="62897" marR="62897" marT="0" marB="0" anchor="ctr"/>
                    </a:tc>
                    <a:extLst>
                      <a:ext uri="{0D108BD9-81ED-4DB2-BD59-A6C34878D82A}">
                        <a16:rowId xmlns:a16="http://schemas.microsoft.com/office/drawing/2014/main" val="10000"/>
                      </a:ext>
                    </a:extLst>
                  </a:tr>
                  <a:tr h="336042">
                    <a:tc rowSpan="3">
                      <a:txBody>
                        <a:bodyPr/>
                        <a:lstStyle/>
                        <a:p>
                          <a:pPr marL="0" marR="0">
                            <a:spcBef>
                              <a:spcPts val="0"/>
                            </a:spcBef>
                            <a:spcAft>
                              <a:spcPts val="0"/>
                            </a:spcAft>
                          </a:pPr>
                          <a:r>
                            <a:rPr lang="en-GB" sz="1400" dirty="0">
                              <a:effectLst/>
                            </a:rPr>
                            <a:t>Pre-trial</a:t>
                          </a:r>
                          <a:endParaRPr lang="en-US" sz="1400" dirty="0">
                            <a:effectLst/>
                            <a:latin typeface="Times New Roman"/>
                            <a:ea typeface="Times New Roman"/>
                            <a:cs typeface="Times New Roman"/>
                          </a:endParaRPr>
                        </a:p>
                      </a:txBody>
                      <a:tcPr marL="16889" marR="16889" marT="0" marB="0"/>
                    </a:tc>
                    <a:tc>
                      <a:txBody>
                        <a:bodyPr/>
                        <a:lstStyle/>
                        <a:p>
                          <a:pPr marL="0" marR="0" algn="ctr">
                            <a:spcBef>
                              <a:spcPts val="0"/>
                            </a:spcBef>
                            <a:spcAft>
                              <a:spcPts val="0"/>
                            </a:spcAft>
                          </a:pPr>
                          <a:r>
                            <a:rPr lang="en-US" sz="1400" dirty="0">
                              <a:effectLst/>
                              <a:latin typeface="Times New Roman"/>
                              <a:ea typeface="Times New Roman"/>
                              <a:cs typeface="Times New Roman"/>
                            </a:rPr>
                            <a:t>158,684</a:t>
                          </a: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9.3%</a:t>
                          </a: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14,758</a:t>
                          </a:r>
                        </a:p>
                      </a:txBody>
                      <a:tcPr marL="16889" marR="16889" marT="0" marB="0" anchor="ctr"/>
                    </a:tc>
                    <a:tc>
                      <a:txBody>
                        <a:bodyPr/>
                        <a:lstStyle/>
                        <a:p>
                          <a:pPr marL="0" marR="0" algn="ctr">
                            <a:spcBef>
                              <a:spcPts val="0"/>
                            </a:spcBef>
                            <a:spcAft>
                              <a:spcPts val="0"/>
                            </a:spcAft>
                          </a:pPr>
                          <a:r>
                            <a:rPr lang="en-GB" sz="1400" dirty="0">
                              <a:effectLst/>
                            </a:rPr>
                            <a:t>12.8%</a:t>
                          </a: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400" dirty="0">
                              <a:effectLst/>
                            </a:rPr>
                            <a:t>0.90</a:t>
                          </a: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400">
                              <a:effectLst/>
                            </a:rPr>
                            <a:t>0.001</a:t>
                          </a:r>
                          <a:endParaRPr lang="en-US" sz="140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246</a:t>
                          </a: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-0.019(0.85)</a:t>
                          </a: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128</a:t>
                          </a: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-0.025(0.80)</a:t>
                          </a:r>
                        </a:p>
                      </a:txBody>
                      <a:tcPr marL="62897" marR="62897" marT="0" marB="0" anchor="ctr"/>
                    </a:tc>
                    <a:extLst>
                      <a:ext uri="{0D108BD9-81ED-4DB2-BD59-A6C34878D82A}">
                        <a16:rowId xmlns:a16="http://schemas.microsoft.com/office/drawing/2014/main" val="10009"/>
                      </a:ext>
                    </a:extLst>
                  </a:tr>
                  <a:tr h="222698">
                    <a:tc vMerge="1">
                      <a:txBody>
                        <a:bodyPr/>
                        <a:lstStyle/>
                        <a:p>
                          <a:endParaRPr lang="en-US"/>
                        </a:p>
                      </a:txBody>
                      <a:tcP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400" dirty="0">
                              <a:effectLst/>
                            </a:rPr>
                            <a:t> </a:t>
                          </a: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400" dirty="0">
                              <a:effectLst/>
                            </a:rPr>
                            <a:t> </a:t>
                          </a: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400" dirty="0">
                              <a:effectLst/>
                            </a:rPr>
                            <a:t>0.030</a:t>
                          </a: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-0.047(0.63)</a:t>
                          </a: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-0.049(0.62)</a:t>
                          </a:r>
                        </a:p>
                      </a:txBody>
                      <a:tcPr marL="62897" marR="62897" marT="0" marB="0" anchor="ctr"/>
                    </a:tc>
                    <a:extLst>
                      <a:ext uri="{0D108BD9-81ED-4DB2-BD59-A6C34878D82A}">
                        <a16:rowId xmlns:a16="http://schemas.microsoft.com/office/drawing/2014/main" val="10012"/>
                      </a:ext>
                    </a:extLst>
                  </a:tr>
                  <a:tr h="213360">
                    <a:tc vMerge="1">
                      <a:txBody>
                        <a:bodyPr/>
                        <a:lstStyle/>
                        <a:p>
                          <a:endParaRPr lang="en-US"/>
                        </a:p>
                      </a:txBody>
                      <a:tcP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400" dirty="0">
                              <a:effectLst/>
                            </a:rPr>
                            <a:t> </a:t>
                          </a: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400">
                              <a:effectLst/>
                            </a:rPr>
                            <a:t>0.80</a:t>
                          </a:r>
                          <a:endParaRPr lang="en-US" sz="140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400">
                              <a:effectLst/>
                            </a:rPr>
                            <a:t>0.001</a:t>
                          </a:r>
                          <a:endParaRPr lang="en-US" sz="140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-0.017(0.87)</a:t>
                          </a: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-0.022(0.83)</a:t>
                          </a:r>
                        </a:p>
                      </a:txBody>
                      <a:tcPr marL="62897" marR="62897" marT="0" marB="0" anchor="ctr"/>
                    </a:tc>
                    <a:extLst>
                      <a:ext uri="{0D108BD9-81ED-4DB2-BD59-A6C34878D82A}">
                        <a16:rowId xmlns:a16="http://schemas.microsoft.com/office/drawing/2014/main" val="10013"/>
                      </a:ext>
                    </a:extLst>
                  </a:tr>
                  <a:tr h="222698">
                    <a:tc>
                      <a:txBody>
                        <a:bodyPr/>
                        <a:lstStyle/>
                        <a:p>
                          <a:pPr marL="0" marR="0" algn="r">
                            <a:spcBef>
                              <a:spcPts val="0"/>
                            </a:spcBef>
                            <a:spcAft>
                              <a:spcPts val="0"/>
                            </a:spcAft>
                          </a:pPr>
                          <a:r>
                            <a:rPr lang="en-GB" sz="1400" dirty="0">
                              <a:effectLst/>
                            </a:rPr>
                            <a:t> </a:t>
                          </a:r>
                          <a:endParaRPr lang="en-US" sz="14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400" dirty="0">
                              <a:effectLst/>
                            </a:rPr>
                            <a:t> </a:t>
                          </a: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400">
                              <a:effectLst/>
                            </a:rPr>
                            <a:t> </a:t>
                          </a:r>
                          <a:endParaRPr lang="en-US" sz="140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GB" sz="1400">
                              <a:effectLst/>
                            </a:rPr>
                            <a:t>0.030</a:t>
                          </a:r>
                          <a:endParaRPr lang="en-US" sz="140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-0.041(0.68)</a:t>
                          </a: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-0.043(0.66)</a:t>
                          </a:r>
                        </a:p>
                      </a:txBody>
                      <a:tcPr marL="62897" marR="62897" marT="0" marB="0" anchor="ctr"/>
                    </a:tc>
                    <a:extLst>
                      <a:ext uri="{0D108BD9-81ED-4DB2-BD59-A6C34878D82A}">
                        <a16:rowId xmlns:a16="http://schemas.microsoft.com/office/drawing/2014/main" val="10016"/>
                      </a:ext>
                    </a:extLst>
                  </a:tr>
                  <a:tr h="570008">
                    <a:tc>
                      <a:txBody>
                        <a:bodyPr/>
                        <a:lstStyle/>
                        <a:p>
                          <a:pPr marL="0" marR="0" algn="l">
                            <a:spcBef>
                              <a:spcPts val="0"/>
                            </a:spcBef>
                            <a:spcAft>
                              <a:spcPts val="0"/>
                            </a:spcAft>
                          </a:pPr>
                          <a:r>
                            <a:rPr lang="en-US" sz="1400" dirty="0">
                              <a:effectLst/>
                              <a:latin typeface="Times New Roman"/>
                              <a:ea typeface="Times New Roman"/>
                              <a:cs typeface="Times New Roman"/>
                            </a:rPr>
                            <a:t>Post-trial</a:t>
                          </a:r>
                        </a:p>
                      </a:txBody>
                      <a:tcPr marL="16889" marR="16889" marT="0" marB="0" anchor="b"/>
                    </a:tc>
                    <a:tc>
                      <a:txBody>
                        <a:bodyPr/>
                        <a:lstStyle/>
                        <a:p>
                          <a:pPr marL="0" marR="0" algn="ctr">
                            <a:spcBef>
                              <a:spcPts val="0"/>
                            </a:spcBef>
                            <a:spcAft>
                              <a:spcPts val="0"/>
                            </a:spcAft>
                          </a:pPr>
                          <a:r>
                            <a:rPr lang="en-US" sz="1400" dirty="0">
                              <a:effectLst/>
                              <a:latin typeface="Times New Roman"/>
                              <a:ea typeface="Times New Roman"/>
                              <a:cs typeface="Times New Roman"/>
                            </a:rPr>
                            <a:t>187,433</a:t>
                          </a: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6.9%</a:t>
                          </a: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12,933</a:t>
                          </a: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3.4%</a:t>
                          </a: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0.90</a:t>
                          </a: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0.05</a:t>
                          </a: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21</a:t>
                          </a:r>
                          <a:r>
                            <a:rPr lang="en-US" altLang="zh-CN" sz="1400" dirty="0">
                              <a:effectLst/>
                              <a:latin typeface="Times New Roman"/>
                              <a:ea typeface="Times New Roman"/>
                              <a:cs typeface="Times New Roman"/>
                            </a:rPr>
                            <a:t>6</a:t>
                          </a: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-0.027(0.21)</a:t>
                          </a: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112</a:t>
                          </a: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-0.028(0.18)</a:t>
                          </a:r>
                        </a:p>
                      </a:txBody>
                      <a:tcPr marL="62897" marR="62897" marT="0" marB="0" anchor="ctr"/>
                    </a:tc>
                    <a:extLst>
                      <a:ext uri="{0D108BD9-81ED-4DB2-BD59-A6C34878D82A}">
                        <a16:rowId xmlns:a16="http://schemas.microsoft.com/office/drawing/2014/main" val="4265737127"/>
                      </a:ext>
                    </a:extLst>
                  </a:tr>
                  <a:tr h="222698">
                    <a:tc>
                      <a:txBody>
                        <a:bodyPr/>
                        <a:lstStyle/>
                        <a:p>
                          <a:pPr marL="0" marR="0" algn="r">
                            <a:spcBef>
                              <a:spcPts val="0"/>
                            </a:spcBef>
                            <a:spcAft>
                              <a:spcPts val="0"/>
                            </a:spcAft>
                          </a:pPr>
                          <a:endParaRPr lang="en-US" sz="1400" dirty="0">
                            <a:effectLst/>
                            <a:latin typeface="Times New Roman"/>
                            <a:ea typeface="Times New Roman"/>
                            <a:cs typeface="Times New Roman"/>
                          </a:endParaRPr>
                        </a:p>
                      </a:txBody>
                      <a:tcPr marL="16889" marR="16889" marT="0" marB="0" anchor="b"/>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0.80</a:t>
                          </a: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0.05</a:t>
                          </a: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-0.025(0.26)</a:t>
                          </a:r>
                        </a:p>
                      </a:txBody>
                      <a:tcPr marL="16889" marR="16889" marT="0" marB="0" anchor="ctr"/>
                    </a:tc>
                    <a:tc>
                      <a:txBody>
                        <a:bodyPr/>
                        <a:lstStyle/>
                        <a:p>
                          <a:pPr marL="0" marR="0" algn="ctr">
                            <a:spcBef>
                              <a:spcPts val="0"/>
                            </a:spcBef>
                            <a:spcAft>
                              <a:spcPts val="0"/>
                            </a:spcAft>
                          </a:pPr>
                          <a:endParaRPr lang="en-US" sz="1400" dirty="0">
                            <a:effectLst/>
                            <a:latin typeface="Times New Roman"/>
                            <a:ea typeface="Times New Roman"/>
                            <a:cs typeface="Times New Roman"/>
                          </a:endParaRPr>
                        </a:p>
                      </a:txBody>
                      <a:tcPr marL="16889" marR="16889" marT="0" marB="0" anchor="ctr"/>
                    </a:tc>
                    <a:tc>
                      <a:txBody>
                        <a:bodyPr/>
                        <a:lstStyle/>
                        <a:p>
                          <a:pPr marL="0" marR="0" algn="ctr">
                            <a:spcBef>
                              <a:spcPts val="0"/>
                            </a:spcBef>
                            <a:spcAft>
                              <a:spcPts val="0"/>
                            </a:spcAft>
                          </a:pPr>
                          <a:r>
                            <a:rPr lang="en-US" sz="1400" dirty="0">
                              <a:effectLst/>
                              <a:latin typeface="Times New Roman"/>
                              <a:ea typeface="Times New Roman"/>
                              <a:cs typeface="Times New Roman"/>
                            </a:rPr>
                            <a:t>-0.025(0.26)</a:t>
                          </a:r>
                        </a:p>
                      </a:txBody>
                      <a:tcPr marL="62897" marR="62897" marT="0" marB="0" anchor="ctr"/>
                    </a:tc>
                    <a:extLst>
                      <a:ext uri="{0D108BD9-81ED-4DB2-BD59-A6C34878D82A}">
                        <a16:rowId xmlns:a16="http://schemas.microsoft.com/office/drawing/2014/main" val="174748202"/>
                      </a:ext>
                    </a:extLst>
                  </a:tr>
                </a:tbl>
              </a:graphicData>
            </a:graphic>
          </p:graphicFrame>
        </mc:Fallback>
      </mc:AlternateContent>
      <p:sp>
        <p:nvSpPr>
          <p:cNvPr id="8" name="TextBox 7">
            <a:extLst>
              <a:ext uri="{FF2B5EF4-FFF2-40B4-BE49-F238E27FC236}">
                <a16:creationId xmlns:a16="http://schemas.microsoft.com/office/drawing/2014/main" id="{8065D5C2-BF08-E948-8B92-575EA38859EA}"/>
              </a:ext>
            </a:extLst>
          </p:cNvPr>
          <p:cNvSpPr txBox="1"/>
          <p:nvPr/>
        </p:nvSpPr>
        <p:spPr>
          <a:xfrm>
            <a:off x="2034140" y="5277930"/>
            <a:ext cx="7515105" cy="923330"/>
          </a:xfrm>
          <a:prstGeom prst="rect">
            <a:avLst/>
          </a:prstGeom>
          <a:noFill/>
        </p:spPr>
        <p:txBody>
          <a:bodyPr wrap="square" rtlCol="0">
            <a:spAutoFit/>
          </a:bodyPr>
          <a:lstStyle/>
          <a:p>
            <a:pPr marL="285750" indent="-285750">
              <a:buFont typeface="Arial" panose="020B0604020202020204" pitchFamily="34" charset="0"/>
              <a:buChar char="•"/>
            </a:pPr>
            <a:r>
              <a:rPr lang="en-US" dirty="0"/>
              <a:t>Variable cluster size requires a larger |MDE| than constant cluster size</a:t>
            </a:r>
          </a:p>
          <a:p>
            <a:pPr marL="285750" indent="-285750">
              <a:buFont typeface="Arial" panose="020B0604020202020204" pitchFamily="34" charset="0"/>
              <a:buChar char="•"/>
            </a:pPr>
            <a:r>
              <a:rPr lang="en-US" dirty="0"/>
              <a:t>Larger ICCs require larger |MDE| </a:t>
            </a:r>
          </a:p>
          <a:p>
            <a:pPr marL="285750" indent="-285750">
              <a:buFont typeface="Arial" panose="020B0604020202020204" pitchFamily="34" charset="0"/>
              <a:buChar char="•"/>
            </a:pPr>
            <a:r>
              <a:rPr lang="en-US" dirty="0"/>
              <a:t>Greater required power increases the |MDE| </a:t>
            </a:r>
          </a:p>
        </p:txBody>
      </p:sp>
      <p:sp>
        <p:nvSpPr>
          <p:cNvPr id="2" name="Footer Placeholder 1">
            <a:extLst>
              <a:ext uri="{FF2B5EF4-FFF2-40B4-BE49-F238E27FC236}">
                <a16:creationId xmlns:a16="http://schemas.microsoft.com/office/drawing/2014/main" id="{2AF19598-786B-0E4F-9748-C9B19D11C950}"/>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2473A43F-CF76-9A57-E837-0C1935D7475A}"/>
              </a:ext>
            </a:extLst>
          </p:cNvPr>
          <p:cNvSpPr>
            <a:spLocks noGrp="1"/>
          </p:cNvSpPr>
          <p:nvPr>
            <p:ph type="sldNum" sz="quarter" idx="12"/>
          </p:nvPr>
        </p:nvSpPr>
        <p:spPr/>
        <p:txBody>
          <a:bodyPr/>
          <a:lstStyle/>
          <a:p>
            <a:fld id="{77C6A7FE-225D-49F1-B302-AA37EA92BB49}" type="slidenum">
              <a:rPr lang="en-US" smtClean="0"/>
              <a:t>65</a:t>
            </a:fld>
            <a:endParaRPr lang="en-US"/>
          </a:p>
        </p:txBody>
      </p:sp>
    </p:spTree>
    <p:extLst>
      <p:ext uri="{BB962C8B-B14F-4D97-AF65-F5344CB8AC3E}">
        <p14:creationId xmlns:p14="http://schemas.microsoft.com/office/powerpoint/2010/main" val="773273436"/>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t>MATCHED PAIR CRT</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5" name="TextBox 4">
            <a:extLst>
              <a:ext uri="{FF2B5EF4-FFF2-40B4-BE49-F238E27FC236}">
                <a16:creationId xmlns:a16="http://schemas.microsoft.com/office/drawing/2014/main" id="{387B5E98-FC05-41ED-8870-944171B086F9}"/>
              </a:ext>
            </a:extLst>
          </p:cNvPr>
          <p:cNvSpPr txBox="1"/>
          <p:nvPr/>
        </p:nvSpPr>
        <p:spPr>
          <a:xfrm>
            <a:off x="568411" y="1787888"/>
            <a:ext cx="11306432" cy="3970318"/>
          </a:xfrm>
          <a:prstGeom prst="rect">
            <a:avLst/>
          </a:prstGeom>
          <a:noFill/>
        </p:spPr>
        <p:txBody>
          <a:bodyPr wrap="square">
            <a:spAutoFit/>
          </a:bodyPr>
          <a:lstStyle/>
          <a:p>
            <a:pPr>
              <a:tabLst>
                <a:tab pos="4119563" algn="l"/>
              </a:tabLst>
            </a:pPr>
            <a:r>
              <a:rPr lang="en-US" altLang="en-US" sz="2800" b="1" dirty="0"/>
              <a:t>Example:</a:t>
            </a:r>
          </a:p>
          <a:p>
            <a:pPr>
              <a:tabLst>
                <a:tab pos="4119563" algn="l"/>
              </a:tabLst>
            </a:pPr>
            <a:endParaRPr lang="en-US" altLang="en-US" sz="2800" dirty="0"/>
          </a:p>
          <a:p>
            <a:pPr>
              <a:tabLst>
                <a:tab pos="4119563" algn="l"/>
              </a:tabLst>
            </a:pPr>
            <a:r>
              <a:rPr lang="en-US" altLang="en-US" sz="2800" dirty="0"/>
              <a:t>The COMMIT community intervention trial was designed to promote smoking cessation using a variety of community resources.  The primary outcome measure was the 5-year smoking cessation rate.</a:t>
            </a:r>
          </a:p>
          <a:p>
            <a:pPr>
              <a:tabLst>
                <a:tab pos="4119563" algn="l"/>
              </a:tabLst>
            </a:pPr>
            <a:endParaRPr lang="en-US" altLang="en-US" sz="2800" dirty="0"/>
          </a:p>
          <a:p>
            <a:pPr>
              <a:tabLst>
                <a:tab pos="4119563" algn="l"/>
              </a:tabLst>
            </a:pPr>
            <a:r>
              <a:rPr lang="en-US" altLang="en-US" sz="2800" i="1" dirty="0">
                <a:latin typeface="Times New Roman" pitchFamily="18" charset="0"/>
              </a:rPr>
              <a:t>Unit of Randomization</a:t>
            </a:r>
            <a:r>
              <a:rPr lang="en-US" altLang="en-US" sz="2800" dirty="0"/>
              <a:t>:	Community</a:t>
            </a:r>
          </a:p>
          <a:p>
            <a:pPr>
              <a:tabLst>
                <a:tab pos="4119563" algn="l"/>
              </a:tabLst>
            </a:pPr>
            <a:endParaRPr lang="en-US" altLang="en-US" sz="2800" dirty="0"/>
          </a:p>
          <a:p>
            <a:pPr>
              <a:tabLst>
                <a:tab pos="4119563" algn="l"/>
              </a:tabLst>
            </a:pPr>
            <a:r>
              <a:rPr lang="en-US" altLang="en-US" sz="2800" i="1" dirty="0">
                <a:latin typeface="Times New Roman" pitchFamily="18" charset="0"/>
              </a:rPr>
              <a:t>Number of Matched Pairs</a:t>
            </a:r>
            <a:r>
              <a:rPr lang="en-US" altLang="en-US" sz="2800" dirty="0"/>
              <a:t>:	11</a:t>
            </a:r>
            <a:endParaRPr lang="en-CA" altLang="en-US" sz="2800" dirty="0"/>
          </a:p>
        </p:txBody>
      </p:sp>
      <p:sp>
        <p:nvSpPr>
          <p:cNvPr id="2" name="Footer Placeholder 1">
            <a:extLst>
              <a:ext uri="{FF2B5EF4-FFF2-40B4-BE49-F238E27FC236}">
                <a16:creationId xmlns:a16="http://schemas.microsoft.com/office/drawing/2014/main" id="{5F48EB90-0A13-4F4C-B090-8BC565B8E6A7}"/>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93501855-73A2-A4EB-26B4-C9B69F62D9E5}"/>
              </a:ext>
            </a:extLst>
          </p:cNvPr>
          <p:cNvSpPr>
            <a:spLocks noGrp="1"/>
          </p:cNvSpPr>
          <p:nvPr>
            <p:ph type="sldNum" sz="quarter" idx="12"/>
          </p:nvPr>
        </p:nvSpPr>
        <p:spPr/>
        <p:txBody>
          <a:bodyPr/>
          <a:lstStyle/>
          <a:p>
            <a:fld id="{77C6A7FE-225D-49F1-B302-AA37EA92BB49}" type="slidenum">
              <a:rPr lang="en-US" smtClean="0"/>
              <a:t>66</a:t>
            </a:fld>
            <a:endParaRPr lang="en-US"/>
          </a:p>
        </p:txBody>
      </p:sp>
    </p:spTree>
    <p:extLst>
      <p:ext uri="{BB962C8B-B14F-4D97-AF65-F5344CB8AC3E}">
        <p14:creationId xmlns:p14="http://schemas.microsoft.com/office/powerpoint/2010/main" val="149242486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t>MATCHED PAIR CRT (cont.)</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5" name="TextBox 4">
            <a:extLst>
              <a:ext uri="{FF2B5EF4-FFF2-40B4-BE49-F238E27FC236}">
                <a16:creationId xmlns:a16="http://schemas.microsoft.com/office/drawing/2014/main" id="{387B5E98-FC05-41ED-8870-944171B086F9}"/>
              </a:ext>
            </a:extLst>
          </p:cNvPr>
          <p:cNvSpPr txBox="1"/>
          <p:nvPr/>
        </p:nvSpPr>
        <p:spPr>
          <a:xfrm>
            <a:off x="518984" y="4560054"/>
            <a:ext cx="11306432" cy="1138773"/>
          </a:xfrm>
          <a:prstGeom prst="rect">
            <a:avLst/>
          </a:prstGeom>
          <a:noFill/>
        </p:spPr>
        <p:txBody>
          <a:bodyPr wrap="square">
            <a:spAutoFit/>
          </a:bodyPr>
          <a:lstStyle/>
          <a:p>
            <a:pPr>
              <a:tabLst>
                <a:tab pos="3189288" algn="l"/>
              </a:tabLst>
            </a:pPr>
            <a:endParaRPr lang="en-US" altLang="en-US" sz="3600" dirty="0"/>
          </a:p>
          <a:p>
            <a:pPr algn="r">
              <a:tabLst>
                <a:tab pos="3189288" algn="l"/>
              </a:tabLst>
            </a:pPr>
            <a:r>
              <a:rPr lang="en-US" altLang="en-US" sz="3200" dirty="0"/>
              <a:t>COMMIT Research Group (1995)</a:t>
            </a:r>
            <a:endParaRPr lang="en-CA" altLang="en-US" sz="3200" dirty="0"/>
          </a:p>
        </p:txBody>
      </p:sp>
      <p:graphicFrame>
        <p:nvGraphicFramePr>
          <p:cNvPr id="2" name="Table 2">
            <a:extLst>
              <a:ext uri="{FF2B5EF4-FFF2-40B4-BE49-F238E27FC236}">
                <a16:creationId xmlns:a16="http://schemas.microsoft.com/office/drawing/2014/main" id="{5026C75D-A58E-462E-B287-6E9E666602F3}"/>
              </a:ext>
            </a:extLst>
          </p:cNvPr>
          <p:cNvGraphicFramePr>
            <a:graphicFrameLocks noGrp="1"/>
          </p:cNvGraphicFramePr>
          <p:nvPr>
            <p:extLst>
              <p:ext uri="{D42A27DB-BD31-4B8C-83A1-F6EECF244321}">
                <p14:modId xmlns:p14="http://schemas.microsoft.com/office/powerpoint/2010/main" val="438239750"/>
              </p:ext>
            </p:extLst>
          </p:nvPr>
        </p:nvGraphicFramePr>
        <p:xfrm>
          <a:off x="840258" y="1741986"/>
          <a:ext cx="10738023" cy="2042160"/>
        </p:xfrm>
        <a:graphic>
          <a:graphicData uri="http://schemas.openxmlformats.org/drawingml/2006/table">
            <a:tbl>
              <a:tblPr firstRow="1" bandRow="1">
                <a:tableStyleId>{5C22544A-7EE6-4342-B048-85BDC9FD1C3A}</a:tableStyleId>
              </a:tblPr>
              <a:tblGrid>
                <a:gridCol w="4242507">
                  <a:extLst>
                    <a:ext uri="{9D8B030D-6E8A-4147-A177-3AD203B41FA5}">
                      <a16:colId xmlns:a16="http://schemas.microsoft.com/office/drawing/2014/main" val="3042388275"/>
                    </a:ext>
                  </a:extLst>
                </a:gridCol>
                <a:gridCol w="6495516">
                  <a:extLst>
                    <a:ext uri="{9D8B030D-6E8A-4147-A177-3AD203B41FA5}">
                      <a16:colId xmlns:a16="http://schemas.microsoft.com/office/drawing/2014/main" val="517960257"/>
                    </a:ext>
                  </a:extLst>
                </a:gridCol>
              </a:tblGrid>
              <a:tr h="1619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3200" b="0" i="1" dirty="0">
                          <a:solidFill>
                            <a:schemeClr val="tx1"/>
                          </a:solidFill>
                          <a:latin typeface="Arial" panose="020B0604020202020204" pitchFamily="34" charset="0"/>
                          <a:cs typeface="Arial" panose="020B0604020202020204" pitchFamily="34" charset="0"/>
                        </a:rPr>
                        <a:t>Matching Variables</a:t>
                      </a:r>
                      <a:r>
                        <a:rPr lang="en-US" altLang="en-US" sz="3200" b="0" dirty="0">
                          <a:solidFill>
                            <a:schemeClr val="tx1"/>
                          </a:solidFill>
                          <a:latin typeface="Arial" panose="020B0604020202020204" pitchFamily="34" charset="0"/>
                          <a:cs typeface="Arial" panose="020B0604020202020204" pitchFamily="34" charset="0"/>
                        </a:rPr>
                        <a:t>:	</a:t>
                      </a:r>
                    </a:p>
                    <a:p>
                      <a:endParaRPr lang="en-US" sz="3200" b="0" dirty="0">
                        <a:solidFill>
                          <a:schemeClr val="tx1"/>
                        </a:solidFill>
                        <a:latin typeface="Arial" panose="020B0604020202020204" pitchFamily="34" charset="0"/>
                        <a:cs typeface="Arial" panose="020B0604020202020204" pitchFamily="34" charset="0"/>
                      </a:endParaRPr>
                    </a:p>
                  </a:txBody>
                  <a:tcPr>
                    <a:solidFill>
                      <a:schemeClr val="bg1"/>
                    </a:solidFill>
                  </a:tcPr>
                </a:tc>
                <a:tc>
                  <a:txBody>
                    <a:bodyPr/>
                    <a:lstStyle/>
                    <a:p>
                      <a:r>
                        <a:rPr lang="en-US" altLang="en-US" sz="3200" b="0" dirty="0">
                          <a:solidFill>
                            <a:schemeClr val="tx1"/>
                          </a:solidFill>
                          <a:latin typeface="Arial" panose="020B0604020202020204" pitchFamily="34" charset="0"/>
                          <a:cs typeface="Arial" panose="020B0604020202020204" pitchFamily="34" charset="0"/>
                        </a:rPr>
                        <a:t>Community size, population density, demographic profile, community structure, geographical proximity</a:t>
                      </a:r>
                      <a:endParaRPr lang="en-US" sz="3200" b="0" dirty="0">
                        <a:solidFill>
                          <a:schemeClr val="tx1"/>
                        </a:solidFill>
                        <a:latin typeface="Arial" panose="020B06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3386741491"/>
                  </a:ext>
                </a:extLst>
              </a:tr>
            </a:tbl>
          </a:graphicData>
        </a:graphic>
      </p:graphicFrame>
      <p:sp>
        <p:nvSpPr>
          <p:cNvPr id="3" name="Footer Placeholder 2">
            <a:extLst>
              <a:ext uri="{FF2B5EF4-FFF2-40B4-BE49-F238E27FC236}">
                <a16:creationId xmlns:a16="http://schemas.microsoft.com/office/drawing/2014/main" id="{3516B496-0FA9-3545-AF00-E9D10E7B46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01BDED-6F2C-525E-DC7F-5B45C66C9D3A}"/>
              </a:ext>
            </a:extLst>
          </p:cNvPr>
          <p:cNvSpPr>
            <a:spLocks noGrp="1"/>
          </p:cNvSpPr>
          <p:nvPr>
            <p:ph type="sldNum" sz="quarter" idx="12"/>
          </p:nvPr>
        </p:nvSpPr>
        <p:spPr/>
        <p:txBody>
          <a:bodyPr/>
          <a:lstStyle/>
          <a:p>
            <a:fld id="{77C6A7FE-225D-49F1-B302-AA37EA92BB49}" type="slidenum">
              <a:rPr lang="en-US" smtClean="0"/>
              <a:t>67</a:t>
            </a:fld>
            <a:endParaRPr lang="en-US"/>
          </a:p>
        </p:txBody>
      </p:sp>
    </p:spTree>
    <p:extLst>
      <p:ext uri="{BB962C8B-B14F-4D97-AF65-F5344CB8AC3E}">
        <p14:creationId xmlns:p14="http://schemas.microsoft.com/office/powerpoint/2010/main" val="202639901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latin typeface="Arial" panose="020B0604020202020204" pitchFamily="34" charset="0"/>
                <a:cs typeface="Arial" panose="020B0604020202020204" pitchFamily="34" charset="0"/>
              </a:rPr>
              <a:t>Benefits of Matching</a:t>
            </a:r>
            <a:endParaRPr lang="en-US" sz="2800" dirty="0">
              <a:solidFill>
                <a:schemeClr val="bg1"/>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5" name="TextBox 4">
            <a:extLst>
              <a:ext uri="{FF2B5EF4-FFF2-40B4-BE49-F238E27FC236}">
                <a16:creationId xmlns:a16="http://schemas.microsoft.com/office/drawing/2014/main" id="{06E86D92-1FC2-4912-9072-C2FB2F374D03}"/>
              </a:ext>
            </a:extLst>
          </p:cNvPr>
          <p:cNvSpPr txBox="1"/>
          <p:nvPr/>
        </p:nvSpPr>
        <p:spPr>
          <a:xfrm>
            <a:off x="1037969" y="2024100"/>
            <a:ext cx="9848334" cy="4524315"/>
          </a:xfrm>
          <a:prstGeom prst="rect">
            <a:avLst/>
          </a:prstGeom>
          <a:noFill/>
        </p:spPr>
        <p:txBody>
          <a:bodyPr wrap="square">
            <a:spAutoFit/>
          </a:bodyPr>
          <a:lstStyle/>
          <a:p>
            <a:pPr marL="609600" indent="-609600" eaLnBrk="1" hangingPunct="1">
              <a:buClr>
                <a:schemeClr val="tx1"/>
              </a:buClr>
              <a:buSzTx/>
              <a:buFont typeface="Wingdings" pitchFamily="2" charset="2"/>
              <a:buAutoNum type="arabicPeriod"/>
            </a:pPr>
            <a:r>
              <a:rPr lang="en-US" altLang="en-US" sz="3200" dirty="0">
                <a:latin typeface="Arial" charset="0"/>
              </a:rPr>
              <a:t>If an effective matching factor can be found, the matched design is more powerful than the corresponding completely randomized design.</a:t>
            </a:r>
          </a:p>
          <a:p>
            <a:pPr marL="609600" indent="-609600" eaLnBrk="1" hangingPunct="1">
              <a:buClr>
                <a:schemeClr val="tx1"/>
              </a:buClr>
              <a:buSzTx/>
              <a:buFont typeface="Wingdings" pitchFamily="2" charset="2"/>
              <a:buAutoNum type="arabicPeriod"/>
            </a:pPr>
            <a:endParaRPr lang="en-US" altLang="en-US" sz="3200" dirty="0">
              <a:latin typeface="Arial" charset="0"/>
            </a:endParaRPr>
          </a:p>
          <a:p>
            <a:pPr marL="609600" indent="-609600" eaLnBrk="1" hangingPunct="1">
              <a:buClr>
                <a:schemeClr val="tx1"/>
              </a:buClr>
              <a:buSzTx/>
              <a:buFont typeface="Wingdings" pitchFamily="2" charset="2"/>
              <a:buAutoNum type="arabicPeriod"/>
            </a:pPr>
            <a:r>
              <a:rPr lang="en-US" altLang="en-US" sz="3200" dirty="0">
                <a:latin typeface="Arial" charset="0"/>
              </a:rPr>
              <a:t>Failure to match may lead to a poor randomization, particularly with smaller numbers of clusters, thus undermining a trial’s validity, due to random imbalances of outcome risk factors by group.</a:t>
            </a:r>
          </a:p>
        </p:txBody>
      </p:sp>
      <p:sp>
        <p:nvSpPr>
          <p:cNvPr id="2" name="Footer Placeholder 1">
            <a:extLst>
              <a:ext uri="{FF2B5EF4-FFF2-40B4-BE49-F238E27FC236}">
                <a16:creationId xmlns:a16="http://schemas.microsoft.com/office/drawing/2014/main" id="{2FDC4FB1-F9BE-C74F-A07D-5F6217F611E3}"/>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C9D05E66-C6E0-254D-E093-5B9ACBDC58CD}"/>
              </a:ext>
            </a:extLst>
          </p:cNvPr>
          <p:cNvSpPr>
            <a:spLocks noGrp="1"/>
          </p:cNvSpPr>
          <p:nvPr>
            <p:ph type="sldNum" sz="quarter" idx="12"/>
          </p:nvPr>
        </p:nvSpPr>
        <p:spPr/>
        <p:txBody>
          <a:bodyPr/>
          <a:lstStyle/>
          <a:p>
            <a:fld id="{77C6A7FE-225D-49F1-B302-AA37EA92BB49}" type="slidenum">
              <a:rPr lang="en-US" smtClean="0"/>
              <a:t>68</a:t>
            </a:fld>
            <a:endParaRPr lang="en-US"/>
          </a:p>
        </p:txBody>
      </p:sp>
    </p:spTree>
    <p:extLst>
      <p:ext uri="{BB962C8B-B14F-4D97-AF65-F5344CB8AC3E}">
        <p14:creationId xmlns:p14="http://schemas.microsoft.com/office/powerpoint/2010/main" val="64438796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latin typeface="Arial" panose="020B0604020202020204" pitchFamily="34" charset="0"/>
                <a:cs typeface="Arial" panose="020B0604020202020204" pitchFamily="34" charset="0"/>
              </a:rPr>
              <a:t>Evaluation of the Effectiveness of Matching</a:t>
            </a:r>
            <a:endParaRPr lang="en-US" sz="2800" dirty="0">
              <a:solidFill>
                <a:schemeClr val="bg1"/>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5" name="TextBox 4">
            <a:extLst>
              <a:ext uri="{FF2B5EF4-FFF2-40B4-BE49-F238E27FC236}">
                <a16:creationId xmlns:a16="http://schemas.microsoft.com/office/drawing/2014/main" id="{B60A486F-8F02-4ED3-9003-CE4C8DD9B409}"/>
              </a:ext>
            </a:extLst>
          </p:cNvPr>
          <p:cNvSpPr txBox="1"/>
          <p:nvPr/>
        </p:nvSpPr>
        <p:spPr>
          <a:xfrm>
            <a:off x="432486" y="1714661"/>
            <a:ext cx="11417644" cy="4001095"/>
          </a:xfrm>
          <a:prstGeom prst="rect">
            <a:avLst/>
          </a:prstGeom>
          <a:noFill/>
        </p:spPr>
        <p:txBody>
          <a:bodyPr wrap="square">
            <a:spAutoFit/>
          </a:bodyPr>
          <a:lstStyle/>
          <a:p>
            <a:pPr eaLnBrk="1" hangingPunct="1">
              <a:spcAft>
                <a:spcPts val="1800"/>
              </a:spcAft>
            </a:pPr>
            <a:r>
              <a:rPr lang="en-US" altLang="en-US" sz="2800" dirty="0"/>
              <a:t>There has been considerable research comparing the power of completely randomized and matched pair designs, (e.g., Martin et al. [1993], </a:t>
            </a:r>
            <a:r>
              <a:rPr lang="en-US" altLang="en-US" sz="2800" dirty="0" err="1"/>
              <a:t>Klar</a:t>
            </a:r>
            <a:r>
              <a:rPr lang="en-US" altLang="en-US" sz="2800" dirty="0"/>
              <a:t> and Donner [1997]).  Some findings from this research are as follows:</a:t>
            </a:r>
          </a:p>
          <a:p>
            <a:pPr eaLnBrk="1" hangingPunct="1">
              <a:spcAft>
                <a:spcPts val="1800"/>
              </a:spcAft>
            </a:pPr>
            <a:r>
              <a:rPr lang="en-US" altLang="en-US" sz="2800" dirty="0"/>
              <a:t>If the total study size is 20 or fewer clusters (10 treated and 10 control) then matching should be used only if the investigators are confident that the correlation of outcomes within matched pairs is at least 0.20.</a:t>
            </a:r>
          </a:p>
          <a:p>
            <a:pPr eaLnBrk="1" hangingPunct="1">
              <a:spcAft>
                <a:spcPts val="1800"/>
              </a:spcAft>
            </a:pPr>
            <a:r>
              <a:rPr lang="en-US" altLang="en-US" sz="2800" dirty="0"/>
              <a:t>“It is unlikely that effective matching would be possible for small studies. Matching may be overused as a design tool”.</a:t>
            </a:r>
          </a:p>
        </p:txBody>
      </p:sp>
      <p:sp>
        <p:nvSpPr>
          <p:cNvPr id="2" name="Footer Placeholder 1">
            <a:extLst>
              <a:ext uri="{FF2B5EF4-FFF2-40B4-BE49-F238E27FC236}">
                <a16:creationId xmlns:a16="http://schemas.microsoft.com/office/drawing/2014/main" id="{5221140F-3A1C-9D4B-B5D7-9E977F182B8D}"/>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08846B63-4FE8-BF8A-8D5B-EC81A84354B0}"/>
              </a:ext>
            </a:extLst>
          </p:cNvPr>
          <p:cNvSpPr>
            <a:spLocks noGrp="1"/>
          </p:cNvSpPr>
          <p:nvPr>
            <p:ph type="sldNum" sz="quarter" idx="12"/>
          </p:nvPr>
        </p:nvSpPr>
        <p:spPr/>
        <p:txBody>
          <a:bodyPr/>
          <a:lstStyle/>
          <a:p>
            <a:fld id="{77C6A7FE-225D-49F1-B302-AA37EA92BB49}" type="slidenum">
              <a:rPr lang="en-US" smtClean="0"/>
              <a:t>69</a:t>
            </a:fld>
            <a:endParaRPr lang="en-US"/>
          </a:p>
        </p:txBody>
      </p:sp>
    </p:spTree>
    <p:extLst>
      <p:ext uri="{BB962C8B-B14F-4D97-AF65-F5344CB8AC3E}">
        <p14:creationId xmlns:p14="http://schemas.microsoft.com/office/powerpoint/2010/main" val="3889720887"/>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COMMIT TRIAL – how to estimate the matching correlation (post-hoc!)</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graphicFrame>
            <p:nvGraphicFramePr>
              <p:cNvPr id="5" name="Group 3">
                <a:extLst>
                  <a:ext uri="{FF2B5EF4-FFF2-40B4-BE49-F238E27FC236}">
                    <a16:creationId xmlns:a16="http://schemas.microsoft.com/office/drawing/2014/main" id="{B16D135F-2E93-48E7-9962-C5CF44DD47C2}"/>
                  </a:ext>
                </a:extLst>
              </p:cNvPr>
              <p:cNvGraphicFramePr>
                <a:graphicFrameLocks/>
              </p:cNvGraphicFramePr>
              <p:nvPr>
                <p:extLst>
                  <p:ext uri="{D42A27DB-BD31-4B8C-83A1-F6EECF244321}">
                    <p14:modId xmlns:p14="http://schemas.microsoft.com/office/powerpoint/2010/main" val="2015068321"/>
                  </p:ext>
                </p:extLst>
              </p:nvPr>
            </p:nvGraphicFramePr>
            <p:xfrm>
              <a:off x="238898" y="1462985"/>
              <a:ext cx="7755925" cy="4882572"/>
            </p:xfrm>
            <a:graphic>
              <a:graphicData uri="http://schemas.openxmlformats.org/drawingml/2006/table">
                <a:tbl>
                  <a:tblPr/>
                  <a:tblGrid>
                    <a:gridCol w="2825328">
                      <a:extLst>
                        <a:ext uri="{9D8B030D-6E8A-4147-A177-3AD203B41FA5}">
                          <a16:colId xmlns:a16="http://schemas.microsoft.com/office/drawing/2014/main" val="20000"/>
                        </a:ext>
                      </a:extLst>
                    </a:gridCol>
                    <a:gridCol w="2342151">
                      <a:extLst>
                        <a:ext uri="{9D8B030D-6E8A-4147-A177-3AD203B41FA5}">
                          <a16:colId xmlns:a16="http://schemas.microsoft.com/office/drawing/2014/main" val="20001"/>
                        </a:ext>
                      </a:extLst>
                    </a:gridCol>
                    <a:gridCol w="2588446">
                      <a:extLst>
                        <a:ext uri="{9D8B030D-6E8A-4147-A177-3AD203B41FA5}">
                          <a16:colId xmlns:a16="http://schemas.microsoft.com/office/drawing/2014/main" val="20002"/>
                        </a:ext>
                      </a:extLst>
                    </a:gridCol>
                  </a:tblGrid>
                  <a:tr h="387118">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endParaRPr kumimoji="0" lang="en-US" sz="2000" b="1" i="0" u="none" strike="noStrike" cap="none" normalizeH="0" baseline="0">
                            <a:ln>
                              <a:noFill/>
                            </a:ln>
                            <a:solidFill>
                              <a:schemeClr val="tx1"/>
                            </a:solidFill>
                            <a:effectLst/>
                            <a:latin typeface="Times New Roman" pitchFamily="18" charset="0"/>
                          </a:endParaRPr>
                        </a:p>
                      </a:txBody>
                      <a:tcPr marT="45700" marB="457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rPr>
                            <a:t>Proportion of Heavy Smokers Who Quit</a:t>
                          </a:r>
                          <a:endParaRPr kumimoji="0" lang="en-CA" sz="2000" b="0" i="0" u="none" strike="noStrike" cap="none" normalizeH="0" baseline="0">
                            <a:ln>
                              <a:noFill/>
                            </a:ln>
                            <a:solidFill>
                              <a:schemeClr val="tx1"/>
                            </a:solidFill>
                            <a:effectLst/>
                            <a:latin typeface="Times New Roman" pitchFamily="18" charset="0"/>
                          </a:endParaRPr>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432572">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defRPr/>
                          </a:pPr>
                          <a:r>
                            <a:rPr kumimoji="0" lang="en-US" sz="2000" b="0" i="0" u="none" strike="noStrike" cap="none" normalizeH="0" baseline="0" dirty="0">
                              <a:ln>
                                <a:noFill/>
                              </a:ln>
                              <a:solidFill>
                                <a:schemeClr val="tx1"/>
                              </a:solidFill>
                              <a:effectLst/>
                              <a:latin typeface="Times New Roman" pitchFamily="18" charset="0"/>
                            </a:rPr>
                            <a:t>   Community Pair  </a:t>
                          </a:r>
                          <a14:m>
                            <m:oMath xmlns:m="http://schemas.openxmlformats.org/officeDocument/2006/math">
                              <m:r>
                                <a:rPr lang="en-US" sz="2000" i="1" smtClean="0">
                                  <a:solidFill>
                                    <a:srgbClr val="000000"/>
                                  </a:solidFill>
                                  <a:latin typeface="Cambria Math" panose="02040503050406030204" pitchFamily="18" charset="0"/>
                                </a:rPr>
                                <m:t>𝑗</m:t>
                              </m:r>
                            </m:oMath>
                          </a14:m>
                          <a:endParaRPr lang="en-US" sz="2000" dirty="0"/>
                        </a:p>
                      </a:txBody>
                      <a:tcPr marT="45700" marB="457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defRPr/>
                          </a:pPr>
                          <a:r>
                            <a:rPr kumimoji="0" lang="en-US" sz="2000" b="0" i="0" u="none" strike="noStrike" cap="none" normalizeH="0" baseline="0" dirty="0">
                              <a:ln>
                                <a:noFill/>
                              </a:ln>
                              <a:solidFill>
                                <a:schemeClr val="tx1"/>
                              </a:solidFill>
                              <a:effectLst/>
                              <a:latin typeface="Times New Roman" pitchFamily="18" charset="0"/>
                            </a:rPr>
                            <a:t>  Experimental  </a:t>
                          </a:r>
                          <a14:m>
                            <m:oMath xmlns:m="http://schemas.openxmlformats.org/officeDocument/2006/math">
                              <m:sSub>
                                <m:sSubPr>
                                  <m:ctrlPr>
                                    <a:rPr lang="en-US" sz="2000" i="1" smtClean="0">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b="0" i="1" smtClean="0">
                                          <a:solidFill>
                                            <a:srgbClr val="000000"/>
                                          </a:solidFill>
                                          <a:latin typeface="Cambria Math" panose="02040503050406030204" pitchFamily="18" charset="0"/>
                                        </a:rPr>
                                        <m:t>𝑝</m:t>
                                      </m:r>
                                    </m:e>
                                  </m:acc>
                                </m:e>
                                <m:sub>
                                  <m:r>
                                    <a:rPr lang="en-US" sz="2000" b="0" i="1" smtClean="0">
                                      <a:solidFill>
                                        <a:srgbClr val="000000"/>
                                      </a:solidFill>
                                      <a:latin typeface="Cambria Math" panose="02040503050406030204" pitchFamily="18" charset="0"/>
                                    </a:rPr>
                                    <m:t>2</m:t>
                                  </m:r>
                                  <m:r>
                                    <a:rPr lang="en-US" sz="2000" i="1">
                                      <a:solidFill>
                                        <a:srgbClr val="000000"/>
                                      </a:solidFill>
                                      <a:latin typeface="Cambria Math" panose="02040503050406030204" pitchFamily="18" charset="0"/>
                                    </a:rPr>
                                    <m:t>𝑗</m:t>
                                  </m:r>
                                </m:sub>
                              </m:sSub>
                            </m:oMath>
                          </a14:m>
                          <a:endParaRPr kumimoji="0" lang="en-CA" sz="2000" b="0" i="0" u="none" strike="noStrike" cap="none" normalizeH="0" baseline="0" dirty="0">
                            <a:ln>
                              <a:noFill/>
                            </a:ln>
                            <a:solidFill>
                              <a:schemeClr val="tx1"/>
                            </a:solidFill>
                            <a:effectLst/>
                            <a:latin typeface="Times New Roman" pitchFamily="18" charset="0"/>
                          </a:endParaRP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defRPr/>
                          </a:pPr>
                          <a:r>
                            <a:rPr kumimoji="0" lang="en-US" sz="2000" b="0" i="0" u="none" strike="noStrike" cap="none" normalizeH="0" baseline="0" dirty="0">
                              <a:ln>
                                <a:noFill/>
                              </a:ln>
                              <a:solidFill>
                                <a:schemeClr val="tx1"/>
                              </a:solidFill>
                              <a:effectLst/>
                              <a:latin typeface="Times New Roman" pitchFamily="18" charset="0"/>
                            </a:rPr>
                            <a:t>      Control  </a:t>
                          </a:r>
                          <a14:m>
                            <m:oMath xmlns:m="http://schemas.openxmlformats.org/officeDocument/2006/math">
                              <m:sSub>
                                <m:sSubPr>
                                  <m:ctrlPr>
                                    <a:rPr lang="en-US" sz="2000" i="1" smtClean="0">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b="0" i="1" smtClean="0">
                                          <a:solidFill>
                                            <a:srgbClr val="000000"/>
                                          </a:solidFill>
                                          <a:latin typeface="Cambria Math" panose="02040503050406030204" pitchFamily="18" charset="0"/>
                                        </a:rPr>
                                        <m:t>𝑝</m:t>
                                      </m:r>
                                    </m:e>
                                  </m:acc>
                                </m:e>
                                <m:sub>
                                  <m:r>
                                    <a:rPr lang="en-US" sz="2000" b="0" i="1" smtClean="0">
                                      <a:solidFill>
                                        <a:srgbClr val="000000"/>
                                      </a:solidFill>
                                      <a:latin typeface="Cambria Math" panose="02040503050406030204" pitchFamily="18" charset="0"/>
                                    </a:rPr>
                                    <m:t>1</m:t>
                                  </m:r>
                                  <m:r>
                                    <a:rPr lang="en-US" sz="2000" i="1">
                                      <a:solidFill>
                                        <a:srgbClr val="000000"/>
                                      </a:solidFill>
                                      <a:latin typeface="Cambria Math" panose="02040503050406030204" pitchFamily="18" charset="0"/>
                                    </a:rPr>
                                    <m:t>𝑗</m:t>
                                  </m:r>
                                </m:sub>
                              </m:sSub>
                            </m:oMath>
                          </a14:m>
                          <a:endParaRPr lang="en-US" sz="2000" dirty="0"/>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0872">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1</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2</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3</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4</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5</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6</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7</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8</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9</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10</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11</a:t>
                          </a:r>
                          <a:endParaRPr kumimoji="0" lang="en-CA" sz="2000" b="0" i="0" u="none" strike="noStrike" cap="none" normalizeH="0" baseline="0" dirty="0">
                            <a:ln>
                              <a:noFill/>
                            </a:ln>
                            <a:solidFill>
                              <a:schemeClr val="tx1"/>
                            </a:solidFill>
                            <a:effectLst/>
                            <a:latin typeface="Times New Roman" pitchFamily="18" charset="0"/>
                          </a:endParaRPr>
                        </a:p>
                      </a:txBody>
                      <a:tcPr marT="45700" marB="457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rPr>
                            <a:t>0.139</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rPr>
                            <a:t>0.163</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rPr>
                            <a:t>0.164</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rPr>
                            <a:t>0.204</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rPr>
                            <a:t>0.183</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rPr>
                            <a:t>0.164</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rPr>
                            <a:t>0.262</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rPr>
                            <a:t>0.193</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rPr>
                            <a:t>0.215</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rPr>
                            <a:t>0.136</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rPr>
                            <a:t>0.155</a:t>
                          </a:r>
                          <a:endParaRPr kumimoji="0" lang="en-CA" sz="2000" b="0" i="0" u="none" strike="noStrike" cap="none" normalizeH="0" baseline="0">
                            <a:ln>
                              <a:noFill/>
                            </a:ln>
                            <a:solidFill>
                              <a:schemeClr val="tx1"/>
                            </a:solidFill>
                            <a:effectLst/>
                            <a:latin typeface="Times New Roman" pitchFamily="18" charset="0"/>
                          </a:endParaRP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0.205</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0.202</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0.163</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0.249</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0.16</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0.186</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0.23</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0.169</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0.127</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0.172</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0.189</a:t>
                          </a:r>
                          <a:endParaRPr kumimoji="0" lang="en-CA" sz="2000" b="0" i="0" u="none" strike="noStrike" cap="none" normalizeH="0" baseline="0" dirty="0">
                            <a:ln>
                              <a:noFill/>
                            </a:ln>
                            <a:solidFill>
                              <a:schemeClr val="tx1"/>
                            </a:solidFill>
                            <a:effectLst/>
                            <a:latin typeface="Times New Roman" pitchFamily="18" charset="0"/>
                          </a:endParaRPr>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mc:Choice>
        <mc:Fallback xmlns="">
          <p:graphicFrame>
            <p:nvGraphicFramePr>
              <p:cNvPr id="5" name="Group 3">
                <a:extLst>
                  <a:ext uri="{FF2B5EF4-FFF2-40B4-BE49-F238E27FC236}">
                    <a16:creationId xmlns:a16="http://schemas.microsoft.com/office/drawing/2014/main" id="{B16D135F-2E93-48E7-9962-C5CF44DD47C2}"/>
                  </a:ext>
                </a:extLst>
              </p:cNvPr>
              <p:cNvGraphicFramePr>
                <a:graphicFrameLocks/>
              </p:cNvGraphicFramePr>
              <p:nvPr>
                <p:extLst>
                  <p:ext uri="{D42A27DB-BD31-4B8C-83A1-F6EECF244321}">
                    <p14:modId xmlns:p14="http://schemas.microsoft.com/office/powerpoint/2010/main" val="2015068321"/>
                  </p:ext>
                </p:extLst>
              </p:nvPr>
            </p:nvGraphicFramePr>
            <p:xfrm>
              <a:off x="238898" y="1462985"/>
              <a:ext cx="7755925" cy="4882572"/>
            </p:xfrm>
            <a:graphic>
              <a:graphicData uri="http://schemas.openxmlformats.org/drawingml/2006/table">
                <a:tbl>
                  <a:tblPr/>
                  <a:tblGrid>
                    <a:gridCol w="2825328">
                      <a:extLst>
                        <a:ext uri="{9D8B030D-6E8A-4147-A177-3AD203B41FA5}">
                          <a16:colId xmlns:a16="http://schemas.microsoft.com/office/drawing/2014/main" val="20000"/>
                        </a:ext>
                      </a:extLst>
                    </a:gridCol>
                    <a:gridCol w="2342151">
                      <a:extLst>
                        <a:ext uri="{9D8B030D-6E8A-4147-A177-3AD203B41FA5}">
                          <a16:colId xmlns:a16="http://schemas.microsoft.com/office/drawing/2014/main" val="20001"/>
                        </a:ext>
                      </a:extLst>
                    </a:gridCol>
                    <a:gridCol w="2588446">
                      <a:extLst>
                        <a:ext uri="{9D8B030D-6E8A-4147-A177-3AD203B41FA5}">
                          <a16:colId xmlns:a16="http://schemas.microsoft.com/office/drawing/2014/main" val="20002"/>
                        </a:ext>
                      </a:extLst>
                    </a:gridCol>
                  </a:tblGrid>
                  <a:tr h="3962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endParaRPr kumimoji="0" lang="en-US" sz="2000" b="1" i="0" u="none" strike="noStrike" cap="none" normalizeH="0" baseline="0">
                            <a:ln>
                              <a:noFill/>
                            </a:ln>
                            <a:solidFill>
                              <a:schemeClr val="tx1"/>
                            </a:solidFill>
                            <a:effectLst/>
                            <a:latin typeface="Times New Roman" pitchFamily="18" charset="0"/>
                          </a:endParaRPr>
                        </a:p>
                      </a:txBody>
                      <a:tcPr marT="45700" marB="457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rPr>
                            <a:t>Proportion of Heavy Smokers Who Quit</a:t>
                          </a:r>
                          <a:endParaRPr kumimoji="0" lang="en-CA" sz="2000" b="0" i="0" u="none" strike="noStrike" cap="none" normalizeH="0" baseline="0">
                            <a:ln>
                              <a:noFill/>
                            </a:ln>
                            <a:solidFill>
                              <a:schemeClr val="tx1"/>
                            </a:solidFill>
                            <a:effectLst/>
                            <a:latin typeface="Times New Roman" pitchFamily="18" charset="0"/>
                          </a:endParaRPr>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432572">
                    <a:tc>
                      <a:txBody>
                        <a:bodyPr/>
                        <a:lstStyle/>
                        <a:p>
                          <a:endParaRPr lang="en-US"/>
                        </a:p>
                      </a:txBody>
                      <a:tcPr marT="45700" marB="457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a:noFill/>
                        </a:lnTlToBr>
                        <a:lnBlToTr>
                          <a:noFill/>
                        </a:lnBlToTr>
                        <a:blipFill>
                          <a:blip r:embed="rId4"/>
                          <a:stretch>
                            <a:fillRect l="-647" t="-98592" r="-175431" b="-963380"/>
                          </a:stretch>
                        </a:blipFill>
                      </a:tcPr>
                    </a:tc>
                    <a:tc>
                      <a:txBody>
                        <a:bodyPr/>
                        <a:lstStyle/>
                        <a:p>
                          <a:endParaRPr lang="en-US"/>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blipFill>
                          <a:blip r:embed="rId4"/>
                          <a:stretch>
                            <a:fillRect l="-121615" t="-98592" r="-111979" b="-963380"/>
                          </a:stretch>
                        </a:blipFill>
                      </a:tcPr>
                    </a:tc>
                    <a:tc>
                      <a:txBody>
                        <a:bodyPr/>
                        <a:lstStyle/>
                        <a:p>
                          <a:endParaRPr lang="en-US"/>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blipFill>
                          <a:blip r:embed="rId4"/>
                          <a:stretch>
                            <a:fillRect l="-200235" t="-98592" r="-1176" b="-963380"/>
                          </a:stretch>
                        </a:blipFill>
                      </a:tcPr>
                    </a:tc>
                    <a:extLst>
                      <a:ext uri="{0D108BD9-81ED-4DB2-BD59-A6C34878D82A}">
                        <a16:rowId xmlns:a16="http://schemas.microsoft.com/office/drawing/2014/main" val="10001"/>
                      </a:ext>
                    </a:extLst>
                  </a:tr>
                  <a:tr h="4053800">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1</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2</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3</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4</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5</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6</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7</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8</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9</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10</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11</a:t>
                          </a:r>
                          <a:endParaRPr kumimoji="0" lang="en-CA" sz="2000" b="0" i="0" u="none" strike="noStrike" cap="none" normalizeH="0" baseline="0" dirty="0">
                            <a:ln>
                              <a:noFill/>
                            </a:ln>
                            <a:solidFill>
                              <a:schemeClr val="tx1"/>
                            </a:solidFill>
                            <a:effectLst/>
                            <a:latin typeface="Times New Roman" pitchFamily="18" charset="0"/>
                          </a:endParaRPr>
                        </a:p>
                      </a:txBody>
                      <a:tcPr marT="45700" marB="457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rPr>
                            <a:t>0.139</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rPr>
                            <a:t>0.163</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rPr>
                            <a:t>0.164</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rPr>
                            <a:t>0.204</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rPr>
                            <a:t>0.183</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rPr>
                            <a:t>0.164</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rPr>
                            <a:t>0.262</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rPr>
                            <a:t>0.193</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rPr>
                            <a:t>0.215</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rPr>
                            <a:t>0.136</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rPr>
                            <a:t>0.155</a:t>
                          </a:r>
                          <a:endParaRPr kumimoji="0" lang="en-CA" sz="2000" b="0" i="0" u="none" strike="noStrike" cap="none" normalizeH="0" baseline="0">
                            <a:ln>
                              <a:noFill/>
                            </a:ln>
                            <a:solidFill>
                              <a:schemeClr val="tx1"/>
                            </a:solidFill>
                            <a:effectLst/>
                            <a:latin typeface="Times New Roman" pitchFamily="18" charset="0"/>
                          </a:endParaRP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0.205</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0.202</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0.163</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0.249</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0.16</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0.186</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0.23</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0.169</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0.127</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0.172</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0.189</a:t>
                          </a:r>
                          <a:endParaRPr kumimoji="0" lang="en-CA" sz="2000" b="0" i="0" u="none" strike="noStrike" cap="none" normalizeH="0" baseline="0" dirty="0">
                            <a:ln>
                              <a:noFill/>
                            </a:ln>
                            <a:solidFill>
                              <a:schemeClr val="tx1"/>
                            </a:solidFill>
                            <a:effectLst/>
                            <a:latin typeface="Times New Roman" pitchFamily="18" charset="0"/>
                          </a:endParaRPr>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B4750F6-937C-495C-AB3D-504E2AF7CB07}"/>
                  </a:ext>
                </a:extLst>
              </p:cNvPr>
              <p:cNvSpPr txBox="1"/>
              <p:nvPr/>
            </p:nvSpPr>
            <p:spPr>
              <a:xfrm>
                <a:off x="8163698" y="3905960"/>
                <a:ext cx="3789404" cy="51783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chemeClr val="tx1"/>
                              </a:solidFill>
                              <a:latin typeface="Cambria Math" panose="02040503050406030204" pitchFamily="18" charset="0"/>
                            </a:rPr>
                          </m:ctrlPr>
                        </m:sSubPr>
                        <m:e>
                          <m:acc>
                            <m:accPr>
                              <m:chr m:val="̂"/>
                              <m:ctrlPr>
                                <a:rPr lang="en-US" sz="2400" i="1">
                                  <a:solidFill>
                                    <a:schemeClr val="tx1"/>
                                  </a:solidFill>
                                  <a:latin typeface="Cambria Math" panose="02040503050406030204" pitchFamily="18" charset="0"/>
                                </a:rPr>
                              </m:ctrlPr>
                            </m:accPr>
                            <m:e>
                              <m:r>
                                <a:rPr lang="en-US" sz="2400" i="1">
                                  <a:solidFill>
                                    <a:schemeClr val="tx1"/>
                                  </a:solidFill>
                                  <a:latin typeface="Cambria Math" panose="02040503050406030204" pitchFamily="18" charset="0"/>
                                </a:rPr>
                                <m:t>𝜌</m:t>
                              </m:r>
                            </m:e>
                          </m:acc>
                        </m:e>
                        <m:sub>
                          <m:r>
                            <m:rPr>
                              <m:sty m:val="p"/>
                            </m:rPr>
                            <a:rPr lang="en-US" sz="2400" i="1">
                              <a:solidFill>
                                <a:schemeClr val="tx1"/>
                              </a:solidFill>
                              <a:latin typeface="Cambria Math" panose="02040503050406030204" pitchFamily="18" charset="0"/>
                            </a:rPr>
                            <m:t>Μ</m:t>
                          </m:r>
                        </m:sub>
                      </m:sSub>
                      <m:r>
                        <a:rPr lang="en-US" sz="2400" i="1">
                          <a:solidFill>
                            <a:schemeClr val="tx1"/>
                          </a:solidFill>
                          <a:latin typeface="Cambria Math" panose="02040503050406030204" pitchFamily="18" charset="0"/>
                        </a:rPr>
                        <m:t>=</m:t>
                      </m:r>
                      <m:r>
                        <m:rPr>
                          <m:nor/>
                        </m:rPr>
                        <a:rPr lang="en-US" sz="2400" i="0" smtClean="0">
                          <a:solidFill>
                            <a:schemeClr val="tx1"/>
                          </a:solidFill>
                          <a:latin typeface="Cambria Math" panose="02040503050406030204" pitchFamily="18" charset="0"/>
                        </a:rPr>
                        <m:t>Corr</m:t>
                      </m:r>
                      <m:d>
                        <m:dPr>
                          <m:ctrlPr>
                            <a:rPr lang="en-US" sz="2400" i="1" smtClean="0">
                              <a:solidFill>
                                <a:schemeClr val="tx1"/>
                              </a:solidFill>
                              <a:latin typeface="Cambria Math" panose="02040503050406030204" pitchFamily="18" charset="0"/>
                            </a:rPr>
                          </m:ctrlPr>
                        </m:dPr>
                        <m:e>
                          <m:sSub>
                            <m:sSubPr>
                              <m:ctrlPr>
                                <a:rPr lang="en-US" sz="2400" i="1">
                                  <a:solidFill>
                                    <a:schemeClr val="tx1"/>
                                  </a:solidFill>
                                  <a:latin typeface="Cambria Math" panose="02040503050406030204" pitchFamily="18" charset="0"/>
                                </a:rPr>
                              </m:ctrlPr>
                            </m:sSubPr>
                            <m:e>
                              <m:acc>
                                <m:accPr>
                                  <m:chr m:val="̂"/>
                                  <m:ctrlPr>
                                    <a:rPr lang="en-US" sz="2400" i="1">
                                      <a:solidFill>
                                        <a:schemeClr val="tx1"/>
                                      </a:solidFill>
                                      <a:latin typeface="Cambria Math" panose="02040503050406030204" pitchFamily="18" charset="0"/>
                                    </a:rPr>
                                  </m:ctrlPr>
                                </m:accPr>
                                <m:e>
                                  <m:r>
                                    <a:rPr lang="en-US" sz="2400" b="0" i="1" smtClean="0">
                                      <a:solidFill>
                                        <a:schemeClr val="tx1"/>
                                      </a:solidFill>
                                      <a:latin typeface="Cambria Math" panose="02040503050406030204" pitchFamily="18" charset="0"/>
                                    </a:rPr>
                                    <m:t>𝑝</m:t>
                                  </m:r>
                                </m:e>
                              </m:acc>
                            </m:e>
                            <m:sub>
                              <m:r>
                                <a:rPr lang="en-US" sz="2400" i="0">
                                  <a:solidFill>
                                    <a:schemeClr val="tx1"/>
                                  </a:solidFill>
                                  <a:latin typeface="Cambria Math" panose="02040503050406030204" pitchFamily="18" charset="0"/>
                                </a:rPr>
                                <m:t>1</m:t>
                              </m:r>
                              <m:r>
                                <a:rPr lang="en-US" sz="2400" i="1">
                                  <a:solidFill>
                                    <a:schemeClr val="tx1"/>
                                  </a:solidFill>
                                  <a:latin typeface="Cambria Math" panose="02040503050406030204" pitchFamily="18" charset="0"/>
                                </a:rPr>
                                <m:t>𝑗</m:t>
                              </m:r>
                            </m:sub>
                          </m:sSub>
                          <m:r>
                            <a:rPr lang="en-US" sz="2400" i="1">
                              <a:solidFill>
                                <a:schemeClr val="tx1"/>
                              </a:solidFill>
                              <a:latin typeface="Cambria Math" panose="02040503050406030204" pitchFamily="18" charset="0"/>
                            </a:rPr>
                            <m:t>,</m:t>
                          </m:r>
                          <m:sSub>
                            <m:sSubPr>
                              <m:ctrlPr>
                                <a:rPr lang="en-US" sz="2400" i="1">
                                  <a:solidFill>
                                    <a:schemeClr val="tx1"/>
                                  </a:solidFill>
                                  <a:latin typeface="Cambria Math" panose="02040503050406030204" pitchFamily="18" charset="0"/>
                                </a:rPr>
                              </m:ctrlPr>
                            </m:sSubPr>
                            <m:e>
                              <m:acc>
                                <m:accPr>
                                  <m:chr m:val="̂"/>
                                  <m:ctrlPr>
                                    <a:rPr lang="en-US" sz="2400" i="1">
                                      <a:solidFill>
                                        <a:schemeClr val="tx1"/>
                                      </a:solidFill>
                                      <a:latin typeface="Cambria Math" panose="02040503050406030204" pitchFamily="18" charset="0"/>
                                    </a:rPr>
                                  </m:ctrlPr>
                                </m:accPr>
                                <m:e>
                                  <m:r>
                                    <a:rPr lang="en-US" sz="2400" b="0" i="1" smtClean="0">
                                      <a:solidFill>
                                        <a:schemeClr val="tx1"/>
                                      </a:solidFill>
                                      <a:latin typeface="Cambria Math" panose="02040503050406030204" pitchFamily="18" charset="0"/>
                                    </a:rPr>
                                    <m:t>𝑝</m:t>
                                  </m:r>
                                </m:e>
                              </m:acc>
                            </m:e>
                            <m:sub>
                              <m:r>
                                <a:rPr lang="en-US" sz="2400" i="1">
                                  <a:solidFill>
                                    <a:schemeClr val="tx1"/>
                                  </a:solidFill>
                                  <a:latin typeface="Cambria Math" panose="02040503050406030204" pitchFamily="18" charset="0"/>
                                </a:rPr>
                                <m:t>2</m:t>
                              </m:r>
                              <m:r>
                                <a:rPr lang="en-US" sz="2400" i="1">
                                  <a:solidFill>
                                    <a:schemeClr val="tx1"/>
                                  </a:solidFill>
                                  <a:latin typeface="Cambria Math" panose="02040503050406030204" pitchFamily="18" charset="0"/>
                                </a:rPr>
                                <m:t>𝑗</m:t>
                              </m:r>
                            </m:sub>
                          </m:sSub>
                        </m:e>
                      </m:d>
                      <m:r>
                        <a:rPr lang="en-US" sz="2400" i="1">
                          <a:solidFill>
                            <a:schemeClr val="tx1"/>
                          </a:solidFill>
                          <a:latin typeface="Cambria Math" panose="02040503050406030204" pitchFamily="18" charset="0"/>
                        </a:rPr>
                        <m:t>=0.21</m:t>
                      </m:r>
                    </m:oMath>
                  </m:oMathPara>
                </a14:m>
                <a:endParaRPr lang="en-US" dirty="0"/>
              </a:p>
            </p:txBody>
          </p:sp>
        </mc:Choice>
        <mc:Fallback xmlns="">
          <p:sp>
            <p:nvSpPr>
              <p:cNvPr id="7" name="TextBox 6">
                <a:extLst>
                  <a:ext uri="{FF2B5EF4-FFF2-40B4-BE49-F238E27FC236}">
                    <a16:creationId xmlns:a16="http://schemas.microsoft.com/office/drawing/2014/main" id="{8B4750F6-937C-495C-AB3D-504E2AF7CB07}"/>
                  </a:ext>
                </a:extLst>
              </p:cNvPr>
              <p:cNvSpPr txBox="1">
                <a:spLocks noRot="1" noChangeAspect="1" noMove="1" noResize="1" noEditPoints="1" noAdjustHandles="1" noChangeArrowheads="1" noChangeShapeType="1" noTextEdit="1"/>
              </p:cNvSpPr>
              <p:nvPr/>
            </p:nvSpPr>
            <p:spPr>
              <a:xfrm>
                <a:off x="8163698" y="3905960"/>
                <a:ext cx="3789404" cy="517834"/>
              </a:xfrm>
              <a:prstGeom prst="rect">
                <a:avLst/>
              </a:prstGeom>
              <a:blipFill>
                <a:blip r:embed="rId5"/>
                <a:stretch>
                  <a:fillRect/>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97FA61D5-C4E6-1143-8A3B-0B33C5E05F2B}"/>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6B384940-9A4F-A00E-EEE9-888E3BC9BDC9}"/>
              </a:ext>
            </a:extLst>
          </p:cNvPr>
          <p:cNvSpPr>
            <a:spLocks noGrp="1"/>
          </p:cNvSpPr>
          <p:nvPr>
            <p:ph type="sldNum" sz="quarter" idx="12"/>
          </p:nvPr>
        </p:nvSpPr>
        <p:spPr/>
        <p:txBody>
          <a:bodyPr/>
          <a:lstStyle/>
          <a:p>
            <a:fld id="{77C6A7FE-225D-49F1-B302-AA37EA92BB49}" type="slidenum">
              <a:rPr lang="en-US" smtClean="0"/>
              <a:t>70</a:t>
            </a:fld>
            <a:endParaRPr lang="en-US"/>
          </a:p>
        </p:txBody>
      </p:sp>
    </p:spTree>
    <p:extLst>
      <p:ext uri="{BB962C8B-B14F-4D97-AF65-F5344CB8AC3E}">
        <p14:creationId xmlns:p14="http://schemas.microsoft.com/office/powerpoint/2010/main" val="4254845366"/>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636764"/>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a:solidFill>
                  <a:schemeClr val="bg1"/>
                </a:solidFill>
                <a:latin typeface="Arial" panose="020B0604020202020204" pitchFamily="34" charset="0"/>
                <a:cs typeface="Arial" panose="020B0604020202020204" pitchFamily="34" charset="0"/>
              </a:rPr>
              <a:t>Sample Size Estimation for Matched Pair Designs</a:t>
            </a:r>
            <a:endParaRPr lang="en-US" altLang="en-US" sz="4400" dirty="0">
              <a:solidFill>
                <a:schemeClr val="bg1"/>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ECB40BA-88D3-42C1-A836-6C156FD61DE2}"/>
                  </a:ext>
                </a:extLst>
              </p:cNvPr>
              <p:cNvSpPr txBox="1"/>
              <p:nvPr/>
            </p:nvSpPr>
            <p:spPr>
              <a:xfrm>
                <a:off x="420130" y="2224216"/>
                <a:ext cx="10911016" cy="3170099"/>
              </a:xfrm>
              <a:prstGeom prst="rect">
                <a:avLst/>
              </a:prstGeom>
              <a:noFill/>
            </p:spPr>
            <p:txBody>
              <a:bodyPr wrap="square" rtlCol="0">
                <a:spAutoFit/>
              </a:bodyPr>
              <a:lstStyle/>
              <a:p>
                <a:pPr>
                  <a:spcBef>
                    <a:spcPct val="50000"/>
                  </a:spcBef>
                </a:pPr>
                <a:r>
                  <a:rPr lang="en-US" altLang="en-US" sz="2800" dirty="0"/>
                  <a:t>A simple strategy is to multiply the required number of clusters or required number of participants per cluster obtained from the previous formulas for a completely randomized design by </a:t>
                </a:r>
                <a14:m>
                  <m:oMath xmlns:m="http://schemas.openxmlformats.org/officeDocument/2006/math">
                    <m:sSub>
                      <m:sSubPr>
                        <m:ctrlPr>
                          <a:rPr lang="en-US" altLang="en-US" sz="2800" i="1" smtClean="0">
                            <a:latin typeface="Cambria Math" panose="02040503050406030204" pitchFamily="18" charset="0"/>
                          </a:rPr>
                        </m:ctrlPr>
                      </m:sSubPr>
                      <m:e>
                        <m:r>
                          <a:rPr lang="en-US" altLang="en-US" sz="2800" b="0" i="1" smtClean="0">
                            <a:latin typeface="Cambria Math"/>
                          </a:rPr>
                          <m:t>1−</m:t>
                        </m:r>
                        <m:r>
                          <a:rPr lang="en-US" altLang="en-US" sz="2800" i="1" smtClean="0">
                            <a:latin typeface="Cambria Math"/>
                            <a:ea typeface="Cambria Math"/>
                          </a:rPr>
                          <m:t>𝜌</m:t>
                        </m:r>
                      </m:e>
                      <m:sub>
                        <m:r>
                          <a:rPr lang="en-US" altLang="en-US" sz="2800" b="0" i="1" smtClean="0">
                            <a:latin typeface="Cambria Math"/>
                          </a:rPr>
                          <m:t>𝑀</m:t>
                        </m:r>
                      </m:sub>
                    </m:sSub>
                  </m:oMath>
                </a14:m>
                <a:r>
                  <a:rPr lang="en-US" altLang="en-US" sz="2800" dirty="0"/>
                  <a:t>, where  </a:t>
                </a:r>
                <a14:m>
                  <m:oMath xmlns:m="http://schemas.openxmlformats.org/officeDocument/2006/math">
                    <m:sSub>
                      <m:sSubPr>
                        <m:ctrlPr>
                          <a:rPr lang="en-US" altLang="en-US" sz="2800" i="1">
                            <a:latin typeface="Cambria Math" panose="02040503050406030204" pitchFamily="18" charset="0"/>
                          </a:rPr>
                        </m:ctrlPr>
                      </m:sSubPr>
                      <m:e>
                        <m:r>
                          <a:rPr lang="en-US" altLang="en-US" sz="2800" i="1">
                            <a:latin typeface="Cambria Math"/>
                            <a:ea typeface="Cambria Math"/>
                          </a:rPr>
                          <m:t>𝜌</m:t>
                        </m:r>
                      </m:e>
                      <m:sub>
                        <m:r>
                          <a:rPr lang="en-US" altLang="en-US" sz="2800" i="1">
                            <a:latin typeface="Cambria Math"/>
                          </a:rPr>
                          <m:t>𝑀</m:t>
                        </m:r>
                      </m:sub>
                    </m:sSub>
                  </m:oMath>
                </a14:m>
                <a:r>
                  <a:rPr lang="en-US" altLang="en-US" sz="2800" dirty="0"/>
                  <a:t> denotes the anticipated value of  the matching correlation.</a:t>
                </a:r>
              </a:p>
              <a:p>
                <a:pPr>
                  <a:spcBef>
                    <a:spcPct val="50000"/>
                  </a:spcBef>
                </a:pPr>
                <a:r>
                  <a:rPr lang="en-US" altLang="en-US" sz="2800" dirty="0"/>
                  <a:t>If </a:t>
                </a:r>
                <a14:m>
                  <m:oMath xmlns:m="http://schemas.openxmlformats.org/officeDocument/2006/math">
                    <m:sSub>
                      <m:sSubPr>
                        <m:ctrlPr>
                          <a:rPr lang="en-US" sz="2800" i="1" smtClean="0">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𝜌</m:t>
                        </m:r>
                      </m:e>
                      <m:sub>
                        <m:r>
                          <a:rPr lang="en-US" sz="2800" i="1">
                            <a:solidFill>
                              <a:srgbClr val="000000"/>
                            </a:solidFill>
                            <a:latin typeface="Cambria Math" panose="02040503050406030204" pitchFamily="18" charset="0"/>
                          </a:rPr>
                          <m:t>𝑀</m:t>
                        </m:r>
                      </m:sub>
                    </m:sSub>
                  </m:oMath>
                </a14:m>
                <a:r>
                  <a:rPr lang="en-US" altLang="en-US" sz="2800" dirty="0"/>
                  <a:t> &gt;0, as would typically be the case, then ignoring the matching for sample size estimation is conservative.</a:t>
                </a:r>
              </a:p>
              <a:p>
                <a:endParaRPr lang="en-US" dirty="0"/>
              </a:p>
            </p:txBody>
          </p:sp>
        </mc:Choice>
        <mc:Fallback xmlns="">
          <p:sp>
            <p:nvSpPr>
              <p:cNvPr id="2" name="TextBox 1">
                <a:extLst>
                  <a:ext uri="{FF2B5EF4-FFF2-40B4-BE49-F238E27FC236}">
                    <a16:creationId xmlns:a16="http://schemas.microsoft.com/office/drawing/2014/main" id="{1ECB40BA-88D3-42C1-A836-6C156FD61DE2}"/>
                  </a:ext>
                </a:extLst>
              </p:cNvPr>
              <p:cNvSpPr txBox="1">
                <a:spLocks noRot="1" noChangeAspect="1" noMove="1" noResize="1" noEditPoints="1" noAdjustHandles="1" noChangeArrowheads="1" noChangeShapeType="1" noTextEdit="1"/>
              </p:cNvSpPr>
              <p:nvPr/>
            </p:nvSpPr>
            <p:spPr>
              <a:xfrm>
                <a:off x="420130" y="2224216"/>
                <a:ext cx="10911016" cy="3170099"/>
              </a:xfrm>
              <a:prstGeom prst="rect">
                <a:avLst/>
              </a:prstGeom>
              <a:blipFill>
                <a:blip r:embed="rId4"/>
                <a:stretch>
                  <a:fillRect l="-1173" t="-1923"/>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4435F8DF-E344-E14C-B344-C8D9F8B93EA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769C765-9F48-C7E6-877F-0A4D2F43ABAD}"/>
              </a:ext>
            </a:extLst>
          </p:cNvPr>
          <p:cNvSpPr>
            <a:spLocks noGrp="1"/>
          </p:cNvSpPr>
          <p:nvPr>
            <p:ph type="sldNum" sz="quarter" idx="12"/>
          </p:nvPr>
        </p:nvSpPr>
        <p:spPr/>
        <p:txBody>
          <a:bodyPr/>
          <a:lstStyle/>
          <a:p>
            <a:fld id="{77C6A7FE-225D-49F1-B302-AA37EA92BB49}" type="slidenum">
              <a:rPr lang="en-US" smtClean="0"/>
              <a:t>71</a:t>
            </a:fld>
            <a:endParaRPr lang="en-US"/>
          </a:p>
        </p:txBody>
      </p:sp>
    </p:spTree>
    <p:extLst>
      <p:ext uri="{BB962C8B-B14F-4D97-AF65-F5344CB8AC3E}">
        <p14:creationId xmlns:p14="http://schemas.microsoft.com/office/powerpoint/2010/main" val="119384566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0"/>
            <a:ext cx="12192000" cy="91502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Arial" panose="020B0604020202020204" pitchFamily="34" charset="0"/>
                <a:cs typeface="Arial" panose="020B0604020202020204" pitchFamily="34" charset="0"/>
              </a:rPr>
              <a:t>Examples of estimated matching correlations</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graphicFrame>
            <p:nvGraphicFramePr>
              <p:cNvPr id="5" name="Group 2">
                <a:extLst>
                  <a:ext uri="{FF2B5EF4-FFF2-40B4-BE49-F238E27FC236}">
                    <a16:creationId xmlns:a16="http://schemas.microsoft.com/office/drawing/2014/main" id="{1DED2B69-B44D-4D4E-95AD-C6FBD227CC2C}"/>
                  </a:ext>
                </a:extLst>
              </p:cNvPr>
              <p:cNvGraphicFramePr>
                <a:graphicFrameLocks/>
              </p:cNvGraphicFramePr>
              <p:nvPr>
                <p:extLst>
                  <p:ext uri="{D42A27DB-BD31-4B8C-83A1-F6EECF244321}">
                    <p14:modId xmlns:p14="http://schemas.microsoft.com/office/powerpoint/2010/main" val="3430444359"/>
                  </p:ext>
                </p:extLst>
              </p:nvPr>
            </p:nvGraphicFramePr>
            <p:xfrm>
              <a:off x="372761" y="1066548"/>
              <a:ext cx="11625651" cy="5238632"/>
            </p:xfrm>
            <a:graphic>
              <a:graphicData uri="http://schemas.openxmlformats.org/drawingml/2006/table">
                <a:tbl>
                  <a:tblPr/>
                  <a:tblGrid>
                    <a:gridCol w="3121050">
                      <a:extLst>
                        <a:ext uri="{9D8B030D-6E8A-4147-A177-3AD203B41FA5}">
                          <a16:colId xmlns:a16="http://schemas.microsoft.com/office/drawing/2014/main" val="20000"/>
                        </a:ext>
                      </a:extLst>
                    </a:gridCol>
                    <a:gridCol w="2650300">
                      <a:extLst>
                        <a:ext uri="{9D8B030D-6E8A-4147-A177-3AD203B41FA5}">
                          <a16:colId xmlns:a16="http://schemas.microsoft.com/office/drawing/2014/main" val="20001"/>
                        </a:ext>
                      </a:extLst>
                    </a:gridCol>
                    <a:gridCol w="1418470">
                      <a:extLst>
                        <a:ext uri="{9D8B030D-6E8A-4147-A177-3AD203B41FA5}">
                          <a16:colId xmlns:a16="http://schemas.microsoft.com/office/drawing/2014/main" val="20002"/>
                        </a:ext>
                      </a:extLst>
                    </a:gridCol>
                    <a:gridCol w="2583958">
                      <a:extLst>
                        <a:ext uri="{9D8B030D-6E8A-4147-A177-3AD203B41FA5}">
                          <a16:colId xmlns:a16="http://schemas.microsoft.com/office/drawing/2014/main" val="20003"/>
                        </a:ext>
                      </a:extLst>
                    </a:gridCol>
                    <a:gridCol w="1851873">
                      <a:extLst>
                        <a:ext uri="{9D8B030D-6E8A-4147-A177-3AD203B41FA5}">
                          <a16:colId xmlns:a16="http://schemas.microsoft.com/office/drawing/2014/main" val="20004"/>
                        </a:ext>
                      </a:extLst>
                    </a:gridCol>
                  </a:tblGrid>
                  <a:tr h="824036">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800" b="0" i="0" u="none" strike="noStrike" cap="none" normalizeH="0" baseline="0" dirty="0">
                              <a:ln>
                                <a:noFill/>
                              </a:ln>
                              <a:solidFill>
                                <a:schemeClr val="tx1"/>
                              </a:solidFill>
                              <a:effectLst/>
                              <a:latin typeface="Arial" charset="0"/>
                            </a:rPr>
                            <a:t>Source</a:t>
                          </a:r>
                          <a:endParaRPr kumimoji="0" lang="en-CA" sz="1800" b="0" i="0" u="none" strike="noStrike" cap="none" normalizeH="0" baseline="0" dirty="0">
                            <a:ln>
                              <a:noFill/>
                            </a:ln>
                            <a:solidFill>
                              <a:schemeClr val="tx1"/>
                            </a:solidFill>
                            <a:effectLst/>
                            <a:latin typeface="Arial" charset="0"/>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800" b="0" i="0" u="none" strike="noStrike" cap="none" normalizeH="0" baseline="0" dirty="0">
                              <a:ln>
                                <a:noFill/>
                              </a:ln>
                              <a:solidFill>
                                <a:schemeClr val="tx1"/>
                              </a:solidFill>
                              <a:effectLst/>
                              <a:latin typeface="Arial" charset="0"/>
                            </a:rPr>
                            <a:t>Unit of Randomization</a:t>
                          </a:r>
                          <a:endParaRPr kumimoji="0" lang="en-CA" sz="1800" b="0" i="0" u="none" strike="noStrike" cap="none" normalizeH="0" baseline="0" dirty="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800" b="0" i="0" u="none" strike="noStrike" cap="none" normalizeH="0" baseline="0" dirty="0">
                              <a:ln>
                                <a:noFill/>
                              </a:ln>
                              <a:solidFill>
                                <a:schemeClr val="tx1"/>
                              </a:solidFill>
                              <a:effectLst/>
                              <a:latin typeface="Arial" charset="0"/>
                            </a:rPr>
                            <a:t>Number </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800" b="0" i="0" u="none" strike="noStrike" cap="none" normalizeH="0" baseline="0" dirty="0">
                              <a:ln>
                                <a:noFill/>
                              </a:ln>
                              <a:solidFill>
                                <a:schemeClr val="tx1"/>
                              </a:solidFill>
                              <a:effectLst/>
                              <a:latin typeface="Arial" charset="0"/>
                            </a:rPr>
                            <a:t>of Pairs</a:t>
                          </a:r>
                          <a:endParaRPr kumimoji="0" lang="en-CA" sz="1800" b="0" i="0" u="none" strike="noStrike" cap="none" normalizeH="0" baseline="0" dirty="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800" b="0" i="0" u="none" strike="noStrike" cap="none" normalizeH="0" baseline="0">
                              <a:ln>
                                <a:noFill/>
                              </a:ln>
                              <a:solidFill>
                                <a:schemeClr val="tx1"/>
                              </a:solidFill>
                              <a:effectLst/>
                              <a:latin typeface="Arial" charset="0"/>
                            </a:rPr>
                            <a:t>Outcome Variable</a:t>
                          </a:r>
                          <a:endParaRPr kumimoji="0" lang="en-CA" sz="18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800" b="0" i="0" u="none" strike="noStrike" cap="none" normalizeH="0" baseline="0" dirty="0">
                              <a:ln>
                                <a:noFill/>
                              </a:ln>
                              <a:solidFill>
                                <a:schemeClr val="tx1"/>
                              </a:solidFill>
                              <a:effectLst/>
                              <a:latin typeface="Arial" charset="0"/>
                            </a:rPr>
                            <a:t>Matching Correlation </a:t>
                          </a:r>
                          <a14:m>
                            <m:oMath xmlns:m="http://schemas.openxmlformats.org/officeDocument/2006/math">
                              <m:r>
                                <a:rPr kumimoji="0" lang="en-US" sz="1800" b="0" i="1" u="none" strike="noStrike" cap="none" normalizeH="0" baseline="0" smtClean="0">
                                  <a:ln>
                                    <a:noFill/>
                                  </a:ln>
                                  <a:solidFill>
                                    <a:schemeClr val="tx1"/>
                                  </a:solidFill>
                                  <a:effectLst/>
                                  <a:latin typeface="Cambria Math"/>
                                </a:rPr>
                                <m:t>(</m:t>
                              </m:r>
                              <m:sSub>
                                <m:sSubPr>
                                  <m:ctrlPr>
                                    <a:rPr kumimoji="0" lang="en-US" sz="1800" b="0" i="1" u="none" strike="noStrike" cap="none" normalizeH="0" baseline="0" smtClean="0">
                                      <a:ln>
                                        <a:noFill/>
                                      </a:ln>
                                      <a:solidFill>
                                        <a:schemeClr val="tx1"/>
                                      </a:solidFill>
                                      <a:effectLst/>
                                      <a:latin typeface="Cambria Math" panose="02040503050406030204" pitchFamily="18" charset="0"/>
                                    </a:rPr>
                                  </m:ctrlPr>
                                </m:sSubPr>
                                <m:e>
                                  <m:r>
                                    <a:rPr kumimoji="0" lang="en-US" sz="1800" b="0" i="1" u="none" strike="noStrike" cap="none" normalizeH="0" baseline="0" smtClean="0">
                                      <a:ln>
                                        <a:noFill/>
                                      </a:ln>
                                      <a:solidFill>
                                        <a:schemeClr val="tx1"/>
                                      </a:solidFill>
                                      <a:effectLst/>
                                      <a:latin typeface="Cambria Math"/>
                                      <a:ea typeface="Cambria Math"/>
                                    </a:rPr>
                                    <m:t>𝜌</m:t>
                                  </m:r>
                                </m:e>
                                <m:sub>
                                  <m:r>
                                    <a:rPr kumimoji="0" lang="en-US" sz="1800" b="0" i="1" u="none" strike="noStrike" cap="none" normalizeH="0" baseline="0" smtClean="0">
                                      <a:ln>
                                        <a:noFill/>
                                      </a:ln>
                                      <a:solidFill>
                                        <a:schemeClr val="tx1"/>
                                      </a:solidFill>
                                      <a:effectLst/>
                                      <a:latin typeface="Cambria Math"/>
                                    </a:rPr>
                                    <m:t>𝑀</m:t>
                                  </m:r>
                                </m:sub>
                              </m:sSub>
                            </m:oMath>
                          </a14:m>
                          <a:r>
                            <a:rPr kumimoji="0" lang="en-CA" sz="1800" b="0" i="0" u="none" strike="noStrike" cap="none" normalizeH="0" baseline="0" dirty="0">
                              <a:ln>
                                <a:noFill/>
                              </a:ln>
                              <a:solidFill>
                                <a:schemeClr val="tx1"/>
                              </a:solidFill>
                              <a:effectLst/>
                              <a:latin typeface="Arial" charset="0"/>
                            </a:rPr>
                            <a:t>)</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937">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dirty="0">
                              <a:ln>
                                <a:noFill/>
                              </a:ln>
                              <a:solidFill>
                                <a:schemeClr val="tx1"/>
                              </a:solidFill>
                              <a:effectLst/>
                              <a:latin typeface="Arial" charset="0"/>
                            </a:rPr>
                            <a:t>Stanton &amp; Clemens (1987)</a:t>
                          </a:r>
                          <a:endParaRPr kumimoji="0" lang="en-CA" sz="1600" b="0" i="0" u="none" strike="noStrike" cap="none" normalizeH="0" baseline="0" dirty="0">
                            <a:ln>
                              <a:noFill/>
                            </a:ln>
                            <a:solidFill>
                              <a:schemeClr val="tx1"/>
                            </a:solidFill>
                            <a:effectLst/>
                            <a:latin typeface="Arial" charset="0"/>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dirty="0">
                              <a:ln>
                                <a:noFill/>
                              </a:ln>
                              <a:solidFill>
                                <a:schemeClr val="tx1"/>
                              </a:solidFill>
                              <a:effectLst/>
                              <a:latin typeface="Arial" charset="0"/>
                            </a:rPr>
                            <a:t>Cluster of Families</a:t>
                          </a:r>
                          <a:endParaRPr kumimoji="0" lang="en-CA" sz="1600" b="0" i="0" u="none" strike="noStrike" cap="none" normalizeH="0" baseline="0" dirty="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25</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Childhood  Diarrhea Rate</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0.49</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937">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CA" sz="1600" b="0" i="0" u="none" strike="noStrike" cap="none" normalizeH="0" baseline="0" dirty="0">
                              <a:ln>
                                <a:noFill/>
                              </a:ln>
                              <a:solidFill>
                                <a:schemeClr val="tx1"/>
                              </a:solidFill>
                              <a:effectLst/>
                              <a:latin typeface="Arial" charset="0"/>
                            </a:rPr>
                            <a:t>Kidane &amp; Morrow (2002)</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CA" sz="1600" b="0" i="0" u="none" strike="noStrike" cap="none" normalizeH="0" baseline="0" dirty="0">
                              <a:ln>
                                <a:noFill/>
                              </a:ln>
                              <a:solidFill>
                                <a:schemeClr val="tx1"/>
                              </a:solidFill>
                              <a:effectLst/>
                              <a:latin typeface="Arial" charset="0"/>
                            </a:rPr>
                            <a:t>Cluster of villages</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CA" sz="1600" b="0" i="0" u="none" strike="noStrike" cap="none" normalizeH="0" baseline="0">
                              <a:ln>
                                <a:noFill/>
                              </a:ln>
                              <a:solidFill>
                                <a:schemeClr val="tx1"/>
                              </a:solidFill>
                              <a:effectLst/>
                              <a:latin typeface="Arial" charset="0"/>
                            </a:rPr>
                            <a:t>12</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CA" sz="1600" b="0" i="0" u="none" strike="noStrike" cap="none" normalizeH="0" baseline="0">
                              <a:ln>
                                <a:noFill/>
                              </a:ln>
                              <a:solidFill>
                                <a:schemeClr val="tx1"/>
                              </a:solidFill>
                              <a:effectLst/>
                              <a:latin typeface="Arial" charset="0"/>
                            </a:rPr>
                            <a:t>Childhood Mortality</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CA" sz="1600" b="0" i="0" u="none" strike="noStrike" cap="none" normalizeH="0" baseline="0">
                              <a:ln>
                                <a:noFill/>
                              </a:ln>
                              <a:solidFill>
                                <a:schemeClr val="tx1"/>
                              </a:solidFill>
                              <a:effectLst/>
                              <a:latin typeface="Arial" charset="0"/>
                            </a:rPr>
                            <a:t>-0.39</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37436">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Thompson et al. (1997)</a:t>
                          </a:r>
                          <a:endParaRPr kumimoji="0" lang="en-CA" sz="1600" b="0" i="0" u="none" strike="noStrike" cap="none" normalizeH="0" baseline="0">
                            <a:ln>
                              <a:noFill/>
                            </a:ln>
                            <a:solidFill>
                              <a:schemeClr val="tx1"/>
                            </a:solidFill>
                            <a:effectLst/>
                            <a:latin typeface="Arial" charset="0"/>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Physician Practice</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13</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Levels of Coronary Risk Factors</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0.13</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937">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Ray et al. (1997)</a:t>
                          </a:r>
                          <a:endParaRPr kumimoji="0" lang="en-CA" sz="1600" b="0" i="0" u="none" strike="noStrike" cap="none" normalizeH="0" baseline="0">
                            <a:ln>
                              <a:noFill/>
                            </a:ln>
                            <a:solidFill>
                              <a:schemeClr val="tx1"/>
                            </a:solidFill>
                            <a:effectLst/>
                            <a:latin typeface="Arial" charset="0"/>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Nursing Home</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7</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Rate of Recurrent Falling</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0.63</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937">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CA" sz="1600" b="0" i="0" u="none" strike="noStrike" cap="none" normalizeH="0" baseline="0">
                              <a:ln>
                                <a:noFill/>
                              </a:ln>
                              <a:solidFill>
                                <a:schemeClr val="tx1"/>
                              </a:solidFill>
                              <a:effectLst/>
                              <a:latin typeface="Arial" charset="0"/>
                            </a:rPr>
                            <a:t>Peterson et al (2002)</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CA" sz="1600" b="0" i="0" u="none" strike="noStrike" cap="none" normalizeH="0" baseline="0" dirty="0">
                              <a:ln>
                                <a:noFill/>
                              </a:ln>
                              <a:solidFill>
                                <a:schemeClr val="tx1"/>
                              </a:solidFill>
                              <a:effectLst/>
                              <a:latin typeface="Arial" charset="0"/>
                            </a:rPr>
                            <a:t>School district</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CA" sz="1600" b="0" i="0" u="none" strike="noStrike" cap="none" normalizeH="0" baseline="0">
                              <a:ln>
                                <a:noFill/>
                              </a:ln>
                              <a:solidFill>
                                <a:schemeClr val="tx1"/>
                              </a:solidFill>
                              <a:effectLst/>
                              <a:latin typeface="Arial" charset="0"/>
                            </a:rPr>
                            <a:t>20</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CA" sz="1600" b="0" i="0" u="none" strike="noStrike" cap="none" normalizeH="0" baseline="0">
                              <a:ln>
                                <a:noFill/>
                              </a:ln>
                              <a:solidFill>
                                <a:schemeClr val="tx1"/>
                              </a:solidFill>
                              <a:effectLst/>
                              <a:latin typeface="Arial" charset="0"/>
                            </a:rPr>
                            <a:t>Prevalence of Smoking</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CA" sz="1600" b="0" i="0" u="none" strike="noStrike" cap="none" normalizeH="0" baseline="0">
                              <a:ln>
                                <a:noFill/>
                              </a:ln>
                              <a:solidFill>
                                <a:schemeClr val="tx1"/>
                              </a:solidFill>
                              <a:effectLst/>
                              <a:latin typeface="Arial" charset="0"/>
                            </a:rPr>
                            <a:t>0.34</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937">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Haggerty et al.  (1994)</a:t>
                          </a:r>
                          <a:endParaRPr kumimoji="0" lang="en-CA" sz="1600" b="0" i="0" u="none" strike="noStrike" cap="none" normalizeH="0" baseline="0">
                            <a:ln>
                              <a:noFill/>
                            </a:ln>
                            <a:solidFill>
                              <a:schemeClr val="tx1"/>
                            </a:solidFill>
                            <a:effectLst/>
                            <a:latin typeface="Arial" charset="0"/>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Community</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9</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Childhood Diarrhea Rate</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-0.32</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0897">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Grosskurth et al.  (1995)</a:t>
                          </a:r>
                          <a:endParaRPr kumimoji="0" lang="en-CA" sz="1600" b="0" i="0" u="none" strike="noStrike" cap="none" normalizeH="0" baseline="0">
                            <a:ln>
                              <a:noFill/>
                            </a:ln>
                            <a:solidFill>
                              <a:schemeClr val="tx1"/>
                            </a:solidFill>
                            <a:effectLst/>
                            <a:latin typeface="Arial" charset="0"/>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Community</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6</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HIV Rate</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0.94</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621578">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The COMMIT Research Group (1995)</a:t>
                          </a:r>
                          <a:endParaRPr kumimoji="0" lang="en-CA" sz="1600" b="0" i="0" u="none" strike="noStrike" cap="none" normalizeH="0" baseline="0">
                            <a:ln>
                              <a:noFill/>
                            </a:ln>
                            <a:solidFill>
                              <a:schemeClr val="tx1"/>
                            </a:solidFill>
                            <a:effectLst/>
                            <a:latin typeface="Arial" charset="0"/>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dirty="0">
                              <a:ln>
                                <a:noFill/>
                              </a:ln>
                              <a:solidFill>
                                <a:schemeClr val="tx1"/>
                              </a:solidFill>
                              <a:effectLst/>
                              <a:latin typeface="Arial" charset="0"/>
                            </a:rPr>
                            <a:t>Community</a:t>
                          </a:r>
                          <a:endParaRPr kumimoji="0" lang="en-CA" sz="1600" b="0" i="0" u="none" strike="noStrike" cap="none" normalizeH="0" baseline="0" dirty="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dirty="0">
                              <a:ln>
                                <a:noFill/>
                              </a:ln>
                              <a:solidFill>
                                <a:schemeClr val="tx1"/>
                              </a:solidFill>
                              <a:effectLst/>
                              <a:latin typeface="Arial" charset="0"/>
                            </a:rPr>
                            <a:t>11</a:t>
                          </a:r>
                          <a:endParaRPr kumimoji="0" lang="en-CA" sz="1600" b="0" i="0" u="none" strike="noStrike" cap="none" normalizeH="0" baseline="0" dirty="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Smoking Quit Rate</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dirty="0">
                              <a:ln>
                                <a:noFill/>
                              </a:ln>
                              <a:solidFill>
                                <a:schemeClr val="tx1"/>
                              </a:solidFill>
                              <a:effectLst/>
                              <a:latin typeface="Arial" charset="0"/>
                            </a:rPr>
                            <a:t>0.21</a:t>
                          </a:r>
                          <a:endParaRPr kumimoji="0" lang="en-CA" sz="1600" b="0" i="0" u="none" strike="noStrike" cap="none" normalizeH="0" baseline="0" dirty="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mc:Choice>
        <mc:Fallback xmlns="">
          <p:graphicFrame>
            <p:nvGraphicFramePr>
              <p:cNvPr id="5" name="Group 2">
                <a:extLst>
                  <a:ext uri="{FF2B5EF4-FFF2-40B4-BE49-F238E27FC236}">
                    <a16:creationId xmlns:a16="http://schemas.microsoft.com/office/drawing/2014/main" id="{1DED2B69-B44D-4D4E-95AD-C6FBD227CC2C}"/>
                  </a:ext>
                </a:extLst>
              </p:cNvPr>
              <p:cNvGraphicFramePr>
                <a:graphicFrameLocks/>
              </p:cNvGraphicFramePr>
              <p:nvPr>
                <p:extLst>
                  <p:ext uri="{D42A27DB-BD31-4B8C-83A1-F6EECF244321}">
                    <p14:modId xmlns:p14="http://schemas.microsoft.com/office/powerpoint/2010/main" val="3430444359"/>
                  </p:ext>
                </p:extLst>
              </p:nvPr>
            </p:nvGraphicFramePr>
            <p:xfrm>
              <a:off x="372761" y="1066548"/>
              <a:ext cx="11625651" cy="5238632"/>
            </p:xfrm>
            <a:graphic>
              <a:graphicData uri="http://schemas.openxmlformats.org/drawingml/2006/table">
                <a:tbl>
                  <a:tblPr/>
                  <a:tblGrid>
                    <a:gridCol w="3121050">
                      <a:extLst>
                        <a:ext uri="{9D8B030D-6E8A-4147-A177-3AD203B41FA5}">
                          <a16:colId xmlns:a16="http://schemas.microsoft.com/office/drawing/2014/main" val="20000"/>
                        </a:ext>
                      </a:extLst>
                    </a:gridCol>
                    <a:gridCol w="2650300">
                      <a:extLst>
                        <a:ext uri="{9D8B030D-6E8A-4147-A177-3AD203B41FA5}">
                          <a16:colId xmlns:a16="http://schemas.microsoft.com/office/drawing/2014/main" val="20001"/>
                        </a:ext>
                      </a:extLst>
                    </a:gridCol>
                    <a:gridCol w="1418470">
                      <a:extLst>
                        <a:ext uri="{9D8B030D-6E8A-4147-A177-3AD203B41FA5}">
                          <a16:colId xmlns:a16="http://schemas.microsoft.com/office/drawing/2014/main" val="20002"/>
                        </a:ext>
                      </a:extLst>
                    </a:gridCol>
                    <a:gridCol w="2583958">
                      <a:extLst>
                        <a:ext uri="{9D8B030D-6E8A-4147-A177-3AD203B41FA5}">
                          <a16:colId xmlns:a16="http://schemas.microsoft.com/office/drawing/2014/main" val="20003"/>
                        </a:ext>
                      </a:extLst>
                    </a:gridCol>
                    <a:gridCol w="1851873">
                      <a:extLst>
                        <a:ext uri="{9D8B030D-6E8A-4147-A177-3AD203B41FA5}">
                          <a16:colId xmlns:a16="http://schemas.microsoft.com/office/drawing/2014/main" val="20004"/>
                        </a:ext>
                      </a:extLst>
                    </a:gridCol>
                  </a:tblGrid>
                  <a:tr h="824036">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800" b="0" i="0" u="none" strike="noStrike" cap="none" normalizeH="0" baseline="0" dirty="0">
                              <a:ln>
                                <a:noFill/>
                              </a:ln>
                              <a:solidFill>
                                <a:schemeClr val="tx1"/>
                              </a:solidFill>
                              <a:effectLst/>
                              <a:latin typeface="Arial" charset="0"/>
                            </a:rPr>
                            <a:t>Source</a:t>
                          </a:r>
                          <a:endParaRPr kumimoji="0" lang="en-CA" sz="1800" b="0" i="0" u="none" strike="noStrike" cap="none" normalizeH="0" baseline="0" dirty="0">
                            <a:ln>
                              <a:noFill/>
                            </a:ln>
                            <a:solidFill>
                              <a:schemeClr val="tx1"/>
                            </a:solidFill>
                            <a:effectLst/>
                            <a:latin typeface="Arial" charset="0"/>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800" b="0" i="0" u="none" strike="noStrike" cap="none" normalizeH="0" baseline="0" dirty="0">
                              <a:ln>
                                <a:noFill/>
                              </a:ln>
                              <a:solidFill>
                                <a:schemeClr val="tx1"/>
                              </a:solidFill>
                              <a:effectLst/>
                              <a:latin typeface="Arial" charset="0"/>
                            </a:rPr>
                            <a:t>Unit of Randomization</a:t>
                          </a:r>
                          <a:endParaRPr kumimoji="0" lang="en-CA" sz="1800" b="0" i="0" u="none" strike="noStrike" cap="none" normalizeH="0" baseline="0" dirty="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800" b="0" i="0" u="none" strike="noStrike" cap="none" normalizeH="0" baseline="0" dirty="0">
                              <a:ln>
                                <a:noFill/>
                              </a:ln>
                              <a:solidFill>
                                <a:schemeClr val="tx1"/>
                              </a:solidFill>
                              <a:effectLst/>
                              <a:latin typeface="Arial" charset="0"/>
                            </a:rPr>
                            <a:t>Number </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800" b="0" i="0" u="none" strike="noStrike" cap="none" normalizeH="0" baseline="0" dirty="0">
                              <a:ln>
                                <a:noFill/>
                              </a:ln>
                              <a:solidFill>
                                <a:schemeClr val="tx1"/>
                              </a:solidFill>
                              <a:effectLst/>
                              <a:latin typeface="Arial" charset="0"/>
                            </a:rPr>
                            <a:t>of Pairs</a:t>
                          </a:r>
                          <a:endParaRPr kumimoji="0" lang="en-CA" sz="1800" b="0" i="0" u="none" strike="noStrike" cap="none" normalizeH="0" baseline="0" dirty="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800" b="0" i="0" u="none" strike="noStrike" cap="none" normalizeH="0" baseline="0">
                              <a:ln>
                                <a:noFill/>
                              </a:ln>
                              <a:solidFill>
                                <a:schemeClr val="tx1"/>
                              </a:solidFill>
                              <a:effectLst/>
                              <a:latin typeface="Arial" charset="0"/>
                            </a:rPr>
                            <a:t>Outcome Variable</a:t>
                          </a:r>
                          <a:endParaRPr kumimoji="0" lang="en-CA" sz="18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blipFill>
                          <a:blip r:embed="rId4"/>
                          <a:stretch>
                            <a:fillRect l="-529276" t="-3704" r="-1645" b="-541481"/>
                          </a:stretch>
                        </a:blipFill>
                      </a:tcPr>
                    </a:tc>
                    <a:extLst>
                      <a:ext uri="{0D108BD9-81ED-4DB2-BD59-A6C34878D82A}">
                        <a16:rowId xmlns:a16="http://schemas.microsoft.com/office/drawing/2014/main" val="10000"/>
                      </a:ext>
                    </a:extLst>
                  </a:tr>
                  <a:tr h="518937">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Stanton &amp; Clemens (1987)</a:t>
                          </a:r>
                          <a:endParaRPr kumimoji="0" lang="en-CA" sz="1600" b="0" i="0" u="none" strike="noStrike" cap="none" normalizeH="0" baseline="0">
                            <a:ln>
                              <a:noFill/>
                            </a:ln>
                            <a:solidFill>
                              <a:schemeClr val="tx1"/>
                            </a:solidFill>
                            <a:effectLst/>
                            <a:latin typeface="Arial" charset="0"/>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dirty="0">
                              <a:ln>
                                <a:noFill/>
                              </a:ln>
                              <a:solidFill>
                                <a:schemeClr val="tx1"/>
                              </a:solidFill>
                              <a:effectLst/>
                              <a:latin typeface="Arial" charset="0"/>
                            </a:rPr>
                            <a:t>Cluster of Families</a:t>
                          </a:r>
                          <a:endParaRPr kumimoji="0" lang="en-CA" sz="1600" b="0" i="0" u="none" strike="noStrike" cap="none" normalizeH="0" baseline="0" dirty="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25</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Childhood  Diarrhea Rate</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0.49</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937">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CA" sz="1600" b="0" i="0" u="none" strike="noStrike" cap="none" normalizeH="0" baseline="0" dirty="0">
                              <a:ln>
                                <a:noFill/>
                              </a:ln>
                              <a:solidFill>
                                <a:schemeClr val="tx1"/>
                              </a:solidFill>
                              <a:effectLst/>
                              <a:latin typeface="Arial" charset="0"/>
                            </a:rPr>
                            <a:t>Kidane &amp; Morrow (2002)</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CA" sz="1600" b="0" i="0" u="none" strike="noStrike" cap="none" normalizeH="0" baseline="0" dirty="0">
                              <a:ln>
                                <a:noFill/>
                              </a:ln>
                              <a:solidFill>
                                <a:schemeClr val="tx1"/>
                              </a:solidFill>
                              <a:effectLst/>
                              <a:latin typeface="Arial" charset="0"/>
                            </a:rPr>
                            <a:t>Cluster of villages</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CA" sz="1600" b="0" i="0" u="none" strike="noStrike" cap="none" normalizeH="0" baseline="0">
                              <a:ln>
                                <a:noFill/>
                              </a:ln>
                              <a:solidFill>
                                <a:schemeClr val="tx1"/>
                              </a:solidFill>
                              <a:effectLst/>
                              <a:latin typeface="Arial" charset="0"/>
                            </a:rPr>
                            <a:t>12</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CA" sz="1600" b="0" i="0" u="none" strike="noStrike" cap="none" normalizeH="0" baseline="0">
                              <a:ln>
                                <a:noFill/>
                              </a:ln>
                              <a:solidFill>
                                <a:schemeClr val="tx1"/>
                              </a:solidFill>
                              <a:effectLst/>
                              <a:latin typeface="Arial" charset="0"/>
                            </a:rPr>
                            <a:t>Childhood Mortality</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CA" sz="1600" b="0" i="0" u="none" strike="noStrike" cap="none" normalizeH="0" baseline="0">
                              <a:ln>
                                <a:noFill/>
                              </a:ln>
                              <a:solidFill>
                                <a:schemeClr val="tx1"/>
                              </a:solidFill>
                              <a:effectLst/>
                              <a:latin typeface="Arial" charset="0"/>
                            </a:rPr>
                            <a:t>-0.39</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37436">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Thompson et al. (1997)</a:t>
                          </a:r>
                          <a:endParaRPr kumimoji="0" lang="en-CA" sz="1600" b="0" i="0" u="none" strike="noStrike" cap="none" normalizeH="0" baseline="0">
                            <a:ln>
                              <a:noFill/>
                            </a:ln>
                            <a:solidFill>
                              <a:schemeClr val="tx1"/>
                            </a:solidFill>
                            <a:effectLst/>
                            <a:latin typeface="Arial" charset="0"/>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Physician Practice</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13</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Levels of Coronary Risk Factors</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0.13</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937">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Ray et al. (1997)</a:t>
                          </a:r>
                          <a:endParaRPr kumimoji="0" lang="en-CA" sz="1600" b="0" i="0" u="none" strike="noStrike" cap="none" normalizeH="0" baseline="0">
                            <a:ln>
                              <a:noFill/>
                            </a:ln>
                            <a:solidFill>
                              <a:schemeClr val="tx1"/>
                            </a:solidFill>
                            <a:effectLst/>
                            <a:latin typeface="Arial" charset="0"/>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Nursing Home</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7</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Rate of Recurrent Falling</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0.63</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937">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CA" sz="1600" b="0" i="0" u="none" strike="noStrike" cap="none" normalizeH="0" baseline="0">
                              <a:ln>
                                <a:noFill/>
                              </a:ln>
                              <a:solidFill>
                                <a:schemeClr val="tx1"/>
                              </a:solidFill>
                              <a:effectLst/>
                              <a:latin typeface="Arial" charset="0"/>
                            </a:rPr>
                            <a:t>Peterson et al (2002)</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CA" sz="1600" b="0" i="0" u="none" strike="noStrike" cap="none" normalizeH="0" baseline="0" dirty="0">
                              <a:ln>
                                <a:noFill/>
                              </a:ln>
                              <a:solidFill>
                                <a:schemeClr val="tx1"/>
                              </a:solidFill>
                              <a:effectLst/>
                              <a:latin typeface="Arial" charset="0"/>
                            </a:rPr>
                            <a:t>School district</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CA" sz="1600" b="0" i="0" u="none" strike="noStrike" cap="none" normalizeH="0" baseline="0">
                              <a:ln>
                                <a:noFill/>
                              </a:ln>
                              <a:solidFill>
                                <a:schemeClr val="tx1"/>
                              </a:solidFill>
                              <a:effectLst/>
                              <a:latin typeface="Arial" charset="0"/>
                            </a:rPr>
                            <a:t>20</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CA" sz="1600" b="0" i="0" u="none" strike="noStrike" cap="none" normalizeH="0" baseline="0">
                              <a:ln>
                                <a:noFill/>
                              </a:ln>
                              <a:solidFill>
                                <a:schemeClr val="tx1"/>
                              </a:solidFill>
                              <a:effectLst/>
                              <a:latin typeface="Arial" charset="0"/>
                            </a:rPr>
                            <a:t>Prevalence of Smoking</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CA" sz="1600" b="0" i="0" u="none" strike="noStrike" cap="none" normalizeH="0" baseline="0">
                              <a:ln>
                                <a:noFill/>
                              </a:ln>
                              <a:solidFill>
                                <a:schemeClr val="tx1"/>
                              </a:solidFill>
                              <a:effectLst/>
                              <a:latin typeface="Arial" charset="0"/>
                            </a:rPr>
                            <a:t>0.34</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937">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Haggerty et al.  (1994)</a:t>
                          </a:r>
                          <a:endParaRPr kumimoji="0" lang="en-CA" sz="1600" b="0" i="0" u="none" strike="noStrike" cap="none" normalizeH="0" baseline="0">
                            <a:ln>
                              <a:noFill/>
                            </a:ln>
                            <a:solidFill>
                              <a:schemeClr val="tx1"/>
                            </a:solidFill>
                            <a:effectLst/>
                            <a:latin typeface="Arial" charset="0"/>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Community</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9</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Childhood Diarrhea Rate</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-0.32</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0897">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Grosskurth et al.  (1995)</a:t>
                          </a:r>
                          <a:endParaRPr kumimoji="0" lang="en-CA" sz="1600" b="0" i="0" u="none" strike="noStrike" cap="none" normalizeH="0" baseline="0">
                            <a:ln>
                              <a:noFill/>
                            </a:ln>
                            <a:solidFill>
                              <a:schemeClr val="tx1"/>
                            </a:solidFill>
                            <a:effectLst/>
                            <a:latin typeface="Arial" charset="0"/>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Community</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6</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HIV Rate</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0.94</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621578">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The COMMIT Research Group (1995)</a:t>
                          </a:r>
                          <a:endParaRPr kumimoji="0" lang="en-CA" sz="1600" b="0" i="0" u="none" strike="noStrike" cap="none" normalizeH="0" baseline="0">
                            <a:ln>
                              <a:noFill/>
                            </a:ln>
                            <a:solidFill>
                              <a:schemeClr val="tx1"/>
                            </a:solidFill>
                            <a:effectLst/>
                            <a:latin typeface="Arial" charset="0"/>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dirty="0">
                              <a:ln>
                                <a:noFill/>
                              </a:ln>
                              <a:solidFill>
                                <a:schemeClr val="tx1"/>
                              </a:solidFill>
                              <a:effectLst/>
                              <a:latin typeface="Arial" charset="0"/>
                            </a:rPr>
                            <a:t>Community</a:t>
                          </a:r>
                          <a:endParaRPr kumimoji="0" lang="en-CA" sz="1600" b="0" i="0" u="none" strike="noStrike" cap="none" normalizeH="0" baseline="0" dirty="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dirty="0">
                              <a:ln>
                                <a:noFill/>
                              </a:ln>
                              <a:solidFill>
                                <a:schemeClr val="tx1"/>
                              </a:solidFill>
                              <a:effectLst/>
                              <a:latin typeface="Arial" charset="0"/>
                            </a:rPr>
                            <a:t>11</a:t>
                          </a:r>
                          <a:endParaRPr kumimoji="0" lang="en-CA" sz="1600" b="0" i="0" u="none" strike="noStrike" cap="none" normalizeH="0" baseline="0" dirty="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a:ln>
                                <a:noFill/>
                              </a:ln>
                              <a:solidFill>
                                <a:schemeClr val="tx1"/>
                              </a:solidFill>
                              <a:effectLst/>
                              <a:latin typeface="Arial" charset="0"/>
                            </a:rPr>
                            <a:t>Smoking Quit Rate</a:t>
                          </a:r>
                          <a:endParaRPr kumimoji="0" lang="en-CA" sz="16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dirty="0">
                              <a:ln>
                                <a:noFill/>
                              </a:ln>
                              <a:solidFill>
                                <a:schemeClr val="tx1"/>
                              </a:solidFill>
                              <a:effectLst/>
                              <a:latin typeface="Arial" charset="0"/>
                            </a:rPr>
                            <a:t>0.21</a:t>
                          </a:r>
                          <a:endParaRPr kumimoji="0" lang="en-CA" sz="1600" b="0" i="0" u="none" strike="noStrike" cap="none" normalizeH="0" baseline="0" dirty="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mc:Fallback>
      </mc:AlternateContent>
      <p:sp>
        <p:nvSpPr>
          <p:cNvPr id="2" name="Footer Placeholder 1">
            <a:extLst>
              <a:ext uri="{FF2B5EF4-FFF2-40B4-BE49-F238E27FC236}">
                <a16:creationId xmlns:a16="http://schemas.microsoft.com/office/drawing/2014/main" id="{E2231BD2-C07D-EF4F-A813-9458C6C645E1}"/>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1AA36BD7-3348-2215-F32B-1F642C106AA6}"/>
              </a:ext>
            </a:extLst>
          </p:cNvPr>
          <p:cNvSpPr>
            <a:spLocks noGrp="1"/>
          </p:cNvSpPr>
          <p:nvPr>
            <p:ph type="sldNum" sz="quarter" idx="12"/>
          </p:nvPr>
        </p:nvSpPr>
        <p:spPr/>
        <p:txBody>
          <a:bodyPr/>
          <a:lstStyle/>
          <a:p>
            <a:fld id="{77C6A7FE-225D-49F1-B302-AA37EA92BB49}" type="slidenum">
              <a:rPr lang="en-US" smtClean="0"/>
              <a:t>72</a:t>
            </a:fld>
            <a:endParaRPr lang="en-US"/>
          </a:p>
        </p:txBody>
      </p:sp>
    </p:spTree>
    <p:extLst>
      <p:ext uri="{BB962C8B-B14F-4D97-AF65-F5344CB8AC3E}">
        <p14:creationId xmlns:p14="http://schemas.microsoft.com/office/powerpoint/2010/main" val="305973361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Should CRTs be pair matched?</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7998122-C88E-4D57-93A0-0E3409E41456}"/>
                  </a:ext>
                </a:extLst>
              </p:cNvPr>
              <p:cNvSpPr txBox="1"/>
              <p:nvPr/>
            </p:nvSpPr>
            <p:spPr>
              <a:xfrm>
                <a:off x="442784" y="1413714"/>
                <a:ext cx="11306432" cy="6124754"/>
              </a:xfrm>
              <a:prstGeom prst="rect">
                <a:avLst/>
              </a:prstGeom>
              <a:noFill/>
            </p:spPr>
            <p:txBody>
              <a:bodyPr wrap="square">
                <a:spAutoFit/>
              </a:bodyPr>
              <a:lstStyle/>
              <a:p>
                <a:r>
                  <a:rPr lang="en-US" altLang="en-US" sz="2800" dirty="0"/>
                  <a:t>Donner’s view is that that matching should be used cautiously in cluster randomization trials, particularly if the total number of matched pairs is small or if the matching correlation is low (&lt;0.2)</a:t>
                </a:r>
              </a:p>
              <a:p>
                <a:endParaRPr lang="en-US" altLang="en-US" sz="2800" dirty="0"/>
              </a:p>
              <a:p>
                <a:r>
                  <a:rPr lang="en-US" altLang="en-US" sz="2800" dirty="0"/>
                  <a:t>In pair-matched cluster randomized designs, the effect of the intervention is confounded with the natural variation between the clusters within each matched pair. The intra-cluster correlation </a:t>
                </a:r>
                <a14:m>
                  <m:oMath xmlns:m="http://schemas.openxmlformats.org/officeDocument/2006/math">
                    <m:r>
                      <a:rPr lang="en-US" sz="2800" i="1" smtClean="0">
                        <a:solidFill>
                          <a:srgbClr val="000000"/>
                        </a:solidFill>
                        <a:latin typeface="Cambria Math" panose="02040503050406030204" pitchFamily="18" charset="0"/>
                      </a:rPr>
                      <m:t>𝜌</m:t>
                    </m:r>
                  </m:oMath>
                </a14:m>
                <a:r>
                  <a:rPr lang="en-US" altLang="en-US" sz="2800" dirty="0"/>
                  <a:t> cannot be estimated without imposing an assumption of common intervention effect across matched pairs. In my view, this is not an unreasonable assumption. </a:t>
                </a:r>
              </a:p>
              <a:p>
                <a:endParaRPr lang="en-US" altLang="en-US" sz="2800" dirty="0"/>
              </a:p>
              <a:p>
                <a:r>
                  <a:rPr lang="en-US" altLang="en-US" sz="2800" dirty="0"/>
                  <a:t>Note: Imai and King adamantly disagree and strongly advocate for matched pair CRTs (</a:t>
                </a:r>
                <a:r>
                  <a:rPr lang="en-US" altLang="en-US" sz="2800" i="1" dirty="0"/>
                  <a:t>Stat Sci</a:t>
                </a:r>
                <a:r>
                  <a:rPr lang="en-US" altLang="en-US" sz="2800" dirty="0"/>
                  <a:t>, 2007)</a:t>
                </a:r>
              </a:p>
              <a:p>
                <a:endParaRPr lang="en-US" altLang="en-US" sz="2800" dirty="0"/>
              </a:p>
              <a:p>
                <a:endParaRPr lang="en-US" altLang="en-US" sz="2800" dirty="0"/>
              </a:p>
            </p:txBody>
          </p:sp>
        </mc:Choice>
        <mc:Fallback xmlns="">
          <p:sp>
            <p:nvSpPr>
              <p:cNvPr id="5" name="TextBox 4">
                <a:extLst>
                  <a:ext uri="{FF2B5EF4-FFF2-40B4-BE49-F238E27FC236}">
                    <a16:creationId xmlns:a16="http://schemas.microsoft.com/office/drawing/2014/main" id="{67998122-C88E-4D57-93A0-0E3409E41456}"/>
                  </a:ext>
                </a:extLst>
              </p:cNvPr>
              <p:cNvSpPr txBox="1">
                <a:spLocks noRot="1" noChangeAspect="1" noMove="1" noResize="1" noEditPoints="1" noAdjustHandles="1" noChangeArrowheads="1" noChangeShapeType="1" noTextEdit="1"/>
              </p:cNvSpPr>
              <p:nvPr/>
            </p:nvSpPr>
            <p:spPr>
              <a:xfrm>
                <a:off x="442784" y="1413714"/>
                <a:ext cx="11306432" cy="6124754"/>
              </a:xfrm>
              <a:prstGeom prst="rect">
                <a:avLst/>
              </a:prstGeom>
              <a:blipFill>
                <a:blip r:embed="rId4"/>
                <a:stretch>
                  <a:fillRect l="-1133" t="-995" r="-270"/>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D0DF7BB1-5A5F-2543-A109-BAC051C402BD}"/>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A9E92328-2146-C8E5-A93F-AF3084F1900C}"/>
              </a:ext>
            </a:extLst>
          </p:cNvPr>
          <p:cNvSpPr>
            <a:spLocks noGrp="1"/>
          </p:cNvSpPr>
          <p:nvPr>
            <p:ph type="sldNum" sz="quarter" idx="12"/>
          </p:nvPr>
        </p:nvSpPr>
        <p:spPr/>
        <p:txBody>
          <a:bodyPr/>
          <a:lstStyle/>
          <a:p>
            <a:fld id="{77C6A7FE-225D-49F1-B302-AA37EA92BB49}" type="slidenum">
              <a:rPr lang="en-US" smtClean="0"/>
              <a:t>73</a:t>
            </a:fld>
            <a:endParaRPr lang="en-US"/>
          </a:p>
        </p:txBody>
      </p:sp>
    </p:spTree>
    <p:extLst>
      <p:ext uri="{BB962C8B-B14F-4D97-AF65-F5344CB8AC3E}">
        <p14:creationId xmlns:p14="http://schemas.microsoft.com/office/powerpoint/2010/main" val="393555880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56053"/>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Should CRTs be pair-matched?</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237DB48-F7D9-4448-B2D6-4FB3F4ACE2AA}"/>
                  </a:ext>
                </a:extLst>
              </p:cNvPr>
              <p:cNvSpPr txBox="1"/>
              <p:nvPr/>
            </p:nvSpPr>
            <p:spPr>
              <a:xfrm>
                <a:off x="420130" y="1299163"/>
                <a:ext cx="11602994" cy="3046988"/>
              </a:xfrm>
              <a:prstGeom prst="rect">
                <a:avLst/>
              </a:prstGeom>
              <a:noFill/>
            </p:spPr>
            <p:txBody>
              <a:bodyPr wrap="square">
                <a:spAutoFit/>
              </a:bodyPr>
              <a:lstStyle/>
              <a:p>
                <a:pPr marL="660400" indent="-660400" eaLnBrk="1" hangingPunct="1">
                  <a:buFont typeface="Wingdings" pitchFamily="2" charset="2"/>
                  <a:buNone/>
                </a:pPr>
                <a:r>
                  <a:rPr lang="en-US" altLang="en-US" sz="2400" dirty="0">
                    <a:latin typeface="Arial" pitchFamily="34" charset="0"/>
                  </a:rPr>
                  <a:t>When it’s unreasonable to assume a common intervention effect across the matched pairs, </a:t>
                </a:r>
                <a14:m>
                  <m:oMath xmlns:m="http://schemas.openxmlformats.org/officeDocument/2006/math">
                    <m:r>
                      <a:rPr lang="en-US" sz="2400" i="1" smtClean="0">
                        <a:solidFill>
                          <a:srgbClr val="000000"/>
                        </a:solidFill>
                        <a:latin typeface="Cambria Math" panose="02040503050406030204" pitchFamily="18" charset="0"/>
                      </a:rPr>
                      <m:t>𝜌</m:t>
                    </m:r>
                  </m:oMath>
                </a14:m>
                <a:r>
                  <a:rPr lang="en-US" altLang="en-US" sz="2400" dirty="0">
                    <a:latin typeface="Arial" pitchFamily="34" charset="0"/>
                  </a:rPr>
                  <a:t> cannot be estimated. Then, </a:t>
                </a:r>
              </a:p>
              <a:p>
                <a:pPr marL="660400" indent="-660400" eaLnBrk="1" hangingPunct="1">
                  <a:buFont typeface="Wingdings" pitchFamily="2" charset="2"/>
                  <a:buNone/>
                </a:pPr>
                <a:endParaRPr lang="en-US" altLang="en-US" sz="2400" dirty="0">
                  <a:latin typeface="Arial" pitchFamily="34" charset="0"/>
                </a:endParaRPr>
              </a:p>
              <a:p>
                <a:pPr marL="660400" indent="-660400">
                  <a:buClr>
                    <a:schemeClr val="tx1"/>
                  </a:buClr>
                  <a:buSzPct val="100000"/>
                  <a:buBlip>
                    <a:blip r:embed="rId4"/>
                  </a:buBlip>
                </a:pPr>
                <a:r>
                  <a:rPr lang="en-US" altLang="en-US" sz="2400" dirty="0">
                    <a:latin typeface="Arial" pitchFamily="34" charset="0"/>
                  </a:rPr>
                  <a:t>Information on </a:t>
                </a:r>
                <a14:m>
                  <m:oMath xmlns:m="http://schemas.openxmlformats.org/officeDocument/2006/math">
                    <m:r>
                      <a:rPr lang="en-US" sz="2400" i="1" smtClean="0">
                        <a:solidFill>
                          <a:schemeClr val="tx1"/>
                        </a:solidFill>
                        <a:latin typeface="Cambria Math" panose="02040503050406030204" pitchFamily="18" charset="0"/>
                      </a:rPr>
                      <m:t>𝜌</m:t>
                    </m:r>
                  </m:oMath>
                </a14:m>
                <a:r>
                  <a:rPr lang="en-US" altLang="en-US" sz="2400" dirty="0">
                    <a:latin typeface="Arial" pitchFamily="34" charset="0"/>
                  </a:rPr>
                  <a:t> necessary for the planning of future trials in the same application area will not be available. </a:t>
                </a:r>
              </a:p>
              <a:p>
                <a:pPr marL="660400" indent="-660400">
                  <a:buClr>
                    <a:schemeClr val="tx1"/>
                  </a:buClr>
                  <a:buSzPct val="100000"/>
                  <a:buBlip>
                    <a:blip r:embed="rId4"/>
                  </a:buBlip>
                </a:pPr>
                <a:endParaRPr lang="en-US" altLang="en-US" sz="2400" dirty="0">
                  <a:latin typeface="Arial" pitchFamily="34" charset="0"/>
                </a:endParaRPr>
              </a:p>
              <a:p>
                <a:pPr>
                  <a:buClr>
                    <a:schemeClr val="tx1"/>
                  </a:buClr>
                  <a:buSzPct val="100000"/>
                </a:pPr>
                <a:endParaRPr lang="en-US" altLang="en-US" sz="2400" dirty="0">
                  <a:latin typeface="Arial" pitchFamily="34" charset="0"/>
                </a:endParaRPr>
              </a:p>
              <a:p>
                <a:pPr marL="660400" indent="-660400">
                  <a:buClr>
                    <a:schemeClr val="tx1"/>
                  </a:buClr>
                  <a:buSzPct val="100000"/>
                  <a:buBlip>
                    <a:blip r:embed="rId4"/>
                  </a:buBlip>
                </a:pPr>
                <a:r>
                  <a:rPr lang="en-US" altLang="en-US" sz="2400" dirty="0">
                    <a:latin typeface="Arial" pitchFamily="34" charset="0"/>
                  </a:rPr>
                  <a:t>The benefits vs. disadvantages of pair-matched CRTs is an open question</a:t>
                </a:r>
              </a:p>
            </p:txBody>
          </p:sp>
        </mc:Choice>
        <mc:Fallback xmlns="">
          <p:sp>
            <p:nvSpPr>
              <p:cNvPr id="5" name="TextBox 4">
                <a:extLst>
                  <a:ext uri="{FF2B5EF4-FFF2-40B4-BE49-F238E27FC236}">
                    <a16:creationId xmlns:a16="http://schemas.microsoft.com/office/drawing/2014/main" id="{5237DB48-F7D9-4448-B2D6-4FB3F4ACE2AA}"/>
                  </a:ext>
                </a:extLst>
              </p:cNvPr>
              <p:cNvSpPr txBox="1">
                <a:spLocks noRot="1" noChangeAspect="1" noMove="1" noResize="1" noEditPoints="1" noAdjustHandles="1" noChangeArrowheads="1" noChangeShapeType="1" noTextEdit="1"/>
              </p:cNvSpPr>
              <p:nvPr/>
            </p:nvSpPr>
            <p:spPr>
              <a:xfrm>
                <a:off x="420130" y="1299163"/>
                <a:ext cx="11602994" cy="3046988"/>
              </a:xfrm>
              <a:prstGeom prst="rect">
                <a:avLst/>
              </a:prstGeom>
              <a:blipFill>
                <a:blip r:embed="rId5"/>
                <a:stretch>
                  <a:fillRect l="-841" t="-1400" r="-1471" b="-3800"/>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5B6BAAAF-967F-9C46-9341-278B8305E037}"/>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C7ED0890-FF07-5D40-4A90-261C2C46E1E2}"/>
              </a:ext>
            </a:extLst>
          </p:cNvPr>
          <p:cNvSpPr>
            <a:spLocks noGrp="1"/>
          </p:cNvSpPr>
          <p:nvPr>
            <p:ph type="sldNum" sz="quarter" idx="12"/>
          </p:nvPr>
        </p:nvSpPr>
        <p:spPr/>
        <p:txBody>
          <a:bodyPr/>
          <a:lstStyle/>
          <a:p>
            <a:fld id="{77C6A7FE-225D-49F1-B302-AA37EA92BB49}" type="slidenum">
              <a:rPr lang="en-US" smtClean="0"/>
              <a:t>74</a:t>
            </a:fld>
            <a:endParaRPr lang="en-US"/>
          </a:p>
        </p:txBody>
      </p:sp>
    </p:spTree>
    <p:extLst>
      <p:ext uri="{BB962C8B-B14F-4D97-AF65-F5344CB8AC3E}">
        <p14:creationId xmlns:p14="http://schemas.microsoft.com/office/powerpoint/2010/main" val="3727272976"/>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t>STRATIFIED CRT</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5" name="TextBox 4">
            <a:extLst>
              <a:ext uri="{FF2B5EF4-FFF2-40B4-BE49-F238E27FC236}">
                <a16:creationId xmlns:a16="http://schemas.microsoft.com/office/drawing/2014/main" id="{18096CD6-D772-4681-9D30-813B7276E392}"/>
              </a:ext>
            </a:extLst>
          </p:cNvPr>
          <p:cNvSpPr txBox="1"/>
          <p:nvPr/>
        </p:nvSpPr>
        <p:spPr>
          <a:xfrm>
            <a:off x="469557" y="1514607"/>
            <a:ext cx="11467070" cy="4832092"/>
          </a:xfrm>
          <a:prstGeom prst="rect">
            <a:avLst/>
          </a:prstGeom>
          <a:noFill/>
        </p:spPr>
        <p:txBody>
          <a:bodyPr wrap="square">
            <a:spAutoFit/>
          </a:bodyPr>
          <a:lstStyle/>
          <a:p>
            <a:r>
              <a:rPr lang="en-US" altLang="en-US" sz="2800" b="1" dirty="0"/>
              <a:t>Example:</a:t>
            </a:r>
          </a:p>
          <a:p>
            <a:endParaRPr lang="en-US" altLang="en-US" sz="2800" dirty="0"/>
          </a:p>
          <a:p>
            <a:r>
              <a:rPr lang="en-US" altLang="en-US" sz="2800" dirty="0"/>
              <a:t>To evaluate the effectiveness of treated nasal tissues versus placebo tissues in reducing incidence of respiratory illness at 24 weeks.</a:t>
            </a:r>
          </a:p>
          <a:p>
            <a:endParaRPr lang="en-US" altLang="en-US" sz="2800" dirty="0"/>
          </a:p>
          <a:p>
            <a:r>
              <a:rPr lang="en-US" altLang="en-US" sz="2800" i="1" dirty="0">
                <a:latin typeface="Times New Roman" pitchFamily="18" charset="0"/>
              </a:rPr>
              <a:t>Unit of Randomization</a:t>
            </a:r>
            <a:r>
              <a:rPr lang="en-US" altLang="en-US" sz="2800" dirty="0"/>
              <a:t>:				Family</a:t>
            </a:r>
          </a:p>
          <a:p>
            <a:r>
              <a:rPr lang="en-US" altLang="en-US" sz="2800" i="1" dirty="0">
                <a:latin typeface="Times New Roman" pitchFamily="18" charset="0"/>
              </a:rPr>
              <a:t>Number of Strata</a:t>
            </a:r>
            <a:r>
              <a:rPr lang="en-US" altLang="en-US" sz="2800" dirty="0"/>
              <a:t>:					3</a:t>
            </a:r>
          </a:p>
          <a:p>
            <a:r>
              <a:rPr lang="en-US" altLang="en-US" sz="2800" i="1" dirty="0">
                <a:latin typeface="Times New Roman" pitchFamily="18" charset="0"/>
              </a:rPr>
              <a:t>Number of Clusters per Stratum:		</a:t>
            </a:r>
            <a:r>
              <a:rPr lang="en-US" altLang="en-US" sz="2800" dirty="0">
                <a:sym typeface="Arial" pitchFamily="34" charset="0"/>
              </a:rPr>
              <a:t>30</a:t>
            </a:r>
            <a:endParaRPr lang="en-US" altLang="en-US" sz="2800" dirty="0"/>
          </a:p>
          <a:p>
            <a:r>
              <a:rPr lang="en-US" altLang="en-US" sz="2800" i="1" dirty="0">
                <a:latin typeface="Times New Roman" pitchFamily="18" charset="0"/>
              </a:rPr>
              <a:t>Stratification Variable</a:t>
            </a:r>
            <a:r>
              <a:rPr lang="en-US" altLang="en-US" sz="2800" dirty="0"/>
              <a:t>: 				Family size (2, 3, or 4 members)</a:t>
            </a:r>
          </a:p>
          <a:p>
            <a:endParaRPr lang="en-US" altLang="en-US" sz="2800" dirty="0"/>
          </a:p>
          <a:p>
            <a:pPr algn="r"/>
            <a:r>
              <a:rPr lang="en-US" altLang="en-US" sz="2800" dirty="0"/>
              <a:t>Farr et al. (1988)</a:t>
            </a:r>
            <a:endParaRPr lang="en-CA" altLang="en-US" sz="2800" dirty="0"/>
          </a:p>
        </p:txBody>
      </p:sp>
      <p:sp>
        <p:nvSpPr>
          <p:cNvPr id="2" name="Footer Placeholder 1">
            <a:extLst>
              <a:ext uri="{FF2B5EF4-FFF2-40B4-BE49-F238E27FC236}">
                <a16:creationId xmlns:a16="http://schemas.microsoft.com/office/drawing/2014/main" id="{B56E8809-CDCE-9F4C-89BF-DF645DAA68B9}"/>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8B635B29-F6E0-58F1-02A5-1F63198DCF78}"/>
              </a:ext>
            </a:extLst>
          </p:cNvPr>
          <p:cNvSpPr>
            <a:spLocks noGrp="1"/>
          </p:cNvSpPr>
          <p:nvPr>
            <p:ph type="sldNum" sz="quarter" idx="12"/>
          </p:nvPr>
        </p:nvSpPr>
        <p:spPr/>
        <p:txBody>
          <a:bodyPr/>
          <a:lstStyle/>
          <a:p>
            <a:fld id="{77C6A7FE-225D-49F1-B302-AA37EA92BB49}" type="slidenum">
              <a:rPr lang="en-US" smtClean="0"/>
              <a:t>75</a:t>
            </a:fld>
            <a:endParaRPr lang="en-US"/>
          </a:p>
        </p:txBody>
      </p:sp>
    </p:spTree>
    <p:extLst>
      <p:ext uri="{BB962C8B-B14F-4D97-AF65-F5344CB8AC3E}">
        <p14:creationId xmlns:p14="http://schemas.microsoft.com/office/powerpoint/2010/main" val="1650238305"/>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b="1" dirty="0">
                <a:effectLst/>
                <a:latin typeface="Arial" panose="020B0604020202020204" pitchFamily="34" charset="0"/>
                <a:cs typeface="Arial" panose="020B0604020202020204" pitchFamily="34" charset="0"/>
              </a:rPr>
              <a:t>Features of the Stratified Design</a:t>
            </a:r>
            <a:endParaRPr lang="en-US" sz="2800" dirty="0">
              <a:solidFill>
                <a:schemeClr val="bg1"/>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366AF5A-A150-4B5F-A86A-C74B27CDE10C}"/>
                  </a:ext>
                </a:extLst>
              </p:cNvPr>
              <p:cNvSpPr txBox="1"/>
              <p:nvPr/>
            </p:nvSpPr>
            <p:spPr>
              <a:xfrm>
                <a:off x="1223319" y="1971410"/>
                <a:ext cx="9996616" cy="3108543"/>
              </a:xfrm>
              <a:prstGeom prst="rect">
                <a:avLst/>
              </a:prstGeom>
              <a:noFill/>
            </p:spPr>
            <p:txBody>
              <a:bodyPr wrap="square">
                <a:spAutoFit/>
              </a:bodyPr>
              <a:lstStyle/>
              <a:p>
                <a:pPr marL="609600" indent="-609600" eaLnBrk="1" hangingPunct="1">
                  <a:buClr>
                    <a:schemeClr val="tx1"/>
                  </a:buClr>
                  <a:buSzPct val="100000"/>
                  <a:buFont typeface="Wingdings" pitchFamily="2" charset="2"/>
                  <a:buBlip>
                    <a:blip r:embed="rId4"/>
                  </a:buBlip>
                </a:pPr>
                <a:r>
                  <a:rPr lang="en-US" altLang="en-US" sz="2800" dirty="0">
                    <a:latin typeface="Arial" pitchFamily="34" charset="0"/>
                  </a:rPr>
                  <a:t>Provides some control in the design on factors known to be related to outcome. Imbalances on remaining variables can be adjusted for statistically.</a:t>
                </a:r>
              </a:p>
              <a:p>
                <a:pPr marL="609600" indent="-609600" eaLnBrk="1" hangingPunct="1">
                  <a:buClr>
                    <a:schemeClr val="tx1"/>
                  </a:buClr>
                  <a:buSzPct val="100000"/>
                  <a:buFont typeface="Wingdings" pitchFamily="2" charset="2"/>
                  <a:buBlip>
                    <a:blip r:embed="rId4"/>
                  </a:buBlip>
                </a:pPr>
                <a:endParaRPr lang="en-US" altLang="en-US" sz="2800" dirty="0">
                  <a:latin typeface="Arial" pitchFamily="34" charset="0"/>
                </a:endParaRPr>
              </a:p>
              <a:p>
                <a:pPr marL="609600" indent="-609600" eaLnBrk="1" hangingPunct="1">
                  <a:buClr>
                    <a:schemeClr val="tx1"/>
                  </a:buClr>
                  <a:buSzPct val="100000"/>
                  <a:buFont typeface="Wingdings" pitchFamily="2" charset="2"/>
                  <a:buBlip>
                    <a:blip r:embed="rId4"/>
                  </a:buBlip>
                </a:pPr>
                <a:r>
                  <a:rPr lang="en-US" altLang="en-US" sz="2800" dirty="0">
                    <a:latin typeface="Arial" pitchFamily="34" charset="0"/>
                  </a:rPr>
                  <a:t>Permits an estimate of </a:t>
                </a:r>
                <a14:m>
                  <m:oMath xmlns:m="http://schemas.openxmlformats.org/officeDocument/2006/math">
                    <m:r>
                      <a:rPr lang="en-US" sz="2800" i="1" smtClean="0">
                        <a:solidFill>
                          <a:srgbClr val="000000"/>
                        </a:solidFill>
                        <a:latin typeface="Cambria Math" panose="02040503050406030204" pitchFamily="18" charset="0"/>
                      </a:rPr>
                      <m:t>𝜌</m:t>
                    </m:r>
                  </m:oMath>
                </a14:m>
                <a:r>
                  <a:rPr lang="en-US" altLang="en-US" sz="2800" dirty="0">
                    <a:latin typeface="Arial" pitchFamily="34" charset="0"/>
                  </a:rPr>
                  <a:t> to be computed without the need to assume homogeneity of intervention effects</a:t>
                </a:r>
              </a:p>
              <a:p>
                <a:pPr marL="609600" indent="-609600" eaLnBrk="1" hangingPunct="1">
                  <a:buClr>
                    <a:schemeClr val="tx1"/>
                  </a:buClr>
                  <a:buSzPct val="100000"/>
                  <a:buFont typeface="Wingdings" pitchFamily="2" charset="2"/>
                  <a:buBlip>
                    <a:blip r:embed="rId4"/>
                  </a:buBlip>
                </a:pPr>
                <a:endParaRPr lang="en-US" altLang="en-US" sz="2800" dirty="0">
                  <a:latin typeface="Arial" pitchFamily="34" charset="0"/>
                </a:endParaRPr>
              </a:p>
            </p:txBody>
          </p:sp>
        </mc:Choice>
        <mc:Fallback xmlns="">
          <p:sp>
            <p:nvSpPr>
              <p:cNvPr id="5" name="TextBox 4">
                <a:extLst>
                  <a:ext uri="{FF2B5EF4-FFF2-40B4-BE49-F238E27FC236}">
                    <a16:creationId xmlns:a16="http://schemas.microsoft.com/office/drawing/2014/main" id="{1366AF5A-A150-4B5F-A86A-C74B27CDE10C}"/>
                  </a:ext>
                </a:extLst>
              </p:cNvPr>
              <p:cNvSpPr txBox="1">
                <a:spLocks noRot="1" noChangeAspect="1" noMove="1" noResize="1" noEditPoints="1" noAdjustHandles="1" noChangeArrowheads="1" noChangeShapeType="1" noTextEdit="1"/>
              </p:cNvSpPr>
              <p:nvPr/>
            </p:nvSpPr>
            <p:spPr>
              <a:xfrm>
                <a:off x="1223319" y="1971410"/>
                <a:ext cx="9996616" cy="3108543"/>
              </a:xfrm>
              <a:prstGeom prst="rect">
                <a:avLst/>
              </a:prstGeom>
              <a:blipFill>
                <a:blip r:embed="rId5"/>
                <a:stretch>
                  <a:fillRect t="-1961" r="-1646"/>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32B332B4-4C52-F545-B3A0-05D186C77A49}"/>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815E3588-6EF1-44E4-20F6-134323D3DA7E}"/>
              </a:ext>
            </a:extLst>
          </p:cNvPr>
          <p:cNvSpPr>
            <a:spLocks noGrp="1"/>
          </p:cNvSpPr>
          <p:nvPr>
            <p:ph type="sldNum" sz="quarter" idx="12"/>
          </p:nvPr>
        </p:nvSpPr>
        <p:spPr/>
        <p:txBody>
          <a:bodyPr/>
          <a:lstStyle/>
          <a:p>
            <a:fld id="{77C6A7FE-225D-49F1-B302-AA37EA92BB49}" type="slidenum">
              <a:rPr lang="en-US" smtClean="0"/>
              <a:t>76</a:t>
            </a:fld>
            <a:endParaRPr lang="en-US"/>
          </a:p>
        </p:txBody>
      </p:sp>
    </p:spTree>
    <p:extLst>
      <p:ext uri="{BB962C8B-B14F-4D97-AF65-F5344CB8AC3E}">
        <p14:creationId xmlns:p14="http://schemas.microsoft.com/office/powerpoint/2010/main" val="1367941185"/>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i="1" dirty="0"/>
              <a:t>Examples</a:t>
            </a:r>
            <a:r>
              <a:rPr lang="en-US" sz="4400" b="1" dirty="0"/>
              <a:t>:</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5" name="TextBox 4">
            <a:extLst>
              <a:ext uri="{FF2B5EF4-FFF2-40B4-BE49-F238E27FC236}">
                <a16:creationId xmlns:a16="http://schemas.microsoft.com/office/drawing/2014/main" id="{2CAD3853-C0C5-41E3-A181-1A5EB9111EC4}"/>
              </a:ext>
            </a:extLst>
          </p:cNvPr>
          <p:cNvSpPr txBox="1"/>
          <p:nvPr/>
        </p:nvSpPr>
        <p:spPr>
          <a:xfrm>
            <a:off x="864972" y="2058138"/>
            <a:ext cx="10280822" cy="3539430"/>
          </a:xfrm>
          <a:prstGeom prst="rect">
            <a:avLst/>
          </a:prstGeom>
          <a:noFill/>
        </p:spPr>
        <p:txBody>
          <a:bodyPr wrap="square">
            <a:spAutoFit/>
          </a:bodyPr>
          <a:lstStyle/>
          <a:p>
            <a:pPr>
              <a:tabLst>
                <a:tab pos="3654425" algn="l"/>
                <a:tab pos="4519613" algn="l"/>
              </a:tabLst>
            </a:pPr>
            <a:r>
              <a:rPr lang="en-US" altLang="en-US" sz="3200" b="1" dirty="0"/>
              <a:t>Study Purpose:</a:t>
            </a:r>
          </a:p>
          <a:p>
            <a:pPr>
              <a:tabLst>
                <a:tab pos="3654425" algn="l"/>
                <a:tab pos="4519613" algn="l"/>
              </a:tabLst>
            </a:pPr>
            <a:endParaRPr lang="en-US" altLang="en-US" sz="3200" dirty="0"/>
          </a:p>
          <a:p>
            <a:pPr>
              <a:tabLst>
                <a:tab pos="3654425" algn="l"/>
                <a:tab pos="4519613" algn="l"/>
              </a:tabLst>
            </a:pPr>
            <a:r>
              <a:rPr lang="en-US" altLang="en-US" sz="3200" dirty="0"/>
              <a:t>The purpose of the WHO antenatal trial was to compare the impact of two programs of antenatal care on the health of mothers and newborns.</a:t>
            </a:r>
          </a:p>
          <a:p>
            <a:pPr>
              <a:tabLst>
                <a:tab pos="3654425" algn="l"/>
                <a:tab pos="4519613" algn="l"/>
              </a:tabLst>
            </a:pPr>
            <a:endParaRPr lang="en-US" altLang="en-US" sz="3200" dirty="0"/>
          </a:p>
          <a:p>
            <a:pPr>
              <a:tabLst>
                <a:tab pos="3654425" algn="l"/>
                <a:tab pos="4519613" algn="l"/>
              </a:tabLst>
            </a:pPr>
            <a:r>
              <a:rPr lang="en-US" altLang="en-US" sz="3200" i="1" dirty="0">
                <a:latin typeface="Times New Roman" pitchFamily="18" charset="0"/>
              </a:rPr>
              <a:t>Unit of Randomization</a:t>
            </a:r>
            <a:r>
              <a:rPr lang="en-US" altLang="en-US" sz="3200" dirty="0"/>
              <a:t>:	Antenatal care clinic</a:t>
            </a:r>
          </a:p>
        </p:txBody>
      </p:sp>
      <p:sp>
        <p:nvSpPr>
          <p:cNvPr id="2" name="Footer Placeholder 1">
            <a:extLst>
              <a:ext uri="{FF2B5EF4-FFF2-40B4-BE49-F238E27FC236}">
                <a16:creationId xmlns:a16="http://schemas.microsoft.com/office/drawing/2014/main" id="{C874D844-7EAC-AF41-90BF-E93D7DC070B3}"/>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76FDDA68-9233-F6D4-D932-91EA787B9A2E}"/>
              </a:ext>
            </a:extLst>
          </p:cNvPr>
          <p:cNvSpPr>
            <a:spLocks noGrp="1"/>
          </p:cNvSpPr>
          <p:nvPr>
            <p:ph type="sldNum" sz="quarter" idx="12"/>
          </p:nvPr>
        </p:nvSpPr>
        <p:spPr/>
        <p:txBody>
          <a:bodyPr/>
          <a:lstStyle/>
          <a:p>
            <a:fld id="{77C6A7FE-225D-49F1-B302-AA37EA92BB49}" type="slidenum">
              <a:rPr lang="en-US" smtClean="0"/>
              <a:t>77</a:t>
            </a:fld>
            <a:endParaRPr lang="en-US"/>
          </a:p>
        </p:txBody>
      </p:sp>
    </p:spTree>
    <p:extLst>
      <p:ext uri="{BB962C8B-B14F-4D97-AF65-F5344CB8AC3E}">
        <p14:creationId xmlns:p14="http://schemas.microsoft.com/office/powerpoint/2010/main" val="260691561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i="1" dirty="0">
                <a:latin typeface="Arial" panose="020B0604020202020204" pitchFamily="34" charset="0"/>
                <a:cs typeface="Arial" panose="020B0604020202020204" pitchFamily="34" charset="0"/>
              </a:rPr>
              <a:t>Examples</a:t>
            </a:r>
            <a:r>
              <a:rPr lang="en-US" sz="4400" b="1" dirty="0">
                <a:latin typeface="Arial" panose="020B0604020202020204" pitchFamily="34" charset="0"/>
                <a:cs typeface="Arial" panose="020B0604020202020204" pitchFamily="34" charset="0"/>
              </a:rPr>
              <a:t>: (cont.)</a:t>
            </a:r>
            <a:endParaRPr lang="en-US" sz="2800" dirty="0">
              <a:solidFill>
                <a:schemeClr val="bg1"/>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graphicFrame>
        <p:nvGraphicFramePr>
          <p:cNvPr id="2" name="Table 2">
            <a:extLst>
              <a:ext uri="{FF2B5EF4-FFF2-40B4-BE49-F238E27FC236}">
                <a16:creationId xmlns:a16="http://schemas.microsoft.com/office/drawing/2014/main" id="{71AA3D62-257A-4BD6-AA5C-609450CEE74E}"/>
              </a:ext>
            </a:extLst>
          </p:cNvPr>
          <p:cNvGraphicFramePr>
            <a:graphicFrameLocks noGrp="1"/>
          </p:cNvGraphicFramePr>
          <p:nvPr>
            <p:extLst>
              <p:ext uri="{D42A27DB-BD31-4B8C-83A1-F6EECF244321}">
                <p14:modId xmlns:p14="http://schemas.microsoft.com/office/powerpoint/2010/main" val="384889773"/>
              </p:ext>
            </p:extLst>
          </p:nvPr>
        </p:nvGraphicFramePr>
        <p:xfrm>
          <a:off x="864972" y="1687298"/>
          <a:ext cx="10462056" cy="3108960"/>
        </p:xfrm>
        <a:graphic>
          <a:graphicData uri="http://schemas.openxmlformats.org/drawingml/2006/table">
            <a:tbl>
              <a:tblPr firstRow="1" bandRow="1">
                <a:tableStyleId>{5C22544A-7EE6-4342-B048-85BDC9FD1C3A}</a:tableStyleId>
              </a:tblPr>
              <a:tblGrid>
                <a:gridCol w="4522574">
                  <a:extLst>
                    <a:ext uri="{9D8B030D-6E8A-4147-A177-3AD203B41FA5}">
                      <a16:colId xmlns:a16="http://schemas.microsoft.com/office/drawing/2014/main" val="3638620691"/>
                    </a:ext>
                  </a:extLst>
                </a:gridCol>
                <a:gridCol w="5939482">
                  <a:extLst>
                    <a:ext uri="{9D8B030D-6E8A-4147-A177-3AD203B41FA5}">
                      <a16:colId xmlns:a16="http://schemas.microsoft.com/office/drawing/2014/main" val="1623182483"/>
                    </a:ext>
                  </a:extLst>
                </a:gridCol>
              </a:tblGrid>
              <a:tr h="370840">
                <a:tc>
                  <a:txBody>
                    <a:bodyPr/>
                    <a:lstStyle/>
                    <a:p>
                      <a:r>
                        <a:rPr lang="en-US" altLang="en-US" sz="3200" b="0" i="1" dirty="0">
                          <a:solidFill>
                            <a:schemeClr val="tx1"/>
                          </a:solidFill>
                          <a:latin typeface="Times New Roman" pitchFamily="18" charset="0"/>
                        </a:rPr>
                        <a:t>Stratification Variables</a:t>
                      </a:r>
                      <a:r>
                        <a:rPr lang="en-US" altLang="en-US" sz="3200" b="0" dirty="0">
                          <a:solidFill>
                            <a:schemeClr val="tx1"/>
                          </a:solidFill>
                        </a:rPr>
                        <a:t>:</a:t>
                      </a:r>
                      <a:endParaRPr lang="en-US" sz="3200" b="0" dirty="0">
                        <a:solidFill>
                          <a:schemeClr val="tx1"/>
                        </a:solidFill>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3200" b="0" dirty="0">
                          <a:solidFill>
                            <a:schemeClr val="tx1"/>
                          </a:solidFill>
                        </a:rPr>
                        <a:t>Primary stratification was by country: Thailand, Cuba, Argentina, Saudi Arabia.</a:t>
                      </a:r>
                    </a:p>
                    <a:p>
                      <a:endParaRPr lang="en-US" sz="3200" b="0" dirty="0">
                        <a:solidFill>
                          <a:schemeClr val="tx1"/>
                        </a:solidFill>
                      </a:endParaRPr>
                    </a:p>
                  </a:txBody>
                  <a:tcPr>
                    <a:solidFill>
                      <a:schemeClr val="bg1"/>
                    </a:solidFill>
                  </a:tcPr>
                </a:tc>
                <a:extLst>
                  <a:ext uri="{0D108BD9-81ED-4DB2-BD59-A6C34878D82A}">
                    <a16:rowId xmlns:a16="http://schemas.microsoft.com/office/drawing/2014/main" val="1230143463"/>
                  </a:ext>
                </a:extLst>
              </a:tr>
              <a:tr h="370840">
                <a:tc>
                  <a:txBody>
                    <a:bodyPr/>
                    <a:lstStyle/>
                    <a:p>
                      <a:pPr>
                        <a:tabLst>
                          <a:tab pos="3189288" algn="l"/>
                        </a:tabLst>
                      </a:pPr>
                      <a:r>
                        <a:rPr lang="en-US" altLang="en-US" sz="3200" i="1" dirty="0">
                          <a:solidFill>
                            <a:schemeClr val="tx1"/>
                          </a:solidFill>
                          <a:latin typeface="Times New Roman" pitchFamily="18" charset="0"/>
                        </a:rPr>
                        <a:t>Number of</a:t>
                      </a:r>
                    </a:p>
                    <a:p>
                      <a:pPr>
                        <a:tabLst>
                          <a:tab pos="3189288" algn="l"/>
                        </a:tabLst>
                      </a:pPr>
                      <a:r>
                        <a:rPr lang="en-US" altLang="en-US" sz="3200" i="1" dirty="0">
                          <a:solidFill>
                            <a:schemeClr val="tx1"/>
                          </a:solidFill>
                          <a:latin typeface="Times New Roman" pitchFamily="18" charset="0"/>
                        </a:rPr>
                        <a:t>Clusters per Stratum</a:t>
                      </a:r>
                      <a:r>
                        <a:rPr lang="en-US" altLang="en-US" sz="3200" dirty="0">
                          <a:solidFill>
                            <a:schemeClr val="tx1"/>
                          </a:solidFill>
                        </a:rPr>
                        <a:t>:</a:t>
                      </a:r>
                      <a:endParaRPr lang="en-US" sz="3200" dirty="0">
                        <a:solidFill>
                          <a:schemeClr val="tx1"/>
                        </a:solidFill>
                      </a:endParaRPr>
                    </a:p>
                  </a:txBody>
                  <a:tcPr>
                    <a:solidFill>
                      <a:schemeClr val="bg1"/>
                    </a:solidFill>
                  </a:tcPr>
                </a:tc>
                <a:tc>
                  <a:txBody>
                    <a:bodyPr/>
                    <a:lstStyle/>
                    <a:p>
                      <a:r>
                        <a:rPr lang="en-US" altLang="en-US" sz="3200" dirty="0">
                          <a:solidFill>
                            <a:schemeClr val="tx1"/>
                          </a:solidFill>
                        </a:rPr>
                        <a:t>Ranged from 12 to 17.</a:t>
                      </a:r>
                      <a:endParaRPr lang="en-US" sz="3200" dirty="0">
                        <a:solidFill>
                          <a:schemeClr val="tx1"/>
                        </a:solidFill>
                      </a:endParaRPr>
                    </a:p>
                  </a:txBody>
                  <a:tcPr anchor="b">
                    <a:solidFill>
                      <a:schemeClr val="bg1"/>
                    </a:solidFill>
                  </a:tcPr>
                </a:tc>
                <a:extLst>
                  <a:ext uri="{0D108BD9-81ED-4DB2-BD59-A6C34878D82A}">
                    <a16:rowId xmlns:a16="http://schemas.microsoft.com/office/drawing/2014/main" val="2293897172"/>
                  </a:ext>
                </a:extLst>
              </a:tr>
            </a:tbl>
          </a:graphicData>
        </a:graphic>
      </p:graphicFrame>
      <p:sp>
        <p:nvSpPr>
          <p:cNvPr id="7" name="TextBox 6">
            <a:extLst>
              <a:ext uri="{FF2B5EF4-FFF2-40B4-BE49-F238E27FC236}">
                <a16:creationId xmlns:a16="http://schemas.microsoft.com/office/drawing/2014/main" id="{B1710987-E811-4523-B7B1-A27E89182074}"/>
              </a:ext>
            </a:extLst>
          </p:cNvPr>
          <p:cNvSpPr txBox="1"/>
          <p:nvPr/>
        </p:nvSpPr>
        <p:spPr>
          <a:xfrm>
            <a:off x="4432986" y="5412944"/>
            <a:ext cx="6098058" cy="584775"/>
          </a:xfrm>
          <a:prstGeom prst="rect">
            <a:avLst/>
          </a:prstGeom>
          <a:noFill/>
        </p:spPr>
        <p:txBody>
          <a:bodyPr wrap="square">
            <a:spAutoFit/>
          </a:bodyPr>
          <a:lstStyle/>
          <a:p>
            <a:pPr algn="r">
              <a:tabLst>
                <a:tab pos="3189288" algn="l"/>
              </a:tabLst>
            </a:pPr>
            <a:r>
              <a:rPr lang="en-US" altLang="en-US" sz="3200" dirty="0"/>
              <a:t>Villar et al. (2001)</a:t>
            </a:r>
            <a:endParaRPr lang="en-CA" altLang="en-US" sz="3200" dirty="0"/>
          </a:p>
        </p:txBody>
      </p:sp>
      <p:sp>
        <p:nvSpPr>
          <p:cNvPr id="3" name="Footer Placeholder 2">
            <a:extLst>
              <a:ext uri="{FF2B5EF4-FFF2-40B4-BE49-F238E27FC236}">
                <a16:creationId xmlns:a16="http://schemas.microsoft.com/office/drawing/2014/main" id="{B0939F80-D2E1-BC4D-8E3C-D030B781B44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FCF1889-2D51-C410-210A-0440EAB7A638}"/>
              </a:ext>
            </a:extLst>
          </p:cNvPr>
          <p:cNvSpPr>
            <a:spLocks noGrp="1"/>
          </p:cNvSpPr>
          <p:nvPr>
            <p:ph type="sldNum" sz="quarter" idx="12"/>
          </p:nvPr>
        </p:nvSpPr>
        <p:spPr/>
        <p:txBody>
          <a:bodyPr/>
          <a:lstStyle/>
          <a:p>
            <a:fld id="{77C6A7FE-225D-49F1-B302-AA37EA92BB49}" type="slidenum">
              <a:rPr lang="en-US" smtClean="0"/>
              <a:t>78</a:t>
            </a:fld>
            <a:endParaRPr lang="en-US"/>
          </a:p>
        </p:txBody>
      </p:sp>
    </p:spTree>
    <p:extLst>
      <p:ext uri="{BB962C8B-B14F-4D97-AF65-F5344CB8AC3E}">
        <p14:creationId xmlns:p14="http://schemas.microsoft.com/office/powerpoint/2010/main" val="393637386"/>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0"/>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800" b="1" dirty="0">
                <a:effectLst/>
                <a:latin typeface="Arial" panose="020B0604020202020204" pitchFamily="34" charset="0"/>
                <a:cs typeface="Arial" panose="020B0604020202020204" pitchFamily="34" charset="0"/>
              </a:rPr>
              <a:t>Features of Stratified and Matched Pair CRTs</a:t>
            </a:r>
            <a:endParaRPr lang="en-US" sz="1600" dirty="0">
              <a:solidFill>
                <a:schemeClr val="bg1"/>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500D652-2853-4D2C-AA67-9C7936313996}"/>
                  </a:ext>
                </a:extLst>
              </p:cNvPr>
              <p:cNvSpPr txBox="1"/>
              <p:nvPr/>
            </p:nvSpPr>
            <p:spPr>
              <a:xfrm>
                <a:off x="532888" y="1640521"/>
                <a:ext cx="10773545" cy="4716932"/>
              </a:xfrm>
              <a:prstGeom prst="rect">
                <a:avLst/>
              </a:prstGeom>
              <a:noFill/>
            </p:spPr>
            <p:txBody>
              <a:bodyPr wrap="square">
                <a:spAutoFit/>
              </a:bodyPr>
              <a:lstStyle/>
              <a:p>
                <a:pPr>
                  <a:spcAft>
                    <a:spcPts val="1200"/>
                  </a:spcAft>
                  <a:buClr>
                    <a:schemeClr val="tx1"/>
                  </a:buClr>
                  <a:buSzPct val="100000"/>
                  <a:buBlip>
                    <a:blip r:embed="rId4"/>
                  </a:buBlip>
                  <a:defRPr/>
                </a:pPr>
                <a:r>
                  <a:rPr lang="en-US" altLang="en-US" sz="2800" dirty="0">
                    <a:solidFill>
                      <a:schemeClr val="tx1"/>
                    </a:solidFill>
                    <a:latin typeface="Arial" pitchFamily="34" charset="0"/>
                  </a:rPr>
                  <a:t>Decreasing the number of strata while increasing the number of clusters per stratum tends to reduce the closeness of the matching but increases the power to estimate </a:t>
                </a:r>
                <a14:m>
                  <m:oMath xmlns:m="http://schemas.openxmlformats.org/officeDocument/2006/math">
                    <m:sSubSup>
                      <m:sSubSupPr>
                        <m:ctrlPr>
                          <a:rPr lang="en-US" sz="2800" i="1">
                            <a:latin typeface="Cambria Math" panose="02040503050406030204" pitchFamily="18" charset="0"/>
                          </a:rPr>
                        </m:ctrlPr>
                      </m:sSubSupPr>
                      <m:e>
                        <m:r>
                          <a:rPr lang="en-US" sz="2800" i="1">
                            <a:latin typeface="Cambria Math" panose="02040503050406030204" pitchFamily="18" charset="0"/>
                          </a:rPr>
                          <m:t>𝜎</m:t>
                        </m:r>
                      </m:e>
                      <m:sub>
                        <m:r>
                          <a:rPr lang="en-US" sz="2800" i="1">
                            <a:latin typeface="Cambria Math" panose="02040503050406030204" pitchFamily="18" charset="0"/>
                          </a:rPr>
                          <m:t>𝐵</m:t>
                        </m:r>
                      </m:sub>
                      <m:sup>
                        <m:r>
                          <a:rPr lang="en-US" sz="2800" i="1">
                            <a:latin typeface="Cambria Math" panose="02040503050406030204" pitchFamily="18" charset="0"/>
                          </a:rPr>
                          <m:t>2</m:t>
                        </m:r>
                      </m:sup>
                    </m:sSubSup>
                  </m:oMath>
                </a14:m>
                <a:r>
                  <a:rPr lang="en-US" altLang="en-US" sz="2800" dirty="0">
                    <a:latin typeface="Arial" pitchFamily="34" charset="0"/>
                  </a:rPr>
                  <a:t>  and </a:t>
                </a:r>
                <a14:m>
                  <m:oMath xmlns:m="http://schemas.openxmlformats.org/officeDocument/2006/math">
                    <m:sSubSup>
                      <m:sSubSupPr>
                        <m:ctrlPr>
                          <a:rPr lang="en-US" sz="2800" i="1">
                            <a:latin typeface="Cambria Math" panose="02040503050406030204" pitchFamily="18" charset="0"/>
                          </a:rPr>
                        </m:ctrlPr>
                      </m:sSubSupPr>
                      <m:e>
                        <m:r>
                          <a:rPr lang="en-US" sz="2800" i="1">
                            <a:latin typeface="Cambria Math" panose="02040503050406030204" pitchFamily="18" charset="0"/>
                          </a:rPr>
                          <m:t>𝜎</m:t>
                        </m:r>
                      </m:e>
                      <m:sub>
                        <m:r>
                          <a:rPr lang="en-US" sz="2800" i="1">
                            <a:latin typeface="Cambria Math" panose="02040503050406030204" pitchFamily="18" charset="0"/>
                          </a:rPr>
                          <m:t>𝑊</m:t>
                        </m:r>
                      </m:sub>
                      <m:sup>
                        <m:r>
                          <a:rPr lang="en-US" sz="2800" i="1">
                            <a:latin typeface="Cambria Math" panose="02040503050406030204" pitchFamily="18" charset="0"/>
                          </a:rPr>
                          <m:t>2</m:t>
                        </m:r>
                      </m:sup>
                    </m:sSubSup>
                  </m:oMath>
                </a14:m>
                <a:r>
                  <a:rPr lang="en-US" altLang="en-US" sz="2800" dirty="0">
                    <a:latin typeface="Arial" pitchFamily="34" charset="0"/>
                  </a:rPr>
                  <a:t>, and hence the ICC.</a:t>
                </a:r>
              </a:p>
              <a:p>
                <a:pPr>
                  <a:spcAft>
                    <a:spcPts val="1200"/>
                  </a:spcAft>
                  <a:buClr>
                    <a:schemeClr val="tx1"/>
                  </a:buClr>
                  <a:buSzPct val="100000"/>
                  <a:buBlip>
                    <a:blip r:embed="rId4"/>
                  </a:buBlip>
                  <a:defRPr/>
                </a:pPr>
                <a:endParaRPr lang="en-US" altLang="en-US" sz="2800" dirty="0">
                  <a:solidFill>
                    <a:schemeClr val="tx1"/>
                  </a:solidFill>
                  <a:latin typeface="Arial" pitchFamily="34" charset="0"/>
                </a:endParaRPr>
              </a:p>
              <a:p>
                <a:pPr eaLnBrk="1" hangingPunct="1">
                  <a:spcAft>
                    <a:spcPts val="1200"/>
                  </a:spcAft>
                  <a:buClr>
                    <a:schemeClr val="tx1"/>
                  </a:buClr>
                  <a:buSzPct val="100000"/>
                  <a:buFont typeface="Wingdings" pitchFamily="2" charset="2"/>
                  <a:buBlip>
                    <a:blip r:embed="rId4"/>
                  </a:buBlip>
                  <a:defRPr/>
                </a:pPr>
                <a:r>
                  <a:rPr lang="en-US" altLang="en-US" sz="2800" dirty="0">
                    <a:solidFill>
                      <a:schemeClr val="tx1"/>
                    </a:solidFill>
                    <a:latin typeface="Arial" pitchFamily="34" charset="0"/>
                  </a:rPr>
                  <a:t>When the number of pairs is fairly large (&gt;20) in a matched pair design, it may be difficult to create matches that represent distinct rather than similar levels of risk across all strata.  In this case, stratification with two or more clusters assigned </a:t>
                </a:r>
                <a:r>
                  <a:rPr lang="en-US" altLang="en-US" sz="2800" dirty="0">
                    <a:latin typeface="Arial" pitchFamily="34" charset="0"/>
                  </a:rPr>
                  <a:t>to each treatment within strata may be preferable.</a:t>
                </a:r>
              </a:p>
            </p:txBody>
          </p:sp>
        </mc:Choice>
        <mc:Fallback xmlns="">
          <p:sp>
            <p:nvSpPr>
              <p:cNvPr id="5" name="TextBox 4">
                <a:extLst>
                  <a:ext uri="{FF2B5EF4-FFF2-40B4-BE49-F238E27FC236}">
                    <a16:creationId xmlns:a16="http://schemas.microsoft.com/office/drawing/2014/main" id="{B500D652-2853-4D2C-AA67-9C7936313996}"/>
                  </a:ext>
                </a:extLst>
              </p:cNvPr>
              <p:cNvSpPr txBox="1">
                <a:spLocks noRot="1" noChangeAspect="1" noMove="1" noResize="1" noEditPoints="1" noAdjustHandles="1" noChangeArrowheads="1" noChangeShapeType="1" noTextEdit="1"/>
              </p:cNvSpPr>
              <p:nvPr/>
            </p:nvSpPr>
            <p:spPr>
              <a:xfrm>
                <a:off x="532888" y="1640521"/>
                <a:ext cx="10773545" cy="4716932"/>
              </a:xfrm>
              <a:prstGeom prst="rect">
                <a:avLst/>
              </a:prstGeom>
              <a:blipFill>
                <a:blip r:embed="rId5"/>
                <a:stretch>
                  <a:fillRect l="-1131" t="-1292" r="-1131" b="-2584"/>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8D28B0D9-97D6-3540-A54F-9D0B21772745}"/>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92546C8B-709C-E8D7-D93E-A52DDA1CB46C}"/>
              </a:ext>
            </a:extLst>
          </p:cNvPr>
          <p:cNvSpPr>
            <a:spLocks noGrp="1"/>
          </p:cNvSpPr>
          <p:nvPr>
            <p:ph type="sldNum" sz="quarter" idx="12"/>
          </p:nvPr>
        </p:nvSpPr>
        <p:spPr/>
        <p:txBody>
          <a:bodyPr/>
          <a:lstStyle/>
          <a:p>
            <a:fld id="{77C6A7FE-225D-49F1-B302-AA37EA92BB49}" type="slidenum">
              <a:rPr lang="en-US" smtClean="0"/>
              <a:t>79</a:t>
            </a:fld>
            <a:endParaRPr lang="en-US"/>
          </a:p>
        </p:txBody>
      </p:sp>
    </p:spTree>
    <p:extLst>
      <p:ext uri="{BB962C8B-B14F-4D97-AF65-F5344CB8AC3E}">
        <p14:creationId xmlns:p14="http://schemas.microsoft.com/office/powerpoint/2010/main" val="415019395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Analysis Strategies for CRTs</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2" name="Footer Placeholder 1">
            <a:extLst>
              <a:ext uri="{FF2B5EF4-FFF2-40B4-BE49-F238E27FC236}">
                <a16:creationId xmlns:a16="http://schemas.microsoft.com/office/drawing/2014/main" id="{B04209C6-071E-7649-8DCD-BD91088563FB}"/>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2A3E9D7B-6840-BD9D-7E6A-7113DE94F78C}"/>
              </a:ext>
            </a:extLst>
          </p:cNvPr>
          <p:cNvSpPr>
            <a:spLocks noGrp="1"/>
          </p:cNvSpPr>
          <p:nvPr>
            <p:ph type="sldNum" sz="quarter" idx="12"/>
          </p:nvPr>
        </p:nvSpPr>
        <p:spPr/>
        <p:txBody>
          <a:bodyPr/>
          <a:lstStyle/>
          <a:p>
            <a:fld id="{77C6A7FE-225D-49F1-B302-AA37EA92BB49}" type="slidenum">
              <a:rPr lang="en-US" smtClean="0"/>
              <a:t>80</a:t>
            </a:fld>
            <a:endParaRPr lang="en-US"/>
          </a:p>
        </p:txBody>
      </p:sp>
    </p:spTree>
    <p:extLst>
      <p:ext uri="{BB962C8B-B14F-4D97-AF65-F5344CB8AC3E}">
        <p14:creationId xmlns:p14="http://schemas.microsoft.com/office/powerpoint/2010/main" val="3383335121"/>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30"/>
            <a:ext cx="12192000" cy="1458715"/>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Conducting Cluster Level Analyses when Data are Available at the Individual Level</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2" name="TextBox 1">
            <a:extLst>
              <a:ext uri="{FF2B5EF4-FFF2-40B4-BE49-F238E27FC236}">
                <a16:creationId xmlns:a16="http://schemas.microsoft.com/office/drawing/2014/main" id="{E840C80B-7A30-4033-A3C1-0E42E273F8AF}"/>
              </a:ext>
            </a:extLst>
          </p:cNvPr>
          <p:cNvSpPr txBox="1"/>
          <p:nvPr/>
        </p:nvSpPr>
        <p:spPr>
          <a:xfrm>
            <a:off x="209550" y="1642643"/>
            <a:ext cx="11772900" cy="4832092"/>
          </a:xfrm>
          <a:prstGeom prst="rect">
            <a:avLst/>
          </a:prstGeom>
          <a:noFill/>
        </p:spPr>
        <p:txBody>
          <a:bodyPr wrap="square" rtlCol="0">
            <a:spAutoFit/>
          </a:bodyPr>
          <a:lstStyle/>
          <a:p>
            <a:pPr>
              <a:buFontTx/>
              <a:buBlip>
                <a:blip r:embed="rId4"/>
              </a:buBlip>
              <a:tabLst>
                <a:tab pos="465138" algn="l"/>
                <a:tab pos="908050" algn="l"/>
              </a:tabLst>
            </a:pPr>
            <a:r>
              <a:rPr lang="en-US" altLang="en-US" sz="2800" dirty="0"/>
              <a:t>A method of simplifying the analysis is to collapse the data in each cluster, followed by construction of a meaningful summary measure to serve as the unit of analysis, e.g. the difference of the means in the two intervention groups.</a:t>
            </a:r>
          </a:p>
          <a:p>
            <a:pPr>
              <a:buFontTx/>
              <a:buBlip>
                <a:blip r:embed="rId4"/>
              </a:buBlip>
              <a:tabLst>
                <a:tab pos="465138" algn="l"/>
                <a:tab pos="908050" algn="l"/>
              </a:tabLst>
            </a:pPr>
            <a:endParaRPr lang="en-US" altLang="en-US" sz="2800" dirty="0"/>
          </a:p>
          <a:p>
            <a:pPr>
              <a:buFontTx/>
              <a:buBlip>
                <a:blip r:embed="rId4"/>
              </a:buBlip>
              <a:tabLst>
                <a:tab pos="465138" algn="l"/>
                <a:tab pos="908050" algn="l"/>
              </a:tabLst>
            </a:pPr>
            <a:r>
              <a:rPr lang="en-US" altLang="en-US" sz="2800" dirty="0"/>
              <a:t> 	Standard statistical methods, such as t-tests or 	permutation tests, can then be directly applied to the collapsed measures.</a:t>
            </a:r>
          </a:p>
          <a:p>
            <a:pPr>
              <a:tabLst>
                <a:tab pos="465138" algn="l"/>
                <a:tab pos="908050" algn="l"/>
              </a:tabLst>
            </a:pPr>
            <a:endParaRPr lang="en-US" altLang="en-US" sz="2800" dirty="0"/>
          </a:p>
          <a:p>
            <a:pPr>
              <a:buFontTx/>
              <a:buBlip>
                <a:blip r:embed="rId4"/>
              </a:buBlip>
              <a:tabLst>
                <a:tab pos="465138" algn="l"/>
                <a:tab pos="908050" algn="l"/>
              </a:tabLst>
            </a:pPr>
            <a:r>
              <a:rPr lang="en-US" altLang="en-US" sz="2800" dirty="0"/>
              <a:t> Given sufficient cluster sizes, the problem of non-independence is removed since subsequent significance tests and  confidence intervals are based on variation between cluster summary values rather than on variation between individuals.</a:t>
            </a:r>
            <a:endParaRPr lang="en-CA" altLang="en-US" sz="2800" dirty="0"/>
          </a:p>
        </p:txBody>
      </p:sp>
      <p:sp>
        <p:nvSpPr>
          <p:cNvPr id="3" name="Footer Placeholder 2">
            <a:extLst>
              <a:ext uri="{FF2B5EF4-FFF2-40B4-BE49-F238E27FC236}">
                <a16:creationId xmlns:a16="http://schemas.microsoft.com/office/drawing/2014/main" id="{22471CF7-7816-3D4F-9F77-0A98E85A2C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5DF937A-D018-B77A-C453-CB70C54E7A7B}"/>
              </a:ext>
            </a:extLst>
          </p:cNvPr>
          <p:cNvSpPr>
            <a:spLocks noGrp="1"/>
          </p:cNvSpPr>
          <p:nvPr>
            <p:ph type="sldNum" sz="quarter" idx="12"/>
          </p:nvPr>
        </p:nvSpPr>
        <p:spPr/>
        <p:txBody>
          <a:bodyPr/>
          <a:lstStyle/>
          <a:p>
            <a:fld id="{77C6A7FE-225D-49F1-B302-AA37EA92BB49}" type="slidenum">
              <a:rPr lang="en-US" smtClean="0"/>
              <a:t>81</a:t>
            </a:fld>
            <a:endParaRPr lang="en-US"/>
          </a:p>
        </p:txBody>
      </p:sp>
    </p:spTree>
    <p:extLst>
      <p:ext uri="{BB962C8B-B14F-4D97-AF65-F5344CB8AC3E}">
        <p14:creationId xmlns:p14="http://schemas.microsoft.com/office/powerpoint/2010/main" val="627015481"/>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AF16B7C-926E-3042-A7D6-CE31BAE51945}"/>
              </a:ext>
            </a:extLst>
          </p:cNvPr>
          <p:cNvSpPr/>
          <p:nvPr/>
        </p:nvSpPr>
        <p:spPr>
          <a:xfrm>
            <a:off x="0" y="-18030"/>
            <a:ext cx="12192000" cy="138691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Cluster level analysis for means</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5E88539-C9D0-F44E-B647-E9F19475D1EF}"/>
                  </a:ext>
                </a:extLst>
              </p:cNvPr>
              <p:cNvSpPr txBox="1"/>
              <p:nvPr/>
            </p:nvSpPr>
            <p:spPr>
              <a:xfrm>
                <a:off x="182880" y="1623060"/>
                <a:ext cx="12009119" cy="5014311"/>
              </a:xfrm>
              <a:prstGeom prst="rect">
                <a:avLst/>
              </a:prstGeom>
              <a:noFill/>
            </p:spPr>
            <p:txBody>
              <a:bodyPr wrap="square" rtlCol="0">
                <a:spAutoFit/>
              </a:bodyPr>
              <a:lstStyle/>
              <a:p>
                <a:pPr marL="285750" indent="-285750">
                  <a:buFont typeface="Arial" panose="020B0604020202020204" pitchFamily="34" charset="0"/>
                  <a:buChar char="•"/>
                </a:pPr>
                <a:r>
                  <a:rPr lang="en-US" sz="2400" dirty="0"/>
                  <a:t>The standard </a:t>
                </a:r>
                <a14:m>
                  <m:oMath xmlns:m="http://schemas.openxmlformats.org/officeDocument/2006/math">
                    <m:sSup>
                      <m:sSupPr>
                        <m:ctrlPr>
                          <a:rPr lang="en-US" sz="2400" i="1" smtClean="0">
                            <a:latin typeface="Cambria Math" panose="02040503050406030204" pitchFamily="18" charset="0"/>
                          </a:rPr>
                        </m:ctrlPr>
                      </m:sSupPr>
                      <m:e>
                        <m:r>
                          <a:rPr lang="en-US" sz="2400" i="1" smtClean="0">
                            <a:latin typeface="Cambria Math" panose="02040503050406030204" pitchFamily="18" charset="0"/>
                            <a:ea typeface="Cambria Math" panose="02040503050406030204" pitchFamily="18" charset="0"/>
                          </a:rPr>
                          <m:t>𝜒</m:t>
                        </m:r>
                      </m:e>
                      <m:sup>
                        <m:r>
                          <a:rPr lang="en-US" sz="2400" b="0" i="1" smtClean="0">
                            <a:latin typeface="Cambria Math" panose="02040503050406030204" pitchFamily="18" charset="0"/>
                          </a:rPr>
                          <m:t>2</m:t>
                        </m:r>
                      </m:sup>
                    </m:sSup>
                  </m:oMath>
                </a14:m>
                <a:r>
                  <a:rPr lang="en-US" sz="2400" dirty="0"/>
                  <a:t> test for the difference between two sample means takes the form</a:t>
                </a:r>
              </a:p>
              <a:p>
                <a:pPr marL="285750" indent="-285750">
                  <a:buFont typeface="Arial" panose="020B0604020202020204" pitchFamily="34" charset="0"/>
                  <a:buChar char="•"/>
                </a:pPr>
                <a:endParaRPr lang="en-US" sz="2400" dirty="0"/>
              </a:p>
              <a:p>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𝑍</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nary>
                              <m:naryPr>
                                <m:chr m:val="∑"/>
                                <m:ctrlPr>
                                  <a:rPr lang="en-US" altLang="zh-CN" sz="2400" i="1">
                                    <a:latin typeface="Cambria Math" panose="02040503050406030204" pitchFamily="18" charset="0"/>
                                  </a:rPr>
                                </m:ctrlPr>
                              </m:naryPr>
                              <m:sub>
                                <m:r>
                                  <m:rPr>
                                    <m:brk m:alnAt="23"/>
                                  </m:rPr>
                                  <a:rPr lang="en-US" altLang="zh-CN" sz="2400" i="1">
                                    <a:latin typeface="Cambria Math" panose="02040503050406030204" pitchFamily="18" charset="0"/>
                                  </a:rPr>
                                  <m:t>𝑘</m:t>
                                </m:r>
                                <m:r>
                                  <a:rPr lang="en-US" altLang="zh-CN" sz="2400" i="1">
                                    <a:latin typeface="Cambria Math" panose="02040503050406030204" pitchFamily="18" charset="0"/>
                                  </a:rPr>
                                  <m:t>=1</m:t>
                                </m:r>
                              </m:sub>
                              <m:sup>
                                <m:r>
                                  <a:rPr lang="en-US" altLang="zh-CN" sz="2400" i="1">
                                    <a:latin typeface="Cambria Math" panose="02040503050406030204" pitchFamily="18" charset="0"/>
                                  </a:rPr>
                                  <m:t>𝐾</m:t>
                                </m:r>
                              </m:sup>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b="0" i="1" smtClean="0">
                                        <a:latin typeface="Cambria Math" panose="02040503050406030204" pitchFamily="18" charset="0"/>
                                      </a:rPr>
                                      <m:t>2</m:t>
                                    </m:r>
                                    <m:r>
                                      <a:rPr lang="en-US" altLang="zh-CN" sz="2400" i="1">
                                        <a:latin typeface="Cambria Math" panose="02040503050406030204" pitchFamily="18" charset="0"/>
                                      </a:rPr>
                                      <m:t>𝑘</m:t>
                                    </m:r>
                                  </m:sub>
                                </m:sSub>
                              </m:e>
                            </m:nary>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𝑌</m:t>
                                    </m:r>
                                  </m:e>
                                </m:acc>
                              </m:e>
                              <m:sub>
                                <m:r>
                                  <a:rPr lang="en-US" sz="2400" b="0" i="1" smtClean="0">
                                    <a:latin typeface="Cambria Math" panose="02040503050406030204" pitchFamily="18" charset="0"/>
                                  </a:rPr>
                                  <m:t>2</m:t>
                                </m:r>
                                <m:r>
                                  <a:rPr lang="en-US" sz="2400" i="1">
                                    <a:latin typeface="Cambria Math" panose="02040503050406030204" pitchFamily="18" charset="0"/>
                                  </a:rPr>
                                  <m:t>𝑘</m:t>
                                </m:r>
                              </m:sub>
                            </m:sSub>
                            <m:r>
                              <a:rPr lang="en-US" sz="2400" i="1">
                                <a:latin typeface="Cambria Math" panose="02040503050406030204" pitchFamily="18" charset="0"/>
                              </a:rPr>
                              <m:t>−</m:t>
                            </m:r>
                            <m:nary>
                              <m:naryPr>
                                <m:chr m:val="∑"/>
                                <m:limLoc m:val="subSup"/>
                                <m:ctrlPr>
                                  <a:rPr lang="en-US" sz="2400" i="1" smtClean="0">
                                    <a:latin typeface="Cambria Math" panose="02040503050406030204" pitchFamily="18" charset="0"/>
                                  </a:rPr>
                                </m:ctrlPr>
                              </m:naryPr>
                              <m:sub>
                                <m:r>
                                  <m:rPr>
                                    <m:brk m:alnAt="25"/>
                                  </m:rPr>
                                  <a:rPr lang="en-US" sz="2400" b="0" i="1" smtClean="0">
                                    <a:latin typeface="Cambria Math" panose="02040503050406030204" pitchFamily="18" charset="0"/>
                                  </a:rPr>
                                  <m:t>𝑘</m:t>
                                </m:r>
                                <m:r>
                                  <a:rPr lang="en-US" sz="2400" b="0" i="1" smtClean="0">
                                    <a:latin typeface="Cambria Math" panose="02040503050406030204" pitchFamily="18" charset="0"/>
                                  </a:rPr>
                                  <m:t>=1</m:t>
                                </m:r>
                              </m:sub>
                              <m:sup>
                                <m:r>
                                  <a:rPr lang="en-US" sz="2400" b="0" i="1" smtClean="0">
                                    <a:latin typeface="Cambria Math" panose="02040503050406030204" pitchFamily="18" charset="0"/>
                                  </a:rPr>
                                  <m:t>𝐾</m:t>
                                </m:r>
                              </m:sup>
                              <m:e>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1</m:t>
                                    </m:r>
                                    <m:r>
                                      <a:rPr lang="en-US" sz="2400" i="1">
                                        <a:latin typeface="Cambria Math" panose="02040503050406030204" pitchFamily="18" charset="0"/>
                                      </a:rPr>
                                      <m:t>𝑘</m:t>
                                    </m:r>
                                  </m:sub>
                                </m:sSub>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𝑌</m:t>
                                        </m:r>
                                      </m:e>
                                    </m:acc>
                                  </m:e>
                                  <m:sub>
                                    <m:r>
                                      <a:rPr lang="en-US" sz="2400" i="1">
                                        <a:latin typeface="Cambria Math" panose="02040503050406030204" pitchFamily="18" charset="0"/>
                                      </a:rPr>
                                      <m:t>1</m:t>
                                    </m:r>
                                    <m:r>
                                      <a:rPr lang="en-US" sz="2400" i="1">
                                        <a:latin typeface="Cambria Math" panose="02040503050406030204" pitchFamily="18" charset="0"/>
                                      </a:rPr>
                                      <m:t>𝑘</m:t>
                                    </m:r>
                                  </m:sub>
                                </m:sSub>
                              </m:e>
                            </m:nary>
                            <m:r>
                              <a:rPr lang="en-US" sz="2400" b="0" i="1" smtClean="0">
                                <a:latin typeface="Cambria Math" panose="02040503050406030204" pitchFamily="18" charset="0"/>
                              </a:rPr>
                              <m:t>)</m:t>
                            </m:r>
                          </m:e>
                          <m:sup>
                            <m:r>
                              <a:rPr lang="en-US" sz="2400" b="0" i="1" smtClean="0">
                                <a:latin typeface="Cambria Math" panose="02040503050406030204" pitchFamily="18" charset="0"/>
                              </a:rPr>
                              <m:t>2</m:t>
                            </m:r>
                          </m:sup>
                        </m:sSup>
                      </m:num>
                      <m:den>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=1</m:t>
                            </m:r>
                          </m:sub>
                          <m:sup>
                            <m:r>
                              <a:rPr lang="en-US" sz="2400" b="0" i="1" smtClean="0">
                                <a:latin typeface="Cambria Math" panose="02040503050406030204" pitchFamily="18" charset="0"/>
                              </a:rPr>
                              <m:t>2</m:t>
                            </m:r>
                          </m:sup>
                          <m:e>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𝑘</m:t>
                                </m:r>
                                <m:r>
                                  <a:rPr lang="en-US" sz="2400" b="0" i="1" smtClean="0">
                                    <a:latin typeface="Cambria Math" panose="02040503050406030204" pitchFamily="18" charset="0"/>
                                  </a:rPr>
                                  <m:t>=1</m:t>
                                </m:r>
                              </m:sub>
                              <m:sup>
                                <m:r>
                                  <a:rPr lang="en-US" sz="2400" b="0" i="1" smtClean="0">
                                    <a:latin typeface="Cambria Math" panose="02040503050406030204" pitchFamily="18" charset="0"/>
                                  </a:rPr>
                                  <m:t>𝐾</m:t>
                                </m:r>
                              </m:sup>
                              <m:e>
                                <m:r>
                                  <a:rPr lang="en-US" sz="2400" b="0" i="1" smtClean="0">
                                    <a:latin typeface="Cambria Math" panose="02040503050406030204" pitchFamily="18" charset="0"/>
                                  </a:rPr>
                                  <m:t>𝑉𝑎𝑟</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𝑖𝑘</m:t>
                                    </m:r>
                                  </m:sub>
                                </m:sSub>
                                <m:sSub>
                                  <m:sSubPr>
                                    <m:ctrlPr>
                                      <a:rPr lang="en-US" sz="2400" b="0" i="1" smtClean="0">
                                        <a:latin typeface="Cambria Math" panose="02040503050406030204" pitchFamily="18" charset="0"/>
                                      </a:rPr>
                                    </m:ctrlPr>
                                  </m:sSub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𝑌</m:t>
                                        </m:r>
                                      </m:e>
                                    </m:acc>
                                  </m:e>
                                  <m:sub>
                                    <m:r>
                                      <a:rPr lang="en-US" sz="2400" b="0" i="1" smtClean="0">
                                        <a:latin typeface="Cambria Math" panose="02040503050406030204" pitchFamily="18" charset="0"/>
                                      </a:rPr>
                                      <m:t>𝑖𝑘</m:t>
                                    </m:r>
                                  </m:sub>
                                </m:sSub>
                                <m:r>
                                  <a:rPr lang="en-US" sz="2400" b="0" i="1" smtClean="0">
                                    <a:latin typeface="Cambria Math" panose="02040503050406030204" pitchFamily="18" charset="0"/>
                                  </a:rPr>
                                  <m:t>)</m:t>
                                </m:r>
                              </m:e>
                            </m:nary>
                          </m:e>
                        </m:nary>
                      </m:den>
                    </m:f>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𝜒</m:t>
                        </m:r>
                      </m:e>
                      <m:sup>
                        <m:r>
                          <a:rPr lang="en-US" sz="2400" b="0" i="1" smtClean="0">
                            <a:latin typeface="Cambria Math" panose="02040503050406030204" pitchFamily="18" charset="0"/>
                            <a:ea typeface="Cambria Math" panose="02040503050406030204" pitchFamily="18" charset="0"/>
                          </a:rPr>
                          <m:t>2</m:t>
                        </m:r>
                      </m:sup>
                    </m:sSup>
                    <m:r>
                      <a:rPr lang="en-US" sz="2400" b="0" i="1" smtClean="0">
                        <a:latin typeface="Cambria Math" panose="02040503050406030204" pitchFamily="18" charset="0"/>
                        <a:ea typeface="Cambria Math" panose="02040503050406030204" pitchFamily="18" charset="0"/>
                      </a:rPr>
                      <m:t>(1)</m:t>
                    </m:r>
                  </m:oMath>
                </a14:m>
                <a:r>
                  <a:rPr lang="en-US" sz="2400" dirty="0"/>
                  <a:t> under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𝐻</m:t>
                        </m:r>
                      </m:e>
                      <m:sub>
                        <m:r>
                          <a:rPr lang="en-US" sz="2400" b="0" i="1" smtClean="0">
                            <a:latin typeface="Cambria Math" panose="02040503050406030204" pitchFamily="18" charset="0"/>
                          </a:rPr>
                          <m:t>0</m:t>
                        </m:r>
                      </m:sub>
                    </m:sSub>
                  </m:oMath>
                </a14:m>
                <a:r>
                  <a:rPr lang="en-US" sz="2400" dirty="0"/>
                  <a:t>,</a:t>
                </a:r>
              </a:p>
              <a:p>
                <a:endParaRPr lang="en-US" sz="2400" dirty="0"/>
              </a:p>
              <a:p>
                <a:r>
                  <a:rPr lang="en-US" sz="2400" dirty="0"/>
                  <a:t>where </a:t>
                </a:r>
                <a14:m>
                  <m:oMath xmlns:m="http://schemas.openxmlformats.org/officeDocument/2006/math">
                    <m:sSub>
                      <m:sSubPr>
                        <m:ctrlPr>
                          <a:rPr lang="en-US" sz="2400" i="1" smtClean="0">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𝑌</m:t>
                            </m:r>
                          </m:e>
                        </m:acc>
                      </m:e>
                      <m:sub>
                        <m:r>
                          <a:rPr lang="en-US" sz="2400" b="0" i="1" smtClean="0">
                            <a:latin typeface="Cambria Math" panose="02040503050406030204" pitchFamily="18" charset="0"/>
                          </a:rPr>
                          <m:t>𝑖</m:t>
                        </m:r>
                        <m:r>
                          <a:rPr lang="en-US" sz="2400" i="1">
                            <a:latin typeface="Cambria Math" panose="02040503050406030204" pitchFamily="18" charset="0"/>
                          </a:rPr>
                          <m:t>𝑘</m:t>
                        </m:r>
                      </m:sub>
                    </m:sSub>
                  </m:oMath>
                </a14:m>
                <a:r>
                  <a:rPr lang="en-US" sz="2400" dirty="0"/>
                  <a:t> is the mean of cluster </a:t>
                </a:r>
                <a14:m>
                  <m:oMath xmlns:m="http://schemas.openxmlformats.org/officeDocument/2006/math">
                    <m:r>
                      <a:rPr lang="en-US" sz="2400" i="1" dirty="0" smtClean="0">
                        <a:latin typeface="Cambria Math" panose="02040503050406030204" pitchFamily="18" charset="0"/>
                      </a:rPr>
                      <m:t>𝑘</m:t>
                    </m:r>
                  </m:oMath>
                </a14:m>
                <a:r>
                  <a:rPr lang="en-US" sz="2400" dirty="0"/>
                  <a:t> in group </a:t>
                </a:r>
                <a14:m>
                  <m:oMath xmlns:m="http://schemas.openxmlformats.org/officeDocument/2006/math">
                    <m:r>
                      <a:rPr lang="en-US" sz="2400" i="1" dirty="0" smtClean="0">
                        <a:latin typeface="Cambria Math" panose="02040503050406030204" pitchFamily="18" charset="0"/>
                      </a:rPr>
                      <m:t>𝑖</m:t>
                    </m:r>
                  </m:oMath>
                </a14:m>
                <a:r>
                  <a:rPr lang="en-US" sz="2400" dirty="0"/>
                  <a:t>, and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𝑖𝑘</m:t>
                        </m:r>
                      </m:sub>
                    </m:sSub>
                    <m:r>
                      <a:rPr lang="en-US" sz="2400" i="1">
                        <a:latin typeface="Cambria Math" panose="02040503050406030204" pitchFamily="18" charset="0"/>
                      </a:rPr>
                      <m:t>=</m:t>
                    </m:r>
                    <m:f>
                      <m:fPr>
                        <m:ctrlPr>
                          <a:rPr lang="en-US" sz="2400" i="1">
                            <a:latin typeface="Cambria Math" panose="02040503050406030204" pitchFamily="18" charset="0"/>
                          </a:rPr>
                        </m:ctrlPr>
                      </m:fPr>
                      <m:num>
                        <m:sSubSup>
                          <m:sSubSupPr>
                            <m:ctrlPr>
                              <a:rPr lang="en-US" sz="2400" i="1">
                                <a:latin typeface="Cambria Math" panose="02040503050406030204" pitchFamily="18" charset="0"/>
                              </a:rPr>
                            </m:ctrlPr>
                          </m:sSubSupPr>
                          <m:e>
                            <m:r>
                              <a:rPr lang="en-US" sz="2400" i="1">
                                <a:latin typeface="Cambria Math" panose="02040503050406030204" pitchFamily="18" charset="0"/>
                              </a:rPr>
                              <m:t>1/</m:t>
                            </m:r>
                            <m:r>
                              <a:rPr lang="en-US" sz="2400" i="1">
                                <a:latin typeface="Cambria Math" panose="02040503050406030204" pitchFamily="18" charset="0"/>
                                <a:ea typeface="Cambria Math" panose="02040503050406030204" pitchFamily="18" charset="0"/>
                              </a:rPr>
                              <m:t>𝜎</m:t>
                            </m:r>
                          </m:e>
                          <m:sub>
                            <m:r>
                              <a:rPr lang="en-US" sz="2400" i="1">
                                <a:latin typeface="Cambria Math" panose="02040503050406030204" pitchFamily="18" charset="0"/>
                              </a:rPr>
                              <m:t>𝑖𝑘</m:t>
                            </m:r>
                          </m:sub>
                          <m:sup>
                            <m:r>
                              <a:rPr lang="en-US" sz="2400" i="1">
                                <a:latin typeface="Cambria Math" panose="02040503050406030204" pitchFamily="18" charset="0"/>
                              </a:rPr>
                              <m:t>2</m:t>
                            </m:r>
                          </m:sup>
                        </m:sSubSup>
                      </m:num>
                      <m:den>
                        <m:nary>
                          <m:naryPr>
                            <m:chr m:val="∑"/>
                            <m:ctrlPr>
                              <a:rPr lang="en-US" sz="2400" i="1">
                                <a:latin typeface="Cambria Math" panose="02040503050406030204" pitchFamily="18" charset="0"/>
                              </a:rPr>
                            </m:ctrlPr>
                          </m:naryPr>
                          <m:sub>
                            <m:r>
                              <m:rPr>
                                <m:brk m:alnAt="23"/>
                              </m:rPr>
                              <a:rPr lang="en-US" sz="2400" i="1">
                                <a:latin typeface="Cambria Math" panose="02040503050406030204" pitchFamily="18" charset="0"/>
                              </a:rPr>
                              <m:t>𝑘</m:t>
                            </m:r>
                            <m:r>
                              <a:rPr lang="en-US" sz="2400" i="1">
                                <a:latin typeface="Cambria Math" panose="02040503050406030204" pitchFamily="18" charset="0"/>
                              </a:rPr>
                              <m:t>=1</m:t>
                            </m:r>
                          </m:sub>
                          <m:sup>
                            <m:r>
                              <a:rPr lang="en-US" sz="2400" i="1">
                                <a:latin typeface="Cambria Math" panose="02040503050406030204" pitchFamily="18" charset="0"/>
                              </a:rPr>
                              <m:t>𝐾</m:t>
                            </m:r>
                          </m:sup>
                          <m:e>
                            <m:sSubSup>
                              <m:sSubSupPr>
                                <m:ctrlPr>
                                  <a:rPr lang="en-US" sz="2400" i="1">
                                    <a:latin typeface="Cambria Math" panose="02040503050406030204" pitchFamily="18" charset="0"/>
                                  </a:rPr>
                                </m:ctrlPr>
                              </m:sSubSupPr>
                              <m:e>
                                <m:r>
                                  <a:rPr lang="en-US" sz="2400" i="1">
                                    <a:latin typeface="Cambria Math" panose="02040503050406030204" pitchFamily="18" charset="0"/>
                                  </a:rPr>
                                  <m:t>1/</m:t>
                                </m:r>
                                <m:r>
                                  <a:rPr lang="en-US" sz="2400" i="1">
                                    <a:latin typeface="Cambria Math" panose="02040503050406030204" pitchFamily="18" charset="0"/>
                                    <a:ea typeface="Cambria Math" panose="02040503050406030204" pitchFamily="18" charset="0"/>
                                  </a:rPr>
                                  <m:t>𝜎</m:t>
                                </m:r>
                              </m:e>
                              <m:sub>
                                <m:r>
                                  <a:rPr lang="en-US" sz="2400" i="1">
                                    <a:latin typeface="Cambria Math" panose="02040503050406030204" pitchFamily="18" charset="0"/>
                                  </a:rPr>
                                  <m:t>𝑖𝑘</m:t>
                                </m:r>
                              </m:sub>
                              <m:sup>
                                <m:r>
                                  <a:rPr lang="en-US" sz="2400" i="1">
                                    <a:latin typeface="Cambria Math" panose="02040503050406030204" pitchFamily="18" charset="0"/>
                                  </a:rPr>
                                  <m:t>2</m:t>
                                </m:r>
                              </m:sup>
                            </m:sSubSup>
                          </m:e>
                        </m:nary>
                      </m:den>
                    </m:f>
                  </m:oMath>
                </a14:m>
                <a:r>
                  <a:rPr lang="en-US" sz="2400" dirty="0"/>
                  <a:t>, where </a:t>
                </a:r>
                <a14:m>
                  <m:oMath xmlns:m="http://schemas.openxmlformats.org/officeDocument/2006/math">
                    <m:sSubSup>
                      <m:sSubSupPr>
                        <m:ctrlPr>
                          <a:rPr lang="en-US" sz="2400" i="1">
                            <a:latin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𝜎</m:t>
                        </m:r>
                      </m:e>
                      <m:sub>
                        <m:r>
                          <a:rPr lang="en-US" sz="2400" i="1">
                            <a:latin typeface="Cambria Math" panose="02040503050406030204" pitchFamily="18" charset="0"/>
                          </a:rPr>
                          <m:t>𝑖𝑘</m:t>
                        </m:r>
                      </m:sub>
                      <m:sup>
                        <m:r>
                          <a:rPr lang="en-US" sz="2400" i="1">
                            <a:latin typeface="Cambria Math" panose="02040503050406030204" pitchFamily="18" charset="0"/>
                          </a:rPr>
                          <m:t>2</m:t>
                        </m:r>
                      </m:sup>
                    </m:sSubSup>
                    <m:r>
                      <a:rPr lang="en-US" sz="2400" i="1">
                        <a:latin typeface="Cambria Math" panose="02040503050406030204" pitchFamily="18" charset="0"/>
                      </a:rPr>
                      <m:t>=</m:t>
                    </m:r>
                    <m:r>
                      <a:rPr lang="en-US" sz="2400" i="1">
                        <a:latin typeface="Cambria Math" panose="02040503050406030204" pitchFamily="18" charset="0"/>
                      </a:rPr>
                      <m:t>𝑉𝑎𝑟</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𝑌</m:t>
                                </m:r>
                              </m:e>
                            </m:acc>
                          </m:e>
                          <m:sub>
                            <m:r>
                              <a:rPr lang="en-US" sz="2400" i="1">
                                <a:latin typeface="Cambria Math" panose="02040503050406030204" pitchFamily="18" charset="0"/>
                              </a:rPr>
                              <m:t>𝑖𝑘</m:t>
                            </m:r>
                          </m:sub>
                        </m:sSub>
                      </m:e>
                    </m:d>
                  </m:oMath>
                </a14:m>
                <a:endParaRPr lang="en-US" sz="2400" dirty="0"/>
              </a:p>
              <a:p>
                <a:endParaRPr lang="en-US" sz="2400" dirty="0"/>
              </a:p>
              <a:p>
                <a:pPr marL="285750" indent="-285750">
                  <a:buFont typeface="Arial" panose="020B0604020202020204" pitchFamily="34" charset="0"/>
                  <a:buChar char="•"/>
                </a:pPr>
                <a:r>
                  <a:rPr lang="en-US" sz="2400" dirty="0"/>
                  <a:t>If </a:t>
                </a:r>
                <a14:m>
                  <m:oMath xmlns:m="http://schemas.openxmlformats.org/officeDocument/2006/math">
                    <m:r>
                      <a:rPr lang="en-US" sz="2400" b="0" i="1" smtClean="0">
                        <a:latin typeface="Cambria Math" panose="02040503050406030204" pitchFamily="18" charset="0"/>
                      </a:rPr>
                      <m:t>𝐾</m:t>
                    </m:r>
                  </m:oMath>
                </a14:m>
                <a:r>
                  <a:rPr lang="en-US" sz="2400" dirty="0"/>
                  <a:t> is small, as is often the case, a more accurate finite sample p-value can be obtained by using the two-sided t-test instead,  where under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0</m:t>
                        </m:r>
                      </m:sub>
                    </m:sSub>
                  </m:oMath>
                </a14:m>
                <a:r>
                  <a:rPr lang="en-US" sz="2400" dirty="0"/>
                  <a:t> ,</a:t>
                </a:r>
              </a:p>
              <a:p>
                <a:endParaRPr lang="en-US" sz="2400" dirty="0"/>
              </a:p>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m:t>
                          </m:r>
                          <m:nary>
                            <m:naryPr>
                              <m:chr m:val="∑"/>
                              <m:ctrlPr>
                                <a:rPr lang="en-US" altLang="zh-CN" sz="2400" i="1">
                                  <a:latin typeface="Cambria Math" panose="02040503050406030204" pitchFamily="18" charset="0"/>
                                </a:rPr>
                              </m:ctrlPr>
                            </m:naryPr>
                            <m:sub>
                              <m:r>
                                <m:rPr>
                                  <m:brk m:alnAt="23"/>
                                </m:rPr>
                                <a:rPr lang="en-US" altLang="zh-CN" sz="2400" i="1">
                                  <a:latin typeface="Cambria Math" panose="02040503050406030204" pitchFamily="18" charset="0"/>
                                </a:rPr>
                                <m:t>𝑘</m:t>
                              </m:r>
                              <m:r>
                                <a:rPr lang="en-US" altLang="zh-CN" sz="2400" i="1">
                                  <a:latin typeface="Cambria Math" panose="02040503050406030204" pitchFamily="18" charset="0"/>
                                </a:rPr>
                                <m:t>=1</m:t>
                              </m:r>
                            </m:sub>
                            <m:sup>
                              <m:r>
                                <a:rPr lang="en-US" altLang="zh-CN" sz="2400" i="1">
                                  <a:latin typeface="Cambria Math" panose="02040503050406030204" pitchFamily="18" charset="0"/>
                                </a:rPr>
                                <m:t>𝐾</m:t>
                              </m:r>
                            </m:sup>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b="0" i="1" smtClean="0">
                                      <a:latin typeface="Cambria Math" panose="02040503050406030204" pitchFamily="18" charset="0"/>
                                    </a:rPr>
                                    <m:t>2</m:t>
                                  </m:r>
                                  <m:r>
                                    <a:rPr lang="en-US" altLang="zh-CN" sz="2400" i="1">
                                      <a:latin typeface="Cambria Math" panose="02040503050406030204" pitchFamily="18" charset="0"/>
                                    </a:rPr>
                                    <m:t>𝑘</m:t>
                                  </m:r>
                                </m:sub>
                              </m:sSub>
                            </m:e>
                          </m:nary>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𝑌</m:t>
                                  </m:r>
                                </m:e>
                              </m:acc>
                            </m:e>
                            <m:sub>
                              <m:r>
                                <a:rPr lang="en-US" sz="2400" b="0" i="1" smtClean="0">
                                  <a:latin typeface="Cambria Math" panose="02040503050406030204" pitchFamily="18" charset="0"/>
                                </a:rPr>
                                <m:t>2</m:t>
                              </m:r>
                              <m:r>
                                <a:rPr lang="en-US" sz="2400" i="1">
                                  <a:latin typeface="Cambria Math" panose="02040503050406030204" pitchFamily="18" charset="0"/>
                                </a:rPr>
                                <m:t>𝑘</m:t>
                              </m:r>
                            </m:sub>
                          </m:sSub>
                          <m:r>
                            <a:rPr lang="en-US" sz="2400" i="1">
                              <a:latin typeface="Cambria Math" panose="02040503050406030204" pitchFamily="18" charset="0"/>
                            </a:rPr>
                            <m:t>−</m:t>
                          </m:r>
                          <m:nary>
                            <m:naryPr>
                              <m:chr m:val="∑"/>
                              <m:limLoc m:val="subSup"/>
                              <m:ctrlPr>
                                <a:rPr lang="en-US" sz="2400" i="1">
                                  <a:latin typeface="Cambria Math" panose="02040503050406030204" pitchFamily="18" charset="0"/>
                                </a:rPr>
                              </m:ctrlPr>
                            </m:naryPr>
                            <m:sub>
                              <m:r>
                                <m:rPr>
                                  <m:brk m:alnAt="25"/>
                                </m:rPr>
                                <a:rPr lang="en-US" sz="2400" i="1">
                                  <a:latin typeface="Cambria Math" panose="02040503050406030204" pitchFamily="18" charset="0"/>
                                </a:rPr>
                                <m:t>𝑘</m:t>
                              </m:r>
                              <m:r>
                                <a:rPr lang="en-US" sz="2400" i="1">
                                  <a:latin typeface="Cambria Math" panose="02040503050406030204" pitchFamily="18" charset="0"/>
                                </a:rPr>
                                <m:t>=1</m:t>
                              </m:r>
                            </m:sub>
                            <m:sup>
                              <m:r>
                                <a:rPr lang="en-US" sz="2400" i="1">
                                  <a:latin typeface="Cambria Math" panose="02040503050406030204" pitchFamily="18" charset="0"/>
                                </a:rPr>
                                <m:t>𝐾</m:t>
                              </m:r>
                            </m:sup>
                            <m:e>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1</m:t>
                                  </m:r>
                                  <m:r>
                                    <a:rPr lang="en-US" sz="2400" i="1">
                                      <a:latin typeface="Cambria Math" panose="02040503050406030204" pitchFamily="18" charset="0"/>
                                    </a:rPr>
                                    <m:t>𝑘</m:t>
                                  </m:r>
                                </m:sub>
                              </m:sSub>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𝑌</m:t>
                                      </m:r>
                                    </m:e>
                                  </m:acc>
                                </m:e>
                                <m:sub>
                                  <m:r>
                                    <a:rPr lang="en-US" sz="2400" i="1">
                                      <a:latin typeface="Cambria Math" panose="02040503050406030204" pitchFamily="18" charset="0"/>
                                    </a:rPr>
                                    <m:t>1</m:t>
                                  </m:r>
                                  <m:r>
                                    <a:rPr lang="en-US" sz="2400" i="1">
                                      <a:latin typeface="Cambria Math" panose="02040503050406030204" pitchFamily="18" charset="0"/>
                                    </a:rPr>
                                    <m:t>𝑘</m:t>
                                  </m:r>
                                </m:sub>
                              </m:sSub>
                            </m:e>
                          </m:nary>
                          <m:r>
                            <a:rPr lang="en-US" sz="2400" b="0" i="1" smtClean="0">
                              <a:latin typeface="Cambria Math" panose="02040503050406030204" pitchFamily="18" charset="0"/>
                            </a:rPr>
                            <m:t>|</m:t>
                          </m:r>
                        </m:num>
                        <m:den>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𝑉𝑎𝑟</m:t>
                              </m:r>
                            </m:e>
                            <m:sup>
                              <m:r>
                                <a:rPr lang="en-US" sz="2400" b="0" i="1" smtClean="0">
                                  <a:latin typeface="Cambria Math" panose="02040503050406030204" pitchFamily="18" charset="0"/>
                                </a:rPr>
                                <m:t>1/2</m:t>
                              </m:r>
                            </m:sup>
                          </m:sSup>
                          <m:r>
                            <a:rPr lang="en-US" sz="2400" b="0" i="1" smtClean="0">
                              <a:latin typeface="Cambria Math" panose="02040503050406030204" pitchFamily="18" charset="0"/>
                            </a:rPr>
                            <m:t>(</m:t>
                          </m:r>
                          <m:nary>
                            <m:naryPr>
                              <m:chr m:val="∑"/>
                              <m:ctrlPr>
                                <a:rPr lang="en-US" sz="2400" i="1">
                                  <a:latin typeface="Cambria Math" panose="02040503050406030204" pitchFamily="18" charset="0"/>
                                </a:rPr>
                              </m:ctrlPr>
                            </m:naryPr>
                            <m:sub>
                              <m:r>
                                <m:rPr>
                                  <m:brk m:alnAt="23"/>
                                </m:rPr>
                                <a:rPr lang="en-US" sz="2400" i="1">
                                  <a:latin typeface="Cambria Math" panose="02040503050406030204" pitchFamily="18" charset="0"/>
                                </a:rPr>
                                <m:t>𝑖</m:t>
                              </m:r>
                              <m:r>
                                <a:rPr lang="en-US" sz="2400" i="1">
                                  <a:latin typeface="Cambria Math" panose="02040503050406030204" pitchFamily="18" charset="0"/>
                                </a:rPr>
                                <m:t>=1</m:t>
                              </m:r>
                            </m:sub>
                            <m:sup>
                              <m:r>
                                <a:rPr lang="en-US" sz="2400" i="1">
                                  <a:latin typeface="Cambria Math" panose="02040503050406030204" pitchFamily="18" charset="0"/>
                                </a:rPr>
                                <m:t>2</m:t>
                              </m:r>
                            </m:sup>
                            <m:e>
                              <m:nary>
                                <m:naryPr>
                                  <m:chr m:val="∑"/>
                                  <m:ctrlPr>
                                    <a:rPr lang="en-US" sz="2400" i="1">
                                      <a:latin typeface="Cambria Math" panose="02040503050406030204" pitchFamily="18" charset="0"/>
                                    </a:rPr>
                                  </m:ctrlPr>
                                </m:naryPr>
                                <m:sub>
                                  <m:r>
                                    <m:rPr>
                                      <m:brk m:alnAt="23"/>
                                    </m:rPr>
                                    <a:rPr lang="en-US" sz="2400" i="1">
                                      <a:latin typeface="Cambria Math" panose="02040503050406030204" pitchFamily="18" charset="0"/>
                                    </a:rPr>
                                    <m:t>𝑘</m:t>
                                  </m:r>
                                  <m:r>
                                    <a:rPr lang="en-US" sz="2400" i="1">
                                      <a:latin typeface="Cambria Math" panose="02040503050406030204" pitchFamily="18" charset="0"/>
                                    </a:rPr>
                                    <m:t>=1</m:t>
                                  </m:r>
                                </m:sub>
                                <m:sup>
                                  <m:r>
                                    <a:rPr lang="en-US" sz="2400" i="1">
                                      <a:latin typeface="Cambria Math" panose="02040503050406030204" pitchFamily="18" charset="0"/>
                                    </a:rPr>
                                    <m:t>𝐾</m:t>
                                  </m:r>
                                </m:sup>
                                <m:e>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𝑖𝑘</m:t>
                                      </m:r>
                                    </m:sub>
                                  </m:sSub>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𝑌</m:t>
                                          </m:r>
                                        </m:e>
                                      </m:acc>
                                    </m:e>
                                    <m:sub>
                                      <m:r>
                                        <a:rPr lang="en-US" sz="2400" i="1">
                                          <a:latin typeface="Cambria Math" panose="02040503050406030204" pitchFamily="18" charset="0"/>
                                        </a:rPr>
                                        <m:t>𝑖𝑘</m:t>
                                      </m:r>
                                    </m:sub>
                                  </m:sSub>
                                  <m:r>
                                    <a:rPr lang="en-US" sz="2400" b="0" i="1" smtClean="0">
                                      <a:latin typeface="Cambria Math" panose="02040503050406030204" pitchFamily="18" charset="0"/>
                                    </a:rPr>
                                    <m:t>)</m:t>
                                  </m:r>
                                </m:e>
                              </m:nary>
                            </m:e>
                          </m:nary>
                        </m:den>
                      </m:f>
                      <m:r>
                        <a:rPr lang="en-US" sz="2400" i="1" smtClean="0">
                          <a:latin typeface="Cambria Math" panose="02040503050406030204" pitchFamily="18" charset="0"/>
                          <a:ea typeface="Cambria Math" panose="02040503050406030204" pitchFamily="18" charset="0"/>
                        </a:rPr>
                        <m:t>~</m:t>
                      </m:r>
                      <m:sSub>
                        <m:sSubPr>
                          <m:ctrlPr>
                            <a:rPr lang="en-US" sz="240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𝑡</m:t>
                          </m:r>
                        </m:e>
                        <m:sub>
                          <m:r>
                            <a:rPr lang="en-US" sz="2400" b="0" i="1" smtClean="0">
                              <a:latin typeface="Cambria Math" panose="02040503050406030204" pitchFamily="18" charset="0"/>
                              <a:ea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𝐾</m:t>
                          </m:r>
                          <m:r>
                            <a:rPr lang="en-US" sz="2400" b="0" i="1" smtClean="0">
                              <a:latin typeface="Cambria Math" panose="02040503050406030204" pitchFamily="18" charset="0"/>
                              <a:ea typeface="Cambria Math" panose="02040503050406030204" pitchFamily="18" charset="0"/>
                            </a:rPr>
                            <m:t>−1)</m:t>
                          </m:r>
                        </m:sub>
                      </m:sSub>
                    </m:oMath>
                  </m:oMathPara>
                </a14:m>
                <a:endParaRPr lang="en-US" sz="2400" dirty="0"/>
              </a:p>
            </p:txBody>
          </p:sp>
        </mc:Choice>
        <mc:Fallback xmlns="">
          <p:sp>
            <p:nvSpPr>
              <p:cNvPr id="2" name="TextBox 1">
                <a:extLst>
                  <a:ext uri="{FF2B5EF4-FFF2-40B4-BE49-F238E27FC236}">
                    <a16:creationId xmlns:a16="http://schemas.microsoft.com/office/drawing/2014/main" id="{E5E88539-C9D0-F44E-B647-E9F19475D1EF}"/>
                  </a:ext>
                </a:extLst>
              </p:cNvPr>
              <p:cNvSpPr txBox="1">
                <a:spLocks noRot="1" noChangeAspect="1" noMove="1" noResize="1" noEditPoints="1" noAdjustHandles="1" noChangeArrowheads="1" noChangeShapeType="1" noTextEdit="1"/>
              </p:cNvSpPr>
              <p:nvPr/>
            </p:nvSpPr>
            <p:spPr>
              <a:xfrm>
                <a:off x="182880" y="1623060"/>
                <a:ext cx="12009119" cy="5014311"/>
              </a:xfrm>
              <a:prstGeom prst="rect">
                <a:avLst/>
              </a:prstGeom>
              <a:blipFill>
                <a:blip r:embed="rId2"/>
                <a:stretch>
                  <a:fillRect l="-761" t="-972"/>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403D84F2-C54B-3CDD-7E26-54426D8C99F2}"/>
              </a:ext>
            </a:extLst>
          </p:cNvPr>
          <p:cNvSpPr>
            <a:spLocks noGrp="1"/>
          </p:cNvSpPr>
          <p:nvPr>
            <p:ph type="sldNum" sz="quarter" idx="12"/>
          </p:nvPr>
        </p:nvSpPr>
        <p:spPr/>
        <p:txBody>
          <a:bodyPr/>
          <a:lstStyle/>
          <a:p>
            <a:fld id="{77C6A7FE-225D-49F1-B302-AA37EA92BB49}" type="slidenum">
              <a:rPr lang="en-US" smtClean="0"/>
              <a:t>82</a:t>
            </a:fld>
            <a:endParaRPr lang="en-US"/>
          </a:p>
        </p:txBody>
      </p:sp>
    </p:spTree>
    <p:extLst>
      <p:ext uri="{BB962C8B-B14F-4D97-AF65-F5344CB8AC3E}">
        <p14:creationId xmlns:p14="http://schemas.microsoft.com/office/powerpoint/2010/main" val="270768314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FC5B63D-A7EB-7443-804A-F584581185FC}"/>
              </a:ext>
            </a:extLst>
          </p:cNvPr>
          <p:cNvSpPr/>
          <p:nvPr/>
        </p:nvSpPr>
        <p:spPr>
          <a:xfrm>
            <a:off x="0" y="-18030"/>
            <a:ext cx="12192000" cy="138691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Cluster level analysis for means</a:t>
            </a:r>
          </a:p>
        </p:txBody>
      </p:sp>
      <p:pic>
        <p:nvPicPr>
          <p:cNvPr id="4" name="Picture 3">
            <a:extLst>
              <a:ext uri="{FF2B5EF4-FFF2-40B4-BE49-F238E27FC236}">
                <a16:creationId xmlns:a16="http://schemas.microsoft.com/office/drawing/2014/main" id="{210AC746-8A8C-A34F-B251-80C3455C18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2D875E9-FFC2-D445-B9C9-D02405C06CCD}"/>
                  </a:ext>
                </a:extLst>
              </p:cNvPr>
              <p:cNvSpPr txBox="1"/>
              <p:nvPr/>
            </p:nvSpPr>
            <p:spPr>
              <a:xfrm>
                <a:off x="179743" y="1579419"/>
                <a:ext cx="12191999" cy="4576830"/>
              </a:xfrm>
              <a:prstGeom prst="rect">
                <a:avLst/>
              </a:prstGeom>
              <a:noFill/>
            </p:spPr>
            <p:txBody>
              <a:bodyPr wrap="square" rtlCol="0">
                <a:spAutoFit/>
              </a:bodyPr>
              <a:lstStyle/>
              <a:p>
                <a:pPr marL="285750" indent="-285750">
                  <a:buFont typeface="Arial" panose="020B0604020202020204" pitchFamily="34" charset="0"/>
                  <a:buChar char="•"/>
                </a:pPr>
                <a:r>
                  <a:rPr lang="en-US" sz="2000" dirty="0"/>
                  <a:t>Let </a:t>
                </a:r>
                <a14:m>
                  <m:oMath xmlns:m="http://schemas.openxmlformats.org/officeDocument/2006/math">
                    <m:sSub>
                      <m:sSubPr>
                        <m:ctrlPr>
                          <a:rPr lang="en-US" sz="2000" i="1" smtClean="0">
                            <a:latin typeface="Cambria Math" panose="02040503050406030204" pitchFamily="18" charset="0"/>
                          </a:rPr>
                        </m:ctrlPr>
                      </m:sSubPr>
                      <m:e>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𝑌</m:t>
                            </m:r>
                          </m:e>
                        </m:acc>
                      </m:e>
                      <m:sub>
                        <m:r>
                          <a:rPr lang="en-US" sz="2000" b="0" i="1" smtClean="0">
                            <a:latin typeface="Cambria Math" panose="02040503050406030204" pitchFamily="18" charset="0"/>
                          </a:rPr>
                          <m:t>𝑖𝑘</m:t>
                        </m:r>
                      </m:sub>
                    </m:sSub>
                  </m:oMath>
                </a14:m>
                <a:r>
                  <a:rPr lang="en-US" sz="2000" dirty="0"/>
                  <a:t> denote the outcome mean in the </a:t>
                </a:r>
                <a14:m>
                  <m:oMath xmlns:m="http://schemas.openxmlformats.org/officeDocument/2006/math">
                    <m:r>
                      <a:rPr lang="en-US" sz="2000" i="1" dirty="0" smtClean="0">
                        <a:latin typeface="Cambria Math" panose="02040503050406030204" pitchFamily="18" charset="0"/>
                      </a:rPr>
                      <m:t>𝑘</m:t>
                    </m:r>
                  </m:oMath>
                </a14:m>
                <a:r>
                  <a:rPr lang="en-US" sz="2000" dirty="0"/>
                  <a:t>th cluster in group </a:t>
                </a:r>
                <a14:m>
                  <m:oMath xmlns:m="http://schemas.openxmlformats.org/officeDocument/2006/math">
                    <m:r>
                      <a:rPr lang="en-US" sz="2000" b="0" i="1" smtClean="0">
                        <a:latin typeface="Cambria Math" panose="02040503050406030204" pitchFamily="18" charset="0"/>
                      </a:rPr>
                      <m:t>𝑖</m:t>
                    </m:r>
                  </m:oMath>
                </a14:m>
                <a:r>
                  <a:rPr lang="en-US" sz="2000" dirty="0"/>
                  <a:t>. Let </a:t>
                </a:r>
                <a14:m>
                  <m:oMath xmlns:m="http://schemas.openxmlformats.org/officeDocument/2006/math">
                    <m:sSubSup>
                      <m:sSubSupPr>
                        <m:ctrlPr>
                          <a:rPr lang="en-US" sz="2000" i="1" smtClean="0">
                            <a:latin typeface="Cambria Math" panose="02040503050406030204" pitchFamily="18" charset="0"/>
                          </a:rPr>
                        </m:ctrlPr>
                      </m:sSubSupPr>
                      <m:e>
                        <m:r>
                          <a:rPr lang="en-US" sz="2000" i="1" smtClean="0">
                            <a:latin typeface="Cambria Math" panose="02040503050406030204" pitchFamily="18" charset="0"/>
                            <a:ea typeface="Cambria Math" panose="02040503050406030204" pitchFamily="18" charset="0"/>
                          </a:rPr>
                          <m:t>𝜎</m:t>
                        </m:r>
                      </m:e>
                      <m:sub>
                        <m:r>
                          <a:rPr lang="en-US" sz="2000" b="0" i="1" smtClean="0">
                            <a:latin typeface="Cambria Math" panose="02040503050406030204" pitchFamily="18" charset="0"/>
                          </a:rPr>
                          <m:t>𝑖𝑘</m:t>
                        </m:r>
                      </m:sub>
                      <m:sup>
                        <m:r>
                          <a:rPr lang="en-US" sz="2000" b="0" i="1" smtClean="0">
                            <a:latin typeface="Cambria Math" panose="02040503050406030204" pitchFamily="18" charset="0"/>
                          </a:rPr>
                          <m:t>2</m:t>
                        </m:r>
                      </m:sup>
                    </m:sSubSup>
                    <m:r>
                      <a:rPr lang="en-US" sz="2000" b="0" i="1" smtClean="0">
                        <a:latin typeface="Cambria Math" panose="02040503050406030204" pitchFamily="18" charset="0"/>
                      </a:rPr>
                      <m:t>=</m:t>
                    </m:r>
                    <m:r>
                      <a:rPr lang="en-US" sz="2000" b="0" i="1" smtClean="0">
                        <a:latin typeface="Cambria Math" panose="02040503050406030204" pitchFamily="18" charset="0"/>
                      </a:rPr>
                      <m:t>𝑉𝑎𝑟</m:t>
                    </m:r>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𝑌</m:t>
                            </m:r>
                          </m:e>
                        </m:acc>
                      </m:e>
                      <m:sub>
                        <m:r>
                          <a:rPr lang="en-US" sz="2000" i="1">
                            <a:latin typeface="Cambria Math" panose="02040503050406030204" pitchFamily="18" charset="0"/>
                          </a:rPr>
                          <m:t>𝑖𝑘</m:t>
                        </m:r>
                      </m:sub>
                    </m:sSub>
                    <m:r>
                      <a:rPr lang="en-US" sz="2000" b="0" i="1" smtClean="0">
                        <a:latin typeface="Cambria Math" panose="02040503050406030204" pitchFamily="18" charset="0"/>
                      </a:rPr>
                      <m:t>)</m:t>
                    </m:r>
                  </m:oMath>
                </a14:m>
                <a:r>
                  <a:rPr lang="en-US" sz="2000" dirty="0"/>
                  <a:t>.</a:t>
                </a:r>
              </a:p>
              <a:p>
                <a:pPr marL="285750" indent="-285750">
                  <a:buFont typeface="Arial" panose="020B0604020202020204" pitchFamily="34" charset="0"/>
                  <a:buChar char="•"/>
                </a:pPr>
                <a:r>
                  <a:rPr lang="en-US" sz="2000" dirty="0"/>
                  <a:t>Similar to the derivation on slide 27 for </a:t>
                </a:r>
                <a14:m>
                  <m:oMath xmlns:m="http://schemas.openxmlformats.org/officeDocument/2006/math">
                    <m:r>
                      <a:rPr lang="en-US" sz="2000" i="1">
                        <a:latin typeface="Cambria Math" panose="02040503050406030204" pitchFamily="18" charset="0"/>
                      </a:rPr>
                      <m:t>𝑉𝑎𝑟</m:t>
                    </m:r>
                    <m:r>
                      <a:rPr lang="en-US" sz="2000" i="1">
                        <a:latin typeface="Cambria Math" panose="02040503050406030204" pitchFamily="18" charset="0"/>
                      </a:rPr>
                      <m:t>(</m:t>
                    </m:r>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𝑌</m:t>
                            </m:r>
                          </m:e>
                        </m:acc>
                      </m:e>
                      <m:sub>
                        <m:r>
                          <a:rPr lang="en-US" sz="2000" i="1">
                            <a:latin typeface="Cambria Math" panose="02040503050406030204" pitchFamily="18" charset="0"/>
                          </a:rPr>
                          <m:t>𝑖</m:t>
                        </m:r>
                      </m:sub>
                    </m:sSub>
                    <m:r>
                      <a:rPr lang="en-US" sz="2000" b="0" i="1" smtClean="0">
                        <a:latin typeface="Cambria Math" panose="02040503050406030204" pitchFamily="18" charset="0"/>
                      </a:rPr>
                      <m:t>)</m:t>
                    </m:r>
                  </m:oMath>
                </a14:m>
                <a:r>
                  <a:rPr lang="en-US" sz="2000" dirty="0"/>
                  <a:t>, under the standard linear mixed model, </a:t>
                </a:r>
              </a:p>
              <a:p>
                <a:pPr marL="285750" indent="-285750">
                  <a:buFont typeface="Arial" panose="020B0604020202020204" pitchFamily="34" charset="0"/>
                  <a:buChar char="•"/>
                </a:pPr>
                <a:endParaRPr lang="en-US" sz="2000" dirty="0"/>
              </a:p>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𝑖𝑗𝑘</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𝛽</m:t>
                          </m:r>
                        </m:e>
                        <m:sup>
                          <m:r>
                            <a:rPr lang="en-US" sz="2000" b="0" i="1" smtClean="0">
                              <a:latin typeface="Cambria Math" panose="02040503050406030204" pitchFamily="18" charset="0"/>
                            </a:rPr>
                            <m:t>∗</m:t>
                          </m:r>
                        </m:sup>
                      </m:sSup>
                      <m:sSub>
                        <m:sSubPr>
                          <m:ctrlPr>
                            <a:rPr lang="en-US" sz="2000" i="1">
                              <a:latin typeface="Cambria Math" panose="02040503050406030204" pitchFamily="18" charset="0"/>
                            </a:rPr>
                          </m:ctrlPr>
                        </m:sSubPr>
                        <m:e>
                          <m:r>
                            <a:rPr lang="en-US" sz="2000" b="0" i="1" smtClean="0">
                              <a:latin typeface="Cambria Math" panose="02040503050406030204" pitchFamily="18" charset="0"/>
                            </a:rPr>
                            <m:t>𝑋</m:t>
                          </m:r>
                        </m:e>
                        <m:sub>
                          <m:r>
                            <a:rPr lang="en-US" sz="2000" i="1">
                              <a:latin typeface="Cambria Math" panose="02040503050406030204" pitchFamily="18" charset="0"/>
                            </a:rPr>
                            <m:t>𝑖𝑗𝑘</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𝑏</m:t>
                          </m:r>
                        </m:e>
                        <m:sub>
                          <m:r>
                            <a:rPr lang="en-US" sz="2000" b="0" i="1" smtClean="0">
                              <a:latin typeface="Cambria Math" panose="02040503050406030204" pitchFamily="18" charset="0"/>
                            </a:rPr>
                            <m:t>𝑖𝑘</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𝑒</m:t>
                          </m:r>
                        </m:e>
                        <m:sub>
                          <m:r>
                            <a:rPr lang="en-US" sz="2000" b="0" i="1" smtClean="0">
                              <a:latin typeface="Cambria Math" panose="02040503050406030204" pitchFamily="18" charset="0"/>
                            </a:rPr>
                            <m:t>𝑖𝑗𝑘</m:t>
                          </m:r>
                        </m:sub>
                      </m:sSub>
                      <m:r>
                        <a:rPr lang="en-US" sz="2000" b="0" i="1" smtClean="0">
                          <a:latin typeface="Cambria Math" panose="02040503050406030204" pitchFamily="18" charset="0"/>
                        </a:rPr>
                        <m:t>,</m:t>
                      </m:r>
                    </m:oMath>
                  </m:oMathPara>
                </a14:m>
                <a:endParaRPr lang="en-US" sz="2000" b="0" dirty="0"/>
              </a:p>
              <a:p>
                <a:r>
                  <a:rPr lang="en-US" sz="2000" dirty="0"/>
                  <a:t>it can be shown  that </a:t>
                </a:r>
              </a:p>
              <a:p>
                <a:pPr/>
                <a14:m>
                  <m:oMathPara xmlns:m="http://schemas.openxmlformats.org/officeDocument/2006/math">
                    <m:oMathParaPr>
                      <m:jc m:val="centerGroup"/>
                    </m:oMathParaPr>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rPr>
                            <m:t>𝑖𝑘</m:t>
                          </m:r>
                        </m:sub>
                        <m:sup>
                          <m:r>
                            <a:rPr lang="en-US" sz="2000" i="1">
                              <a:latin typeface="Cambria Math" panose="02040503050406030204" pitchFamily="18" charset="0"/>
                            </a:rPr>
                            <m:t>2</m:t>
                          </m:r>
                        </m:sup>
                      </m:sSubSup>
                      <m:r>
                        <a:rPr lang="en-US" sz="2000" b="0" i="1" smtClean="0">
                          <a:latin typeface="Cambria Math" panose="02040503050406030204" pitchFamily="18" charset="0"/>
                        </a:rPr>
                        <m:t>=</m:t>
                      </m:r>
                      <m:r>
                        <a:rPr lang="en-US" sz="2000" i="1">
                          <a:latin typeface="Cambria Math" panose="02040503050406030204" pitchFamily="18" charset="0"/>
                        </a:rPr>
                        <m:t>𝑉𝑎𝑟</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𝑌</m:t>
                                  </m:r>
                                </m:e>
                              </m:acc>
                            </m:e>
                            <m:sub>
                              <m:r>
                                <a:rPr lang="en-US" sz="2000" i="1">
                                  <a:latin typeface="Cambria Math" panose="02040503050406030204" pitchFamily="18" charset="0"/>
                                </a:rPr>
                                <m:t>𝑖𝑘</m:t>
                              </m:r>
                            </m:sub>
                          </m:sSub>
                        </m:e>
                      </m:d>
                      <m:r>
                        <m:rPr>
                          <m:nor/>
                        </m:rPr>
                        <a:rPr lang="en-US" sz="2000" b="0" i="0" smtClean="0">
                          <a:latin typeface="Cambria Math" panose="02040503050406030204" pitchFamily="18" charset="0"/>
                        </a:rPr>
                        <m:t>=</m:t>
                      </m:r>
                      <m:f>
                        <m:fPr>
                          <m:ctrlPr>
                            <a:rPr lang="en-US" sz="2000" b="0" i="1" smtClean="0">
                              <a:latin typeface="Cambria Math" panose="02040503050406030204" pitchFamily="18" charset="0"/>
                            </a:rPr>
                          </m:ctrlPr>
                        </m:fPr>
                        <m:num>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𝜎</m:t>
                              </m:r>
                            </m:e>
                            <m:sup>
                              <m:r>
                                <a:rPr lang="en-US" sz="2000" b="0" i="1" smtClean="0">
                                  <a:latin typeface="Cambria Math" panose="02040503050406030204" pitchFamily="18" charset="0"/>
                                </a:rPr>
                                <m:t>2</m:t>
                              </m:r>
                            </m:sup>
                          </m:sSup>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𝑚</m:t>
                              </m:r>
                            </m:e>
                            <m:sub>
                              <m:r>
                                <a:rPr lang="en-US" sz="2000" b="0" i="1" smtClean="0">
                                  <a:latin typeface="Cambria Math" panose="02040503050406030204" pitchFamily="18" charset="0"/>
                                </a:rPr>
                                <m:t>𝑖𝑘</m:t>
                              </m:r>
                            </m:sub>
                          </m:sSub>
                        </m:den>
                      </m:f>
                      <m:r>
                        <a:rPr lang="en-US" sz="2000" b="0" i="1" smtClean="0">
                          <a:latin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𝜌</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𝑚</m:t>
                          </m:r>
                        </m:e>
                        <m:sub>
                          <m:r>
                            <a:rPr lang="en-US" sz="2000" b="0" i="1" smtClean="0">
                              <a:latin typeface="Cambria Math" panose="02040503050406030204" pitchFamily="18" charset="0"/>
                              <a:ea typeface="Cambria Math" panose="02040503050406030204" pitchFamily="18" charset="0"/>
                            </a:rPr>
                            <m:t>𝑖𝑘</m:t>
                          </m:r>
                        </m:sub>
                      </m:sSub>
                      <m:r>
                        <a:rPr lang="en-US" sz="2000" b="0" i="1" smtClean="0">
                          <a:latin typeface="Cambria Math" panose="02040503050406030204" pitchFamily="18" charset="0"/>
                          <a:ea typeface="Cambria Math" panose="02040503050406030204" pitchFamily="18" charset="0"/>
                        </a:rPr>
                        <m:t>−1)</m:t>
                      </m:r>
                      <m:r>
                        <a:rPr lang="en-US" sz="2000" b="0" i="1" smtClean="0">
                          <a:latin typeface="Cambria Math" panose="02040503050406030204" pitchFamily="18" charset="0"/>
                        </a:rPr>
                        <m:t>]</m:t>
                      </m:r>
                    </m:oMath>
                  </m:oMathPara>
                </a14:m>
                <a:endParaRPr lang="en-US" sz="2000" dirty="0"/>
              </a:p>
              <a:p>
                <a:r>
                  <a:rPr lang="en-US" sz="2000" dirty="0"/>
                  <a:t>where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𝑚</m:t>
                        </m:r>
                      </m:e>
                      <m:sub>
                        <m:r>
                          <a:rPr lang="en-US" sz="2000" i="1">
                            <a:latin typeface="Cambria Math" panose="02040503050406030204" pitchFamily="18" charset="0"/>
                            <a:ea typeface="Cambria Math" panose="02040503050406030204" pitchFamily="18" charset="0"/>
                          </a:rPr>
                          <m:t>𝑖𝑘</m:t>
                        </m:r>
                      </m:sub>
                    </m:sSub>
                  </m:oMath>
                </a14:m>
                <a:r>
                  <a:rPr lang="en-US" sz="2000" dirty="0"/>
                  <a:t> is the size of the</a:t>
                </a:r>
                <a:r>
                  <a:rPr lang="zh-CN" altLang="en-US" sz="2000" dirty="0"/>
                  <a:t>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𝑖𝑘</m:t>
                        </m:r>
                      </m:e>
                      <m:sup>
                        <m:r>
                          <a:rPr lang="en-US" sz="2000" b="0" i="1" smtClean="0">
                            <a:latin typeface="Cambria Math" panose="02040503050406030204" pitchFamily="18" charset="0"/>
                          </a:rPr>
                          <m:t>𝑡h</m:t>
                        </m:r>
                      </m:sup>
                    </m:sSup>
                  </m:oMath>
                </a14:m>
                <a:r>
                  <a:rPr lang="zh-CN" altLang="en-US" sz="2000" dirty="0"/>
                  <a:t> </a:t>
                </a:r>
                <a:r>
                  <a:rPr lang="en-US" altLang="zh-CN" sz="2000" dirty="0"/>
                  <a:t>cluster.</a:t>
                </a:r>
              </a:p>
              <a:p>
                <a:endParaRPr lang="en-US" altLang="zh-CN" sz="2000" dirty="0"/>
              </a:p>
              <a:p>
                <a:pPr marL="285750" indent="-285750">
                  <a:buFont typeface="Arial" panose="020B0604020202020204" pitchFamily="34" charset="0"/>
                  <a:buChar char="•"/>
                </a:pPr>
                <a:r>
                  <a:rPr lang="en-US" altLang="zh-CN" sz="2000" dirty="0"/>
                  <a:t>Then, we estimate the intervention effect by </a:t>
                </a:r>
                <a14:m>
                  <m:oMath xmlns:m="http://schemas.openxmlformats.org/officeDocument/2006/math">
                    <m:sSup>
                      <m:sSupPr>
                        <m:ctrlPr>
                          <a:rPr lang="en-US" altLang="zh-CN" sz="2000" i="1" smtClean="0">
                            <a:latin typeface="Cambria Math" panose="02040503050406030204" pitchFamily="18" charset="0"/>
                          </a:rPr>
                        </m:ctrlPr>
                      </m:sSupPr>
                      <m:e>
                        <m:acc>
                          <m:accPr>
                            <m:chr m:val="̂"/>
                            <m:ctrlPr>
                              <a:rPr lang="zh-CN" altLang="en-US" sz="2000" i="1" smtClean="0">
                                <a:latin typeface="Cambria Math" panose="02040503050406030204" pitchFamily="18" charset="0"/>
                              </a:rPr>
                            </m:ctrlPr>
                          </m:accPr>
                          <m:e>
                            <m:r>
                              <a:rPr lang="zh-CN" altLang="en-US" sz="2000" i="1">
                                <a:latin typeface="Cambria Math" panose="02040503050406030204" pitchFamily="18" charset="0"/>
                              </a:rPr>
                              <m:t>𝛽</m:t>
                            </m:r>
                          </m:e>
                        </m:acc>
                      </m:e>
                      <m:sup>
                        <m:r>
                          <a:rPr lang="en-US" altLang="zh-CN" sz="2000" b="0" i="1" smtClean="0">
                            <a:latin typeface="Cambria Math" panose="02040503050406030204" pitchFamily="18" charset="0"/>
                          </a:rPr>
                          <m:t>∗</m:t>
                        </m:r>
                      </m:sup>
                    </m:sSup>
                    <m:r>
                      <a:rPr lang="en-US" altLang="zh-CN" sz="2000" b="0" i="1" smtClean="0">
                        <a:latin typeface="Cambria Math" panose="02040503050406030204" pitchFamily="18" charset="0"/>
                      </a:rPr>
                      <m:t>=</m:t>
                    </m:r>
                    <m:nary>
                      <m:naryPr>
                        <m:chr m:val="∑"/>
                        <m:ctrlPr>
                          <a:rPr lang="en-US" altLang="zh-CN" sz="2000" i="1" smtClean="0">
                            <a:latin typeface="Cambria Math" panose="02040503050406030204" pitchFamily="18" charset="0"/>
                          </a:rPr>
                        </m:ctrlPr>
                      </m:naryPr>
                      <m:sub>
                        <m:r>
                          <m:rPr>
                            <m:brk m:alnAt="23"/>
                          </m:rPr>
                          <a:rPr lang="en-US" altLang="zh-CN" sz="2000" b="0" i="1" smtClean="0">
                            <a:latin typeface="Cambria Math" panose="02040503050406030204" pitchFamily="18" charset="0"/>
                          </a:rPr>
                          <m:t>𝑘</m:t>
                        </m:r>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𝐾</m:t>
                        </m:r>
                      </m:sup>
                      <m:e>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𝑤</m:t>
                            </m:r>
                          </m:e>
                          <m:sub>
                            <m:r>
                              <a:rPr lang="en-US" altLang="zh-CN" sz="2000" b="0" i="1" smtClean="0">
                                <a:latin typeface="Cambria Math" panose="02040503050406030204" pitchFamily="18" charset="0"/>
                              </a:rPr>
                              <m:t>2</m:t>
                            </m:r>
                            <m:r>
                              <a:rPr lang="en-US" altLang="zh-CN" sz="2000" b="0" i="1" smtClean="0">
                                <a:latin typeface="Cambria Math" panose="02040503050406030204" pitchFamily="18" charset="0"/>
                              </a:rPr>
                              <m:t>𝑘</m:t>
                            </m:r>
                          </m:sub>
                        </m:sSub>
                      </m:e>
                    </m:nary>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𝑌</m:t>
                            </m:r>
                          </m:e>
                        </m:acc>
                      </m:e>
                      <m:sub>
                        <m:r>
                          <a:rPr lang="en-US" sz="2000" b="0" i="1" smtClean="0">
                            <a:latin typeface="Cambria Math" panose="02040503050406030204" pitchFamily="18" charset="0"/>
                          </a:rPr>
                          <m:t>2</m:t>
                        </m:r>
                        <m:r>
                          <a:rPr lang="en-US" sz="2000" i="1">
                            <a:latin typeface="Cambria Math" panose="02040503050406030204" pitchFamily="18" charset="0"/>
                          </a:rPr>
                          <m:t>𝑘</m:t>
                        </m:r>
                      </m:sub>
                    </m:sSub>
                    <m:r>
                      <a:rPr lang="en-US" sz="2000" b="0" i="1" smtClean="0">
                        <a:latin typeface="Cambria Math" panose="02040503050406030204" pitchFamily="18" charset="0"/>
                      </a:rPr>
                      <m:t>−</m:t>
                    </m:r>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𝑘</m:t>
                        </m:r>
                        <m:r>
                          <a:rPr lang="en-US" altLang="zh-CN" sz="2000" i="1">
                            <a:latin typeface="Cambria Math" panose="02040503050406030204" pitchFamily="18" charset="0"/>
                          </a:rPr>
                          <m:t>=1</m:t>
                        </m:r>
                      </m:sub>
                      <m:sup>
                        <m:r>
                          <a:rPr lang="en-US" altLang="zh-CN" sz="2000" i="1">
                            <a:latin typeface="Cambria Math" panose="02040503050406030204" pitchFamily="18" charset="0"/>
                          </a:rPr>
                          <m:t>𝐾</m:t>
                        </m:r>
                      </m:sup>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𝑤</m:t>
                            </m:r>
                          </m:e>
                          <m:sub>
                            <m:r>
                              <a:rPr lang="en-US" altLang="zh-CN" sz="2000" b="0" i="1" smtClean="0">
                                <a:latin typeface="Cambria Math" panose="02040503050406030204" pitchFamily="18" charset="0"/>
                              </a:rPr>
                              <m:t>1</m:t>
                            </m:r>
                            <m:r>
                              <a:rPr lang="en-US" altLang="zh-CN" sz="2000" i="1">
                                <a:latin typeface="Cambria Math" panose="02040503050406030204" pitchFamily="18" charset="0"/>
                              </a:rPr>
                              <m:t>𝑘</m:t>
                            </m:r>
                          </m:sub>
                        </m:sSub>
                      </m:e>
                    </m:nary>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𝑌</m:t>
                            </m:r>
                          </m:e>
                        </m:acc>
                      </m:e>
                      <m:sub>
                        <m:r>
                          <a:rPr lang="en-US" sz="2000" b="0" i="1" smtClean="0">
                            <a:latin typeface="Cambria Math" panose="02040503050406030204" pitchFamily="18" charset="0"/>
                          </a:rPr>
                          <m:t>1</m:t>
                        </m:r>
                        <m:r>
                          <a:rPr lang="en-US" sz="2000" i="1">
                            <a:latin typeface="Cambria Math" panose="02040503050406030204" pitchFamily="18" charset="0"/>
                          </a:rPr>
                          <m:t>𝑘</m:t>
                        </m:r>
                      </m:sub>
                    </m:sSub>
                  </m:oMath>
                </a14:m>
                <a:r>
                  <a:rPr lang="en-US" altLang="zh-CN" sz="2000" dirty="0"/>
                  <a:t>, where by generalized</a:t>
                </a:r>
              </a:p>
              <a:p>
                <a:r>
                  <a:rPr lang="en-US" altLang="zh-CN" sz="2000" dirty="0"/>
                  <a:t>least squares theory, we will now show that, although a consistent estimate is obtained from</a:t>
                </a:r>
                <a:r>
                  <a:rPr lang="en-US" sz="2000" dirty="0"/>
                  <a:t> any choice</a:t>
                </a:r>
              </a:p>
              <a:p>
                <a:r>
                  <a:rPr lang="en-US" sz="2000" dirty="0"/>
                  <a:t>of weights that sum to 1,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b="0" i="1" smtClean="0">
                            <a:latin typeface="Cambria Math" panose="02040503050406030204" pitchFamily="18" charset="0"/>
                          </a:rPr>
                          <m:t>𝑖</m:t>
                        </m:r>
                        <m:r>
                          <a:rPr lang="en-US" sz="2000" i="1">
                            <a:latin typeface="Cambria Math" panose="02040503050406030204" pitchFamily="18" charset="0"/>
                          </a:rPr>
                          <m:t>𝑘</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bSup>
                          <m:sSubSupPr>
                            <m:ctrlPr>
                              <a:rPr lang="en-US" sz="2000" i="1">
                                <a:latin typeface="Cambria Math" panose="02040503050406030204" pitchFamily="18" charset="0"/>
                              </a:rPr>
                            </m:ctrlPr>
                          </m:sSubSupPr>
                          <m:e>
                            <m:r>
                              <a:rPr lang="en-US" sz="2000" b="0" i="1" smtClean="0">
                                <a:latin typeface="Cambria Math" panose="02040503050406030204" pitchFamily="18" charset="0"/>
                              </a:rPr>
                              <m:t>1/</m:t>
                            </m:r>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rPr>
                              <m:t>𝑖𝑘</m:t>
                            </m:r>
                          </m:sub>
                          <m:sup>
                            <m:r>
                              <a:rPr lang="en-US" sz="2000" i="1">
                                <a:latin typeface="Cambria Math" panose="02040503050406030204" pitchFamily="18" charset="0"/>
                              </a:rPr>
                              <m:t>2</m:t>
                            </m:r>
                          </m:sup>
                        </m:sSubSup>
                      </m:num>
                      <m:den>
                        <m:nary>
                          <m:naryPr>
                            <m:chr m:val="∑"/>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𝑘</m:t>
                            </m:r>
                            <m:r>
                              <a:rPr lang="en-US" sz="2000" b="0" i="1" smtClean="0">
                                <a:latin typeface="Cambria Math" panose="02040503050406030204" pitchFamily="18" charset="0"/>
                              </a:rPr>
                              <m:t>=1</m:t>
                            </m:r>
                          </m:sub>
                          <m:sup>
                            <m:r>
                              <a:rPr lang="en-US" sz="2000" b="0" i="1" smtClean="0">
                                <a:latin typeface="Cambria Math" panose="02040503050406030204" pitchFamily="18" charset="0"/>
                              </a:rPr>
                              <m:t>𝐾</m:t>
                            </m:r>
                          </m:sup>
                          <m:e>
                            <m:sSubSup>
                              <m:sSubSupPr>
                                <m:ctrlPr>
                                  <a:rPr lang="en-US" sz="2000" i="1">
                                    <a:latin typeface="Cambria Math" panose="02040503050406030204" pitchFamily="18" charset="0"/>
                                  </a:rPr>
                                </m:ctrlPr>
                              </m:sSubSupPr>
                              <m:e>
                                <m:r>
                                  <a:rPr lang="en-US" sz="2000" b="0" i="1" smtClean="0">
                                    <a:latin typeface="Cambria Math" panose="02040503050406030204" pitchFamily="18" charset="0"/>
                                  </a:rPr>
                                  <m:t>1/</m:t>
                                </m:r>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rPr>
                                  <m:t>𝑖𝑘</m:t>
                                </m:r>
                              </m:sub>
                              <m:sup>
                                <m:r>
                                  <a:rPr lang="en-US" sz="2000" i="1">
                                    <a:latin typeface="Cambria Math" panose="02040503050406030204" pitchFamily="18" charset="0"/>
                                  </a:rPr>
                                  <m:t>2</m:t>
                                </m:r>
                              </m:sup>
                            </m:sSubSup>
                          </m:e>
                        </m:nary>
                      </m:den>
                    </m:f>
                    <m:r>
                      <a:rPr lang="en-US" sz="2000" b="0" i="1" smtClean="0">
                        <a:latin typeface="Cambria Math" panose="02040503050406030204" pitchFamily="18" charset="0"/>
                      </a:rPr>
                      <m:t>, </m:t>
                    </m:r>
                    <m:r>
                      <a:rPr lang="en-US" sz="2000" b="0" i="1" smtClean="0">
                        <a:latin typeface="Cambria Math" panose="02040503050406030204" pitchFamily="18" charset="0"/>
                      </a:rPr>
                      <m:t>𝑖</m:t>
                    </m:r>
                    <m:r>
                      <a:rPr lang="en-US" sz="2000" b="0" i="1" smtClean="0">
                        <a:latin typeface="Cambria Math" panose="02040503050406030204" pitchFamily="18" charset="0"/>
                      </a:rPr>
                      <m:t>=1,2, </m:t>
                    </m:r>
                    <m:r>
                      <a:rPr lang="en-US" sz="2000" b="0" i="1" smtClean="0">
                        <a:latin typeface="Cambria Math" panose="02040503050406030204" pitchFamily="18" charset="0"/>
                      </a:rPr>
                      <m:t>𝑘</m:t>
                    </m:r>
                    <m:r>
                      <a:rPr lang="en-US" sz="2000" b="0" i="1" smtClean="0">
                        <a:latin typeface="Cambria Math" panose="02040503050406030204" pitchFamily="18" charset="0"/>
                      </a:rPr>
                      <m:t>=1,…,</m:t>
                    </m:r>
                    <m:r>
                      <a:rPr lang="en-US" sz="2000" b="0" i="1" smtClean="0">
                        <a:latin typeface="Cambria Math" panose="02040503050406030204" pitchFamily="18" charset="0"/>
                      </a:rPr>
                      <m:t>𝐾</m:t>
                    </m:r>
                    <m:r>
                      <a:rPr lang="en-US" sz="2000" b="0" i="1" smtClean="0">
                        <a:latin typeface="Cambria Math" panose="02040503050406030204" pitchFamily="18" charset="0"/>
                      </a:rPr>
                      <m:t> </m:t>
                    </m:r>
                  </m:oMath>
                </a14:m>
                <a:r>
                  <a:rPr lang="en-US" sz="2000" dirty="0"/>
                  <a:t> are the minimum variance weights among all possible choices.</a:t>
                </a:r>
              </a:p>
            </p:txBody>
          </p:sp>
        </mc:Choice>
        <mc:Fallback xmlns="">
          <p:sp>
            <p:nvSpPr>
              <p:cNvPr id="2" name="TextBox 1">
                <a:extLst>
                  <a:ext uri="{FF2B5EF4-FFF2-40B4-BE49-F238E27FC236}">
                    <a16:creationId xmlns:a16="http://schemas.microsoft.com/office/drawing/2014/main" id="{02D875E9-FFC2-D445-B9C9-D02405C06CCD}"/>
                  </a:ext>
                </a:extLst>
              </p:cNvPr>
              <p:cNvSpPr txBox="1">
                <a:spLocks noRot="1" noChangeAspect="1" noMove="1" noResize="1" noEditPoints="1" noAdjustHandles="1" noChangeArrowheads="1" noChangeShapeType="1" noTextEdit="1"/>
              </p:cNvSpPr>
              <p:nvPr/>
            </p:nvSpPr>
            <p:spPr>
              <a:xfrm>
                <a:off x="179743" y="1579419"/>
                <a:ext cx="12191999" cy="4576830"/>
              </a:xfrm>
              <a:prstGeom prst="rect">
                <a:avLst/>
              </a:prstGeom>
              <a:blipFill>
                <a:blip r:embed="rId4"/>
                <a:stretch>
                  <a:fillRect l="-500" t="-266"/>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03549920-85BD-8D4A-9F1A-A88FFDEC4A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26C813-B14A-4BAB-5631-CD3E6C2E56AC}"/>
              </a:ext>
            </a:extLst>
          </p:cNvPr>
          <p:cNvSpPr>
            <a:spLocks noGrp="1"/>
          </p:cNvSpPr>
          <p:nvPr>
            <p:ph type="sldNum" sz="quarter" idx="12"/>
          </p:nvPr>
        </p:nvSpPr>
        <p:spPr/>
        <p:txBody>
          <a:bodyPr/>
          <a:lstStyle/>
          <a:p>
            <a:fld id="{77C6A7FE-225D-49F1-B302-AA37EA92BB49}" type="slidenum">
              <a:rPr lang="en-US" smtClean="0"/>
              <a:t>83</a:t>
            </a:fld>
            <a:endParaRPr lang="en-US"/>
          </a:p>
        </p:txBody>
      </p:sp>
    </p:spTree>
    <p:extLst>
      <p:ext uri="{BB962C8B-B14F-4D97-AF65-F5344CB8AC3E}">
        <p14:creationId xmlns:p14="http://schemas.microsoft.com/office/powerpoint/2010/main" val="171556843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4BFF2D1-B389-C2B5-37F7-0596958192A8}"/>
                  </a:ext>
                </a:extLst>
              </p:cNvPr>
              <p:cNvSpPr>
                <a:spLocks noGrp="1"/>
              </p:cNvSpPr>
              <p:nvPr>
                <p:ph idx="1"/>
              </p:nvPr>
            </p:nvSpPr>
            <p:spPr>
              <a:xfrm>
                <a:off x="942110" y="1495314"/>
                <a:ext cx="10515600" cy="5362685"/>
              </a:xfrm>
            </p:spPr>
            <p:txBody>
              <a:bodyPr>
                <a:normAutofit fontScale="92500" lnSpcReduction="10000"/>
              </a:bodyPr>
              <a:lstStyle/>
              <a:p>
                <a:pPr marL="0" indent="0">
                  <a:buNone/>
                </a:pPr>
                <a:r>
                  <a:rPr lang="en-US" sz="1700" dirty="0">
                    <a:latin typeface="Calibri" panose="020F0502020204030204" pitchFamily="34" charset="0"/>
                  </a:rPr>
                  <a:t>Here we use Lagrange multipliers to prove that inverse variance weighted average is most efficient variance estimator of </a:t>
                </a:r>
                <a:r>
                  <a:rPr lang="en-US" altLang="zh-CN" sz="1700" dirty="0"/>
                  <a:t>intervention effect </a:t>
                </a:r>
                <a14:m>
                  <m:oMath xmlns:m="http://schemas.openxmlformats.org/officeDocument/2006/math">
                    <m:r>
                      <a:rPr lang="en-US" altLang="zh-CN" sz="1700" b="0" i="1" smtClean="0">
                        <a:latin typeface="Cambria Math" panose="02040503050406030204" pitchFamily="18" charset="0"/>
                      </a:rPr>
                      <m:t>𝑉𝑎𝑟</m:t>
                    </m:r>
                    <m:r>
                      <a:rPr lang="en-US" altLang="zh-CN" sz="1700" b="0" i="1" smtClean="0">
                        <a:latin typeface="Cambria Math" panose="02040503050406030204" pitchFamily="18" charset="0"/>
                      </a:rPr>
                      <m:t>(</m:t>
                    </m:r>
                    <m:sSup>
                      <m:sSupPr>
                        <m:ctrlPr>
                          <a:rPr lang="en-US" sz="1800" i="1">
                            <a:latin typeface="Cambria Math" panose="02040503050406030204" pitchFamily="18" charset="0"/>
                          </a:rPr>
                        </m:ctrlPr>
                      </m:sSupPr>
                      <m:e>
                        <m:acc>
                          <m:accPr>
                            <m:chr m:val="̂"/>
                            <m:ctrlPr>
                              <a:rPr lang="en-US" altLang="zh-CN" sz="1800" b="0" i="1" smtClean="0">
                                <a:latin typeface="Cambria Math" panose="02040503050406030204" pitchFamily="18" charset="0"/>
                              </a:rPr>
                            </m:ctrlPr>
                          </m:accPr>
                          <m:e>
                            <m:r>
                              <a:rPr lang="en-US" sz="1600" i="1">
                                <a:latin typeface="Cambria Math" panose="02040503050406030204" pitchFamily="18" charset="0"/>
                                <a:ea typeface="Cambria Math" panose="02040503050406030204" pitchFamily="18" charset="0"/>
                              </a:rPr>
                              <m:t>𝛽</m:t>
                            </m:r>
                          </m:e>
                        </m:acc>
                      </m:e>
                      <m:sup>
                        <m:r>
                          <a:rPr lang="en-US" sz="1800" i="1">
                            <a:latin typeface="Cambria Math" panose="02040503050406030204" pitchFamily="18" charset="0"/>
                          </a:rPr>
                          <m:t>∗</m:t>
                        </m:r>
                      </m:sup>
                    </m:sSup>
                    <m:r>
                      <a:rPr lang="en-US" altLang="zh-CN" sz="1700" b="0" i="1" smtClean="0">
                        <a:latin typeface="Cambria Math" panose="02040503050406030204" pitchFamily="18" charset="0"/>
                      </a:rPr>
                      <m:t>)</m:t>
                    </m:r>
                  </m:oMath>
                </a14:m>
                <a:endParaRPr lang="en-US" sz="1700" dirty="0">
                  <a:latin typeface="Calibri" panose="020F0502020204030204" pitchFamily="34" charset="0"/>
                </a:endParaRPr>
              </a:p>
              <a:p>
                <a:pPr marL="0" indent="0">
                  <a:buNone/>
                </a:pPr>
                <a:endParaRPr lang="en-US" sz="1700" dirty="0">
                  <a:latin typeface="Calibri" panose="020F0502020204030204" pitchFamily="34" charset="0"/>
                </a:endParaRPr>
              </a:p>
              <a:p>
                <a:pPr marL="457200" lvl="1" indent="0">
                  <a:buNone/>
                </a:pPr>
                <a14:m>
                  <m:oMath xmlns:m="http://schemas.openxmlformats.org/officeDocument/2006/math">
                    <m:r>
                      <a:rPr lang="en-US" altLang="zh-CN" sz="1600" i="1">
                        <a:latin typeface="Cambria Math" panose="02040503050406030204" pitchFamily="18" charset="0"/>
                      </a:rPr>
                      <m:t>𝑉𝑎𝑟</m:t>
                    </m:r>
                    <m:d>
                      <m:dPr>
                        <m:ctrlPr>
                          <a:rPr lang="en-US" altLang="zh-CN" sz="1600" i="1">
                            <a:latin typeface="Cambria Math" panose="02040503050406030204" pitchFamily="18" charset="0"/>
                          </a:rPr>
                        </m:ctrlPr>
                      </m:dPr>
                      <m:e>
                        <m:sSup>
                          <m:sSupPr>
                            <m:ctrlPr>
                              <a:rPr lang="en-US" sz="1600" i="1">
                                <a:latin typeface="Cambria Math" panose="02040503050406030204" pitchFamily="18" charset="0"/>
                              </a:rPr>
                            </m:ctrlPr>
                          </m:sSupPr>
                          <m:e>
                            <m:acc>
                              <m:accPr>
                                <m:chr m:val="̂"/>
                                <m:ctrlPr>
                                  <a:rPr lang="en-US" altLang="zh-CN" sz="1600" i="1">
                                    <a:latin typeface="Cambria Math" panose="02040503050406030204" pitchFamily="18" charset="0"/>
                                  </a:rPr>
                                </m:ctrlPr>
                              </m:accPr>
                              <m:e>
                                <m:r>
                                  <a:rPr lang="en-US" sz="1600" i="1">
                                    <a:latin typeface="Cambria Math" panose="02040503050406030204" pitchFamily="18" charset="0"/>
                                    <a:ea typeface="Cambria Math" panose="02040503050406030204" pitchFamily="18" charset="0"/>
                                  </a:rPr>
                                  <m:t>𝛽</m:t>
                                </m:r>
                              </m:e>
                            </m:acc>
                          </m:e>
                          <m:sup>
                            <m:r>
                              <a:rPr lang="en-US" sz="1600" i="1">
                                <a:latin typeface="Cambria Math" panose="02040503050406030204" pitchFamily="18" charset="0"/>
                              </a:rPr>
                              <m:t>∗</m:t>
                            </m:r>
                          </m:sup>
                        </m:sSup>
                      </m:e>
                    </m:d>
                    <m:r>
                      <a:rPr lang="en-US" altLang="zh-CN" sz="1600" b="0" i="1" smtClean="0">
                        <a:latin typeface="Cambria Math" panose="02040503050406030204" pitchFamily="18" charset="0"/>
                      </a:rPr>
                      <m:t>=</m:t>
                    </m:r>
                    <m:r>
                      <a:rPr lang="en-US" sz="1600" b="0" i="1" smtClean="0">
                        <a:latin typeface="Cambria Math" panose="02040503050406030204" pitchFamily="18" charset="0"/>
                      </a:rPr>
                      <m:t>𝑉𝑎𝑟</m:t>
                    </m:r>
                    <m:d>
                      <m:dPr>
                        <m:ctrlPr>
                          <a:rPr lang="en-US" sz="1600" b="0" i="1" smtClean="0">
                            <a:latin typeface="Cambria Math" panose="02040503050406030204" pitchFamily="18" charset="0"/>
                          </a:rPr>
                        </m:ctrlPr>
                      </m:dPr>
                      <m:e>
                        <m:nary>
                          <m:naryPr>
                            <m:chr m:val="∑"/>
                            <m:ctrlPr>
                              <a:rPr lang="en-US" altLang="zh-CN" sz="1600" i="1">
                                <a:latin typeface="Cambria Math" panose="02040503050406030204" pitchFamily="18" charset="0"/>
                              </a:rPr>
                            </m:ctrlPr>
                          </m:naryPr>
                          <m:sub>
                            <m:r>
                              <m:rPr>
                                <m:brk m:alnAt="23"/>
                              </m:rPr>
                              <a:rPr lang="en-US" altLang="zh-CN" sz="1600" i="1">
                                <a:latin typeface="Cambria Math" panose="02040503050406030204" pitchFamily="18" charset="0"/>
                              </a:rPr>
                              <m:t>𝑘</m:t>
                            </m:r>
                            <m:r>
                              <a:rPr lang="en-US" altLang="zh-CN" sz="1600" i="1">
                                <a:latin typeface="Cambria Math" panose="02040503050406030204" pitchFamily="18" charset="0"/>
                              </a:rPr>
                              <m:t>=1</m:t>
                            </m:r>
                          </m:sub>
                          <m:sup>
                            <m:r>
                              <a:rPr lang="en-US" altLang="zh-CN" sz="1600" i="1">
                                <a:latin typeface="Cambria Math" panose="02040503050406030204" pitchFamily="18" charset="0"/>
                              </a:rPr>
                              <m:t>𝐾</m:t>
                            </m:r>
                          </m:sup>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𝑤</m:t>
                                </m:r>
                              </m:e>
                              <m:sub>
                                <m:r>
                                  <a:rPr lang="en-US" altLang="zh-CN" sz="1600" i="1">
                                    <a:latin typeface="Cambria Math" panose="02040503050406030204" pitchFamily="18" charset="0"/>
                                  </a:rPr>
                                  <m:t>1</m:t>
                                </m:r>
                                <m:r>
                                  <a:rPr lang="en-US" altLang="zh-CN" sz="1600" i="1">
                                    <a:latin typeface="Cambria Math" panose="02040503050406030204" pitchFamily="18" charset="0"/>
                                  </a:rPr>
                                  <m:t>𝑘</m:t>
                                </m:r>
                              </m:sub>
                            </m:sSub>
                          </m:e>
                        </m:nary>
                        <m:sSub>
                          <m:sSubPr>
                            <m:ctrlPr>
                              <a:rPr lang="en-US" sz="1600" i="1">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panose="02040503050406030204" pitchFamily="18" charset="0"/>
                                  </a:rPr>
                                  <m:t>𝑌</m:t>
                                </m:r>
                              </m:e>
                            </m:acc>
                          </m:e>
                          <m:sub>
                            <m:r>
                              <a:rPr lang="en-US" sz="1600" i="1">
                                <a:latin typeface="Cambria Math" panose="02040503050406030204" pitchFamily="18" charset="0"/>
                              </a:rPr>
                              <m:t>1</m:t>
                            </m:r>
                            <m:r>
                              <a:rPr lang="en-US" sz="1600" i="1">
                                <a:latin typeface="Cambria Math" panose="02040503050406030204" pitchFamily="18" charset="0"/>
                              </a:rPr>
                              <m:t>𝑘</m:t>
                            </m:r>
                          </m:sub>
                        </m:sSub>
                        <m:r>
                          <a:rPr lang="en-US" sz="1600" i="1">
                            <a:latin typeface="Cambria Math" panose="02040503050406030204" pitchFamily="18" charset="0"/>
                          </a:rPr>
                          <m:t>−</m:t>
                        </m:r>
                        <m:nary>
                          <m:naryPr>
                            <m:chr m:val="∑"/>
                            <m:ctrlPr>
                              <a:rPr lang="en-US" altLang="zh-CN" sz="1600" i="1">
                                <a:latin typeface="Cambria Math" panose="02040503050406030204" pitchFamily="18" charset="0"/>
                              </a:rPr>
                            </m:ctrlPr>
                          </m:naryPr>
                          <m:sub>
                            <m:r>
                              <m:rPr>
                                <m:brk m:alnAt="23"/>
                              </m:rPr>
                              <a:rPr lang="en-US" altLang="zh-CN" sz="1600" i="1">
                                <a:latin typeface="Cambria Math" panose="02040503050406030204" pitchFamily="18" charset="0"/>
                              </a:rPr>
                              <m:t>𝑘</m:t>
                            </m:r>
                            <m:r>
                              <a:rPr lang="en-US" altLang="zh-CN" sz="1600" i="1">
                                <a:latin typeface="Cambria Math" panose="02040503050406030204" pitchFamily="18" charset="0"/>
                              </a:rPr>
                              <m:t>=1</m:t>
                            </m:r>
                          </m:sub>
                          <m:sup>
                            <m:r>
                              <a:rPr lang="en-US" altLang="zh-CN" sz="1600" i="1">
                                <a:latin typeface="Cambria Math" panose="02040503050406030204" pitchFamily="18" charset="0"/>
                              </a:rPr>
                              <m:t>𝐾</m:t>
                            </m:r>
                          </m:sup>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𝑤</m:t>
                                </m:r>
                              </m:e>
                              <m:sub>
                                <m:r>
                                  <a:rPr lang="en-US" altLang="zh-CN" sz="1600" i="1">
                                    <a:latin typeface="Cambria Math" panose="02040503050406030204" pitchFamily="18" charset="0"/>
                                  </a:rPr>
                                  <m:t>2</m:t>
                                </m:r>
                                <m:r>
                                  <a:rPr lang="en-US" altLang="zh-CN" sz="1600" i="1">
                                    <a:latin typeface="Cambria Math" panose="02040503050406030204" pitchFamily="18" charset="0"/>
                                  </a:rPr>
                                  <m:t>𝑘</m:t>
                                </m:r>
                              </m:sub>
                            </m:sSub>
                          </m:e>
                        </m:nary>
                        <m:sSub>
                          <m:sSubPr>
                            <m:ctrlPr>
                              <a:rPr lang="en-US" sz="1600" i="1">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panose="02040503050406030204" pitchFamily="18" charset="0"/>
                                  </a:rPr>
                                  <m:t>𝑌</m:t>
                                </m:r>
                              </m:e>
                            </m:acc>
                          </m:e>
                          <m:sub>
                            <m:r>
                              <a:rPr lang="en-US" sz="1600" i="1">
                                <a:latin typeface="Cambria Math" panose="02040503050406030204" pitchFamily="18" charset="0"/>
                              </a:rPr>
                              <m:t>2</m:t>
                            </m:r>
                            <m:r>
                              <a:rPr lang="en-US" sz="1600" i="1">
                                <a:latin typeface="Cambria Math" panose="02040503050406030204" pitchFamily="18" charset="0"/>
                              </a:rPr>
                              <m:t>𝑘</m:t>
                            </m:r>
                          </m:sub>
                        </m:sSub>
                      </m:e>
                    </m:d>
                  </m:oMath>
                </a14:m>
                <a:r>
                  <a:rPr lang="en-CA" sz="1600" dirty="0">
                    <a:latin typeface="Calibri" panose="020F0502020204030204" pitchFamily="34" charset="0"/>
                  </a:rPr>
                  <a:t> = </a:t>
                </a:r>
                <a14:m>
                  <m:oMath xmlns:m="http://schemas.openxmlformats.org/officeDocument/2006/math">
                    <m:r>
                      <a:rPr lang="en-US" sz="1600" i="1">
                        <a:latin typeface="Cambria Math" panose="02040503050406030204" pitchFamily="18" charset="0"/>
                      </a:rPr>
                      <m:t>𝑉𝑎𝑟</m:t>
                    </m:r>
                    <m:d>
                      <m:dPr>
                        <m:ctrlPr>
                          <a:rPr lang="en-US" sz="1600" i="1" smtClean="0">
                            <a:latin typeface="Cambria Math" panose="02040503050406030204" pitchFamily="18" charset="0"/>
                          </a:rPr>
                        </m:ctrlPr>
                      </m:dPr>
                      <m:e>
                        <m:nary>
                          <m:naryPr>
                            <m:chr m:val="∑"/>
                            <m:ctrlPr>
                              <a:rPr lang="en-US" altLang="zh-CN" sz="1600" i="1">
                                <a:latin typeface="Cambria Math" panose="02040503050406030204" pitchFamily="18" charset="0"/>
                              </a:rPr>
                            </m:ctrlPr>
                          </m:naryPr>
                          <m:sub>
                            <m:r>
                              <m:rPr>
                                <m:brk m:alnAt="23"/>
                              </m:rPr>
                              <a:rPr lang="en-US" altLang="zh-CN" sz="1600" i="1">
                                <a:latin typeface="Cambria Math" panose="02040503050406030204" pitchFamily="18" charset="0"/>
                              </a:rPr>
                              <m:t>𝑘</m:t>
                            </m:r>
                            <m:r>
                              <a:rPr lang="en-US" altLang="zh-CN" sz="1600" i="1">
                                <a:latin typeface="Cambria Math" panose="02040503050406030204" pitchFamily="18" charset="0"/>
                              </a:rPr>
                              <m:t>=1</m:t>
                            </m:r>
                          </m:sub>
                          <m:sup>
                            <m:r>
                              <a:rPr lang="en-US" altLang="zh-CN" sz="1600" i="1">
                                <a:latin typeface="Cambria Math" panose="02040503050406030204" pitchFamily="18" charset="0"/>
                              </a:rPr>
                              <m:t>𝐾</m:t>
                            </m:r>
                          </m:sup>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𝑤</m:t>
                                </m:r>
                              </m:e>
                              <m:sub>
                                <m:r>
                                  <a:rPr lang="en-US" altLang="zh-CN" sz="1600" i="1">
                                    <a:latin typeface="Cambria Math" panose="02040503050406030204" pitchFamily="18" charset="0"/>
                                  </a:rPr>
                                  <m:t>1</m:t>
                                </m:r>
                                <m:r>
                                  <a:rPr lang="en-US" altLang="zh-CN" sz="1600" i="1">
                                    <a:latin typeface="Cambria Math" panose="02040503050406030204" pitchFamily="18" charset="0"/>
                                  </a:rPr>
                                  <m:t>𝑘</m:t>
                                </m:r>
                              </m:sub>
                            </m:sSub>
                          </m:e>
                        </m:nary>
                        <m:sSub>
                          <m:sSubPr>
                            <m:ctrlPr>
                              <a:rPr lang="en-US" sz="1600" i="1">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panose="02040503050406030204" pitchFamily="18" charset="0"/>
                                  </a:rPr>
                                  <m:t>𝑌</m:t>
                                </m:r>
                              </m:e>
                            </m:acc>
                          </m:e>
                          <m:sub>
                            <m:r>
                              <a:rPr lang="en-US" sz="1600" i="1">
                                <a:latin typeface="Cambria Math" panose="02040503050406030204" pitchFamily="18" charset="0"/>
                              </a:rPr>
                              <m:t>1</m:t>
                            </m:r>
                            <m:r>
                              <a:rPr lang="en-US" sz="1600" i="1">
                                <a:latin typeface="Cambria Math" panose="02040503050406030204" pitchFamily="18" charset="0"/>
                              </a:rPr>
                              <m:t>𝑘</m:t>
                            </m:r>
                          </m:sub>
                        </m:sSub>
                      </m:e>
                    </m:d>
                    <m:r>
                      <a:rPr lang="en-US" sz="1600" i="1">
                        <a:latin typeface="Cambria Math" panose="02040503050406030204" pitchFamily="18" charset="0"/>
                      </a:rPr>
                      <m:t>+</m:t>
                    </m:r>
                    <m:r>
                      <a:rPr lang="en-US" sz="1600" i="1">
                        <a:latin typeface="Cambria Math" panose="02040503050406030204" pitchFamily="18" charset="0"/>
                      </a:rPr>
                      <m:t>𝑉𝑎𝑟</m:t>
                    </m:r>
                    <m:d>
                      <m:dPr>
                        <m:ctrlPr>
                          <a:rPr lang="en-US" sz="1600" i="1">
                            <a:latin typeface="Cambria Math" panose="02040503050406030204" pitchFamily="18" charset="0"/>
                          </a:rPr>
                        </m:ctrlPr>
                      </m:dPr>
                      <m:e>
                        <m:nary>
                          <m:naryPr>
                            <m:chr m:val="∑"/>
                            <m:ctrlPr>
                              <a:rPr lang="en-US" altLang="zh-CN" sz="1600" i="1">
                                <a:latin typeface="Cambria Math" panose="02040503050406030204" pitchFamily="18" charset="0"/>
                              </a:rPr>
                            </m:ctrlPr>
                          </m:naryPr>
                          <m:sub>
                            <m:r>
                              <m:rPr>
                                <m:brk m:alnAt="23"/>
                              </m:rPr>
                              <a:rPr lang="en-US" altLang="zh-CN" sz="1600" i="1">
                                <a:latin typeface="Cambria Math" panose="02040503050406030204" pitchFamily="18" charset="0"/>
                              </a:rPr>
                              <m:t>𝑘</m:t>
                            </m:r>
                            <m:r>
                              <a:rPr lang="en-US" altLang="zh-CN" sz="1600" i="1">
                                <a:latin typeface="Cambria Math" panose="02040503050406030204" pitchFamily="18" charset="0"/>
                              </a:rPr>
                              <m:t>=1</m:t>
                            </m:r>
                          </m:sub>
                          <m:sup>
                            <m:r>
                              <a:rPr lang="en-US" altLang="zh-CN" sz="1600" i="1">
                                <a:latin typeface="Cambria Math" panose="02040503050406030204" pitchFamily="18" charset="0"/>
                              </a:rPr>
                              <m:t>𝐾</m:t>
                            </m:r>
                          </m:sup>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𝑤</m:t>
                                </m:r>
                              </m:e>
                              <m:sub>
                                <m:r>
                                  <a:rPr lang="en-US" altLang="zh-CN" sz="1600" i="1">
                                    <a:latin typeface="Cambria Math" panose="02040503050406030204" pitchFamily="18" charset="0"/>
                                  </a:rPr>
                                  <m:t>2</m:t>
                                </m:r>
                                <m:r>
                                  <a:rPr lang="en-US" altLang="zh-CN" sz="1600" i="1">
                                    <a:latin typeface="Cambria Math" panose="02040503050406030204" pitchFamily="18" charset="0"/>
                                  </a:rPr>
                                  <m:t>𝑘</m:t>
                                </m:r>
                              </m:sub>
                            </m:sSub>
                          </m:e>
                        </m:nary>
                        <m:sSub>
                          <m:sSubPr>
                            <m:ctrlPr>
                              <a:rPr lang="en-US" sz="1600" i="1">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panose="02040503050406030204" pitchFamily="18" charset="0"/>
                                  </a:rPr>
                                  <m:t>𝑌</m:t>
                                </m:r>
                              </m:e>
                            </m:acc>
                          </m:e>
                          <m:sub>
                            <m:r>
                              <a:rPr lang="en-US" sz="1600" i="1">
                                <a:latin typeface="Cambria Math" panose="02040503050406030204" pitchFamily="18" charset="0"/>
                              </a:rPr>
                              <m:t>2</m:t>
                            </m:r>
                            <m:r>
                              <a:rPr lang="en-US" sz="1600" i="1">
                                <a:latin typeface="Cambria Math" panose="02040503050406030204" pitchFamily="18" charset="0"/>
                              </a:rPr>
                              <m:t>𝑘</m:t>
                            </m:r>
                          </m:sub>
                        </m:sSub>
                      </m:e>
                    </m:d>
                    <m:r>
                      <a:rPr lang="en-US" sz="1600" b="0" i="1" smtClean="0">
                        <a:latin typeface="Cambria Math" panose="02040503050406030204" pitchFamily="18" charset="0"/>
                      </a:rPr>
                      <m:t>=</m:t>
                    </m:r>
                    <m:sSubSup>
                      <m:sSubSupPr>
                        <m:ctrlPr>
                          <a:rPr lang="en-US" sz="1600" i="1">
                            <a:latin typeface="Cambria Math" panose="02040503050406030204" pitchFamily="18" charset="0"/>
                          </a:rPr>
                        </m:ctrlPr>
                      </m:sSubSupPr>
                      <m:e>
                        <m:nary>
                          <m:naryPr>
                            <m:chr m:val="∑"/>
                            <m:ctrlPr>
                              <a:rPr lang="en-US" altLang="zh-CN" sz="1600" i="1">
                                <a:latin typeface="Cambria Math" panose="02040503050406030204" pitchFamily="18" charset="0"/>
                              </a:rPr>
                            </m:ctrlPr>
                          </m:naryPr>
                          <m:sub>
                            <m:r>
                              <m:rPr>
                                <m:brk m:alnAt="23"/>
                              </m:rPr>
                              <a:rPr lang="en-US" altLang="zh-CN" sz="1600" i="1">
                                <a:latin typeface="Cambria Math" panose="02040503050406030204" pitchFamily="18" charset="0"/>
                              </a:rPr>
                              <m:t>𝑘</m:t>
                            </m:r>
                            <m:r>
                              <a:rPr lang="en-US" altLang="zh-CN" sz="1600" i="1">
                                <a:latin typeface="Cambria Math" panose="02040503050406030204" pitchFamily="18" charset="0"/>
                              </a:rPr>
                              <m:t>=1</m:t>
                            </m:r>
                          </m:sub>
                          <m:sup>
                            <m:r>
                              <a:rPr lang="en-US" altLang="zh-CN" sz="1600" i="1">
                                <a:latin typeface="Cambria Math" panose="02040503050406030204" pitchFamily="18" charset="0"/>
                              </a:rPr>
                              <m:t>𝐾</m:t>
                            </m:r>
                          </m:sup>
                          <m:e>
                            <m:sSubSup>
                              <m:sSubSupPr>
                                <m:ctrlPr>
                                  <a:rPr lang="en-US" sz="1600" i="1">
                                    <a:latin typeface="Cambria Math" panose="02040503050406030204" pitchFamily="18" charset="0"/>
                                  </a:rPr>
                                </m:ctrlPr>
                              </m:sSubSupPr>
                              <m:e>
                                <m:r>
                                  <a:rPr lang="en-US" sz="1600" b="0" i="1" smtClean="0">
                                    <a:latin typeface="Cambria Math" panose="02040503050406030204" pitchFamily="18" charset="0"/>
                                  </a:rPr>
                                  <m:t>𝑤</m:t>
                                </m:r>
                              </m:e>
                              <m:sub>
                                <m:r>
                                  <a:rPr lang="en-US" sz="1600" b="0" i="1" smtClean="0">
                                    <a:latin typeface="Cambria Math" panose="02040503050406030204" pitchFamily="18" charset="0"/>
                                    <a:ea typeface="Cambria Math" panose="02040503050406030204" pitchFamily="18" charset="0"/>
                                  </a:rPr>
                                  <m:t>1</m:t>
                                </m:r>
                                <m:r>
                                  <a:rPr lang="en-US" sz="1600" i="1">
                                    <a:latin typeface="Cambria Math" panose="02040503050406030204" pitchFamily="18" charset="0"/>
                                  </a:rPr>
                                  <m:t>𝑘</m:t>
                                </m:r>
                              </m:sub>
                              <m:sup>
                                <m:r>
                                  <a:rPr lang="en-US" sz="1600" i="1">
                                    <a:latin typeface="Cambria Math" panose="02040503050406030204" pitchFamily="18" charset="0"/>
                                  </a:rPr>
                                  <m:t>2</m:t>
                                </m:r>
                              </m:sup>
                            </m:sSubSup>
                          </m:e>
                        </m:nary>
                        <m:r>
                          <a:rPr lang="en-US" sz="1600" i="1">
                            <a:latin typeface="Cambria Math" panose="02040503050406030204" pitchFamily="18" charset="0"/>
                            <a:ea typeface="Cambria Math" panose="02040503050406030204" pitchFamily="18" charset="0"/>
                          </a:rPr>
                          <m:t>𝜎</m:t>
                        </m:r>
                      </m:e>
                      <m:sub>
                        <m:r>
                          <a:rPr lang="en-US" sz="1600" b="0" i="1" smtClean="0">
                            <a:latin typeface="Cambria Math" panose="02040503050406030204" pitchFamily="18" charset="0"/>
                            <a:ea typeface="Cambria Math" panose="02040503050406030204" pitchFamily="18" charset="0"/>
                          </a:rPr>
                          <m:t>1</m:t>
                        </m:r>
                        <m:r>
                          <a:rPr lang="en-US" sz="1600" i="1">
                            <a:latin typeface="Cambria Math" panose="02040503050406030204" pitchFamily="18" charset="0"/>
                          </a:rPr>
                          <m:t>𝑘</m:t>
                        </m:r>
                      </m:sub>
                      <m:sup>
                        <m:r>
                          <a:rPr lang="en-US" sz="1600" i="1">
                            <a:latin typeface="Cambria Math" panose="02040503050406030204" pitchFamily="18" charset="0"/>
                          </a:rPr>
                          <m:t>2</m:t>
                        </m:r>
                      </m:sup>
                    </m:sSubSup>
                    <m:r>
                      <a:rPr lang="en-US" sz="1600" b="0" i="1" smtClean="0">
                        <a:latin typeface="Cambria Math" panose="02040503050406030204" pitchFamily="18" charset="0"/>
                      </a:rPr>
                      <m:t>+</m:t>
                    </m:r>
                    <m:sSubSup>
                      <m:sSubSupPr>
                        <m:ctrlPr>
                          <a:rPr lang="en-US" sz="1600" i="1">
                            <a:latin typeface="Cambria Math" panose="02040503050406030204" pitchFamily="18" charset="0"/>
                          </a:rPr>
                        </m:ctrlPr>
                      </m:sSubSupPr>
                      <m:e>
                        <m:nary>
                          <m:naryPr>
                            <m:chr m:val="∑"/>
                            <m:ctrlPr>
                              <a:rPr lang="en-US" altLang="zh-CN" sz="1600" i="1">
                                <a:latin typeface="Cambria Math" panose="02040503050406030204" pitchFamily="18" charset="0"/>
                              </a:rPr>
                            </m:ctrlPr>
                          </m:naryPr>
                          <m:sub>
                            <m:r>
                              <m:rPr>
                                <m:brk m:alnAt="23"/>
                              </m:rPr>
                              <a:rPr lang="en-US" altLang="zh-CN" sz="1600" i="1">
                                <a:latin typeface="Cambria Math" panose="02040503050406030204" pitchFamily="18" charset="0"/>
                              </a:rPr>
                              <m:t>𝑘</m:t>
                            </m:r>
                            <m:r>
                              <a:rPr lang="en-US" altLang="zh-CN" sz="1600" i="1">
                                <a:latin typeface="Cambria Math" panose="02040503050406030204" pitchFamily="18" charset="0"/>
                              </a:rPr>
                              <m:t>=1</m:t>
                            </m:r>
                          </m:sub>
                          <m:sup>
                            <m:r>
                              <a:rPr lang="en-US" altLang="zh-CN" sz="1600" i="1">
                                <a:latin typeface="Cambria Math" panose="02040503050406030204" pitchFamily="18" charset="0"/>
                              </a:rPr>
                              <m:t>𝐾</m:t>
                            </m:r>
                          </m:sup>
                          <m:e>
                            <m:sSubSup>
                              <m:sSubSupPr>
                                <m:ctrlPr>
                                  <a:rPr lang="en-US" sz="1600" i="1">
                                    <a:latin typeface="Cambria Math" panose="02040503050406030204" pitchFamily="18" charset="0"/>
                                  </a:rPr>
                                </m:ctrlPr>
                              </m:sSubSupPr>
                              <m:e>
                                <m:r>
                                  <a:rPr lang="en-US" sz="1600" i="1">
                                    <a:latin typeface="Cambria Math" panose="02040503050406030204" pitchFamily="18" charset="0"/>
                                  </a:rPr>
                                  <m:t>𝑤</m:t>
                                </m:r>
                              </m:e>
                              <m:sub>
                                <m:r>
                                  <a:rPr lang="en-US" sz="1600" b="0" i="1" smtClean="0">
                                    <a:latin typeface="Cambria Math" panose="02040503050406030204" pitchFamily="18" charset="0"/>
                                  </a:rPr>
                                  <m:t>2</m:t>
                                </m:r>
                                <m:r>
                                  <a:rPr lang="en-US" sz="1600" i="1">
                                    <a:latin typeface="Cambria Math" panose="02040503050406030204" pitchFamily="18" charset="0"/>
                                  </a:rPr>
                                  <m:t>𝑘</m:t>
                                </m:r>
                              </m:sub>
                              <m:sup>
                                <m:r>
                                  <a:rPr lang="en-US" sz="1600" i="1">
                                    <a:latin typeface="Cambria Math" panose="02040503050406030204" pitchFamily="18" charset="0"/>
                                  </a:rPr>
                                  <m:t>2</m:t>
                                </m:r>
                              </m:sup>
                            </m:sSubSup>
                          </m:e>
                        </m:nary>
                        <m:r>
                          <a:rPr lang="en-US" sz="1600" i="1">
                            <a:latin typeface="Cambria Math" panose="02040503050406030204" pitchFamily="18" charset="0"/>
                            <a:ea typeface="Cambria Math" panose="02040503050406030204" pitchFamily="18" charset="0"/>
                          </a:rPr>
                          <m:t>𝜎</m:t>
                        </m:r>
                      </m:e>
                      <m:sub>
                        <m:r>
                          <a:rPr lang="en-US" sz="1600" b="0" i="1" smtClean="0">
                            <a:latin typeface="Cambria Math" panose="02040503050406030204" pitchFamily="18" charset="0"/>
                            <a:ea typeface="Cambria Math" panose="02040503050406030204" pitchFamily="18" charset="0"/>
                          </a:rPr>
                          <m:t>2</m:t>
                        </m:r>
                        <m:r>
                          <a:rPr lang="en-US" sz="1600" i="1">
                            <a:latin typeface="Cambria Math" panose="02040503050406030204" pitchFamily="18" charset="0"/>
                          </a:rPr>
                          <m:t>𝑘</m:t>
                        </m:r>
                      </m:sub>
                      <m:sup>
                        <m:r>
                          <a:rPr lang="en-US" sz="1600" i="1">
                            <a:latin typeface="Cambria Math" panose="02040503050406030204" pitchFamily="18" charset="0"/>
                          </a:rPr>
                          <m:t>2</m:t>
                        </m:r>
                      </m:sup>
                    </m:sSubSup>
                  </m:oMath>
                </a14:m>
                <a:r>
                  <a:rPr lang="en-CA" sz="1600" dirty="0">
                    <a:latin typeface="Calibri" panose="020F0502020204030204" pitchFamily="34" charset="0"/>
                  </a:rPr>
                  <a:t>, </a:t>
                </a:r>
              </a:p>
              <a:p>
                <a:pPr marL="457200" lvl="1" indent="0">
                  <a:buNone/>
                </a:pPr>
                <a:r>
                  <a:rPr lang="en-CA" sz="1600" dirty="0">
                    <a:latin typeface="Calibri" panose="020F0502020204030204" pitchFamily="34" charset="0"/>
                  </a:rPr>
                  <a:t>with</a:t>
                </a:r>
              </a:p>
              <a:p>
                <a:pPr marL="457200" lvl="1" indent="0">
                  <a:buNone/>
                </a:pPr>
                <a:endParaRPr lang="en-CA" sz="1600" dirty="0">
                  <a:latin typeface="Calibri" panose="020F0502020204030204" pitchFamily="34" charset="0"/>
                </a:endParaRPr>
              </a:p>
              <a:p>
                <a:pPr marL="457200" lvl="1" indent="0">
                  <a:buNone/>
                </a:pPr>
                <a:r>
                  <a:rPr lang="en-US" sz="1600" b="0" dirty="0"/>
                  <a:t> </a:t>
                </a:r>
                <a14:m>
                  <m:oMath xmlns:m="http://schemas.openxmlformats.org/officeDocument/2006/math">
                    <m:nary>
                      <m:naryPr>
                        <m:chr m:val="∑"/>
                        <m:supHide m:val="on"/>
                        <m:ctrlPr>
                          <a:rPr lang="en-US" sz="1600" b="0" i="1" smtClean="0">
                            <a:latin typeface="Cambria Math" panose="02040503050406030204" pitchFamily="18" charset="0"/>
                          </a:rPr>
                        </m:ctrlPr>
                      </m:naryPr>
                      <m:sub>
                        <m:r>
                          <m:rPr>
                            <m:brk m:alnAt="7"/>
                          </m:rPr>
                          <a:rPr lang="en-US" sz="1600" b="0" i="1" smtClean="0">
                            <a:latin typeface="Cambria Math" panose="02040503050406030204" pitchFamily="18" charset="0"/>
                          </a:rPr>
                          <m:t>𝑘</m:t>
                        </m:r>
                      </m:sub>
                      <m:sup/>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𝑤</m:t>
                            </m:r>
                          </m:e>
                          <m:sub>
                            <m:r>
                              <a:rPr lang="en-US" altLang="zh-CN" sz="1600" i="1">
                                <a:latin typeface="Cambria Math" panose="02040503050406030204" pitchFamily="18" charset="0"/>
                              </a:rPr>
                              <m:t>1</m:t>
                            </m:r>
                            <m:r>
                              <a:rPr lang="en-US" altLang="zh-CN" sz="1600" i="1">
                                <a:latin typeface="Cambria Math" panose="02040503050406030204" pitchFamily="18" charset="0"/>
                              </a:rPr>
                              <m:t>𝑘</m:t>
                            </m:r>
                          </m:sub>
                        </m:sSub>
                        <m:r>
                          <a:rPr lang="en-US" sz="1600" b="0" i="1" smtClean="0">
                            <a:latin typeface="Cambria Math" panose="02040503050406030204" pitchFamily="18" charset="0"/>
                          </a:rPr>
                          <m:t>=1</m:t>
                        </m:r>
                      </m:e>
                    </m:nary>
                  </m:oMath>
                </a14:m>
                <a:r>
                  <a:rPr lang="en-CA" sz="1600" dirty="0">
                    <a:latin typeface="Calibri" panose="020F0502020204030204" pitchFamily="34" charset="0"/>
                  </a:rPr>
                  <a:t> and</a:t>
                </a:r>
                <a:r>
                  <a:rPr lang="en-US" sz="1600" dirty="0"/>
                  <a:t> </a:t>
                </a:r>
                <a14:m>
                  <m:oMath xmlns:m="http://schemas.openxmlformats.org/officeDocument/2006/math">
                    <m:nary>
                      <m:naryPr>
                        <m:chr m:val="∑"/>
                        <m:supHide m:val="on"/>
                        <m:ctrlPr>
                          <a:rPr lang="en-US" sz="1600" i="1">
                            <a:latin typeface="Cambria Math" panose="02040503050406030204" pitchFamily="18" charset="0"/>
                          </a:rPr>
                        </m:ctrlPr>
                      </m:naryPr>
                      <m:sub>
                        <m:r>
                          <m:rPr>
                            <m:brk m:alnAt="7"/>
                          </m:rPr>
                          <a:rPr lang="en-US" sz="1600" i="1">
                            <a:latin typeface="Cambria Math" panose="02040503050406030204" pitchFamily="18" charset="0"/>
                          </a:rPr>
                          <m:t>𝑘</m:t>
                        </m:r>
                      </m:sub>
                      <m:sup/>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𝑤</m:t>
                            </m:r>
                          </m:e>
                          <m:sub>
                            <m:r>
                              <a:rPr lang="en-US" altLang="zh-CN" sz="1600" b="0" i="1" smtClean="0">
                                <a:latin typeface="Cambria Math" panose="02040503050406030204" pitchFamily="18" charset="0"/>
                              </a:rPr>
                              <m:t>2</m:t>
                            </m:r>
                            <m:r>
                              <a:rPr lang="en-US" altLang="zh-CN" sz="1600" i="1">
                                <a:latin typeface="Cambria Math" panose="02040503050406030204" pitchFamily="18" charset="0"/>
                              </a:rPr>
                              <m:t>𝑘</m:t>
                            </m:r>
                          </m:sub>
                        </m:sSub>
                        <m:r>
                          <a:rPr lang="en-US" sz="1600" i="1">
                            <a:latin typeface="Cambria Math" panose="02040503050406030204" pitchFamily="18" charset="0"/>
                          </a:rPr>
                          <m:t>=1</m:t>
                        </m:r>
                      </m:e>
                    </m:nary>
                  </m:oMath>
                </a14:m>
                <a:r>
                  <a:rPr lang="en-CA" sz="1600" dirty="0">
                    <a:latin typeface="Calibri" panose="020F0502020204030204" pitchFamily="34" charset="0"/>
                  </a:rPr>
                  <a:t> </a:t>
                </a:r>
              </a:p>
              <a:p>
                <a:pPr marL="457200" lvl="1" indent="0">
                  <a:buNone/>
                </a:pPr>
                <a:endParaRPr lang="en-CA" sz="1300" dirty="0">
                  <a:latin typeface="Calibri" panose="020F0502020204030204" pitchFamily="34" charset="0"/>
                </a:endParaRPr>
              </a:p>
              <a:p>
                <a:pPr marL="0" indent="0">
                  <a:buNone/>
                </a:pPr>
                <a:r>
                  <a:rPr lang="en-CA" sz="1700" dirty="0">
                    <a:latin typeface="Calibri" panose="020F0502020204030204" pitchFamily="34" charset="0"/>
                  </a:rPr>
                  <a:t>Then</a:t>
                </a:r>
                <a:r>
                  <a:rPr lang="en-US" sz="1700" dirty="0">
                    <a:latin typeface="Calibri" panose="020F0502020204030204" pitchFamily="34" charset="0"/>
                  </a:rPr>
                  <a:t> using Lagrange multipliers </a:t>
                </a:r>
                <a14:m>
                  <m:oMath xmlns:m="http://schemas.openxmlformats.org/officeDocument/2006/math">
                    <m:sSub>
                      <m:sSubPr>
                        <m:ctrlPr>
                          <a:rPr lang="en-US" altLang="zh-CN" sz="1700" i="1" smtClean="0">
                            <a:latin typeface="Cambria Math" panose="02040503050406030204" pitchFamily="18" charset="0"/>
                          </a:rPr>
                        </m:ctrlPr>
                      </m:sSubPr>
                      <m:e>
                        <m:r>
                          <a:rPr lang="zh-CN" altLang="en-US" sz="1700" i="1" smtClean="0">
                            <a:latin typeface="Cambria Math" panose="02040503050406030204" pitchFamily="18" charset="0"/>
                          </a:rPr>
                          <m:t>𝜆</m:t>
                        </m:r>
                      </m:e>
                      <m:sub>
                        <m:r>
                          <a:rPr lang="en-US" altLang="zh-CN" sz="1700" b="0" i="1" smtClean="0">
                            <a:latin typeface="Cambria Math" panose="02040503050406030204" pitchFamily="18" charset="0"/>
                          </a:rPr>
                          <m:t>1</m:t>
                        </m:r>
                      </m:sub>
                    </m:sSub>
                    <m:r>
                      <a:rPr lang="en-US" altLang="zh-CN" sz="1700" b="0" i="1" smtClean="0">
                        <a:latin typeface="Cambria Math" panose="02040503050406030204" pitchFamily="18" charset="0"/>
                      </a:rPr>
                      <m:t> </m:t>
                    </m:r>
                  </m:oMath>
                </a14:m>
                <a:r>
                  <a:rPr lang="en-CA" sz="1700" dirty="0">
                    <a:latin typeface="Calibri" panose="020F0502020204030204" pitchFamily="34" charset="0"/>
                  </a:rPr>
                  <a:t>and</a:t>
                </a:r>
                <a:r>
                  <a:rPr lang="en-US" altLang="zh-CN" sz="1700" dirty="0"/>
                  <a:t> </a:t>
                </a:r>
                <a14:m>
                  <m:oMath xmlns:m="http://schemas.openxmlformats.org/officeDocument/2006/math">
                    <m:sSub>
                      <m:sSubPr>
                        <m:ctrlPr>
                          <a:rPr lang="en-US" altLang="zh-CN" sz="1700" i="1">
                            <a:latin typeface="Cambria Math" panose="02040503050406030204" pitchFamily="18" charset="0"/>
                          </a:rPr>
                        </m:ctrlPr>
                      </m:sSubPr>
                      <m:e>
                        <m:r>
                          <a:rPr lang="zh-CN" altLang="en-US" sz="1700" i="1">
                            <a:latin typeface="Cambria Math" panose="02040503050406030204" pitchFamily="18" charset="0"/>
                          </a:rPr>
                          <m:t>𝜆</m:t>
                        </m:r>
                      </m:e>
                      <m:sub>
                        <m:r>
                          <a:rPr lang="en-US" altLang="zh-CN" sz="1700" b="0" i="1" smtClean="0">
                            <a:latin typeface="Cambria Math" panose="02040503050406030204" pitchFamily="18" charset="0"/>
                          </a:rPr>
                          <m:t>2</m:t>
                        </m:r>
                      </m:sub>
                    </m:sSub>
                    <m:r>
                      <a:rPr lang="en-US" altLang="zh-CN" sz="1700" i="1">
                        <a:latin typeface="Cambria Math" panose="02040503050406030204" pitchFamily="18" charset="0"/>
                      </a:rPr>
                      <m:t> </m:t>
                    </m:r>
                  </m:oMath>
                </a14:m>
                <a:r>
                  <a:rPr lang="en-CA" sz="1700" dirty="0">
                    <a:latin typeface="Calibri" panose="020F0502020204030204" pitchFamily="34" charset="0"/>
                  </a:rPr>
                  <a:t>to express the constraints, we write the variance as</a:t>
                </a:r>
              </a:p>
              <a:p>
                <a:pPr marL="0" indent="0">
                  <a:buNone/>
                </a:pPr>
                <a:endParaRPr lang="en-CA" sz="1700" dirty="0">
                  <a:latin typeface="Calibri" panose="020F0502020204030204" pitchFamily="34" charset="0"/>
                </a:endParaRPr>
              </a:p>
              <a:p>
                <a:pPr marL="457200" lvl="1" indent="0">
                  <a:buNone/>
                </a:pPr>
                <a14:m>
                  <m:oMath xmlns:m="http://schemas.openxmlformats.org/officeDocument/2006/math">
                    <m:r>
                      <a:rPr lang="en-US" altLang="zh-CN" sz="1700" i="1">
                        <a:latin typeface="Cambria Math" panose="02040503050406030204" pitchFamily="18" charset="0"/>
                      </a:rPr>
                      <m:t>𝑉𝑎𝑟</m:t>
                    </m:r>
                    <m:r>
                      <a:rPr lang="en-US" altLang="zh-CN" sz="1700" i="1">
                        <a:latin typeface="Cambria Math" panose="02040503050406030204" pitchFamily="18" charset="0"/>
                      </a:rPr>
                      <m:t>(</m:t>
                    </m:r>
                    <m:sSup>
                      <m:sSupPr>
                        <m:ctrlPr>
                          <a:rPr lang="en-US" sz="1700" i="1">
                            <a:latin typeface="Cambria Math" panose="02040503050406030204" pitchFamily="18" charset="0"/>
                          </a:rPr>
                        </m:ctrlPr>
                      </m:sSupPr>
                      <m:e>
                        <m:acc>
                          <m:accPr>
                            <m:chr m:val="̂"/>
                            <m:ctrlPr>
                              <a:rPr lang="en-US" altLang="zh-CN" sz="1700" i="1">
                                <a:latin typeface="Cambria Math" panose="02040503050406030204" pitchFamily="18" charset="0"/>
                              </a:rPr>
                            </m:ctrlPr>
                          </m:accPr>
                          <m:e>
                            <m:r>
                              <a:rPr lang="en-US" sz="1700" i="1">
                                <a:latin typeface="Cambria Math" panose="02040503050406030204" pitchFamily="18" charset="0"/>
                                <a:ea typeface="Cambria Math" panose="02040503050406030204" pitchFamily="18" charset="0"/>
                              </a:rPr>
                              <m:t>𝛽</m:t>
                            </m:r>
                          </m:e>
                        </m:acc>
                      </m:e>
                      <m:sup>
                        <m:r>
                          <a:rPr lang="en-US" sz="1700" i="1">
                            <a:latin typeface="Cambria Math" panose="02040503050406030204" pitchFamily="18" charset="0"/>
                          </a:rPr>
                          <m:t>∗</m:t>
                        </m:r>
                      </m:sup>
                    </m:sSup>
                    <m:r>
                      <a:rPr lang="en-US" altLang="zh-CN" sz="1700" i="1">
                        <a:latin typeface="Cambria Math" panose="02040503050406030204" pitchFamily="18" charset="0"/>
                      </a:rPr>
                      <m:t>)</m:t>
                    </m:r>
                    <m:r>
                      <a:rPr lang="en-US" sz="1700" b="0" i="0" smtClean="0">
                        <a:latin typeface="Cambria Math" panose="02040503050406030204" pitchFamily="18" charset="0"/>
                      </a:rPr>
                      <m:t>=</m:t>
                    </m:r>
                    <m:sSubSup>
                      <m:sSubSupPr>
                        <m:ctrlPr>
                          <a:rPr lang="en-US" sz="1700" i="1">
                            <a:latin typeface="Cambria Math" panose="02040503050406030204" pitchFamily="18" charset="0"/>
                          </a:rPr>
                        </m:ctrlPr>
                      </m:sSubSupPr>
                      <m:e>
                        <m:nary>
                          <m:naryPr>
                            <m:chr m:val="∑"/>
                            <m:ctrlPr>
                              <a:rPr lang="en-US" altLang="zh-CN" sz="1700" i="1">
                                <a:latin typeface="Cambria Math" panose="02040503050406030204" pitchFamily="18" charset="0"/>
                              </a:rPr>
                            </m:ctrlPr>
                          </m:naryPr>
                          <m:sub>
                            <m:r>
                              <m:rPr>
                                <m:brk m:alnAt="23"/>
                              </m:rPr>
                              <a:rPr lang="en-US" altLang="zh-CN" sz="1700" i="1">
                                <a:latin typeface="Cambria Math" panose="02040503050406030204" pitchFamily="18" charset="0"/>
                              </a:rPr>
                              <m:t>𝑘</m:t>
                            </m:r>
                            <m:r>
                              <a:rPr lang="en-US" altLang="zh-CN" sz="1700" i="1">
                                <a:latin typeface="Cambria Math" panose="02040503050406030204" pitchFamily="18" charset="0"/>
                              </a:rPr>
                              <m:t>=1</m:t>
                            </m:r>
                          </m:sub>
                          <m:sup>
                            <m:r>
                              <a:rPr lang="en-US" altLang="zh-CN" sz="1700" i="1">
                                <a:latin typeface="Cambria Math" panose="02040503050406030204" pitchFamily="18" charset="0"/>
                              </a:rPr>
                              <m:t>𝐾</m:t>
                            </m:r>
                          </m:sup>
                          <m:e>
                            <m:sSubSup>
                              <m:sSubSupPr>
                                <m:ctrlPr>
                                  <a:rPr lang="en-US" sz="1700" i="1">
                                    <a:latin typeface="Cambria Math" panose="02040503050406030204" pitchFamily="18" charset="0"/>
                                  </a:rPr>
                                </m:ctrlPr>
                              </m:sSubSupPr>
                              <m:e>
                                <m:r>
                                  <a:rPr lang="en-US" sz="1700" i="1">
                                    <a:latin typeface="Cambria Math" panose="02040503050406030204" pitchFamily="18" charset="0"/>
                                  </a:rPr>
                                  <m:t>𝑤</m:t>
                                </m:r>
                              </m:e>
                              <m:sub>
                                <m:r>
                                  <a:rPr lang="en-US" sz="1700" i="1">
                                    <a:latin typeface="Cambria Math" panose="02040503050406030204" pitchFamily="18" charset="0"/>
                                    <a:ea typeface="Cambria Math" panose="02040503050406030204" pitchFamily="18" charset="0"/>
                                  </a:rPr>
                                  <m:t>1</m:t>
                                </m:r>
                                <m:r>
                                  <a:rPr lang="en-US" sz="1700" i="1">
                                    <a:latin typeface="Cambria Math" panose="02040503050406030204" pitchFamily="18" charset="0"/>
                                  </a:rPr>
                                  <m:t>𝑘</m:t>
                                </m:r>
                              </m:sub>
                              <m:sup>
                                <m:r>
                                  <a:rPr lang="en-US" sz="1700" i="1">
                                    <a:latin typeface="Cambria Math" panose="02040503050406030204" pitchFamily="18" charset="0"/>
                                  </a:rPr>
                                  <m:t>2</m:t>
                                </m:r>
                              </m:sup>
                            </m:sSubSup>
                          </m:e>
                        </m:nary>
                        <m:r>
                          <a:rPr lang="en-US" sz="1700" i="1">
                            <a:latin typeface="Cambria Math" panose="02040503050406030204" pitchFamily="18" charset="0"/>
                            <a:ea typeface="Cambria Math" panose="02040503050406030204" pitchFamily="18" charset="0"/>
                          </a:rPr>
                          <m:t>𝜎</m:t>
                        </m:r>
                      </m:e>
                      <m:sub>
                        <m:r>
                          <a:rPr lang="en-US" sz="1700" i="1">
                            <a:latin typeface="Cambria Math" panose="02040503050406030204" pitchFamily="18" charset="0"/>
                            <a:ea typeface="Cambria Math" panose="02040503050406030204" pitchFamily="18" charset="0"/>
                          </a:rPr>
                          <m:t>1</m:t>
                        </m:r>
                        <m:r>
                          <a:rPr lang="en-US" sz="1700" i="1">
                            <a:latin typeface="Cambria Math" panose="02040503050406030204" pitchFamily="18" charset="0"/>
                          </a:rPr>
                          <m:t>𝑘</m:t>
                        </m:r>
                      </m:sub>
                      <m:sup>
                        <m:r>
                          <a:rPr lang="en-US" sz="1700" i="1">
                            <a:latin typeface="Cambria Math" panose="02040503050406030204" pitchFamily="18" charset="0"/>
                          </a:rPr>
                          <m:t>2</m:t>
                        </m:r>
                      </m:sup>
                    </m:sSubSup>
                    <m:r>
                      <a:rPr lang="en-US" sz="1700" i="1">
                        <a:latin typeface="Cambria Math" panose="02040503050406030204" pitchFamily="18" charset="0"/>
                      </a:rPr>
                      <m:t>+</m:t>
                    </m:r>
                    <m:sSubSup>
                      <m:sSubSupPr>
                        <m:ctrlPr>
                          <a:rPr lang="en-US" sz="1700" i="1">
                            <a:latin typeface="Cambria Math" panose="02040503050406030204" pitchFamily="18" charset="0"/>
                          </a:rPr>
                        </m:ctrlPr>
                      </m:sSubSupPr>
                      <m:e>
                        <m:nary>
                          <m:naryPr>
                            <m:chr m:val="∑"/>
                            <m:ctrlPr>
                              <a:rPr lang="en-US" altLang="zh-CN" sz="1700" i="1">
                                <a:latin typeface="Cambria Math" panose="02040503050406030204" pitchFamily="18" charset="0"/>
                              </a:rPr>
                            </m:ctrlPr>
                          </m:naryPr>
                          <m:sub>
                            <m:r>
                              <m:rPr>
                                <m:brk m:alnAt="23"/>
                              </m:rPr>
                              <a:rPr lang="en-US" altLang="zh-CN" sz="1700" i="1">
                                <a:latin typeface="Cambria Math" panose="02040503050406030204" pitchFamily="18" charset="0"/>
                              </a:rPr>
                              <m:t>𝑘</m:t>
                            </m:r>
                            <m:r>
                              <a:rPr lang="en-US" altLang="zh-CN" sz="1700" i="1">
                                <a:latin typeface="Cambria Math" panose="02040503050406030204" pitchFamily="18" charset="0"/>
                              </a:rPr>
                              <m:t>=1</m:t>
                            </m:r>
                          </m:sub>
                          <m:sup>
                            <m:r>
                              <a:rPr lang="en-US" altLang="zh-CN" sz="1700" i="1">
                                <a:latin typeface="Cambria Math" panose="02040503050406030204" pitchFamily="18" charset="0"/>
                              </a:rPr>
                              <m:t>𝐾</m:t>
                            </m:r>
                          </m:sup>
                          <m:e>
                            <m:sSubSup>
                              <m:sSubSupPr>
                                <m:ctrlPr>
                                  <a:rPr lang="en-US" sz="1700" i="1">
                                    <a:latin typeface="Cambria Math" panose="02040503050406030204" pitchFamily="18" charset="0"/>
                                  </a:rPr>
                                </m:ctrlPr>
                              </m:sSubSupPr>
                              <m:e>
                                <m:r>
                                  <a:rPr lang="en-US" sz="1700" i="1">
                                    <a:latin typeface="Cambria Math" panose="02040503050406030204" pitchFamily="18" charset="0"/>
                                  </a:rPr>
                                  <m:t>𝑤</m:t>
                                </m:r>
                              </m:e>
                              <m:sub>
                                <m:r>
                                  <a:rPr lang="en-US" sz="1700" i="1">
                                    <a:latin typeface="Cambria Math" panose="02040503050406030204" pitchFamily="18" charset="0"/>
                                  </a:rPr>
                                  <m:t>2</m:t>
                                </m:r>
                                <m:r>
                                  <a:rPr lang="en-US" sz="1700" i="1">
                                    <a:latin typeface="Cambria Math" panose="02040503050406030204" pitchFamily="18" charset="0"/>
                                  </a:rPr>
                                  <m:t>𝑘</m:t>
                                </m:r>
                              </m:sub>
                              <m:sup>
                                <m:r>
                                  <a:rPr lang="en-US" sz="1700" i="1">
                                    <a:latin typeface="Cambria Math" panose="02040503050406030204" pitchFamily="18" charset="0"/>
                                  </a:rPr>
                                  <m:t>2</m:t>
                                </m:r>
                              </m:sup>
                            </m:sSubSup>
                          </m:e>
                        </m:nary>
                        <m:r>
                          <a:rPr lang="en-US" sz="1700" i="1">
                            <a:latin typeface="Cambria Math" panose="02040503050406030204" pitchFamily="18" charset="0"/>
                            <a:ea typeface="Cambria Math" panose="02040503050406030204" pitchFamily="18" charset="0"/>
                          </a:rPr>
                          <m:t>𝜎</m:t>
                        </m:r>
                      </m:e>
                      <m:sub>
                        <m:r>
                          <a:rPr lang="en-US" sz="1700" i="1">
                            <a:latin typeface="Cambria Math" panose="02040503050406030204" pitchFamily="18" charset="0"/>
                            <a:ea typeface="Cambria Math" panose="02040503050406030204" pitchFamily="18" charset="0"/>
                          </a:rPr>
                          <m:t>2</m:t>
                        </m:r>
                        <m:r>
                          <a:rPr lang="en-US" sz="1700" i="1">
                            <a:latin typeface="Cambria Math" panose="02040503050406030204" pitchFamily="18" charset="0"/>
                          </a:rPr>
                          <m:t>𝑘</m:t>
                        </m:r>
                      </m:sub>
                      <m:sup>
                        <m:r>
                          <a:rPr lang="en-US" sz="1700" i="1">
                            <a:latin typeface="Cambria Math" panose="02040503050406030204" pitchFamily="18" charset="0"/>
                          </a:rPr>
                          <m:t>2</m:t>
                        </m:r>
                      </m:sup>
                    </m:sSubSup>
                    <m:r>
                      <a:rPr lang="en-US" sz="1700" b="0" i="1" smtClean="0">
                        <a:latin typeface="Cambria Math" panose="02040503050406030204" pitchFamily="18" charset="0"/>
                      </a:rPr>
                      <m:t>+</m:t>
                    </m:r>
                    <m:sSub>
                      <m:sSubPr>
                        <m:ctrlPr>
                          <a:rPr lang="en-US" altLang="zh-CN" sz="1700" i="1">
                            <a:latin typeface="Cambria Math" panose="02040503050406030204" pitchFamily="18" charset="0"/>
                          </a:rPr>
                        </m:ctrlPr>
                      </m:sSubPr>
                      <m:e>
                        <m:r>
                          <a:rPr lang="zh-CN" altLang="en-US" sz="1700" i="1">
                            <a:latin typeface="Cambria Math" panose="02040503050406030204" pitchFamily="18" charset="0"/>
                          </a:rPr>
                          <m:t>𝜆</m:t>
                        </m:r>
                      </m:e>
                      <m:sub>
                        <m:r>
                          <a:rPr lang="en-US" altLang="zh-CN" sz="1700" i="1">
                            <a:latin typeface="Cambria Math" panose="02040503050406030204" pitchFamily="18" charset="0"/>
                          </a:rPr>
                          <m:t>1</m:t>
                        </m:r>
                      </m:sub>
                    </m:sSub>
                    <m:r>
                      <a:rPr lang="en-US" sz="1700" b="0" i="1" smtClean="0">
                        <a:latin typeface="Cambria Math" panose="02040503050406030204" pitchFamily="18" charset="0"/>
                      </a:rPr>
                      <m:t>(</m:t>
                    </m:r>
                    <m:nary>
                      <m:naryPr>
                        <m:chr m:val="∑"/>
                        <m:supHide m:val="on"/>
                        <m:ctrlPr>
                          <a:rPr lang="en-US" sz="1700" i="1">
                            <a:latin typeface="Cambria Math" panose="02040503050406030204" pitchFamily="18" charset="0"/>
                          </a:rPr>
                        </m:ctrlPr>
                      </m:naryPr>
                      <m:sub>
                        <m:r>
                          <m:rPr>
                            <m:brk m:alnAt="7"/>
                          </m:rPr>
                          <a:rPr lang="en-US" sz="1700" i="1">
                            <a:latin typeface="Cambria Math" panose="02040503050406030204" pitchFamily="18" charset="0"/>
                          </a:rPr>
                          <m:t>𝑘</m:t>
                        </m:r>
                      </m:sub>
                      <m:sup/>
                      <m:e>
                        <m:sSub>
                          <m:sSubPr>
                            <m:ctrlPr>
                              <a:rPr lang="en-US" altLang="zh-CN" sz="1700" i="1">
                                <a:latin typeface="Cambria Math" panose="02040503050406030204" pitchFamily="18" charset="0"/>
                              </a:rPr>
                            </m:ctrlPr>
                          </m:sSubPr>
                          <m:e>
                            <m:r>
                              <a:rPr lang="en-US" altLang="zh-CN" sz="1700" i="1">
                                <a:latin typeface="Cambria Math" panose="02040503050406030204" pitchFamily="18" charset="0"/>
                              </a:rPr>
                              <m:t>𝑤</m:t>
                            </m:r>
                          </m:e>
                          <m:sub>
                            <m:r>
                              <a:rPr lang="en-US" altLang="zh-CN" sz="1700" i="1">
                                <a:latin typeface="Cambria Math" panose="02040503050406030204" pitchFamily="18" charset="0"/>
                              </a:rPr>
                              <m:t>1</m:t>
                            </m:r>
                            <m:r>
                              <a:rPr lang="en-US" altLang="zh-CN" sz="1700" i="1">
                                <a:latin typeface="Cambria Math" panose="02040503050406030204" pitchFamily="18" charset="0"/>
                              </a:rPr>
                              <m:t>𝑘</m:t>
                            </m:r>
                          </m:sub>
                        </m:sSub>
                        <m:r>
                          <a:rPr lang="en-US" altLang="zh-CN" sz="1700" b="0" i="1" smtClean="0">
                            <a:latin typeface="Cambria Math" panose="02040503050406030204" pitchFamily="18" charset="0"/>
                          </a:rPr>
                          <m:t>−</m:t>
                        </m:r>
                        <m:r>
                          <a:rPr lang="en-US" sz="1700" i="1">
                            <a:latin typeface="Cambria Math" panose="02040503050406030204" pitchFamily="18" charset="0"/>
                          </a:rPr>
                          <m:t>1</m:t>
                        </m:r>
                      </m:e>
                    </m:nary>
                    <m:r>
                      <a:rPr lang="en-US" sz="1700" b="0" i="1" smtClean="0">
                        <a:latin typeface="Cambria Math" panose="02040503050406030204" pitchFamily="18" charset="0"/>
                      </a:rPr>
                      <m:t>)</m:t>
                    </m:r>
                  </m:oMath>
                </a14:m>
                <a:r>
                  <a:rPr lang="en-CA" sz="1700" dirty="0">
                    <a:latin typeface="Calibri" panose="020F0502020204030204" pitchFamily="34" charset="0"/>
                  </a:rPr>
                  <a:t>+</a:t>
                </a:r>
                <a14:m>
                  <m:oMath xmlns:m="http://schemas.openxmlformats.org/officeDocument/2006/math">
                    <m:sSub>
                      <m:sSubPr>
                        <m:ctrlPr>
                          <a:rPr lang="en-US" altLang="zh-CN" sz="1700" i="1">
                            <a:latin typeface="Cambria Math" panose="02040503050406030204" pitchFamily="18" charset="0"/>
                          </a:rPr>
                        </m:ctrlPr>
                      </m:sSubPr>
                      <m:e>
                        <m:r>
                          <a:rPr lang="zh-CN" altLang="en-US" sz="1700" i="1">
                            <a:latin typeface="Cambria Math" panose="02040503050406030204" pitchFamily="18" charset="0"/>
                          </a:rPr>
                          <m:t>𝜆</m:t>
                        </m:r>
                      </m:e>
                      <m:sub>
                        <m:r>
                          <a:rPr lang="en-US" altLang="zh-CN" sz="1700" i="1">
                            <a:latin typeface="Cambria Math" panose="02040503050406030204" pitchFamily="18" charset="0"/>
                          </a:rPr>
                          <m:t>2</m:t>
                        </m:r>
                      </m:sub>
                    </m:sSub>
                    <m:r>
                      <a:rPr lang="en-US" sz="1700" i="1">
                        <a:latin typeface="Cambria Math" panose="02040503050406030204" pitchFamily="18" charset="0"/>
                      </a:rPr>
                      <m:t>(</m:t>
                    </m:r>
                    <m:nary>
                      <m:naryPr>
                        <m:chr m:val="∑"/>
                        <m:supHide m:val="on"/>
                        <m:ctrlPr>
                          <a:rPr lang="en-US" sz="1700" i="1">
                            <a:latin typeface="Cambria Math" panose="02040503050406030204" pitchFamily="18" charset="0"/>
                          </a:rPr>
                        </m:ctrlPr>
                      </m:naryPr>
                      <m:sub>
                        <m:r>
                          <m:rPr>
                            <m:brk m:alnAt="7"/>
                          </m:rPr>
                          <a:rPr lang="en-US" sz="1700" i="1">
                            <a:latin typeface="Cambria Math" panose="02040503050406030204" pitchFamily="18" charset="0"/>
                          </a:rPr>
                          <m:t>𝑘</m:t>
                        </m:r>
                      </m:sub>
                      <m:sup/>
                      <m:e>
                        <m:sSub>
                          <m:sSubPr>
                            <m:ctrlPr>
                              <a:rPr lang="en-US" altLang="zh-CN" sz="1700" i="1">
                                <a:latin typeface="Cambria Math" panose="02040503050406030204" pitchFamily="18" charset="0"/>
                              </a:rPr>
                            </m:ctrlPr>
                          </m:sSubPr>
                          <m:e>
                            <m:r>
                              <a:rPr lang="en-US" altLang="zh-CN" sz="1700" i="1">
                                <a:latin typeface="Cambria Math" panose="02040503050406030204" pitchFamily="18" charset="0"/>
                              </a:rPr>
                              <m:t>𝑤</m:t>
                            </m:r>
                          </m:e>
                          <m:sub>
                            <m:r>
                              <a:rPr lang="en-US" altLang="zh-CN" sz="1700" b="0" i="1" smtClean="0">
                                <a:latin typeface="Cambria Math" panose="02040503050406030204" pitchFamily="18" charset="0"/>
                              </a:rPr>
                              <m:t>2</m:t>
                            </m:r>
                            <m:r>
                              <a:rPr lang="en-US" altLang="zh-CN" sz="1700" i="1">
                                <a:latin typeface="Cambria Math" panose="02040503050406030204" pitchFamily="18" charset="0"/>
                              </a:rPr>
                              <m:t>𝑘</m:t>
                            </m:r>
                          </m:sub>
                        </m:sSub>
                        <m:r>
                          <a:rPr lang="en-US" altLang="zh-CN" sz="1700" i="1">
                            <a:latin typeface="Cambria Math" panose="02040503050406030204" pitchFamily="18" charset="0"/>
                          </a:rPr>
                          <m:t>−</m:t>
                        </m:r>
                        <m:r>
                          <a:rPr lang="en-US" sz="1700" i="1">
                            <a:latin typeface="Cambria Math" panose="02040503050406030204" pitchFamily="18" charset="0"/>
                          </a:rPr>
                          <m:t>1</m:t>
                        </m:r>
                      </m:e>
                    </m:nary>
                    <m:r>
                      <a:rPr lang="en-US" sz="1700" i="1">
                        <a:latin typeface="Cambria Math" panose="02040503050406030204" pitchFamily="18" charset="0"/>
                      </a:rPr>
                      <m:t>)</m:t>
                    </m:r>
                  </m:oMath>
                </a14:m>
                <a:r>
                  <a:rPr lang="en-CA" sz="1700" dirty="0">
                    <a:latin typeface="Calibri" panose="020F0502020204030204" pitchFamily="34" charset="0"/>
                  </a:rPr>
                  <a:t>,</a:t>
                </a:r>
              </a:p>
              <a:p>
                <a:pPr marL="457200" lvl="1" indent="0">
                  <a:buNone/>
                </a:pPr>
                <a:endParaRPr lang="en-CA" sz="1300" dirty="0">
                  <a:latin typeface="Calibri" panose="020F0502020204030204" pitchFamily="34" charset="0"/>
                </a:endParaRPr>
              </a:p>
              <a:p>
                <a:pPr marL="457200" lvl="1" indent="0">
                  <a:buNone/>
                </a:pPr>
                <a:r>
                  <a:rPr lang="en-CA" sz="1300" dirty="0">
                    <a:latin typeface="Calibri" panose="020F0502020204030204" pitchFamily="34" charset="0"/>
                  </a:rPr>
                  <a:t>and minimize this by solving</a:t>
                </a:r>
              </a:p>
              <a:p>
                <a:pPr marL="457200" lvl="1" indent="0">
                  <a:buNone/>
                </a:pPr>
                <a:endParaRPr lang="en-US" sz="1300" b="0" i="1" dirty="0">
                  <a:latin typeface="Cambria Math" panose="02040503050406030204" pitchFamily="18" charset="0"/>
                </a:endParaRPr>
              </a:p>
              <a:p>
                <a:pPr marL="457200" lvl="1" indent="0">
                  <a:buNone/>
                </a:pPr>
                <a14:m>
                  <m:oMath xmlns:m="http://schemas.openxmlformats.org/officeDocument/2006/math">
                    <m:r>
                      <a:rPr lang="en-US" sz="1500" b="0" i="1" smtClean="0">
                        <a:latin typeface="Cambria Math" panose="02040503050406030204" pitchFamily="18" charset="0"/>
                      </a:rPr>
                      <m:t>0=</m:t>
                    </m:r>
                    <m:f>
                      <m:fPr>
                        <m:ctrlPr>
                          <a:rPr lang="en-US" sz="1500" b="0" i="1" smtClean="0">
                            <a:latin typeface="Cambria Math" panose="02040503050406030204" pitchFamily="18" charset="0"/>
                          </a:rPr>
                        </m:ctrlPr>
                      </m:fPr>
                      <m:num>
                        <m:r>
                          <a:rPr lang="en-US" sz="1500" b="0" i="1" smtClean="0">
                            <a:latin typeface="Cambria Math" panose="02040503050406030204" pitchFamily="18" charset="0"/>
                          </a:rPr>
                          <m:t>𝜕</m:t>
                        </m:r>
                      </m:num>
                      <m:den>
                        <m:r>
                          <a:rPr lang="en-US" sz="1500" b="0" i="1" smtClean="0">
                            <a:latin typeface="Cambria Math" panose="02040503050406030204" pitchFamily="18" charset="0"/>
                          </a:rPr>
                          <m:t>𝜕</m:t>
                        </m:r>
                        <m:sSub>
                          <m:sSubPr>
                            <m:ctrlPr>
                              <a:rPr lang="en-US" altLang="zh-CN" sz="1500" i="1">
                                <a:latin typeface="Cambria Math" panose="02040503050406030204" pitchFamily="18" charset="0"/>
                              </a:rPr>
                            </m:ctrlPr>
                          </m:sSubPr>
                          <m:e>
                            <m:r>
                              <a:rPr lang="en-US" altLang="zh-CN" sz="1500" i="1">
                                <a:latin typeface="Cambria Math" panose="02040503050406030204" pitchFamily="18" charset="0"/>
                              </a:rPr>
                              <m:t>𝑤</m:t>
                            </m:r>
                          </m:e>
                          <m:sub>
                            <m:r>
                              <a:rPr lang="en-US" altLang="zh-CN" sz="1500" b="0" i="1" smtClean="0">
                                <a:latin typeface="Cambria Math" panose="02040503050406030204" pitchFamily="18" charset="0"/>
                              </a:rPr>
                              <m:t>𝑖</m:t>
                            </m:r>
                            <m:r>
                              <a:rPr lang="en-US" altLang="zh-CN" sz="1500" i="1">
                                <a:latin typeface="Cambria Math" panose="02040503050406030204" pitchFamily="18" charset="0"/>
                              </a:rPr>
                              <m:t>𝑘</m:t>
                            </m:r>
                          </m:sub>
                        </m:sSub>
                      </m:den>
                    </m:f>
                  </m:oMath>
                </a14:m>
                <a:r>
                  <a:rPr lang="en-US" altLang="zh-CN" sz="1500" dirty="0"/>
                  <a:t> </a:t>
                </a:r>
                <a14:m>
                  <m:oMath xmlns:m="http://schemas.openxmlformats.org/officeDocument/2006/math">
                    <m:r>
                      <a:rPr lang="en-US" altLang="zh-CN" sz="1500" i="1">
                        <a:latin typeface="Cambria Math" panose="02040503050406030204" pitchFamily="18" charset="0"/>
                      </a:rPr>
                      <m:t>𝑉𝑎𝑟</m:t>
                    </m:r>
                    <m:d>
                      <m:dPr>
                        <m:ctrlPr>
                          <a:rPr lang="en-US" altLang="zh-CN" sz="1500" i="1">
                            <a:latin typeface="Cambria Math" panose="02040503050406030204" pitchFamily="18" charset="0"/>
                          </a:rPr>
                        </m:ctrlPr>
                      </m:dPr>
                      <m:e>
                        <m:sSup>
                          <m:sSupPr>
                            <m:ctrlPr>
                              <a:rPr lang="en-US" sz="1500" i="1">
                                <a:latin typeface="Cambria Math" panose="02040503050406030204" pitchFamily="18" charset="0"/>
                              </a:rPr>
                            </m:ctrlPr>
                          </m:sSupPr>
                          <m:e>
                            <m:acc>
                              <m:accPr>
                                <m:chr m:val="̂"/>
                                <m:ctrlPr>
                                  <a:rPr lang="en-US" altLang="zh-CN" sz="1500" i="1">
                                    <a:latin typeface="Cambria Math" panose="02040503050406030204" pitchFamily="18" charset="0"/>
                                  </a:rPr>
                                </m:ctrlPr>
                              </m:accPr>
                              <m:e>
                                <m:r>
                                  <a:rPr lang="en-US" sz="1500" i="1">
                                    <a:latin typeface="Cambria Math" panose="02040503050406030204" pitchFamily="18" charset="0"/>
                                    <a:ea typeface="Cambria Math" panose="02040503050406030204" pitchFamily="18" charset="0"/>
                                  </a:rPr>
                                  <m:t>𝛽</m:t>
                                </m:r>
                              </m:e>
                            </m:acc>
                          </m:e>
                          <m:sup>
                            <m:r>
                              <a:rPr lang="en-US" sz="1500" i="1">
                                <a:latin typeface="Cambria Math" panose="02040503050406030204" pitchFamily="18" charset="0"/>
                              </a:rPr>
                              <m:t>∗</m:t>
                            </m:r>
                          </m:sup>
                        </m:sSup>
                      </m:e>
                    </m:d>
                    <m:r>
                      <a:rPr lang="en-US" altLang="zh-CN" sz="1500" b="0" i="1" smtClean="0">
                        <a:latin typeface="Cambria Math" panose="02040503050406030204" pitchFamily="18" charset="0"/>
                      </a:rPr>
                      <m:t>=2</m:t>
                    </m:r>
                    <m:sSub>
                      <m:sSubPr>
                        <m:ctrlPr>
                          <a:rPr lang="en-US" altLang="zh-CN" sz="1500" i="1">
                            <a:latin typeface="Cambria Math" panose="02040503050406030204" pitchFamily="18" charset="0"/>
                          </a:rPr>
                        </m:ctrlPr>
                      </m:sSubPr>
                      <m:e>
                        <m:r>
                          <a:rPr lang="en-US" altLang="zh-CN" sz="1500" i="1">
                            <a:latin typeface="Cambria Math" panose="02040503050406030204" pitchFamily="18" charset="0"/>
                          </a:rPr>
                          <m:t>𝑤</m:t>
                        </m:r>
                      </m:e>
                      <m:sub>
                        <m:r>
                          <a:rPr lang="en-US" altLang="zh-CN" sz="1500" b="0" i="1" smtClean="0">
                            <a:latin typeface="Cambria Math" panose="02040503050406030204" pitchFamily="18" charset="0"/>
                          </a:rPr>
                          <m:t>𝑖</m:t>
                        </m:r>
                        <m:r>
                          <a:rPr lang="en-US" altLang="zh-CN" sz="1500" i="1">
                            <a:latin typeface="Cambria Math" panose="02040503050406030204" pitchFamily="18" charset="0"/>
                          </a:rPr>
                          <m:t>𝑘</m:t>
                        </m:r>
                      </m:sub>
                    </m:sSub>
                    <m:sSubSup>
                      <m:sSubSupPr>
                        <m:ctrlPr>
                          <a:rPr lang="en-US" sz="1500" i="1">
                            <a:latin typeface="Cambria Math" panose="02040503050406030204" pitchFamily="18" charset="0"/>
                          </a:rPr>
                        </m:ctrlPr>
                      </m:sSubSupPr>
                      <m:e>
                        <m:r>
                          <a:rPr lang="en-US" sz="1500" i="1">
                            <a:latin typeface="Cambria Math" panose="02040503050406030204" pitchFamily="18" charset="0"/>
                            <a:ea typeface="Cambria Math" panose="02040503050406030204" pitchFamily="18" charset="0"/>
                          </a:rPr>
                          <m:t>𝜎</m:t>
                        </m:r>
                      </m:e>
                      <m:sub>
                        <m:r>
                          <a:rPr lang="en-US" sz="1500" i="1">
                            <a:latin typeface="Cambria Math" panose="02040503050406030204" pitchFamily="18" charset="0"/>
                          </a:rPr>
                          <m:t>𝑖𝑘</m:t>
                        </m:r>
                      </m:sub>
                      <m:sup>
                        <m:r>
                          <a:rPr lang="en-US" sz="1500" i="1">
                            <a:latin typeface="Cambria Math" panose="02040503050406030204" pitchFamily="18" charset="0"/>
                          </a:rPr>
                          <m:t>2</m:t>
                        </m:r>
                      </m:sup>
                    </m:sSubSup>
                    <m:r>
                      <a:rPr lang="en-US" sz="1500" b="0" i="1" smtClean="0">
                        <a:latin typeface="Cambria Math" panose="02040503050406030204" pitchFamily="18" charset="0"/>
                      </a:rPr>
                      <m:t>−</m:t>
                    </m:r>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ea typeface="Cambria Math" panose="02040503050406030204" pitchFamily="18" charset="0"/>
                          </a:rPr>
                          <m:t>𝜆</m:t>
                        </m:r>
                      </m:e>
                      <m:sub>
                        <m:r>
                          <a:rPr lang="en-US" sz="1500" b="0" i="1" smtClean="0">
                            <a:latin typeface="Cambria Math" panose="02040503050406030204" pitchFamily="18" charset="0"/>
                          </a:rPr>
                          <m:t>𝑖</m:t>
                        </m:r>
                      </m:sub>
                    </m:sSub>
                    <m:r>
                      <a:rPr lang="en-US" altLang="zh-CN" sz="1500" b="0" i="0" smtClean="0">
                        <a:latin typeface="Cambria Math" panose="02040503050406030204" pitchFamily="18" charset="0"/>
                      </a:rPr>
                      <m:t>,</m:t>
                    </m:r>
                  </m:oMath>
                </a14:m>
                <a:r>
                  <a:rPr lang="en-CA" sz="1500" dirty="0">
                    <a:latin typeface="Calibri" panose="020F0502020204030204" pitchFamily="34" charset="0"/>
                  </a:rPr>
                  <a:t> which implies that </a:t>
                </a:r>
                <a14:m>
                  <m:oMath xmlns:m="http://schemas.openxmlformats.org/officeDocument/2006/math">
                    <m:sSub>
                      <m:sSubPr>
                        <m:ctrlPr>
                          <a:rPr lang="en-US" altLang="zh-CN" sz="1500" i="1">
                            <a:latin typeface="Cambria Math" panose="02040503050406030204" pitchFamily="18" charset="0"/>
                          </a:rPr>
                        </m:ctrlPr>
                      </m:sSubPr>
                      <m:e>
                        <m:r>
                          <a:rPr lang="en-US" altLang="zh-CN" sz="1500" i="1">
                            <a:latin typeface="Cambria Math" panose="02040503050406030204" pitchFamily="18" charset="0"/>
                          </a:rPr>
                          <m:t>𝑤</m:t>
                        </m:r>
                      </m:e>
                      <m:sub>
                        <m:r>
                          <a:rPr lang="en-US" altLang="zh-CN" sz="1500" i="1">
                            <a:latin typeface="Cambria Math" panose="02040503050406030204" pitchFamily="18" charset="0"/>
                          </a:rPr>
                          <m:t>𝑖𝑘</m:t>
                        </m:r>
                      </m:sub>
                    </m:sSub>
                  </m:oMath>
                </a14:m>
                <a:r>
                  <a:rPr lang="en-CA" sz="1500" dirty="0">
                    <a:latin typeface="Calibri" panose="020F0502020204030204" pitchFamily="34" charset="0"/>
                  </a:rPr>
                  <a:t>=</a:t>
                </a:r>
                <a14:m>
                  <m:oMath xmlns:m="http://schemas.openxmlformats.org/officeDocument/2006/math">
                    <m:f>
                      <m:fPr>
                        <m:ctrlPr>
                          <a:rPr lang="en-CA" sz="1500" i="1" dirty="0">
                            <a:latin typeface="Cambria Math" panose="02040503050406030204" pitchFamily="18" charset="0"/>
                          </a:rPr>
                        </m:ctrlPr>
                      </m:fPr>
                      <m:num>
                        <m:sSub>
                          <m:sSubPr>
                            <m:ctrlPr>
                              <a:rPr lang="en-US" altLang="zh-CN" sz="1500" i="1">
                                <a:latin typeface="Cambria Math" panose="02040503050406030204" pitchFamily="18" charset="0"/>
                              </a:rPr>
                            </m:ctrlPr>
                          </m:sSubPr>
                          <m:e>
                            <m:r>
                              <a:rPr lang="zh-CN" altLang="en-US" sz="1500" i="1" smtClean="0">
                                <a:latin typeface="Cambria Math" panose="02040503050406030204" pitchFamily="18" charset="0"/>
                              </a:rPr>
                              <m:t>𝜆</m:t>
                            </m:r>
                          </m:e>
                          <m:sub>
                            <m:r>
                              <a:rPr lang="en-US" altLang="zh-CN" sz="1500" i="1">
                                <a:latin typeface="Cambria Math" panose="02040503050406030204" pitchFamily="18" charset="0"/>
                              </a:rPr>
                              <m:t>𝑖</m:t>
                            </m:r>
                          </m:sub>
                        </m:sSub>
                        <m:r>
                          <a:rPr lang="en-US" altLang="zh-CN" sz="1500" i="1">
                            <a:latin typeface="Cambria Math" panose="02040503050406030204" pitchFamily="18" charset="0"/>
                          </a:rPr>
                          <m:t>/2</m:t>
                        </m:r>
                      </m:num>
                      <m:den>
                        <m:sSubSup>
                          <m:sSubSupPr>
                            <m:ctrlPr>
                              <a:rPr lang="en-US" sz="1500" i="1">
                                <a:latin typeface="Cambria Math" panose="02040503050406030204" pitchFamily="18" charset="0"/>
                              </a:rPr>
                            </m:ctrlPr>
                          </m:sSubSupPr>
                          <m:e>
                            <m:r>
                              <a:rPr lang="en-US" sz="1500" i="1">
                                <a:latin typeface="Cambria Math" panose="02040503050406030204" pitchFamily="18" charset="0"/>
                                <a:ea typeface="Cambria Math" panose="02040503050406030204" pitchFamily="18" charset="0"/>
                              </a:rPr>
                              <m:t>𝜎</m:t>
                            </m:r>
                          </m:e>
                          <m:sub>
                            <m:r>
                              <a:rPr lang="en-US" sz="1500" i="1">
                                <a:latin typeface="Cambria Math" panose="02040503050406030204" pitchFamily="18" charset="0"/>
                              </a:rPr>
                              <m:t>𝑖𝑘</m:t>
                            </m:r>
                          </m:sub>
                          <m:sup>
                            <m:r>
                              <a:rPr lang="en-US" sz="1500" i="1">
                                <a:latin typeface="Cambria Math" panose="02040503050406030204" pitchFamily="18" charset="0"/>
                              </a:rPr>
                              <m:t>2</m:t>
                            </m:r>
                          </m:sup>
                        </m:sSubSup>
                      </m:den>
                    </m:f>
                  </m:oMath>
                </a14:m>
                <a:endParaRPr lang="en-CA" sz="1500" dirty="0">
                  <a:latin typeface="Calibri" panose="020F0502020204030204" pitchFamily="34" charset="0"/>
                </a:endParaRPr>
              </a:p>
              <a:p>
                <a:pPr marL="0" indent="0">
                  <a:buNone/>
                </a:pPr>
                <a:r>
                  <a:rPr lang="en-CA" sz="1700" dirty="0">
                    <a:latin typeface="Calibri" panose="020F0502020204030204" pitchFamily="34" charset="0"/>
                  </a:rPr>
                  <a:t>The main takeaway is that </a:t>
                </a:r>
                <a14:m>
                  <m:oMath xmlns:m="http://schemas.openxmlformats.org/officeDocument/2006/math">
                    <m:sSub>
                      <m:sSubPr>
                        <m:ctrlPr>
                          <a:rPr lang="en-US" altLang="zh-CN" sz="1700" i="1">
                            <a:latin typeface="Cambria Math" panose="02040503050406030204" pitchFamily="18" charset="0"/>
                          </a:rPr>
                        </m:ctrlPr>
                      </m:sSubPr>
                      <m:e>
                        <m:r>
                          <a:rPr lang="en-US" altLang="zh-CN" sz="1700" i="1">
                            <a:latin typeface="Cambria Math" panose="02040503050406030204" pitchFamily="18" charset="0"/>
                          </a:rPr>
                          <m:t>𝑤</m:t>
                        </m:r>
                      </m:e>
                      <m:sub>
                        <m:r>
                          <a:rPr lang="en-US" altLang="zh-CN" sz="1700" i="1">
                            <a:latin typeface="Cambria Math" panose="02040503050406030204" pitchFamily="18" charset="0"/>
                          </a:rPr>
                          <m:t>𝑖𝑘</m:t>
                        </m:r>
                      </m:sub>
                    </m:sSub>
                    <m:r>
                      <a:rPr lang="en-US" altLang="zh-CN" sz="1700" i="1" smtClean="0">
                        <a:latin typeface="Cambria Math" panose="02040503050406030204" pitchFamily="18" charset="0"/>
                      </a:rPr>
                      <m:t>∝</m:t>
                    </m:r>
                    <m:f>
                      <m:fPr>
                        <m:ctrlPr>
                          <a:rPr lang="en-US" altLang="zh-CN" sz="1700" b="0" i="1" smtClean="0">
                            <a:latin typeface="Cambria Math" panose="02040503050406030204" pitchFamily="18" charset="0"/>
                          </a:rPr>
                        </m:ctrlPr>
                      </m:fPr>
                      <m:num>
                        <m:r>
                          <a:rPr lang="en-US" altLang="zh-CN" sz="1700" b="0" i="1" smtClean="0">
                            <a:latin typeface="Cambria Math" panose="02040503050406030204" pitchFamily="18" charset="0"/>
                          </a:rPr>
                          <m:t>1</m:t>
                        </m:r>
                      </m:num>
                      <m:den>
                        <m:sSubSup>
                          <m:sSubSupPr>
                            <m:ctrlPr>
                              <a:rPr lang="en-US" sz="1700" i="1">
                                <a:latin typeface="Cambria Math" panose="02040503050406030204" pitchFamily="18" charset="0"/>
                              </a:rPr>
                            </m:ctrlPr>
                          </m:sSubSupPr>
                          <m:e>
                            <m:r>
                              <a:rPr lang="en-US" sz="1700" i="1">
                                <a:latin typeface="Cambria Math" panose="02040503050406030204" pitchFamily="18" charset="0"/>
                                <a:ea typeface="Cambria Math" panose="02040503050406030204" pitchFamily="18" charset="0"/>
                              </a:rPr>
                              <m:t>𝜎</m:t>
                            </m:r>
                          </m:e>
                          <m:sub>
                            <m:r>
                              <a:rPr lang="en-US" sz="1700" i="1">
                                <a:latin typeface="Cambria Math" panose="02040503050406030204" pitchFamily="18" charset="0"/>
                              </a:rPr>
                              <m:t>𝑖𝑘</m:t>
                            </m:r>
                          </m:sub>
                          <m:sup>
                            <m:r>
                              <a:rPr lang="en-US" sz="1700" i="1">
                                <a:latin typeface="Cambria Math" panose="02040503050406030204" pitchFamily="18" charset="0"/>
                              </a:rPr>
                              <m:t>2</m:t>
                            </m:r>
                          </m:sup>
                        </m:sSubSup>
                      </m:den>
                    </m:f>
                    <m:r>
                      <a:rPr lang="en-US" sz="1700" b="0" i="0" smtClean="0">
                        <a:latin typeface="Cambria Math" panose="02040503050406030204" pitchFamily="18" charset="0"/>
                      </a:rPr>
                      <m:t>. </m:t>
                    </m:r>
                  </m:oMath>
                </a14:m>
                <a:r>
                  <a:rPr lang="en-CA" sz="1700" dirty="0">
                    <a:latin typeface="Calibri" panose="020F0502020204030204" pitchFamily="34" charset="0"/>
                  </a:rPr>
                  <a:t> Since </a:t>
                </a:r>
                <a14:m>
                  <m:oMath xmlns:m="http://schemas.openxmlformats.org/officeDocument/2006/math">
                    <m:nary>
                      <m:naryPr>
                        <m:chr m:val="∑"/>
                        <m:supHide m:val="on"/>
                        <m:ctrlPr>
                          <a:rPr lang="en-US" sz="1700" i="1">
                            <a:latin typeface="Cambria Math" panose="02040503050406030204" pitchFamily="18" charset="0"/>
                          </a:rPr>
                        </m:ctrlPr>
                      </m:naryPr>
                      <m:sub>
                        <m:r>
                          <m:rPr>
                            <m:brk m:alnAt="7"/>
                          </m:rPr>
                          <a:rPr lang="en-US" sz="1700" i="1">
                            <a:latin typeface="Cambria Math" panose="02040503050406030204" pitchFamily="18" charset="0"/>
                          </a:rPr>
                          <m:t>𝑘</m:t>
                        </m:r>
                      </m:sub>
                      <m:sup/>
                      <m:e>
                        <m:sSub>
                          <m:sSubPr>
                            <m:ctrlPr>
                              <a:rPr lang="en-US" altLang="zh-CN" sz="1700" i="1">
                                <a:latin typeface="Cambria Math" panose="02040503050406030204" pitchFamily="18" charset="0"/>
                              </a:rPr>
                            </m:ctrlPr>
                          </m:sSubPr>
                          <m:e>
                            <m:r>
                              <a:rPr lang="en-US" altLang="zh-CN" sz="1700" i="1">
                                <a:latin typeface="Cambria Math" panose="02040503050406030204" pitchFamily="18" charset="0"/>
                              </a:rPr>
                              <m:t>𝑤</m:t>
                            </m:r>
                          </m:e>
                          <m:sub>
                            <m:r>
                              <a:rPr lang="en-US" altLang="zh-CN" sz="1700" b="0" i="1" smtClean="0">
                                <a:latin typeface="Cambria Math" panose="02040503050406030204" pitchFamily="18" charset="0"/>
                              </a:rPr>
                              <m:t>𝑖</m:t>
                            </m:r>
                            <m:r>
                              <a:rPr lang="en-US" altLang="zh-CN" sz="1700" i="1">
                                <a:latin typeface="Cambria Math" panose="02040503050406030204" pitchFamily="18" charset="0"/>
                              </a:rPr>
                              <m:t>𝑘</m:t>
                            </m:r>
                          </m:sub>
                        </m:sSub>
                        <m:r>
                          <a:rPr lang="en-US" sz="1700" i="1">
                            <a:latin typeface="Cambria Math" panose="02040503050406030204" pitchFamily="18" charset="0"/>
                          </a:rPr>
                          <m:t>=1</m:t>
                        </m:r>
                      </m:e>
                    </m:nary>
                  </m:oMath>
                </a14:m>
                <a:r>
                  <a:rPr lang="en-CA" sz="1700" dirty="0">
                    <a:latin typeface="Calibri" panose="020F0502020204030204" pitchFamily="34" charset="0"/>
                  </a:rPr>
                  <a:t>,</a:t>
                </a:r>
                <a:r>
                  <a:rPr lang="en-US" altLang="zh-CN" sz="1700" dirty="0"/>
                  <a:t> </a:t>
                </a:r>
              </a:p>
              <a:p>
                <a:pPr marL="0" indent="0">
                  <a:buNone/>
                </a:pPr>
                <a14:m>
                  <m:oMath xmlns:m="http://schemas.openxmlformats.org/officeDocument/2006/math">
                    <m:nary>
                      <m:naryPr>
                        <m:chr m:val="∑"/>
                        <m:ctrlPr>
                          <a:rPr lang="en-US" altLang="zh-CN" sz="1700" i="1">
                            <a:latin typeface="Cambria Math" panose="02040503050406030204" pitchFamily="18" charset="0"/>
                          </a:rPr>
                        </m:ctrlPr>
                      </m:naryPr>
                      <m:sub>
                        <m:r>
                          <m:rPr>
                            <m:brk m:alnAt="23"/>
                          </m:rPr>
                          <a:rPr lang="en-US" altLang="zh-CN" sz="1700" i="1">
                            <a:latin typeface="Cambria Math" panose="02040503050406030204" pitchFamily="18" charset="0"/>
                          </a:rPr>
                          <m:t>𝑘</m:t>
                        </m:r>
                        <m:r>
                          <a:rPr lang="en-US" altLang="zh-CN" sz="1700" i="1">
                            <a:latin typeface="Cambria Math" panose="02040503050406030204" pitchFamily="18" charset="0"/>
                          </a:rPr>
                          <m:t>=1</m:t>
                        </m:r>
                      </m:sub>
                      <m:sup>
                        <m:r>
                          <a:rPr lang="en-US" altLang="zh-CN" sz="1700" i="1">
                            <a:latin typeface="Cambria Math" panose="02040503050406030204" pitchFamily="18" charset="0"/>
                          </a:rPr>
                          <m:t>𝐾</m:t>
                        </m:r>
                      </m:sup>
                      <m:e>
                        <m:f>
                          <m:fPr>
                            <m:ctrlPr>
                              <a:rPr lang="en-CA" sz="1600" i="1" dirty="0">
                                <a:latin typeface="Cambria Math" panose="02040503050406030204" pitchFamily="18" charset="0"/>
                              </a:rPr>
                            </m:ctrlPr>
                          </m:fPr>
                          <m:num>
                            <m:sSub>
                              <m:sSubPr>
                                <m:ctrlPr>
                                  <a:rPr lang="en-US" altLang="zh-CN" sz="1600" i="1">
                                    <a:latin typeface="Cambria Math" panose="02040503050406030204" pitchFamily="18" charset="0"/>
                                  </a:rPr>
                                </m:ctrlPr>
                              </m:sSubPr>
                              <m:e>
                                <m:r>
                                  <a:rPr lang="zh-CN" altLang="en-US" sz="1600" i="1">
                                    <a:latin typeface="Cambria Math" panose="02040503050406030204" pitchFamily="18" charset="0"/>
                                  </a:rPr>
                                  <m:t>𝜆</m:t>
                                </m:r>
                              </m:e>
                              <m:sub>
                                <m:r>
                                  <a:rPr lang="en-US" altLang="zh-CN" sz="1600" i="1">
                                    <a:latin typeface="Cambria Math" panose="02040503050406030204" pitchFamily="18" charset="0"/>
                                  </a:rPr>
                                  <m:t>𝑖</m:t>
                                </m:r>
                              </m:sub>
                            </m:sSub>
                            <m:r>
                              <a:rPr lang="en-US" altLang="zh-CN" sz="1600" i="1">
                                <a:latin typeface="Cambria Math" panose="02040503050406030204" pitchFamily="18" charset="0"/>
                              </a:rPr>
                              <m:t>/2</m:t>
                            </m:r>
                          </m:num>
                          <m:den>
                            <m:sSubSup>
                              <m:sSubSupPr>
                                <m:ctrlPr>
                                  <a:rPr lang="en-US" sz="1600" i="1">
                                    <a:latin typeface="Cambria Math" panose="02040503050406030204" pitchFamily="18" charset="0"/>
                                  </a:rPr>
                                </m:ctrlPr>
                              </m:sSubSupPr>
                              <m:e>
                                <m:r>
                                  <a:rPr lang="en-US" sz="1600" i="1">
                                    <a:latin typeface="Cambria Math" panose="02040503050406030204" pitchFamily="18" charset="0"/>
                                    <a:ea typeface="Cambria Math" panose="02040503050406030204" pitchFamily="18" charset="0"/>
                                  </a:rPr>
                                  <m:t>𝜎</m:t>
                                </m:r>
                              </m:e>
                              <m:sub>
                                <m:r>
                                  <a:rPr lang="en-US" sz="1600" i="1">
                                    <a:latin typeface="Cambria Math" panose="02040503050406030204" pitchFamily="18" charset="0"/>
                                  </a:rPr>
                                  <m:t>𝑖𝑘</m:t>
                                </m:r>
                              </m:sub>
                              <m:sup>
                                <m:r>
                                  <a:rPr lang="en-US" sz="1600" i="1">
                                    <a:latin typeface="Cambria Math" panose="02040503050406030204" pitchFamily="18" charset="0"/>
                                  </a:rPr>
                                  <m:t>2</m:t>
                                </m:r>
                              </m:sup>
                            </m:sSubSup>
                          </m:den>
                        </m:f>
                        <m:r>
                          <a:rPr lang="en-US" sz="1600" b="0" i="1" smtClean="0">
                            <a:latin typeface="Cambria Math" panose="02040503050406030204" pitchFamily="18" charset="0"/>
                          </a:rPr>
                          <m:t>=1</m:t>
                        </m:r>
                      </m:e>
                    </m:nary>
                    <m:r>
                      <a:rPr lang="en-US" sz="1700" b="0" i="1" smtClean="0">
                        <a:latin typeface="Cambria Math" panose="02040503050406030204" pitchFamily="18" charset="0"/>
                      </a:rPr>
                      <m:t>⇒</m:t>
                    </m:r>
                  </m:oMath>
                </a14:m>
                <a:r>
                  <a:rPr lang="en-US" altLang="zh-CN" sz="1700" dirty="0"/>
                  <a:t> (</a:t>
                </a:r>
                <a14:m>
                  <m:oMath xmlns:m="http://schemas.openxmlformats.org/officeDocument/2006/math">
                    <m:sSub>
                      <m:sSubPr>
                        <m:ctrlPr>
                          <a:rPr lang="en-US" altLang="zh-CN" sz="1800" i="1">
                            <a:latin typeface="Cambria Math" panose="02040503050406030204" pitchFamily="18" charset="0"/>
                          </a:rPr>
                        </m:ctrlPr>
                      </m:sSubPr>
                      <m:e>
                        <m:r>
                          <a:rPr lang="zh-CN" altLang="en-US" sz="1800" i="1">
                            <a:latin typeface="Cambria Math" panose="02040503050406030204" pitchFamily="18" charset="0"/>
                          </a:rPr>
                          <m:t>𝜆</m:t>
                        </m:r>
                      </m:e>
                      <m:sub>
                        <m:r>
                          <a:rPr lang="en-US" altLang="zh-CN" sz="1800" i="1">
                            <a:latin typeface="Cambria Math" panose="02040503050406030204" pitchFamily="18" charset="0"/>
                          </a:rPr>
                          <m:t>𝑖</m:t>
                        </m:r>
                      </m:sub>
                    </m:sSub>
                    <m:r>
                      <a:rPr lang="en-US" altLang="zh-CN" sz="1700" i="1">
                        <a:latin typeface="Cambria Math" panose="02040503050406030204" pitchFamily="18" charset="0"/>
                      </a:rPr>
                      <m:t>/2</m:t>
                    </m:r>
                    <m:r>
                      <a:rPr lang="en-US" altLang="zh-CN" sz="1700" b="0" i="1" smtClean="0">
                        <a:latin typeface="Cambria Math" panose="02040503050406030204" pitchFamily="18" charset="0"/>
                      </a:rPr>
                      <m:t>)</m:t>
                    </m:r>
                    <m:nary>
                      <m:naryPr>
                        <m:chr m:val="∑"/>
                        <m:ctrlPr>
                          <a:rPr lang="en-US" altLang="zh-CN" sz="1700" i="1">
                            <a:latin typeface="Cambria Math" panose="02040503050406030204" pitchFamily="18" charset="0"/>
                          </a:rPr>
                        </m:ctrlPr>
                      </m:naryPr>
                      <m:sub>
                        <m:r>
                          <m:rPr>
                            <m:brk m:alnAt="23"/>
                          </m:rPr>
                          <a:rPr lang="en-US" altLang="zh-CN" sz="1700" i="1">
                            <a:latin typeface="Cambria Math" panose="02040503050406030204" pitchFamily="18" charset="0"/>
                          </a:rPr>
                          <m:t>𝑘</m:t>
                        </m:r>
                        <m:r>
                          <a:rPr lang="en-US" altLang="zh-CN" sz="1700" i="1">
                            <a:latin typeface="Cambria Math" panose="02040503050406030204" pitchFamily="18" charset="0"/>
                          </a:rPr>
                          <m:t>=1</m:t>
                        </m:r>
                      </m:sub>
                      <m:sup>
                        <m:r>
                          <a:rPr lang="en-US" altLang="zh-CN" sz="1700" i="1">
                            <a:latin typeface="Cambria Math" panose="02040503050406030204" pitchFamily="18" charset="0"/>
                          </a:rPr>
                          <m:t>𝐾</m:t>
                        </m:r>
                      </m:sup>
                      <m:e>
                        <m:f>
                          <m:fPr>
                            <m:ctrlPr>
                              <a:rPr lang="en-CA" sz="1700" i="1" dirty="0">
                                <a:latin typeface="Cambria Math" panose="02040503050406030204" pitchFamily="18" charset="0"/>
                              </a:rPr>
                            </m:ctrlPr>
                          </m:fPr>
                          <m:num>
                            <m:r>
                              <a:rPr lang="en-US" sz="1700" i="1" dirty="0">
                                <a:latin typeface="Cambria Math" panose="02040503050406030204" pitchFamily="18" charset="0"/>
                              </a:rPr>
                              <m:t>1</m:t>
                            </m:r>
                          </m:num>
                          <m:den>
                            <m:sSubSup>
                              <m:sSubSupPr>
                                <m:ctrlPr>
                                  <a:rPr lang="en-US" sz="1700" i="1">
                                    <a:latin typeface="Cambria Math" panose="02040503050406030204" pitchFamily="18" charset="0"/>
                                  </a:rPr>
                                </m:ctrlPr>
                              </m:sSubSupPr>
                              <m:e>
                                <m:r>
                                  <a:rPr lang="en-US" sz="1700" i="1">
                                    <a:latin typeface="Cambria Math" panose="02040503050406030204" pitchFamily="18" charset="0"/>
                                    <a:ea typeface="Cambria Math" panose="02040503050406030204" pitchFamily="18" charset="0"/>
                                  </a:rPr>
                                  <m:t>𝜎</m:t>
                                </m:r>
                              </m:e>
                              <m:sub>
                                <m:r>
                                  <a:rPr lang="en-US" sz="1700" i="1">
                                    <a:latin typeface="Cambria Math" panose="02040503050406030204" pitchFamily="18" charset="0"/>
                                  </a:rPr>
                                  <m:t>𝑖𝑘</m:t>
                                </m:r>
                              </m:sub>
                              <m:sup>
                                <m:r>
                                  <a:rPr lang="en-US" sz="1700" i="1">
                                    <a:latin typeface="Cambria Math" panose="02040503050406030204" pitchFamily="18" charset="0"/>
                                  </a:rPr>
                                  <m:t>2</m:t>
                                </m:r>
                              </m:sup>
                            </m:sSubSup>
                          </m:den>
                        </m:f>
                      </m:e>
                    </m:nary>
                  </m:oMath>
                </a14:m>
                <a:r>
                  <a:rPr lang="en-CA" sz="1700" dirty="0">
                    <a:latin typeface="Calibri" panose="020F0502020204030204" pitchFamily="34" charset="0"/>
                  </a:rPr>
                  <a:t> = 1 </a:t>
                </a:r>
                <a14:m>
                  <m:oMath xmlns:m="http://schemas.openxmlformats.org/officeDocument/2006/math">
                    <m:r>
                      <a:rPr lang="en-US" sz="1700" i="1">
                        <a:latin typeface="Cambria Math" panose="02040503050406030204" pitchFamily="18" charset="0"/>
                      </a:rPr>
                      <m:t>⇒</m:t>
                    </m:r>
                  </m:oMath>
                </a14:m>
                <a:r>
                  <a:rPr lang="en-CA" sz="1700" dirty="0">
                    <a:latin typeface="Calibri" panose="020F0502020204030204" pitchFamily="34" charset="0"/>
                  </a:rPr>
                  <a:t>  </a:t>
                </a:r>
                <a14:m>
                  <m:oMath xmlns:m="http://schemas.openxmlformats.org/officeDocument/2006/math">
                    <m:f>
                      <m:fPr>
                        <m:ctrlPr>
                          <a:rPr lang="en-US" sz="1700" b="0" i="1" smtClean="0">
                            <a:latin typeface="Cambria Math" panose="02040503050406030204" pitchFamily="18" charset="0"/>
                          </a:rPr>
                        </m:ctrlPr>
                      </m:fPr>
                      <m:num>
                        <m:r>
                          <a:rPr lang="en-US" sz="1700" b="0" i="1" smtClean="0">
                            <a:latin typeface="Cambria Math" panose="02040503050406030204" pitchFamily="18" charset="0"/>
                          </a:rPr>
                          <m:t>2</m:t>
                        </m:r>
                      </m:num>
                      <m:den>
                        <m:sSub>
                          <m:sSubPr>
                            <m:ctrlPr>
                              <a:rPr lang="en-US" altLang="zh-CN" sz="1800" i="1">
                                <a:latin typeface="Cambria Math" panose="02040503050406030204" pitchFamily="18" charset="0"/>
                              </a:rPr>
                            </m:ctrlPr>
                          </m:sSubPr>
                          <m:e>
                            <m:r>
                              <a:rPr lang="zh-CN" altLang="en-US" sz="1800" i="1">
                                <a:latin typeface="Cambria Math" panose="02040503050406030204" pitchFamily="18" charset="0"/>
                              </a:rPr>
                              <m:t>𝜆</m:t>
                            </m:r>
                          </m:e>
                          <m:sub>
                            <m:r>
                              <a:rPr lang="en-US" altLang="zh-CN" sz="1800" i="1">
                                <a:latin typeface="Cambria Math" panose="02040503050406030204" pitchFamily="18" charset="0"/>
                              </a:rPr>
                              <m:t>𝑖</m:t>
                            </m:r>
                          </m:sub>
                        </m:sSub>
                      </m:den>
                    </m:f>
                    <m:r>
                      <a:rPr lang="en-US" altLang="zh-CN" sz="1700" b="0" i="1" smtClean="0">
                        <a:latin typeface="Cambria Math" panose="02040503050406030204" pitchFamily="18" charset="0"/>
                      </a:rPr>
                      <m:t>=</m:t>
                    </m:r>
                    <m:nary>
                      <m:naryPr>
                        <m:chr m:val="∑"/>
                        <m:supHide m:val="on"/>
                        <m:ctrlPr>
                          <a:rPr lang="en-US" sz="1700" i="1">
                            <a:latin typeface="Cambria Math" panose="02040503050406030204" pitchFamily="18" charset="0"/>
                          </a:rPr>
                        </m:ctrlPr>
                      </m:naryPr>
                      <m:sub>
                        <m:r>
                          <m:rPr>
                            <m:brk m:alnAt="7"/>
                          </m:rPr>
                          <a:rPr lang="en-US" sz="1700" i="1">
                            <a:latin typeface="Cambria Math" panose="02040503050406030204" pitchFamily="18" charset="0"/>
                          </a:rPr>
                          <m:t>𝑘</m:t>
                        </m:r>
                      </m:sub>
                      <m:sup/>
                      <m:e>
                        <m:r>
                          <a:rPr lang="en-US" sz="1700" b="0" i="1" smtClean="0">
                            <a:latin typeface="Cambria Math" panose="02040503050406030204" pitchFamily="18" charset="0"/>
                          </a:rPr>
                          <m:t>1/</m:t>
                        </m:r>
                        <m:sSubSup>
                          <m:sSubSupPr>
                            <m:ctrlPr>
                              <a:rPr lang="en-US" sz="1700" i="1">
                                <a:latin typeface="Cambria Math" panose="02040503050406030204" pitchFamily="18" charset="0"/>
                              </a:rPr>
                            </m:ctrlPr>
                          </m:sSubSupPr>
                          <m:e>
                            <m:r>
                              <a:rPr lang="en-US" sz="1700" i="1">
                                <a:latin typeface="Cambria Math" panose="02040503050406030204" pitchFamily="18" charset="0"/>
                                <a:ea typeface="Cambria Math" panose="02040503050406030204" pitchFamily="18" charset="0"/>
                              </a:rPr>
                              <m:t>𝜎</m:t>
                            </m:r>
                          </m:e>
                          <m:sub>
                            <m:r>
                              <a:rPr lang="en-US" sz="1700" i="1">
                                <a:latin typeface="Cambria Math" panose="02040503050406030204" pitchFamily="18" charset="0"/>
                              </a:rPr>
                              <m:t>𝑖𝑘</m:t>
                            </m:r>
                          </m:sub>
                          <m:sup>
                            <m:r>
                              <a:rPr lang="en-US" sz="1700" i="1">
                                <a:latin typeface="Cambria Math" panose="02040503050406030204" pitchFamily="18" charset="0"/>
                              </a:rPr>
                              <m:t>2</m:t>
                            </m:r>
                          </m:sup>
                        </m:sSubSup>
                      </m:e>
                    </m:nary>
                  </m:oMath>
                </a14:m>
                <a:r>
                  <a:rPr lang="en-CA" sz="1700" dirty="0">
                    <a:latin typeface="Calibri" panose="020F0502020204030204" pitchFamily="34" charset="0"/>
                  </a:rPr>
                  <a:t>. </a:t>
                </a:r>
              </a:p>
              <a:p>
                <a:pPr marL="0" indent="0">
                  <a:buNone/>
                </a:pPr>
                <a:r>
                  <a:rPr lang="en-CA" sz="1700" dirty="0">
                    <a:latin typeface="Calibri" panose="020F0502020204030204" pitchFamily="34" charset="0"/>
                  </a:rPr>
                  <a:t>Thus, </a:t>
                </a:r>
                <a14:m>
                  <m:oMath xmlns:m="http://schemas.openxmlformats.org/officeDocument/2006/math">
                    <m:sSub>
                      <m:sSubPr>
                        <m:ctrlPr>
                          <a:rPr lang="en-US" altLang="zh-CN" sz="1700" i="1" smtClean="0">
                            <a:latin typeface="Cambria Math" panose="02040503050406030204" pitchFamily="18" charset="0"/>
                          </a:rPr>
                        </m:ctrlPr>
                      </m:sSubPr>
                      <m:e>
                        <m:r>
                          <a:rPr lang="en-US" altLang="zh-CN" sz="1700" i="1">
                            <a:latin typeface="Cambria Math" panose="02040503050406030204" pitchFamily="18" charset="0"/>
                          </a:rPr>
                          <m:t>𝑤</m:t>
                        </m:r>
                      </m:e>
                      <m:sub>
                        <m:r>
                          <a:rPr lang="en-US" altLang="zh-CN" sz="1700" i="1">
                            <a:latin typeface="Cambria Math" panose="02040503050406030204" pitchFamily="18" charset="0"/>
                          </a:rPr>
                          <m:t>𝑖𝑘</m:t>
                        </m:r>
                      </m:sub>
                    </m:sSub>
                    <m:r>
                      <a:rPr lang="en-US" altLang="zh-CN" sz="1700" b="0" i="1" smtClean="0">
                        <a:latin typeface="Cambria Math" panose="02040503050406030204" pitchFamily="18" charset="0"/>
                      </a:rPr>
                      <m:t>=</m:t>
                    </m:r>
                    <m:f>
                      <m:fPr>
                        <m:ctrlPr>
                          <a:rPr lang="en-US" altLang="zh-CN" sz="1700" b="0" i="1" smtClean="0">
                            <a:latin typeface="Cambria Math" panose="02040503050406030204" pitchFamily="18" charset="0"/>
                          </a:rPr>
                        </m:ctrlPr>
                      </m:fPr>
                      <m:num>
                        <m:r>
                          <a:rPr lang="en-US" altLang="zh-CN" sz="1700" b="0" i="1" smtClean="0">
                            <a:latin typeface="Cambria Math" panose="02040503050406030204" pitchFamily="18" charset="0"/>
                          </a:rPr>
                          <m:t>1</m:t>
                        </m:r>
                      </m:num>
                      <m:den>
                        <m:sSubSup>
                          <m:sSubSupPr>
                            <m:ctrlPr>
                              <a:rPr lang="en-US" sz="1700" i="1">
                                <a:latin typeface="Cambria Math" panose="02040503050406030204" pitchFamily="18" charset="0"/>
                              </a:rPr>
                            </m:ctrlPr>
                          </m:sSubSupPr>
                          <m:e>
                            <m:r>
                              <a:rPr lang="en-US" sz="1700" i="1">
                                <a:latin typeface="Cambria Math" panose="02040503050406030204" pitchFamily="18" charset="0"/>
                                <a:ea typeface="Cambria Math" panose="02040503050406030204" pitchFamily="18" charset="0"/>
                              </a:rPr>
                              <m:t>𝜎</m:t>
                            </m:r>
                          </m:e>
                          <m:sub>
                            <m:r>
                              <a:rPr lang="en-US" sz="1700" i="1">
                                <a:latin typeface="Cambria Math" panose="02040503050406030204" pitchFamily="18" charset="0"/>
                              </a:rPr>
                              <m:t>𝑖𝑘</m:t>
                            </m:r>
                          </m:sub>
                          <m:sup>
                            <m:r>
                              <a:rPr lang="en-US" sz="1700" i="1">
                                <a:latin typeface="Cambria Math" panose="02040503050406030204" pitchFamily="18" charset="0"/>
                              </a:rPr>
                              <m:t>2</m:t>
                            </m:r>
                          </m:sup>
                        </m:sSubSup>
                      </m:den>
                    </m:f>
                    <m:sSup>
                      <m:sSupPr>
                        <m:ctrlPr>
                          <a:rPr lang="en-CA" sz="1700" i="1" dirty="0" smtClean="0">
                            <a:latin typeface="Cambria Math" panose="02040503050406030204" pitchFamily="18" charset="0"/>
                          </a:rPr>
                        </m:ctrlPr>
                      </m:sSupPr>
                      <m:e>
                        <m:r>
                          <a:rPr lang="en-US" sz="1700" i="1">
                            <a:latin typeface="Cambria Math" panose="02040503050406030204" pitchFamily="18" charset="0"/>
                          </a:rPr>
                          <m:t>(</m:t>
                        </m:r>
                        <m:nary>
                          <m:naryPr>
                            <m:chr m:val="∑"/>
                            <m:supHide m:val="on"/>
                            <m:ctrlPr>
                              <a:rPr lang="en-US" sz="1700" i="1">
                                <a:latin typeface="Cambria Math" panose="02040503050406030204" pitchFamily="18" charset="0"/>
                              </a:rPr>
                            </m:ctrlPr>
                          </m:naryPr>
                          <m:sub>
                            <m:r>
                              <m:rPr>
                                <m:brk m:alnAt="7"/>
                              </m:rPr>
                              <a:rPr lang="en-US" sz="1700" i="1">
                                <a:latin typeface="Cambria Math" panose="02040503050406030204" pitchFamily="18" charset="0"/>
                              </a:rPr>
                              <m:t>𝑘</m:t>
                            </m:r>
                          </m:sub>
                          <m:sup/>
                          <m:e>
                            <m:r>
                              <a:rPr lang="en-US" sz="1700" b="0" i="1" smtClean="0">
                                <a:latin typeface="Cambria Math" panose="02040503050406030204" pitchFamily="18" charset="0"/>
                              </a:rPr>
                              <m:t>1/</m:t>
                            </m:r>
                            <m:sSubSup>
                              <m:sSubSupPr>
                                <m:ctrlPr>
                                  <a:rPr lang="en-US" sz="1700" i="1">
                                    <a:latin typeface="Cambria Math" panose="02040503050406030204" pitchFamily="18" charset="0"/>
                                  </a:rPr>
                                </m:ctrlPr>
                              </m:sSubSupPr>
                              <m:e>
                                <m:r>
                                  <a:rPr lang="en-US" sz="1700" i="1">
                                    <a:latin typeface="Cambria Math" panose="02040503050406030204" pitchFamily="18" charset="0"/>
                                    <a:ea typeface="Cambria Math" panose="02040503050406030204" pitchFamily="18" charset="0"/>
                                  </a:rPr>
                                  <m:t>𝜎</m:t>
                                </m:r>
                              </m:e>
                              <m:sub>
                                <m:r>
                                  <a:rPr lang="en-US" sz="1700" i="1">
                                    <a:latin typeface="Cambria Math" panose="02040503050406030204" pitchFamily="18" charset="0"/>
                                  </a:rPr>
                                  <m:t>𝑖𝑘</m:t>
                                </m:r>
                              </m:sub>
                              <m:sup>
                                <m:r>
                                  <a:rPr lang="en-US" sz="1700" i="1">
                                    <a:latin typeface="Cambria Math" panose="02040503050406030204" pitchFamily="18" charset="0"/>
                                  </a:rPr>
                                  <m:t>2</m:t>
                                </m:r>
                              </m:sup>
                            </m:sSubSup>
                          </m:e>
                        </m:nary>
                        <m:r>
                          <a:rPr lang="en-US" sz="1700" i="1">
                            <a:latin typeface="Cambria Math" panose="02040503050406030204" pitchFamily="18" charset="0"/>
                          </a:rPr>
                          <m:t>)</m:t>
                        </m:r>
                      </m:e>
                      <m:sup>
                        <m:r>
                          <a:rPr lang="en-US" sz="1700" b="0" i="1" dirty="0" smtClean="0">
                            <a:latin typeface="Cambria Math" panose="02040503050406030204" pitchFamily="18" charset="0"/>
                          </a:rPr>
                          <m:t>−1</m:t>
                        </m:r>
                      </m:sup>
                    </m:sSup>
                  </m:oMath>
                </a14:m>
                <a:r>
                  <a:rPr lang="en-CA" sz="1700" dirty="0">
                    <a:latin typeface="Calibri" panose="020F0502020204030204" pitchFamily="34" charset="0"/>
                  </a:rPr>
                  <a:t>, i=1,2</a:t>
                </a:r>
              </a:p>
              <a:p>
                <a:pPr marL="0" indent="0">
                  <a:buNone/>
                </a:pPr>
                <a:endParaRPr lang="en-CA" sz="1800" dirty="0">
                  <a:latin typeface="Calibri" panose="020F0502020204030204" pitchFamily="34" charset="0"/>
                </a:endParaRPr>
              </a:p>
              <a:p>
                <a:pPr marL="0" indent="0">
                  <a:buNone/>
                </a:pPr>
                <a:endParaRPr lang="en-CA" sz="1800" dirty="0">
                  <a:latin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14BFF2D1-B389-C2B5-37F7-0596958192A8}"/>
                  </a:ext>
                </a:extLst>
              </p:cNvPr>
              <p:cNvSpPr>
                <a:spLocks noGrp="1" noRot="1" noChangeAspect="1" noMove="1" noResize="1" noEditPoints="1" noAdjustHandles="1" noChangeArrowheads="1" noChangeShapeType="1" noTextEdit="1"/>
              </p:cNvSpPr>
              <p:nvPr>
                <p:ph idx="1"/>
              </p:nvPr>
            </p:nvSpPr>
            <p:spPr>
              <a:xfrm>
                <a:off x="942110" y="1495314"/>
                <a:ext cx="10515600" cy="5362685"/>
              </a:xfrm>
              <a:blipFill>
                <a:blip r:embed="rId2"/>
                <a:stretch>
                  <a:fillRect l="-2667" t="-1136" r="-174" b="-7500"/>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880C5A26-A00D-4B4D-099D-0BA8A2281ACF}"/>
              </a:ext>
            </a:extLst>
          </p:cNvPr>
          <p:cNvSpPr/>
          <p:nvPr/>
        </p:nvSpPr>
        <p:spPr>
          <a:xfrm>
            <a:off x="0" y="-18030"/>
            <a:ext cx="12192000" cy="138691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Cluster level analysis for means</a:t>
            </a:r>
          </a:p>
        </p:txBody>
      </p:sp>
      <p:sp>
        <p:nvSpPr>
          <p:cNvPr id="6" name="Rectangle 1">
            <a:extLst>
              <a:ext uri="{FF2B5EF4-FFF2-40B4-BE49-F238E27FC236}">
                <a16:creationId xmlns:a16="http://schemas.microsoft.com/office/drawing/2014/main" id="{D56D3014-CC22-EBD4-FC53-66CE65D9962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202122"/>
                </a:solidFill>
                <a:effectLst/>
                <a:latin typeface="Arial" panose="020B0604020202020204" pitchFamily="34" charset="0"/>
                <a:ea typeface="Arial" panose="020B0604020202020204" pitchFamily="34" charset="0"/>
              </a:rPr>
              <a:t>The main takeaway here is that </a:t>
            </a:r>
            <a:r>
              <a:rPr kumimoji="0" lang="en-US" altLang="en-US" sz="1000" b="0" i="0" u="none" strike="noStrike" cap="none" normalizeH="0" baseline="0">
                <a:ln>
                  <a:noFill/>
                </a:ln>
                <a:solidFill>
                  <a:srgbClr val="202122"/>
                </a:solidFill>
                <a:effectLst/>
                <a:latin typeface="Arial" panose="020B0604020202020204" pitchFamily="34" charset="0"/>
              </a:rPr>
              <a:t>  </a:t>
            </a:r>
            <a:r>
              <a:rPr kumimoji="0" lang="en-US" altLang="en-US" sz="1900" b="0" i="0" u="none" strike="noStrike" cap="none" normalizeH="0" baseline="0">
                <a:ln>
                  <a:noFill/>
                </a:ln>
                <a:solidFill>
                  <a:srgbClr val="202122"/>
                </a:solidFill>
                <a:effectLst/>
                <a:latin typeface="Arial" panose="020B0604020202020204" pitchFamily="34" charset="0"/>
              </a:rPr>
              <a:t>     </a:t>
            </a:r>
            <a:r>
              <a:rPr kumimoji="0" lang="en-US" altLang="en-US" sz="6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AutoShape 2" descr="{\displaystyle w_{k}\propto 1/\sigma _{k}^{2}}">
            <a:extLst>
              <a:ext uri="{FF2B5EF4-FFF2-40B4-BE49-F238E27FC236}">
                <a16:creationId xmlns:a16="http://schemas.microsoft.com/office/drawing/2014/main" id="{15F026DE-2445-FB8C-D5AA-B3F18D9636A1}"/>
              </a:ext>
            </a:extLst>
          </p:cNvPr>
          <p:cNvSpPr>
            <a:spLocks noChangeAspect="1" noChangeArrowheads="1"/>
          </p:cNvSpPr>
          <p:nvPr/>
        </p:nvSpPr>
        <p:spPr bwMode="auto">
          <a:xfrm>
            <a:off x="1858963"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
        <p:nvSpPr>
          <p:cNvPr id="2" name="Slide Number Placeholder 1">
            <a:extLst>
              <a:ext uri="{FF2B5EF4-FFF2-40B4-BE49-F238E27FC236}">
                <a16:creationId xmlns:a16="http://schemas.microsoft.com/office/drawing/2014/main" id="{E9A508D3-2144-655A-3698-332AFCD10707}"/>
              </a:ext>
            </a:extLst>
          </p:cNvPr>
          <p:cNvSpPr>
            <a:spLocks noGrp="1"/>
          </p:cNvSpPr>
          <p:nvPr>
            <p:ph type="sldNum" sz="quarter" idx="12"/>
          </p:nvPr>
        </p:nvSpPr>
        <p:spPr/>
        <p:txBody>
          <a:bodyPr/>
          <a:lstStyle/>
          <a:p>
            <a:fld id="{77C6A7FE-225D-49F1-B302-AA37EA92BB49}" type="slidenum">
              <a:rPr lang="en-US" smtClean="0"/>
              <a:t>84</a:t>
            </a:fld>
            <a:endParaRPr lang="en-US"/>
          </a:p>
        </p:txBody>
      </p:sp>
    </p:spTree>
    <p:extLst>
      <p:ext uri="{BB962C8B-B14F-4D97-AF65-F5344CB8AC3E}">
        <p14:creationId xmlns:p14="http://schemas.microsoft.com/office/powerpoint/2010/main" val="183480997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38CD18F-91C6-654F-A881-F4CD38F13702}"/>
              </a:ext>
            </a:extLst>
          </p:cNvPr>
          <p:cNvSpPr/>
          <p:nvPr/>
        </p:nvSpPr>
        <p:spPr>
          <a:xfrm>
            <a:off x="0" y="-18030"/>
            <a:ext cx="12192000" cy="540544"/>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Cluster level analysis for means</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F28D2D4-26D6-F149-98BE-3DEAB35D745E}"/>
                  </a:ext>
                </a:extLst>
              </p:cNvPr>
              <p:cNvSpPr txBox="1"/>
              <p:nvPr/>
            </p:nvSpPr>
            <p:spPr>
              <a:xfrm>
                <a:off x="130628" y="659059"/>
                <a:ext cx="12192000" cy="6198941"/>
              </a:xfrm>
              <a:prstGeom prst="rect">
                <a:avLst/>
              </a:prstGeom>
              <a:noFill/>
            </p:spPr>
            <p:txBody>
              <a:bodyPr wrap="square" rtlCol="0">
                <a:spAutoFit/>
              </a:bodyPr>
              <a:lstStyle/>
              <a:p>
                <a:pPr marL="285750" indent="-285750">
                  <a:buFont typeface="Arial" panose="020B0604020202020204" pitchFamily="34" charset="0"/>
                  <a:buChar char="•"/>
                </a:pPr>
                <a:r>
                  <a:rPr lang="en-US" dirty="0"/>
                  <a:t>Thus, for this optimal choice of weights, where optimality is defined as minimizing variance,</a:t>
                </a:r>
              </a:p>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𝑉𝑎𝑟</m:t>
                      </m:r>
                      <m:d>
                        <m:dPr>
                          <m:ctrlPr>
                            <a:rPr lang="en-US" sz="2000" b="0" i="1" smtClean="0">
                              <a:latin typeface="Cambria Math" panose="02040503050406030204" pitchFamily="18" charset="0"/>
                            </a:rPr>
                          </m:ctrlPr>
                        </m:dPr>
                        <m:e>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𝑘</m:t>
                              </m:r>
                              <m:r>
                                <a:rPr lang="en-US" altLang="zh-CN" sz="2000" i="1">
                                  <a:latin typeface="Cambria Math" panose="02040503050406030204" pitchFamily="18" charset="0"/>
                                </a:rPr>
                                <m:t>=1</m:t>
                              </m:r>
                            </m:sub>
                            <m:sup>
                              <m:r>
                                <a:rPr lang="en-US" altLang="zh-CN" sz="2000" i="1">
                                  <a:latin typeface="Cambria Math" panose="02040503050406030204" pitchFamily="18" charset="0"/>
                                </a:rPr>
                                <m:t>𝐾</m:t>
                              </m:r>
                            </m:sup>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𝑤</m:t>
                                  </m:r>
                                </m:e>
                                <m:sub>
                                  <m:r>
                                    <a:rPr lang="en-US" altLang="zh-CN" sz="2000" i="1">
                                      <a:latin typeface="Cambria Math" panose="02040503050406030204" pitchFamily="18" charset="0"/>
                                    </a:rPr>
                                    <m:t>1</m:t>
                                  </m:r>
                                  <m:r>
                                    <a:rPr lang="en-US" altLang="zh-CN" sz="2000" i="1">
                                      <a:latin typeface="Cambria Math" panose="02040503050406030204" pitchFamily="18" charset="0"/>
                                    </a:rPr>
                                    <m:t>𝑘</m:t>
                                  </m:r>
                                </m:sub>
                              </m:sSub>
                            </m:e>
                          </m:nary>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𝑌</m:t>
                                  </m:r>
                                </m:e>
                              </m:acc>
                            </m:e>
                            <m:sub>
                              <m:r>
                                <a:rPr lang="en-US" sz="2000" i="1">
                                  <a:latin typeface="Cambria Math" panose="02040503050406030204" pitchFamily="18" charset="0"/>
                                </a:rPr>
                                <m:t>1</m:t>
                              </m:r>
                              <m:r>
                                <a:rPr lang="en-US" sz="2000" i="1">
                                  <a:latin typeface="Cambria Math" panose="02040503050406030204" pitchFamily="18" charset="0"/>
                                </a:rPr>
                                <m:t>𝑘</m:t>
                              </m:r>
                            </m:sub>
                          </m:sSub>
                          <m:r>
                            <a:rPr lang="en-US" sz="2000" i="1">
                              <a:latin typeface="Cambria Math" panose="02040503050406030204" pitchFamily="18" charset="0"/>
                            </a:rPr>
                            <m:t>−</m:t>
                          </m:r>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𝑘</m:t>
                              </m:r>
                              <m:r>
                                <a:rPr lang="en-US" altLang="zh-CN" sz="2000" i="1">
                                  <a:latin typeface="Cambria Math" panose="02040503050406030204" pitchFamily="18" charset="0"/>
                                </a:rPr>
                                <m:t>=1</m:t>
                              </m:r>
                            </m:sub>
                            <m:sup>
                              <m:r>
                                <a:rPr lang="en-US" altLang="zh-CN" sz="2000" i="1">
                                  <a:latin typeface="Cambria Math" panose="02040503050406030204" pitchFamily="18" charset="0"/>
                                </a:rPr>
                                <m:t>𝐾</m:t>
                              </m:r>
                            </m:sup>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𝑤</m:t>
                                  </m:r>
                                </m:e>
                                <m:sub>
                                  <m:r>
                                    <a:rPr lang="en-US" altLang="zh-CN" sz="2000" i="1">
                                      <a:latin typeface="Cambria Math" panose="02040503050406030204" pitchFamily="18" charset="0"/>
                                    </a:rPr>
                                    <m:t>2</m:t>
                                  </m:r>
                                  <m:r>
                                    <a:rPr lang="en-US" altLang="zh-CN" sz="2000" i="1">
                                      <a:latin typeface="Cambria Math" panose="02040503050406030204" pitchFamily="18" charset="0"/>
                                    </a:rPr>
                                    <m:t>𝑘</m:t>
                                  </m:r>
                                </m:sub>
                              </m:sSub>
                            </m:e>
                          </m:nary>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𝑌</m:t>
                                  </m:r>
                                </m:e>
                              </m:acc>
                            </m:e>
                            <m:sub>
                              <m:r>
                                <a:rPr lang="en-US" sz="2000" i="1">
                                  <a:latin typeface="Cambria Math" panose="02040503050406030204" pitchFamily="18" charset="0"/>
                                </a:rPr>
                                <m:t>2</m:t>
                              </m:r>
                              <m:r>
                                <a:rPr lang="en-US" sz="2000" i="1">
                                  <a:latin typeface="Cambria Math" panose="02040503050406030204" pitchFamily="18" charset="0"/>
                                </a:rPr>
                                <m:t>𝑘</m:t>
                              </m:r>
                            </m:sub>
                          </m:sSub>
                        </m:e>
                      </m:d>
                      <m:r>
                        <a:rPr lang="en-US" sz="2000" b="0" i="1" smtClean="0">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sSup>
                            <m:sSupPr>
                              <m:ctrlPr>
                                <a:rPr lang="en-US" sz="2000" i="1">
                                  <a:latin typeface="Cambria Math" panose="02040503050406030204" pitchFamily="18" charset="0"/>
                                </a:rPr>
                              </m:ctrlPr>
                            </m:sSupPr>
                            <m:e>
                              <m:nary>
                                <m:naryPr>
                                  <m:chr m:val="∑"/>
                                  <m:ctrlPr>
                                    <a:rPr lang="en-US" sz="2000" i="1">
                                      <a:latin typeface="Cambria Math" panose="02040503050406030204" pitchFamily="18" charset="0"/>
                                    </a:rPr>
                                  </m:ctrlPr>
                                </m:naryPr>
                                <m:sub>
                                  <m:r>
                                    <m:rPr>
                                      <m:brk m:alnAt="23"/>
                                    </m:rPr>
                                    <a:rPr lang="en-US" sz="2000" i="1">
                                      <a:latin typeface="Cambria Math" panose="02040503050406030204" pitchFamily="18" charset="0"/>
                                    </a:rPr>
                                    <m:t>𝑘</m:t>
                                  </m:r>
                                  <m:r>
                                    <a:rPr lang="en-US" sz="2000" i="1">
                                      <a:latin typeface="Cambria Math" panose="02040503050406030204" pitchFamily="18" charset="0"/>
                                    </a:rPr>
                                    <m:t>=1</m:t>
                                  </m:r>
                                </m:sub>
                                <m:sup>
                                  <m:sSub>
                                    <m:sSubPr>
                                      <m:ctrlPr>
                                        <a:rPr lang="en-US" sz="2000" i="1">
                                          <a:latin typeface="Cambria Math" panose="02040503050406030204" pitchFamily="18" charset="0"/>
                                        </a:rPr>
                                      </m:ctrlPr>
                                    </m:sSubPr>
                                    <m:e>
                                      <m:r>
                                        <a:rPr lang="en-US" sz="2000" i="1">
                                          <a:latin typeface="Cambria Math" panose="02040503050406030204" pitchFamily="18" charset="0"/>
                                        </a:rPr>
                                        <m:t>𝐾</m:t>
                                      </m:r>
                                    </m:e>
                                    <m:sub>
                                      <m:r>
                                        <a:rPr lang="en-US" sz="2000" i="1">
                                          <a:latin typeface="Cambria Math" panose="02040503050406030204" pitchFamily="18" charset="0"/>
                                        </a:rPr>
                                        <m:t>1</m:t>
                                      </m:r>
                                    </m:sub>
                                  </m:sSub>
                                </m:sup>
                                <m:e>
                                  <m:sSubSup>
                                    <m:sSubSupPr>
                                      <m:ctrlPr>
                                        <a:rPr lang="en-US" sz="2000" i="1" smtClean="0">
                                          <a:latin typeface="Cambria Math" panose="02040503050406030204" pitchFamily="18" charset="0"/>
                                        </a:rPr>
                                      </m:ctrlPr>
                                    </m:sSubSupPr>
                                    <m:e>
                                      <m:r>
                                        <a:rPr lang="en-US" sz="2000" i="1">
                                          <a:latin typeface="Cambria Math" panose="02040503050406030204" pitchFamily="18" charset="0"/>
                                        </a:rPr>
                                        <m:t>1/</m:t>
                                      </m:r>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ea typeface="Cambria Math" panose="02040503050406030204" pitchFamily="18" charset="0"/>
                                        </a:rPr>
                                        <m:t>1</m:t>
                                      </m:r>
                                      <m:r>
                                        <a:rPr lang="en-US" sz="2000" i="1">
                                          <a:latin typeface="Cambria Math" panose="02040503050406030204" pitchFamily="18" charset="0"/>
                                        </a:rPr>
                                        <m:t>𝑘</m:t>
                                      </m:r>
                                    </m:sub>
                                    <m:sup>
                                      <m:r>
                                        <a:rPr lang="en-US" sz="2000" i="1">
                                          <a:latin typeface="Cambria Math" panose="02040503050406030204" pitchFamily="18" charset="0"/>
                                        </a:rPr>
                                        <m:t>2</m:t>
                                      </m:r>
                                    </m:sup>
                                  </m:sSubSup>
                                </m:e>
                              </m:nary>
                            </m:e>
                            <m:sup/>
                          </m:sSup>
                        </m:den>
                      </m:f>
                      <m:r>
                        <m:rPr>
                          <m:nor/>
                        </m:rPr>
                        <a:rPr lang="en-US" sz="2000" i="0" dirty="0"/>
                        <m:t> </m:t>
                      </m:r>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sSup>
                            <m:sSupPr>
                              <m:ctrlPr>
                                <a:rPr lang="en-US" sz="2000" i="1">
                                  <a:latin typeface="Cambria Math" panose="02040503050406030204" pitchFamily="18" charset="0"/>
                                </a:rPr>
                              </m:ctrlPr>
                            </m:sSupPr>
                            <m:e>
                              <m:nary>
                                <m:naryPr>
                                  <m:chr m:val="∑"/>
                                  <m:ctrlPr>
                                    <a:rPr lang="en-US" sz="2000" i="1">
                                      <a:latin typeface="Cambria Math" panose="02040503050406030204" pitchFamily="18" charset="0"/>
                                    </a:rPr>
                                  </m:ctrlPr>
                                </m:naryPr>
                                <m:sub>
                                  <m:r>
                                    <m:rPr>
                                      <m:brk m:alnAt="23"/>
                                    </m:rPr>
                                    <a:rPr lang="en-US" sz="2000" i="1">
                                      <a:latin typeface="Cambria Math" panose="02040503050406030204" pitchFamily="18" charset="0"/>
                                    </a:rPr>
                                    <m:t>𝑘</m:t>
                                  </m:r>
                                  <m:r>
                                    <a:rPr lang="en-US" sz="2000" i="1">
                                      <a:latin typeface="Cambria Math" panose="02040503050406030204" pitchFamily="18" charset="0"/>
                                    </a:rPr>
                                    <m:t>=1</m:t>
                                  </m:r>
                                </m:sub>
                                <m:sup>
                                  <m:sSub>
                                    <m:sSubPr>
                                      <m:ctrlPr>
                                        <a:rPr lang="en-US" sz="2000" i="1">
                                          <a:latin typeface="Cambria Math" panose="02040503050406030204" pitchFamily="18" charset="0"/>
                                        </a:rPr>
                                      </m:ctrlPr>
                                    </m:sSubPr>
                                    <m:e>
                                      <m:r>
                                        <a:rPr lang="en-US" sz="2000" i="1">
                                          <a:latin typeface="Cambria Math" panose="02040503050406030204" pitchFamily="18" charset="0"/>
                                        </a:rPr>
                                        <m:t>𝐾</m:t>
                                      </m:r>
                                    </m:e>
                                    <m:sub>
                                      <m:r>
                                        <a:rPr lang="en-US" sz="2000" i="1">
                                          <a:latin typeface="Cambria Math" panose="02040503050406030204" pitchFamily="18" charset="0"/>
                                        </a:rPr>
                                        <m:t>2</m:t>
                                      </m:r>
                                    </m:sub>
                                  </m:sSub>
                                </m:sup>
                                <m:e>
                                  <m:sSubSup>
                                    <m:sSubSupPr>
                                      <m:ctrlPr>
                                        <a:rPr lang="en-US" sz="2000" i="1">
                                          <a:latin typeface="Cambria Math" panose="02040503050406030204" pitchFamily="18" charset="0"/>
                                        </a:rPr>
                                      </m:ctrlPr>
                                    </m:sSubSupPr>
                                    <m:e>
                                      <m:r>
                                        <a:rPr lang="en-US" sz="2000" i="1">
                                          <a:latin typeface="Cambria Math" panose="02040503050406030204" pitchFamily="18" charset="0"/>
                                        </a:rPr>
                                        <m:t>1/</m:t>
                                      </m:r>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ea typeface="Cambria Math" panose="02040503050406030204" pitchFamily="18" charset="0"/>
                                        </a:rPr>
                                        <m:t>2</m:t>
                                      </m:r>
                                      <m:r>
                                        <a:rPr lang="en-US" sz="2000" i="1">
                                          <a:latin typeface="Cambria Math" panose="02040503050406030204" pitchFamily="18" charset="0"/>
                                        </a:rPr>
                                        <m:t>𝑘</m:t>
                                      </m:r>
                                    </m:sub>
                                    <m:sup>
                                      <m:r>
                                        <a:rPr lang="en-US" sz="2000" i="1">
                                          <a:latin typeface="Cambria Math" panose="02040503050406030204" pitchFamily="18" charset="0"/>
                                        </a:rPr>
                                        <m:t>2</m:t>
                                      </m:r>
                                    </m:sup>
                                  </m:sSubSup>
                                </m:e>
                              </m:nary>
                            </m:e>
                            <m:sup/>
                          </m:sSup>
                        </m:den>
                      </m:f>
                    </m:oMath>
                  </m:oMathPara>
                </a14:m>
                <a:endParaRPr lang="en-US" sz="2000" dirty="0"/>
              </a:p>
              <a:p>
                <a:endParaRPr lang="en-US" sz="2000" dirty="0"/>
              </a:p>
              <a:p>
                <a:pPr marL="285750" indent="-285750">
                  <a:buFont typeface="Arial" panose="020B0604020202020204" pitchFamily="34" charset="0"/>
                  <a:buChar char="•"/>
                </a:pPr>
                <a:r>
                  <a:rPr lang="en-US" sz="2000" dirty="0"/>
                  <a:t>If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rPr>
                          <m:t>𝑖𝑘</m:t>
                        </m:r>
                      </m:sub>
                      <m:sup>
                        <m:r>
                          <a:rPr lang="en-US" sz="2000" i="1">
                            <a:latin typeface="Cambria Math" panose="02040503050406030204" pitchFamily="18" charset="0"/>
                          </a:rPr>
                          <m:t>2</m:t>
                        </m:r>
                      </m:sup>
                    </m:sSubSup>
                    <m:r>
                      <a:rPr lang="en-US" sz="2000" b="0" i="0" smtClean="0">
                        <a:latin typeface="Cambria Math" panose="02040503050406030204" pitchFamily="18" charset="0"/>
                      </a:rPr>
                      <m:t>=</m:t>
                    </m:r>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𝜎</m:t>
                            </m:r>
                          </m:e>
                          <m:sup>
                            <m:r>
                              <a:rPr lang="en-US" sz="2000" i="1">
                                <a:latin typeface="Cambria Math" panose="02040503050406030204" pitchFamily="18" charset="0"/>
                              </a:rPr>
                              <m:t>2</m:t>
                            </m:r>
                          </m:sup>
                        </m:sSup>
                      </m:num>
                      <m:den>
                        <m:sSub>
                          <m:sSubPr>
                            <m:ctrlPr>
                              <a:rPr lang="en-US" sz="2000" b="1" i="1">
                                <a:latin typeface="Cambria Math" panose="02040503050406030204" pitchFamily="18" charset="0"/>
                              </a:rPr>
                            </m:ctrlPr>
                          </m:sSubPr>
                          <m:e>
                            <m:r>
                              <a:rPr lang="en-US" sz="2000" b="1" i="1">
                                <a:latin typeface="Cambria Math" panose="02040503050406030204" pitchFamily="18" charset="0"/>
                              </a:rPr>
                              <m:t>𝒎</m:t>
                            </m:r>
                          </m:e>
                          <m:sub>
                            <m:r>
                              <a:rPr lang="en-CA" sz="2000" b="1" i="1" smtClean="0">
                                <a:latin typeface="Cambria Math" panose="02040503050406030204" pitchFamily="18" charset="0"/>
                              </a:rPr>
                              <m:t>𝒊𝒌</m:t>
                            </m:r>
                          </m:sub>
                        </m:sSub>
                      </m:den>
                    </m:f>
                    <m:r>
                      <a:rPr lang="en-US" sz="2000" i="1">
                        <a:latin typeface="Cambria Math" panose="02040503050406030204" pitchFamily="18" charset="0"/>
                      </a:rPr>
                      <m:t>[1+</m:t>
                    </m:r>
                    <m:r>
                      <a:rPr lang="en-US" sz="2000" i="1">
                        <a:latin typeface="Cambria Math" panose="02040503050406030204" pitchFamily="18" charset="0"/>
                        <a:ea typeface="Cambria Math" panose="02040503050406030204" pitchFamily="18" charset="0"/>
                      </a:rPr>
                      <m:t>𝜌</m:t>
                    </m:r>
                    <m:r>
                      <a:rPr lang="en-US" sz="2000" i="1">
                        <a:latin typeface="Cambria Math" panose="02040503050406030204" pitchFamily="18" charset="0"/>
                        <a:ea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𝒎</m:t>
                        </m:r>
                      </m:e>
                      <m:sub>
                        <m:r>
                          <a:rPr lang="en-CA" sz="2000" b="1" i="1" smtClean="0">
                            <a:latin typeface="Cambria Math" panose="02040503050406030204" pitchFamily="18" charset="0"/>
                            <a:ea typeface="Cambria Math" panose="02040503050406030204" pitchFamily="18" charset="0"/>
                          </a:rPr>
                          <m:t>𝒊</m:t>
                        </m:r>
                        <m:r>
                          <a:rPr lang="en-US" sz="2000" b="1" i="1">
                            <a:latin typeface="Cambria Math" panose="02040503050406030204" pitchFamily="18" charset="0"/>
                            <a:ea typeface="Cambria Math" panose="02040503050406030204" pitchFamily="18" charset="0"/>
                          </a:rPr>
                          <m:t>𝒌</m:t>
                        </m:r>
                      </m:sub>
                    </m:sSub>
                    <m:r>
                      <a:rPr lang="en-US" sz="2000" i="1">
                        <a:latin typeface="Cambria Math" panose="02040503050406030204" pitchFamily="18" charset="0"/>
                        <a:ea typeface="Cambria Math" panose="02040503050406030204" pitchFamily="18" charset="0"/>
                      </a:rPr>
                      <m:t>−1)</m:t>
                    </m:r>
                    <m:r>
                      <a:rPr lang="en-US" sz="2000" i="1">
                        <a:latin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𝑖</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𝑘</m:t>
                    </m:r>
                    <m:r>
                      <a:rPr lang="en-US" sz="2000" b="0" i="1" smtClean="0">
                        <a:latin typeface="Cambria Math" panose="02040503050406030204" pitchFamily="18" charset="0"/>
                        <a:ea typeface="Cambria Math" panose="02040503050406030204" pitchFamily="18" charset="0"/>
                      </a:rPr>
                      <m:t>,</m:t>
                    </m:r>
                  </m:oMath>
                </a14:m>
                <a:r>
                  <a:rPr lang="en-US" sz="2000" dirty="0"/>
                  <a:t> and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𝑚</m:t>
                        </m:r>
                      </m:e>
                      <m:sub>
                        <m:r>
                          <a:rPr lang="en-US" sz="2000" b="0" i="1" smtClean="0">
                            <a:latin typeface="Cambria Math" panose="02040503050406030204" pitchFamily="18" charset="0"/>
                          </a:rPr>
                          <m:t>𝑖𝑘</m:t>
                        </m:r>
                      </m:sub>
                    </m:sSub>
                    <m:r>
                      <a:rPr lang="en-US" sz="2000" b="0" i="1" smtClean="0">
                        <a:latin typeface="Cambria Math" panose="02040503050406030204" pitchFamily="18" charset="0"/>
                      </a:rPr>
                      <m:t>=</m:t>
                    </m:r>
                    <m:r>
                      <a:rPr lang="en-US" sz="2000" b="0" i="1" smtClean="0">
                        <a:latin typeface="Cambria Math" panose="02040503050406030204" pitchFamily="18" charset="0"/>
                      </a:rPr>
                      <m:t>𝑚</m:t>
                    </m:r>
                  </m:oMath>
                </a14:m>
                <a:r>
                  <a:rPr lang="en-US" sz="2000" dirty="0"/>
                  <a:t>, </a:t>
                </a:r>
                <a14:m>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𝑖</m:t>
                    </m:r>
                  </m:oMath>
                </a14:m>
                <a:r>
                  <a:rPr lang="en-US" sz="2000" dirty="0"/>
                  <a:t>, </a:t>
                </a:r>
                <a14:m>
                  <m:oMath xmlns:m="http://schemas.openxmlformats.org/officeDocument/2006/math">
                    <m:r>
                      <a:rPr lang="en-US" sz="2000" b="0" i="1" smtClean="0">
                        <a:latin typeface="Cambria Math" panose="02040503050406030204" pitchFamily="18" charset="0"/>
                      </a:rPr>
                      <m:t>𝑘</m:t>
                    </m:r>
                  </m:oMath>
                </a14:m>
                <a:r>
                  <a:rPr lang="en-US" sz="2000" dirty="0"/>
                  <a:t> the above formula simplifies to</a:t>
                </a:r>
              </a:p>
              <a:p>
                <a:r>
                  <a:rPr lang="en-US" sz="2000" dirty="0"/>
                  <a:t> </a:t>
                </a:r>
                <a14:m>
                  <m:oMath xmlns:m="http://schemas.openxmlformats.org/officeDocument/2006/math">
                    <m:r>
                      <a:rPr lang="en-US" sz="2000" b="0" i="0" smtClean="0">
                        <a:latin typeface="Cambria Math" panose="02040503050406030204" pitchFamily="18" charset="0"/>
                      </a:rPr>
                      <m:t>                           </m:t>
                    </m:r>
                    <m:r>
                      <a:rPr lang="en-US" sz="2000" i="1">
                        <a:latin typeface="Cambria Math" panose="02040503050406030204" pitchFamily="18" charset="0"/>
                      </a:rPr>
                      <m:t>𝑉𝑎𝑟</m:t>
                    </m:r>
                    <m:d>
                      <m:dPr>
                        <m:ctrlPr>
                          <a:rPr lang="en-US" sz="2000" i="1">
                            <a:latin typeface="Cambria Math" panose="02040503050406030204" pitchFamily="18" charset="0"/>
                          </a:rPr>
                        </m:ctrlPr>
                      </m:dPr>
                      <m:e>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𝑘</m:t>
                            </m:r>
                            <m:r>
                              <a:rPr lang="en-US" altLang="zh-CN" sz="2000" i="1">
                                <a:latin typeface="Cambria Math" panose="02040503050406030204" pitchFamily="18" charset="0"/>
                              </a:rPr>
                              <m:t>=1</m:t>
                            </m:r>
                          </m:sub>
                          <m:sup>
                            <m:r>
                              <a:rPr lang="en-US" altLang="zh-CN" sz="2000" i="1">
                                <a:latin typeface="Cambria Math" panose="02040503050406030204" pitchFamily="18" charset="0"/>
                              </a:rPr>
                              <m:t>𝐾</m:t>
                            </m:r>
                          </m:sup>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𝑤</m:t>
                                </m:r>
                              </m:e>
                              <m:sub>
                                <m:r>
                                  <a:rPr lang="en-US" altLang="zh-CN" sz="2000" i="1">
                                    <a:latin typeface="Cambria Math" panose="02040503050406030204" pitchFamily="18" charset="0"/>
                                  </a:rPr>
                                  <m:t>1</m:t>
                                </m:r>
                                <m:r>
                                  <a:rPr lang="en-US" altLang="zh-CN" sz="2000" i="1">
                                    <a:latin typeface="Cambria Math" panose="02040503050406030204" pitchFamily="18" charset="0"/>
                                  </a:rPr>
                                  <m:t>𝑘</m:t>
                                </m:r>
                              </m:sub>
                            </m:sSub>
                          </m:e>
                        </m:nary>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𝑌</m:t>
                                </m:r>
                              </m:e>
                            </m:acc>
                          </m:e>
                          <m:sub>
                            <m:r>
                              <a:rPr lang="en-US" sz="2000" i="1">
                                <a:latin typeface="Cambria Math" panose="02040503050406030204" pitchFamily="18" charset="0"/>
                              </a:rPr>
                              <m:t>1</m:t>
                            </m:r>
                            <m:r>
                              <a:rPr lang="en-US" sz="2000" i="1">
                                <a:latin typeface="Cambria Math" panose="02040503050406030204" pitchFamily="18" charset="0"/>
                              </a:rPr>
                              <m:t>𝑘</m:t>
                            </m:r>
                          </m:sub>
                        </m:sSub>
                        <m:r>
                          <a:rPr lang="en-US" sz="2000" i="1">
                            <a:latin typeface="Cambria Math" panose="02040503050406030204" pitchFamily="18" charset="0"/>
                          </a:rPr>
                          <m:t>−</m:t>
                        </m:r>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𝑘</m:t>
                            </m:r>
                            <m:r>
                              <a:rPr lang="en-US" altLang="zh-CN" sz="2000" i="1">
                                <a:latin typeface="Cambria Math" panose="02040503050406030204" pitchFamily="18" charset="0"/>
                              </a:rPr>
                              <m:t>=1</m:t>
                            </m:r>
                          </m:sub>
                          <m:sup>
                            <m:r>
                              <a:rPr lang="en-US" altLang="zh-CN" sz="2000" i="1">
                                <a:latin typeface="Cambria Math" panose="02040503050406030204" pitchFamily="18" charset="0"/>
                              </a:rPr>
                              <m:t>𝐾</m:t>
                            </m:r>
                          </m:sup>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𝑤</m:t>
                                </m:r>
                              </m:e>
                              <m:sub>
                                <m:r>
                                  <a:rPr lang="en-US" altLang="zh-CN" sz="2000" i="1">
                                    <a:latin typeface="Cambria Math" panose="02040503050406030204" pitchFamily="18" charset="0"/>
                                  </a:rPr>
                                  <m:t>2</m:t>
                                </m:r>
                                <m:r>
                                  <a:rPr lang="en-US" altLang="zh-CN" sz="2000" i="1">
                                    <a:latin typeface="Cambria Math" panose="02040503050406030204" pitchFamily="18" charset="0"/>
                                  </a:rPr>
                                  <m:t>𝑘</m:t>
                                </m:r>
                              </m:sub>
                            </m:sSub>
                          </m:e>
                        </m:nary>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𝑌</m:t>
                                </m:r>
                              </m:e>
                            </m:acc>
                          </m:e>
                          <m:sub>
                            <m:r>
                              <a:rPr lang="en-US" sz="2000" i="1">
                                <a:latin typeface="Cambria Math" panose="02040503050406030204" pitchFamily="18" charset="0"/>
                              </a:rPr>
                              <m:t>2</m:t>
                            </m:r>
                            <m:r>
                              <a:rPr lang="en-US" sz="2000" i="1">
                                <a:latin typeface="Cambria Math" panose="02040503050406030204" pitchFamily="18" charset="0"/>
                              </a:rPr>
                              <m:t>𝑘</m:t>
                            </m:r>
                          </m:sub>
                        </m:sSub>
                      </m:e>
                    </m:d>
                    <m:r>
                      <a:rPr lang="en-US" sz="2000" i="1">
                        <a:latin typeface="Cambria Math" panose="02040503050406030204" pitchFamily="18" charset="0"/>
                      </a:rPr>
                      <m:t>=</m:t>
                    </m:r>
                    <m:r>
                      <a:rPr lang="en-US" sz="2000" b="0" i="1" smtClean="0">
                        <a:latin typeface="Cambria Math" panose="02040503050406030204" pitchFamily="18" charset="0"/>
                      </a:rPr>
                      <m:t>2</m:t>
                    </m:r>
                    <m:f>
                      <m:fPr>
                        <m:ctrlPr>
                          <a:rPr lang="en-US" sz="2000" b="0" i="1" smtClean="0">
                            <a:latin typeface="Cambria Math" panose="02040503050406030204" pitchFamily="18" charset="0"/>
                          </a:rPr>
                        </m:ctrlPr>
                      </m:fPr>
                      <m:num>
                        <m:sSup>
                          <m:sSupPr>
                            <m:ctrlPr>
                              <a:rPr lang="en-US" sz="2000" i="1">
                                <a:latin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𝜎</m:t>
                            </m:r>
                          </m:e>
                          <m:sup>
                            <m:r>
                              <a:rPr lang="en-US" sz="2000" i="1">
                                <a:latin typeface="Cambria Math" panose="02040503050406030204" pitchFamily="18" charset="0"/>
                              </a:rPr>
                              <m:t>2</m:t>
                            </m:r>
                          </m:sup>
                        </m:sSup>
                        <m:r>
                          <a:rPr lang="en-US" sz="2000" b="0" i="1" smtClean="0">
                            <a:latin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𝜌</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𝑚</m:t>
                        </m:r>
                        <m:r>
                          <a:rPr lang="en-US" sz="2000" b="0" i="1" smtClean="0">
                            <a:latin typeface="Cambria Math" panose="02040503050406030204" pitchFamily="18" charset="0"/>
                            <a:ea typeface="Cambria Math" panose="02040503050406030204" pitchFamily="18" charset="0"/>
                          </a:rPr>
                          <m:t>−1)]</m:t>
                        </m:r>
                      </m:num>
                      <m:den>
                        <m:r>
                          <a:rPr lang="en-US" sz="2000" b="0" i="1" smtClean="0">
                            <a:latin typeface="Cambria Math" panose="02040503050406030204" pitchFamily="18" charset="0"/>
                          </a:rPr>
                          <m:t>𝐾𝑚</m:t>
                        </m:r>
                      </m:den>
                    </m:f>
                  </m:oMath>
                </a14:m>
                <a:r>
                  <a:rPr lang="en-US" sz="2000" b="0" dirty="0"/>
                  <a:t> , same as in individual-level analysis!</a:t>
                </a:r>
              </a:p>
              <a:p>
                <a:pPr marL="342900" indent="-342900">
                  <a:buFont typeface="Arial" panose="020B0604020202020204" pitchFamily="34" charset="0"/>
                  <a:buChar char="•"/>
                </a:pPr>
                <a:endParaRPr lang="en-US" sz="2000" b="0" dirty="0"/>
              </a:p>
              <a:p>
                <a:pPr marL="342900" indent="-342900">
                  <a:buFont typeface="Arial" panose="020B0604020202020204" pitchFamily="34" charset="0"/>
                  <a:buChar char="•"/>
                </a:pPr>
                <a:r>
                  <a:rPr lang="en-US" sz="2000" b="0" dirty="0"/>
                  <a:t>We also have </a:t>
                </a:r>
                <a14:m>
                  <m:oMath xmlns:m="http://schemas.openxmlformats.org/officeDocument/2006/math">
                    <m:sSubSup>
                      <m:sSubSupPr>
                        <m:ctrlPr>
                          <a:rPr lang="en-US" sz="2000" i="1" smtClean="0">
                            <a:latin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rPr>
                          <m:t>𝑖𝑘</m:t>
                        </m:r>
                      </m:sub>
                      <m:sup>
                        <m:r>
                          <a:rPr lang="en-US" sz="2000" i="1">
                            <a:latin typeface="Cambria Math" panose="02040503050406030204" pitchFamily="18" charset="0"/>
                          </a:rPr>
                          <m:t>2</m:t>
                        </m:r>
                      </m:sup>
                    </m:sSubSup>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bSup>
                          <m:sSubSupPr>
                            <m:ctrlPr>
                              <a:rPr lang="en-US" sz="2000" i="1">
                                <a:latin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𝜎</m:t>
                            </m:r>
                          </m:e>
                          <m:sub>
                            <m:r>
                              <a:rPr lang="en-US" sz="2000" b="0" i="1" smtClean="0">
                                <a:latin typeface="Cambria Math" panose="02040503050406030204" pitchFamily="18" charset="0"/>
                                <a:ea typeface="Cambria Math" panose="02040503050406030204" pitchFamily="18" charset="0"/>
                              </a:rPr>
                              <m:t>𝑊</m:t>
                            </m:r>
                          </m:sub>
                          <m:sup>
                            <m:r>
                              <a:rPr lang="en-US" sz="2000" i="1">
                                <a:latin typeface="Cambria Math" panose="02040503050406030204" pitchFamily="18" charset="0"/>
                              </a:rPr>
                              <m:t>2</m:t>
                            </m:r>
                          </m:sup>
                        </m:sSubSup>
                      </m:num>
                      <m:den>
                        <m:r>
                          <a:rPr lang="en-US" sz="2000" b="0" i="1" smtClean="0">
                            <a:latin typeface="Cambria Math" panose="02040503050406030204" pitchFamily="18" charset="0"/>
                          </a:rPr>
                          <m:t>𝑚</m:t>
                        </m:r>
                      </m:den>
                    </m:f>
                    <m:r>
                      <a:rPr lang="en-US" sz="2000" b="0" i="1" smtClean="0">
                        <a:latin typeface="Cambria Math" panose="02040503050406030204" pitchFamily="18" charset="0"/>
                      </a:rPr>
                      <m:t>+</m:t>
                    </m:r>
                    <m:sSubSup>
                      <m:sSubSupPr>
                        <m:ctrlPr>
                          <a:rPr lang="en-US" sz="2000" i="1">
                            <a:latin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𝜎</m:t>
                        </m:r>
                      </m:e>
                      <m:sub>
                        <m:r>
                          <a:rPr lang="en-US" sz="2000" b="0" i="1" smtClean="0">
                            <a:latin typeface="Cambria Math" panose="02040503050406030204" pitchFamily="18" charset="0"/>
                            <a:ea typeface="Cambria Math" panose="02040503050406030204" pitchFamily="18" charset="0"/>
                          </a:rPr>
                          <m:t>𝐵</m:t>
                        </m:r>
                      </m:sub>
                      <m:sup>
                        <m:r>
                          <a:rPr lang="en-US" sz="2000" i="1">
                            <a:latin typeface="Cambria Math" panose="02040503050406030204" pitchFamily="18" charset="0"/>
                          </a:rPr>
                          <m:t>2</m:t>
                        </m:r>
                      </m:sup>
                    </m:sSubSup>
                  </m:oMath>
                </a14:m>
                <a:r>
                  <a:rPr lang="en-US" sz="2000" b="0" dirty="0"/>
                  <a:t>=</a:t>
                </a:r>
                <a:r>
                  <a:rPr lang="en-US" sz="2000" dirty="0"/>
                  <a:t> </a:t>
                </a:r>
                <a14:m>
                  <m:oMath xmlns:m="http://schemas.openxmlformats.org/officeDocument/2006/math">
                    <m:f>
                      <m:fPr>
                        <m:ctrlPr>
                          <a:rPr lang="en-US" sz="2000" i="1">
                            <a:latin typeface="Cambria Math" panose="02040503050406030204" pitchFamily="18" charset="0"/>
                          </a:rPr>
                        </m:ctrlPr>
                      </m:fPr>
                      <m:num>
                        <m:sSubSup>
                          <m:sSubSupPr>
                            <m:ctrlPr>
                              <a:rPr lang="en-US" sz="2000" i="1">
                                <a:latin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ea typeface="Cambria Math" panose="02040503050406030204" pitchFamily="18" charset="0"/>
                              </a:rPr>
                              <m:t>𝑊</m:t>
                            </m:r>
                          </m:sub>
                          <m:sup>
                            <m:r>
                              <a:rPr lang="en-US" sz="2000" i="1">
                                <a:latin typeface="Cambria Math" panose="02040503050406030204" pitchFamily="18" charset="0"/>
                              </a:rPr>
                              <m:t>2</m:t>
                            </m:r>
                          </m:sup>
                        </m:sSubSup>
                      </m:num>
                      <m:den>
                        <m:r>
                          <a:rPr lang="en-US" sz="2000" i="1">
                            <a:latin typeface="Cambria Math" panose="02040503050406030204" pitchFamily="18" charset="0"/>
                          </a:rPr>
                          <m:t>𝑚</m:t>
                        </m:r>
                      </m:den>
                    </m:f>
                  </m:oMath>
                </a14:m>
                <a:r>
                  <a:rPr lang="en-US" sz="2000" b="0" dirty="0"/>
                  <a:t>+</a:t>
                </a:r>
                <a:r>
                  <a:rPr lang="en-US" sz="2000" dirty="0"/>
                  <a:t> </a:t>
                </a:r>
                <a14:m>
                  <m:oMath xmlns:m="http://schemas.openxmlformats.org/officeDocument/2006/math">
                    <m:f>
                      <m:fPr>
                        <m:ctrlPr>
                          <a:rPr lang="en-US" sz="2000" b="0" i="1" smtClean="0">
                            <a:latin typeface="Cambria Math" panose="02040503050406030204" pitchFamily="18" charset="0"/>
                          </a:rPr>
                        </m:ctrlPr>
                      </m:fPr>
                      <m:num>
                        <m:sSubSup>
                          <m:sSubSupPr>
                            <m:ctrlPr>
                              <a:rPr lang="en-US" sz="2000" i="1" smtClean="0">
                                <a:latin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ea typeface="Cambria Math" panose="02040503050406030204" pitchFamily="18" charset="0"/>
                              </a:rPr>
                              <m:t>𝑊</m:t>
                            </m:r>
                          </m:sub>
                          <m:sup>
                            <m:r>
                              <a:rPr lang="en-US" sz="2000" i="1">
                                <a:latin typeface="Cambria Math" panose="02040503050406030204" pitchFamily="18" charset="0"/>
                              </a:rPr>
                              <m:t>2</m:t>
                            </m:r>
                          </m:sup>
                        </m:sSubSup>
                        <m:r>
                          <a:rPr lang="en-US" sz="2000" b="0" i="1" smtClean="0">
                            <a:latin typeface="Cambria Math" panose="02040503050406030204" pitchFamily="18" charset="0"/>
                          </a:rPr>
                          <m:t>𝜌</m:t>
                        </m:r>
                      </m:num>
                      <m:den>
                        <m:r>
                          <a:rPr lang="en-US" sz="2000" b="0" i="1" smtClean="0">
                            <a:latin typeface="Cambria Math" panose="02040503050406030204" pitchFamily="18" charset="0"/>
                          </a:rPr>
                          <m:t>1−</m:t>
                        </m:r>
                        <m:r>
                          <a:rPr lang="en-US" sz="2000" i="1">
                            <a:latin typeface="Cambria Math" panose="02040503050406030204" pitchFamily="18" charset="0"/>
                          </a:rPr>
                          <m:t>𝜌</m:t>
                        </m:r>
                      </m:den>
                    </m:f>
                  </m:oMath>
                </a14:m>
                <a:r>
                  <a:rPr lang="en-US" sz="2000" b="0" dirty="0"/>
                  <a:t>. </a:t>
                </a:r>
              </a:p>
              <a:p>
                <a:pPr marL="342900" indent="-342900">
                  <a:buFont typeface="Arial" panose="020B0604020202020204" pitchFamily="34" charset="0"/>
                  <a:buChar char="•"/>
                </a:pPr>
                <a:r>
                  <a:rPr lang="en-US" sz="2000" dirty="0"/>
                  <a:t>Hence, a valid and efficient analysis in a CRT can be conducting by estimating each cluster’s mean, the within-</a:t>
                </a:r>
              </a:p>
              <a:p>
                <a:r>
                  <a:rPr lang="en-US" sz="2000" dirty="0"/>
                  <a:t>cluster variance,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ea typeface="Cambria Math" panose="02040503050406030204" pitchFamily="18" charset="0"/>
                          </a:rPr>
                          <m:t>𝑊</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𝑖𝑘</m:t>
                        </m:r>
                      </m:sub>
                      <m:sup>
                        <m:r>
                          <a:rPr lang="en-US" sz="2000" i="1">
                            <a:latin typeface="Cambria Math" panose="02040503050406030204" pitchFamily="18" charset="0"/>
                          </a:rPr>
                          <m:t>2</m:t>
                        </m:r>
                      </m:sup>
                    </m:sSubSup>
                    <m:r>
                      <a:rPr lang="en-US" sz="2000" i="1">
                        <a:latin typeface="Cambria Math" panose="02040503050406030204" pitchFamily="18" charset="0"/>
                      </a:rPr>
                      <m:t> </m:t>
                    </m:r>
                  </m:oMath>
                </a14:m>
                <a:r>
                  <a:rPr lang="en-US" sz="2000" dirty="0"/>
                  <a:t>and </a:t>
                </a:r>
                <a14:m>
                  <m:oMath xmlns:m="http://schemas.openxmlformats.org/officeDocument/2006/math">
                    <m:r>
                      <a:rPr lang="en-US" sz="2000" i="1" smtClean="0">
                        <a:latin typeface="Cambria Math" panose="02040503050406030204" pitchFamily="18" charset="0"/>
                        <a:ea typeface="Cambria Math" panose="02040503050406030204" pitchFamily="18" charset="0"/>
                      </a:rPr>
                      <m:t>𝜌</m:t>
                    </m:r>
                  </m:oMath>
                </a14:m>
                <a:r>
                  <a:rPr lang="en-US" sz="2000" dirty="0"/>
                  <a:t>.</a:t>
                </a:r>
              </a:p>
              <a:p>
                <a:pPr marL="342900" indent="-34290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With a continuous outcome,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rPr>
                          <m:t>𝑖𝑘</m:t>
                        </m:r>
                      </m:sub>
                      <m:sup>
                        <m:r>
                          <a:rPr lang="en-US" sz="2000" i="1">
                            <a:latin typeface="Cambria Math" panose="02040503050406030204" pitchFamily="18" charset="0"/>
                          </a:rPr>
                          <m:t>2</m:t>
                        </m:r>
                      </m:sup>
                    </m:sSubSup>
                  </m:oMath>
                </a14:m>
                <a:r>
                  <a:rPr lang="en-US" sz="2000" dirty="0"/>
                  <a:t> can be estimated in each cluster by knowledge of the cluster size, and estimates of </a:t>
                </a:r>
                <a14:m>
                  <m:oMath xmlns:m="http://schemas.openxmlformats.org/officeDocument/2006/math">
                    <m:r>
                      <a:rPr lang="en-US" sz="2000" i="1">
                        <a:latin typeface="Cambria Math" panose="02040503050406030204" pitchFamily="18" charset="0"/>
                        <a:ea typeface="Cambria Math" panose="02040503050406030204" pitchFamily="18" charset="0"/>
                      </a:rPr>
                      <m:t>𝜌</m:t>
                    </m:r>
                  </m:oMath>
                </a14:m>
                <a:r>
                  <a:rPr lang="en-US" sz="2000" dirty="0"/>
                  <a:t> and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𝜎</m:t>
                        </m:r>
                      </m:e>
                      <m:sup>
                        <m:r>
                          <a:rPr lang="en-US" sz="2000" i="1">
                            <a:latin typeface="Cambria Math" panose="02040503050406030204" pitchFamily="18" charset="0"/>
                          </a:rPr>
                          <m:t>2</m:t>
                        </m:r>
                      </m:sup>
                    </m:sSup>
                  </m:oMath>
                </a14:m>
                <a:r>
                  <a:rPr lang="en-US" sz="2000" dirty="0"/>
                  <a:t>.  </a:t>
                </a:r>
              </a:p>
              <a:p>
                <a:pPr marL="285750" indent="-285750">
                  <a:buFont typeface="Arial" panose="020B0604020202020204" pitchFamily="34" charset="0"/>
                  <a:buChar char="•"/>
                </a:pPr>
                <a:endParaRPr lang="en-US" sz="2000" dirty="0"/>
              </a:p>
              <a:p>
                <a:pPr indent="-285750">
                  <a:buFont typeface="Arial" panose="020B0604020202020204" pitchFamily="34" charset="0"/>
                  <a:buChar char="•"/>
                </a:pPr>
                <a:r>
                  <a:rPr lang="en-US" sz="2000" dirty="0"/>
                  <a:t>Clusters can be sampled to obtain the within cluster mean and variance estimates, that is, not all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𝑚</m:t>
                        </m:r>
                      </m:e>
                      <m:sub>
                        <m:eqArr>
                          <m:eqArrPr>
                            <m:ctrlPr>
                              <a:rPr lang="en-US" sz="2000" b="0" i="1" smtClean="0">
                                <a:latin typeface="Cambria Math" panose="02040503050406030204" pitchFamily="18" charset="0"/>
                              </a:rPr>
                            </m:ctrlPr>
                          </m:eqArrPr>
                          <m:e>
                            <m:r>
                              <a:rPr lang="en-US" sz="2000" b="0" i="1" smtClean="0">
                                <a:latin typeface="Cambria Math" panose="02040503050406030204" pitchFamily="18" charset="0"/>
                              </a:rPr>
                              <m:t>𝑖𝑘</m:t>
                            </m:r>
                          </m:e>
                          <m:e/>
                        </m:eqArr>
                      </m:sub>
                    </m:sSub>
                  </m:oMath>
                </a14:m>
                <a:r>
                  <a:rPr lang="en-US" sz="2000" dirty="0"/>
                  <a:t> participants need to be measured. </a:t>
                </a:r>
                <a:r>
                  <a:rPr lang="en-US" sz="2000" i="1" dirty="0"/>
                  <a:t>(rapid </a:t>
                </a:r>
                <a:r>
                  <a:rPr lang="en-US" sz="2000" dirty="0"/>
                  <a:t>implementation science)</a:t>
                </a:r>
              </a:p>
            </p:txBody>
          </p:sp>
        </mc:Choice>
        <mc:Fallback xmlns="">
          <p:sp>
            <p:nvSpPr>
              <p:cNvPr id="2" name="TextBox 1">
                <a:extLst>
                  <a:ext uri="{FF2B5EF4-FFF2-40B4-BE49-F238E27FC236}">
                    <a16:creationId xmlns:a16="http://schemas.microsoft.com/office/drawing/2014/main" id="{FF28D2D4-26D6-F149-98BE-3DEAB35D745E}"/>
                  </a:ext>
                </a:extLst>
              </p:cNvPr>
              <p:cNvSpPr txBox="1">
                <a:spLocks noRot="1" noChangeAspect="1" noMove="1" noResize="1" noEditPoints="1" noAdjustHandles="1" noChangeArrowheads="1" noChangeShapeType="1" noTextEdit="1"/>
              </p:cNvSpPr>
              <p:nvPr/>
            </p:nvSpPr>
            <p:spPr>
              <a:xfrm>
                <a:off x="130628" y="659059"/>
                <a:ext cx="12192000" cy="6198941"/>
              </a:xfrm>
              <a:prstGeom prst="rect">
                <a:avLst/>
              </a:prstGeom>
              <a:blipFill>
                <a:blip r:embed="rId2"/>
                <a:stretch>
                  <a:fillRect l="-500" t="-492" r="-500" b="-787"/>
                </a:stretch>
              </a:blipFill>
            </p:spPr>
            <p:txBody>
              <a:bodyPr/>
              <a:lstStyle/>
              <a:p>
                <a:r>
                  <a:rPr lang="en-US">
                    <a:noFill/>
                  </a:rPr>
                  <a:t> </a:t>
                </a:r>
              </a:p>
            </p:txBody>
          </p:sp>
        </mc:Fallback>
      </mc:AlternateContent>
    </p:spTree>
    <p:extLst>
      <p:ext uri="{BB962C8B-B14F-4D97-AF65-F5344CB8AC3E}">
        <p14:creationId xmlns:p14="http://schemas.microsoft.com/office/powerpoint/2010/main" val="77650546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315EE3E-59A6-3D47-8BAA-22663BDF03FA}"/>
              </a:ext>
            </a:extLst>
          </p:cNvPr>
          <p:cNvSpPr/>
          <p:nvPr/>
        </p:nvSpPr>
        <p:spPr>
          <a:xfrm>
            <a:off x="0" y="-18030"/>
            <a:ext cx="12192000" cy="138691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Cluster level analysis for proportions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918B4A8-F8C6-9A44-844C-A1A8B6887D55}"/>
                  </a:ext>
                </a:extLst>
              </p:cNvPr>
              <p:cNvSpPr txBox="1"/>
              <p:nvPr/>
            </p:nvSpPr>
            <p:spPr>
              <a:xfrm>
                <a:off x="673768" y="1765986"/>
                <a:ext cx="11411325" cy="5048818"/>
              </a:xfrm>
              <a:prstGeom prst="rect">
                <a:avLst/>
              </a:prstGeom>
              <a:noFill/>
            </p:spPr>
            <p:txBody>
              <a:bodyPr wrap="square" rtlCol="0">
                <a:spAutoFit/>
              </a:bodyPr>
              <a:lstStyle/>
              <a:p>
                <a:pPr marL="285750" indent="-285750">
                  <a:buFont typeface="Arial" panose="020B0604020202020204" pitchFamily="34" charset="0"/>
                  <a:buChar char="•"/>
                </a:pPr>
                <a:r>
                  <a:rPr lang="en-US" sz="2800" dirty="0"/>
                  <a:t>By substituting </a:t>
                </a:r>
                <a14:m>
                  <m:oMath xmlns:m="http://schemas.openxmlformats.org/officeDocument/2006/math">
                    <m:sSub>
                      <m:sSubPr>
                        <m:ctrlPr>
                          <a:rPr lang="en-US" sz="2800" i="1" smtClean="0">
                            <a:latin typeface="Cambria Math" panose="02040503050406030204" pitchFamily="18" charset="0"/>
                          </a:rPr>
                        </m:ctrlPr>
                      </m:sSubPr>
                      <m:e>
                        <m:acc>
                          <m:accPr>
                            <m:chr m:val="̂"/>
                            <m:ctrlPr>
                              <a:rPr lang="en-US" sz="2800" i="1" smtClean="0">
                                <a:latin typeface="Cambria Math" panose="02040503050406030204" pitchFamily="18" charset="0"/>
                              </a:rPr>
                            </m:ctrlPr>
                          </m:accPr>
                          <m:e>
                            <m:r>
                              <a:rPr lang="en-US" sz="2800" b="0" i="1" smtClean="0">
                                <a:latin typeface="Cambria Math" panose="02040503050406030204" pitchFamily="18" charset="0"/>
                              </a:rPr>
                              <m:t>𝑝</m:t>
                            </m:r>
                          </m:e>
                        </m:acc>
                      </m:e>
                      <m:sub>
                        <m:r>
                          <a:rPr lang="en-US" sz="2800" b="0" i="1" smtClean="0">
                            <a:latin typeface="Cambria Math" panose="02040503050406030204" pitchFamily="18" charset="0"/>
                          </a:rPr>
                          <m:t>𝑖𝑘</m:t>
                        </m:r>
                      </m:sub>
                    </m:sSub>
                  </m:oMath>
                </a14:m>
                <a:r>
                  <a:rPr lang="en-US" sz="2800" dirty="0"/>
                  <a:t> for </a:t>
                </a:r>
                <a14:m>
                  <m:oMath xmlns:m="http://schemas.openxmlformats.org/officeDocument/2006/math">
                    <m:sSub>
                      <m:sSubPr>
                        <m:ctrlPr>
                          <a:rPr lang="en-US" sz="2800" i="1" smtClean="0">
                            <a:latin typeface="Cambria Math" panose="02040503050406030204" pitchFamily="18" charset="0"/>
                          </a:rPr>
                        </m:ctrlPr>
                      </m:sSubPr>
                      <m:e>
                        <m:acc>
                          <m:accPr>
                            <m:chr m:val="̅"/>
                            <m:ctrlPr>
                              <a:rPr lang="en-US" sz="2800" i="1" smtClean="0">
                                <a:latin typeface="Cambria Math" panose="02040503050406030204" pitchFamily="18" charset="0"/>
                              </a:rPr>
                            </m:ctrlPr>
                          </m:accPr>
                          <m:e>
                            <m:r>
                              <a:rPr lang="en-US" sz="2800" b="0" i="1" smtClean="0">
                                <a:latin typeface="Cambria Math" panose="02040503050406030204" pitchFamily="18" charset="0"/>
                              </a:rPr>
                              <m:t>𝑌</m:t>
                            </m:r>
                          </m:e>
                        </m:acc>
                      </m:e>
                      <m:sub>
                        <m:r>
                          <a:rPr lang="en-US" sz="2800" b="0" i="1" smtClean="0">
                            <a:latin typeface="Cambria Math" panose="02040503050406030204" pitchFamily="18" charset="0"/>
                          </a:rPr>
                          <m:t>𝑖𝑘</m:t>
                        </m:r>
                      </m:sub>
                    </m:sSub>
                    <m:r>
                      <a:rPr lang="en-US" sz="2800" b="0" i="1" smtClean="0">
                        <a:latin typeface="Cambria Math" panose="02040503050406030204" pitchFamily="18" charset="0"/>
                      </a:rPr>
                      <m:t>,</m:t>
                    </m:r>
                  </m:oMath>
                </a14:m>
                <a:r>
                  <a:rPr lang="en-US" sz="2800" dirty="0"/>
                  <a:t> where </a:t>
                </a:r>
                <a14:m>
                  <m:oMath xmlns:m="http://schemas.openxmlformats.org/officeDocument/2006/math">
                    <m:r>
                      <a:rPr lang="en-US" sz="2800" i="1">
                        <a:latin typeface="Cambria Math" panose="02040503050406030204" pitchFamily="18" charset="0"/>
                      </a:rPr>
                      <m:t>𝑉𝑎𝑟</m:t>
                    </m:r>
                    <m:d>
                      <m:dPr>
                        <m:ctrlPr>
                          <a:rPr lang="en-US" sz="2800" b="0" i="1" smtClean="0">
                            <a:latin typeface="Cambria Math" panose="02040503050406030204" pitchFamily="18" charset="0"/>
                          </a:rPr>
                        </m:ctrlPr>
                      </m:dPr>
                      <m:e>
                        <m:sSub>
                          <m:sSubPr>
                            <m:ctrlPr>
                              <a:rPr lang="en-US" sz="2800" i="1">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panose="02040503050406030204" pitchFamily="18" charset="0"/>
                                  </a:rPr>
                                  <m:t>𝑝</m:t>
                                </m:r>
                              </m:e>
                            </m:acc>
                          </m:e>
                          <m:sub>
                            <m:r>
                              <a:rPr lang="en-US" sz="2800" i="1">
                                <a:latin typeface="Cambria Math" panose="02040503050406030204" pitchFamily="18" charset="0"/>
                              </a:rPr>
                              <m:t>𝑖𝑘</m:t>
                            </m:r>
                          </m:sub>
                        </m:sSub>
                      </m:e>
                    </m:d>
                    <m:r>
                      <a:rPr lang="en-US" sz="2800" b="0" i="1" smtClean="0">
                        <a:latin typeface="Cambria Math" panose="02040503050406030204" pitchFamily="18" charset="0"/>
                      </a:rPr>
                      <m:t>=</m:t>
                    </m:r>
                    <m:f>
                      <m:fPr>
                        <m:ctrlPr>
                          <a:rPr lang="en-US" sz="2800" i="1">
                            <a:latin typeface="Cambria Math" panose="02040503050406030204" pitchFamily="18" charset="0"/>
                          </a:rPr>
                        </m:ctrlPr>
                      </m:fPr>
                      <m:num>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𝑝</m:t>
                            </m:r>
                          </m:e>
                          <m:sub>
                            <m:r>
                              <a:rPr lang="en-US" sz="2800" b="0" i="1" smtClean="0">
                                <a:latin typeface="Cambria Math" panose="02040503050406030204" pitchFamily="18" charset="0"/>
                              </a:rPr>
                              <m:t>𝑖𝑘</m:t>
                            </m:r>
                          </m:sub>
                        </m:sSub>
                        <m:r>
                          <a:rPr lang="en-US" sz="2800" b="0" i="1" smtClean="0">
                            <a:latin typeface="Cambria Math" panose="02040503050406030204" pitchFamily="18" charset="0"/>
                          </a:rPr>
                          <m:t>(1−</m:t>
                        </m:r>
                        <m:sSub>
                          <m:sSubPr>
                            <m:ctrlPr>
                              <a:rPr lang="en-US" sz="2800" i="1">
                                <a:latin typeface="Cambria Math" panose="02040503050406030204" pitchFamily="18" charset="0"/>
                              </a:rPr>
                            </m:ctrlPr>
                          </m:sSubPr>
                          <m:e>
                            <m:r>
                              <a:rPr lang="en-US" sz="2800" i="1">
                                <a:latin typeface="Cambria Math" panose="02040503050406030204" pitchFamily="18" charset="0"/>
                              </a:rPr>
                              <m:t>𝑝</m:t>
                            </m:r>
                          </m:e>
                          <m:sub>
                            <m:r>
                              <a:rPr lang="en-US" sz="2800" i="1">
                                <a:latin typeface="Cambria Math" panose="02040503050406030204" pitchFamily="18" charset="0"/>
                              </a:rPr>
                              <m:t>𝑖</m:t>
                            </m:r>
                            <m:r>
                              <a:rPr lang="en-US" sz="2800" b="0" i="1" smtClean="0">
                                <a:latin typeface="Cambria Math" panose="02040503050406030204" pitchFamily="18" charset="0"/>
                              </a:rPr>
                              <m:t>𝑘</m:t>
                            </m:r>
                          </m:sub>
                        </m:sSub>
                        <m:r>
                          <a:rPr lang="en-US" sz="2800" b="0" i="1" smtClean="0">
                            <a:latin typeface="Cambria Math" panose="02040503050406030204" pitchFamily="18" charset="0"/>
                          </a:rPr>
                          <m:t>)</m:t>
                        </m:r>
                        <m:r>
                          <a:rPr lang="en-US" sz="2800" i="1" smtClean="0">
                            <a:latin typeface="Cambria Math" panose="02040503050406030204" pitchFamily="18" charset="0"/>
                          </a:rPr>
                          <m:t> </m:t>
                        </m:r>
                        <m:r>
                          <a:rPr lang="en-US" sz="2800" i="1">
                            <a:latin typeface="Cambria Math" panose="02040503050406030204" pitchFamily="18" charset="0"/>
                          </a:rPr>
                          <m:t>[1+</m:t>
                        </m:r>
                        <m:r>
                          <a:rPr lang="en-US" sz="2800" i="1">
                            <a:latin typeface="Cambria Math" panose="02040503050406030204" pitchFamily="18" charset="0"/>
                            <a:ea typeface="Cambria Math" panose="02040503050406030204" pitchFamily="18" charset="0"/>
                          </a:rPr>
                          <m:t>𝜌</m:t>
                        </m:r>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𝑚</m:t>
                        </m:r>
                        <m:r>
                          <a:rPr lang="en-US" sz="2800" i="1">
                            <a:latin typeface="Cambria Math" panose="02040503050406030204" pitchFamily="18" charset="0"/>
                            <a:ea typeface="Cambria Math" panose="02040503050406030204" pitchFamily="18" charset="0"/>
                          </a:rPr>
                          <m:t>−1)]</m:t>
                        </m:r>
                      </m:num>
                      <m:den>
                        <m:r>
                          <a:rPr lang="en-US" sz="2800" i="1">
                            <a:latin typeface="Cambria Math" panose="02040503050406030204" pitchFamily="18" charset="0"/>
                          </a:rPr>
                          <m:t>𝑚</m:t>
                        </m:r>
                      </m:den>
                    </m:f>
                  </m:oMath>
                </a14:m>
                <a:r>
                  <a:rPr lang="en-US" sz="2800" dirty="0"/>
                  <a:t>= </a:t>
                </a:r>
                <a14:m>
                  <m:oMath xmlns:m="http://schemas.openxmlformats.org/officeDocument/2006/math">
                    <m:sSubSup>
                      <m:sSubSupPr>
                        <m:ctrlPr>
                          <a:rPr lang="en-US" sz="2800" b="1" i="1">
                            <a:latin typeface="Cambria Math" panose="02040503050406030204" pitchFamily="18" charset="0"/>
                          </a:rPr>
                        </m:ctrlPr>
                      </m:sSubSupPr>
                      <m:e>
                        <m:r>
                          <a:rPr lang="en-US" sz="2800" b="1" i="1">
                            <a:latin typeface="Cambria Math" panose="02040503050406030204" pitchFamily="18" charset="0"/>
                            <a:ea typeface="Cambria Math" panose="02040503050406030204" pitchFamily="18" charset="0"/>
                          </a:rPr>
                          <m:t>𝝈</m:t>
                        </m:r>
                      </m:e>
                      <m:sub>
                        <m:r>
                          <a:rPr lang="en-US" sz="2800" b="1" i="1">
                            <a:latin typeface="Cambria Math" panose="02040503050406030204" pitchFamily="18" charset="0"/>
                          </a:rPr>
                          <m:t>𝒊𝒌</m:t>
                        </m:r>
                      </m:sub>
                      <m:sup>
                        <m:r>
                          <a:rPr lang="en-US" sz="2800" b="1" i="1">
                            <a:latin typeface="Cambria Math" panose="02040503050406030204" pitchFamily="18" charset="0"/>
                          </a:rPr>
                          <m:t>𝟐</m:t>
                        </m:r>
                      </m:sup>
                    </m:sSubSup>
                  </m:oMath>
                </a14:m>
                <a:endParaRPr lang="en-US" sz="2800" b="1" dirty="0"/>
              </a:p>
              <a:p>
                <a:r>
                  <a:rPr lang="en-US" sz="2800" dirty="0"/>
                  <a:t>     </a:t>
                </a:r>
              </a:p>
              <a:p>
                <a:pPr marL="457200" indent="-457200">
                  <a:buFont typeface="Arial" panose="020B0604020202020204" pitchFamily="34" charset="0"/>
                  <a:buChar char="•"/>
                </a:pPr>
                <a:r>
                  <a:rPr lang="en-US" sz="2800" dirty="0"/>
                  <a:t>The denominator of the cluster-level test statistic for the difference between two proportions, with the risk difference as the parameter of interest, is</a:t>
                </a:r>
              </a:p>
              <a:p>
                <a14:m>
                  <m:oMath xmlns:m="http://schemas.openxmlformats.org/officeDocument/2006/math">
                    <m:r>
                      <a:rPr lang="en-US" sz="2800" b="0" i="1" smtClean="0">
                        <a:latin typeface="Cambria Math" panose="02040503050406030204" pitchFamily="18" charset="0"/>
                      </a:rPr>
                      <m:t>𝑉𝑎𝑟</m:t>
                    </m:r>
                    <m:r>
                      <a:rPr lang="en-US" sz="2800" b="0" i="1" smtClean="0">
                        <a:latin typeface="Cambria Math" panose="02040503050406030204" pitchFamily="18" charset="0"/>
                      </a:rPr>
                      <m:t>(</m:t>
                    </m:r>
                    <m:nary>
                      <m:naryPr>
                        <m:chr m:val="∑"/>
                        <m:ctrlPr>
                          <a:rPr lang="en-US" altLang="zh-CN" sz="2800" i="1">
                            <a:latin typeface="Cambria Math" panose="02040503050406030204" pitchFamily="18" charset="0"/>
                          </a:rPr>
                        </m:ctrlPr>
                      </m:naryPr>
                      <m:sub>
                        <m:r>
                          <m:rPr>
                            <m:brk m:alnAt="23"/>
                          </m:rPr>
                          <a:rPr lang="en-US" altLang="zh-CN" sz="2800" i="1">
                            <a:latin typeface="Cambria Math" panose="02040503050406030204" pitchFamily="18" charset="0"/>
                          </a:rPr>
                          <m:t>𝑘</m:t>
                        </m:r>
                        <m:r>
                          <a:rPr lang="en-US" altLang="zh-CN" sz="2800" i="1">
                            <a:latin typeface="Cambria Math" panose="02040503050406030204" pitchFamily="18" charset="0"/>
                          </a:rPr>
                          <m:t>=1</m:t>
                        </m:r>
                      </m:sub>
                      <m:sup>
                        <m:r>
                          <a:rPr lang="en-US" altLang="zh-CN" sz="2800" i="1">
                            <a:latin typeface="Cambria Math" panose="02040503050406030204" pitchFamily="18" charset="0"/>
                          </a:rPr>
                          <m:t>𝐾</m:t>
                        </m:r>
                      </m:sup>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b="0" i="1" smtClean="0">
                                <a:latin typeface="Cambria Math" panose="02040503050406030204" pitchFamily="18" charset="0"/>
                              </a:rPr>
                              <m:t>2</m:t>
                            </m:r>
                            <m:r>
                              <a:rPr lang="en-US" altLang="zh-CN" sz="2800" i="1">
                                <a:latin typeface="Cambria Math" panose="02040503050406030204" pitchFamily="18" charset="0"/>
                              </a:rPr>
                              <m:t>𝑘</m:t>
                            </m:r>
                          </m:sub>
                        </m:sSub>
                      </m:e>
                    </m:nary>
                    <m:sSub>
                      <m:sSubPr>
                        <m:ctrlPr>
                          <a:rPr lang="en-US" sz="2800" i="1">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panose="02040503050406030204" pitchFamily="18" charset="0"/>
                              </a:rPr>
                              <m:t>𝑝</m:t>
                            </m:r>
                          </m:e>
                        </m:acc>
                      </m:e>
                      <m:sub>
                        <m:r>
                          <a:rPr lang="en-US" sz="2800" b="0" i="1" smtClean="0">
                            <a:latin typeface="Cambria Math" panose="02040503050406030204" pitchFamily="18" charset="0"/>
                          </a:rPr>
                          <m:t>2</m:t>
                        </m:r>
                        <m:r>
                          <a:rPr lang="en-US" sz="2800" i="1">
                            <a:latin typeface="Cambria Math" panose="02040503050406030204" pitchFamily="18" charset="0"/>
                          </a:rPr>
                          <m:t>𝑘</m:t>
                        </m:r>
                      </m:sub>
                    </m:sSub>
                    <m:r>
                      <a:rPr lang="en-US" sz="2800" i="1">
                        <a:latin typeface="Cambria Math" panose="02040503050406030204" pitchFamily="18" charset="0"/>
                      </a:rPr>
                      <m:t>−</m:t>
                    </m:r>
                    <m:nary>
                      <m:naryPr>
                        <m:chr m:val="∑"/>
                        <m:ctrlPr>
                          <a:rPr lang="en-US" altLang="zh-CN" sz="2800" i="1">
                            <a:latin typeface="Cambria Math" panose="02040503050406030204" pitchFamily="18" charset="0"/>
                          </a:rPr>
                        </m:ctrlPr>
                      </m:naryPr>
                      <m:sub>
                        <m:r>
                          <m:rPr>
                            <m:brk m:alnAt="23"/>
                          </m:rPr>
                          <a:rPr lang="en-US" altLang="zh-CN" sz="2800" i="1">
                            <a:latin typeface="Cambria Math" panose="02040503050406030204" pitchFamily="18" charset="0"/>
                          </a:rPr>
                          <m:t>𝑘</m:t>
                        </m:r>
                        <m:r>
                          <a:rPr lang="en-US" altLang="zh-CN" sz="2800" i="1">
                            <a:latin typeface="Cambria Math" panose="02040503050406030204" pitchFamily="18" charset="0"/>
                          </a:rPr>
                          <m:t>=1</m:t>
                        </m:r>
                      </m:sub>
                      <m:sup>
                        <m:r>
                          <a:rPr lang="en-US" altLang="zh-CN" sz="2800" i="1">
                            <a:latin typeface="Cambria Math" panose="02040503050406030204" pitchFamily="18" charset="0"/>
                          </a:rPr>
                          <m:t>𝐾</m:t>
                        </m:r>
                      </m:sup>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b="0" i="1" smtClean="0">
                                <a:latin typeface="Cambria Math" panose="02040503050406030204" pitchFamily="18" charset="0"/>
                              </a:rPr>
                              <m:t>1</m:t>
                            </m:r>
                            <m:r>
                              <a:rPr lang="en-US" altLang="zh-CN" sz="2800" i="1">
                                <a:latin typeface="Cambria Math" panose="02040503050406030204" pitchFamily="18" charset="0"/>
                              </a:rPr>
                              <m:t>𝑘</m:t>
                            </m:r>
                          </m:sub>
                        </m:sSub>
                      </m:e>
                    </m:nary>
                    <m:sSub>
                      <m:sSubPr>
                        <m:ctrlPr>
                          <a:rPr lang="en-US" sz="2800" i="1">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panose="02040503050406030204" pitchFamily="18" charset="0"/>
                              </a:rPr>
                              <m:t>𝑝</m:t>
                            </m:r>
                          </m:e>
                        </m:acc>
                      </m:e>
                      <m:sub>
                        <m:r>
                          <a:rPr lang="en-US" sz="2800" b="0" i="1" smtClean="0">
                            <a:latin typeface="Cambria Math" panose="02040503050406030204" pitchFamily="18" charset="0"/>
                          </a:rPr>
                          <m:t>1</m:t>
                        </m:r>
                        <m:r>
                          <a:rPr lang="en-US" sz="2800" i="1">
                            <a:latin typeface="Cambria Math" panose="02040503050406030204" pitchFamily="18" charset="0"/>
                          </a:rPr>
                          <m:t>𝑘</m:t>
                        </m:r>
                      </m:sub>
                    </m:sSub>
                    <m:r>
                      <a:rPr lang="en-US" sz="2800" b="0" i="1" smtClean="0">
                        <a:latin typeface="Cambria Math" panose="02040503050406030204" pitchFamily="18" charset="0"/>
                      </a:rPr>
                      <m:t>)</m:t>
                    </m:r>
                  </m:oMath>
                </a14:m>
                <a:r>
                  <a:rPr lang="en-US" sz="2800" dirty="0"/>
                  <a:t> =</a:t>
                </a:r>
                <a14:m>
                  <m:oMath xmlns:m="http://schemas.openxmlformats.org/officeDocument/2006/math">
                    <m:sSup>
                      <m:sSupPr>
                        <m:ctrlPr>
                          <a:rPr lang="en-US" sz="2800" i="1">
                            <a:latin typeface="Cambria Math" panose="02040503050406030204" pitchFamily="18" charset="0"/>
                          </a:rPr>
                        </m:ctrlPr>
                      </m:sSupPr>
                      <m:e>
                        <m:d>
                          <m:dPr>
                            <m:begChr m:val="["/>
                            <m:endChr m:val="]"/>
                            <m:ctrlPr>
                              <a:rPr lang="en-US" sz="2800" i="1">
                                <a:latin typeface="Cambria Math" panose="02040503050406030204" pitchFamily="18" charset="0"/>
                              </a:rPr>
                            </m:ctrlPr>
                          </m:dPr>
                          <m:e>
                            <m:f>
                              <m:fPr>
                                <m:ctrlPr>
                                  <a:rPr lang="en-US" sz="2800" i="1">
                                    <a:latin typeface="Cambria Math" panose="02040503050406030204" pitchFamily="18" charset="0"/>
                                  </a:rPr>
                                </m:ctrlPr>
                              </m:fPr>
                              <m:num>
                                <m:r>
                                  <a:rPr lang="en-US" sz="2800" i="1">
                                    <a:latin typeface="Cambria Math" panose="02040503050406030204" pitchFamily="18" charset="0"/>
                                  </a:rPr>
                                  <m:t>1</m:t>
                                </m:r>
                              </m:num>
                              <m:den>
                                <m:nary>
                                  <m:naryPr>
                                    <m:chr m:val="∑"/>
                                    <m:ctrlPr>
                                      <a:rPr lang="en-US" sz="2800" i="1">
                                        <a:latin typeface="Cambria Math" panose="02040503050406030204" pitchFamily="18" charset="0"/>
                                      </a:rPr>
                                    </m:ctrlPr>
                                  </m:naryPr>
                                  <m:sub>
                                    <m:r>
                                      <m:rPr>
                                        <m:brk m:alnAt="23"/>
                                      </m:rPr>
                                      <a:rPr lang="en-US" sz="2800" i="1">
                                        <a:latin typeface="Cambria Math" panose="02040503050406030204" pitchFamily="18" charset="0"/>
                                      </a:rPr>
                                      <m:t>𝑘</m:t>
                                    </m:r>
                                    <m:r>
                                      <a:rPr lang="en-US" sz="2800" i="1">
                                        <a:latin typeface="Cambria Math" panose="02040503050406030204" pitchFamily="18" charset="0"/>
                                      </a:rPr>
                                      <m:t>=1</m:t>
                                    </m:r>
                                  </m:sub>
                                  <m:sup>
                                    <m:r>
                                      <a:rPr lang="en-US" sz="2800" i="1">
                                        <a:latin typeface="Cambria Math" panose="02040503050406030204" pitchFamily="18" charset="0"/>
                                      </a:rPr>
                                      <m:t>𝐾</m:t>
                                    </m:r>
                                  </m:sup>
                                  <m:e>
                                    <m:sSubSup>
                                      <m:sSubSupPr>
                                        <m:ctrlPr>
                                          <a:rPr lang="en-US" sz="2800" i="1">
                                            <a:latin typeface="Cambria Math" panose="02040503050406030204" pitchFamily="18" charset="0"/>
                                          </a:rPr>
                                        </m:ctrlPr>
                                      </m:sSubSupPr>
                                      <m:e>
                                        <m:r>
                                          <a:rPr lang="en-CA" sz="2800" b="0" i="1" smtClean="0">
                                            <a:latin typeface="Cambria Math" panose="02040503050406030204" pitchFamily="18" charset="0"/>
                                          </a:rPr>
                                          <m:t>1/</m:t>
                                        </m:r>
                                        <m:r>
                                          <a:rPr lang="en-US" sz="2800" i="1">
                                            <a:latin typeface="Cambria Math" panose="02040503050406030204" pitchFamily="18" charset="0"/>
                                            <a:ea typeface="Cambria Math" panose="02040503050406030204" pitchFamily="18" charset="0"/>
                                          </a:rPr>
                                          <m:t>𝜎</m:t>
                                        </m:r>
                                      </m:e>
                                      <m:sub>
                                        <m:r>
                                          <a:rPr lang="en-US" sz="2800" i="1">
                                            <a:latin typeface="Cambria Math" panose="02040503050406030204" pitchFamily="18" charset="0"/>
                                            <a:ea typeface="Cambria Math" panose="02040503050406030204" pitchFamily="18" charset="0"/>
                                          </a:rPr>
                                          <m:t>1</m:t>
                                        </m:r>
                                        <m:r>
                                          <a:rPr lang="en-US" sz="2800" i="1">
                                            <a:latin typeface="Cambria Math" panose="02040503050406030204" pitchFamily="18" charset="0"/>
                                          </a:rPr>
                                          <m:t>𝑘</m:t>
                                        </m:r>
                                      </m:sub>
                                      <m:sup>
                                        <m:r>
                                          <a:rPr lang="en-US" sz="2800" i="1">
                                            <a:latin typeface="Cambria Math" panose="02040503050406030204" pitchFamily="18" charset="0"/>
                                          </a:rPr>
                                          <m:t>2</m:t>
                                        </m:r>
                                      </m:sup>
                                    </m:sSubSup>
                                  </m:e>
                                </m:nary>
                              </m:den>
                            </m:f>
                          </m:e>
                        </m:d>
                      </m:e>
                      <m:sup/>
                    </m:sSup>
                  </m:oMath>
                </a14:m>
                <a:r>
                  <a:rPr lang="en-US" sz="2800" dirty="0"/>
                  <a:t>+ </a:t>
                </a:r>
                <a14:m>
                  <m:oMath xmlns:m="http://schemas.openxmlformats.org/officeDocument/2006/math">
                    <m:sSup>
                      <m:sSupPr>
                        <m:ctrlPr>
                          <a:rPr lang="en-US" sz="2800" i="1">
                            <a:latin typeface="Cambria Math" panose="02040503050406030204" pitchFamily="18" charset="0"/>
                          </a:rPr>
                        </m:ctrlPr>
                      </m:sSupPr>
                      <m:e>
                        <m:d>
                          <m:dPr>
                            <m:begChr m:val="["/>
                            <m:endChr m:val="]"/>
                            <m:ctrlPr>
                              <a:rPr lang="en-US" sz="2800" i="1">
                                <a:latin typeface="Cambria Math" panose="02040503050406030204" pitchFamily="18" charset="0"/>
                              </a:rPr>
                            </m:ctrlPr>
                          </m:dPr>
                          <m:e>
                            <m:f>
                              <m:fPr>
                                <m:ctrlPr>
                                  <a:rPr lang="en-US" sz="2800" i="1">
                                    <a:latin typeface="Cambria Math" panose="02040503050406030204" pitchFamily="18" charset="0"/>
                                  </a:rPr>
                                </m:ctrlPr>
                              </m:fPr>
                              <m:num>
                                <m:r>
                                  <a:rPr lang="en-US" sz="2800" i="1">
                                    <a:latin typeface="Cambria Math" panose="02040503050406030204" pitchFamily="18" charset="0"/>
                                  </a:rPr>
                                  <m:t>1</m:t>
                                </m:r>
                              </m:num>
                              <m:den>
                                <m:nary>
                                  <m:naryPr>
                                    <m:chr m:val="∑"/>
                                    <m:ctrlPr>
                                      <a:rPr lang="en-US" sz="2800" i="1">
                                        <a:latin typeface="Cambria Math" panose="02040503050406030204" pitchFamily="18" charset="0"/>
                                      </a:rPr>
                                    </m:ctrlPr>
                                  </m:naryPr>
                                  <m:sub>
                                    <m:r>
                                      <m:rPr>
                                        <m:brk m:alnAt="23"/>
                                      </m:rPr>
                                      <a:rPr lang="en-US" sz="2800" i="1">
                                        <a:latin typeface="Cambria Math" panose="02040503050406030204" pitchFamily="18" charset="0"/>
                                      </a:rPr>
                                      <m:t>𝑘</m:t>
                                    </m:r>
                                    <m:r>
                                      <a:rPr lang="en-US" sz="2800" i="1">
                                        <a:latin typeface="Cambria Math" panose="02040503050406030204" pitchFamily="18" charset="0"/>
                                      </a:rPr>
                                      <m:t>=1</m:t>
                                    </m:r>
                                  </m:sub>
                                  <m:sup>
                                    <m:r>
                                      <a:rPr lang="en-US" sz="2800" i="1">
                                        <a:latin typeface="Cambria Math" panose="02040503050406030204" pitchFamily="18" charset="0"/>
                                      </a:rPr>
                                      <m:t>𝐾</m:t>
                                    </m:r>
                                  </m:sup>
                                  <m:e>
                                    <m:sSubSup>
                                      <m:sSubSupPr>
                                        <m:ctrlPr>
                                          <a:rPr lang="en-US" sz="2800" i="1">
                                            <a:latin typeface="Cambria Math" panose="02040503050406030204" pitchFamily="18" charset="0"/>
                                          </a:rPr>
                                        </m:ctrlPr>
                                      </m:sSubSupPr>
                                      <m:e>
                                        <m:r>
                                          <a:rPr lang="en-CA" sz="2800" b="0" i="1" smtClean="0">
                                            <a:latin typeface="Cambria Math" panose="02040503050406030204" pitchFamily="18" charset="0"/>
                                          </a:rPr>
                                          <m:t>1/</m:t>
                                        </m:r>
                                        <m:r>
                                          <a:rPr lang="en-US" sz="2800" i="1">
                                            <a:latin typeface="Cambria Math" panose="02040503050406030204" pitchFamily="18" charset="0"/>
                                            <a:ea typeface="Cambria Math" panose="02040503050406030204" pitchFamily="18" charset="0"/>
                                          </a:rPr>
                                          <m:t>𝜎</m:t>
                                        </m:r>
                                      </m:e>
                                      <m:sub>
                                        <m:r>
                                          <a:rPr lang="en-US" sz="2800" i="1">
                                            <a:latin typeface="Cambria Math" panose="02040503050406030204" pitchFamily="18" charset="0"/>
                                            <a:ea typeface="Cambria Math" panose="02040503050406030204" pitchFamily="18" charset="0"/>
                                          </a:rPr>
                                          <m:t>2</m:t>
                                        </m:r>
                                        <m:r>
                                          <a:rPr lang="en-US" sz="2800" i="1">
                                            <a:latin typeface="Cambria Math" panose="02040503050406030204" pitchFamily="18" charset="0"/>
                                          </a:rPr>
                                          <m:t>𝑘</m:t>
                                        </m:r>
                                      </m:sub>
                                      <m:sup>
                                        <m:r>
                                          <a:rPr lang="en-US" sz="2800" i="1">
                                            <a:latin typeface="Cambria Math" panose="02040503050406030204" pitchFamily="18" charset="0"/>
                                          </a:rPr>
                                          <m:t>2</m:t>
                                        </m:r>
                                      </m:sup>
                                    </m:sSubSup>
                                  </m:e>
                                </m:nary>
                              </m:den>
                            </m:f>
                          </m:e>
                        </m:d>
                      </m:e>
                      <m:sup/>
                    </m:sSup>
                  </m:oMath>
                </a14:m>
                <a:endParaRPr lang="en-US" sz="2800" dirty="0"/>
              </a:p>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ea typeface="Cambria Math" panose="02040503050406030204" pitchFamily="18" charset="0"/>
                        </a:rPr>
                        <m:t>                                                    </m:t>
                      </m:r>
                      <m:r>
                        <a:rPr lang="en-US" sz="2800" i="1">
                          <a:latin typeface="Cambria Math" panose="02040503050406030204" pitchFamily="18" charset="0"/>
                          <a:ea typeface="Cambria Math" panose="02040503050406030204" pitchFamily="18" charset="0"/>
                        </a:rPr>
                        <m:t>≈</m:t>
                      </m:r>
                      <m:f>
                        <m:fPr>
                          <m:ctrlPr>
                            <a:rPr lang="en-US" sz="2800" i="1">
                              <a:latin typeface="Cambria Math" panose="02040503050406030204" pitchFamily="18" charset="0"/>
                              <a:ea typeface="Cambria Math" panose="02040503050406030204" pitchFamily="18" charset="0"/>
                            </a:rPr>
                          </m:ctrlPr>
                        </m:fPr>
                        <m:num>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𝑝</m:t>
                              </m:r>
                            </m:e>
                            <m:sub>
                              <m:r>
                                <a:rPr lang="en-US" sz="2800" i="1">
                                  <a:latin typeface="Cambria Math" panose="02040503050406030204" pitchFamily="18" charset="0"/>
                                  <a:ea typeface="Cambria Math" panose="02040503050406030204" pitchFamily="18" charset="0"/>
                                </a:rPr>
                                <m:t>1</m:t>
                              </m:r>
                            </m:sub>
                          </m:sSub>
                          <m:d>
                            <m:dPr>
                              <m:ctrlPr>
                                <a:rPr lang="en-U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1−</m:t>
                              </m:r>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𝑝</m:t>
                                  </m:r>
                                </m:e>
                                <m:sub>
                                  <m:r>
                                    <a:rPr lang="en-US" sz="2800" i="1">
                                      <a:latin typeface="Cambria Math" panose="02040503050406030204" pitchFamily="18" charset="0"/>
                                      <a:ea typeface="Cambria Math" panose="02040503050406030204" pitchFamily="18" charset="0"/>
                                    </a:rPr>
                                    <m:t>1</m:t>
                                  </m:r>
                                </m:sub>
                              </m:sSub>
                            </m:e>
                          </m:d>
                          <m:r>
                            <a:rPr lang="en-US" sz="2800" i="1">
                              <a:latin typeface="Cambria Math" panose="02040503050406030204" pitchFamily="18" charset="0"/>
                              <a:ea typeface="Cambria Math" panose="02040503050406030204" pitchFamily="18" charset="0"/>
                            </a:rPr>
                            <m:t>+</m:t>
                          </m:r>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𝑝</m:t>
                              </m:r>
                            </m:e>
                            <m:sub>
                              <m:r>
                                <a:rPr lang="en-US" sz="2800" i="1">
                                  <a:latin typeface="Cambria Math" panose="02040503050406030204" pitchFamily="18" charset="0"/>
                                  <a:ea typeface="Cambria Math" panose="02040503050406030204" pitchFamily="18" charset="0"/>
                                </a:rPr>
                                <m:t>2</m:t>
                              </m:r>
                            </m:sub>
                          </m:sSub>
                          <m:d>
                            <m:dPr>
                              <m:ctrlPr>
                                <a:rPr lang="en-U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1−</m:t>
                              </m:r>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𝑝</m:t>
                                  </m:r>
                                </m:e>
                                <m:sub>
                                  <m:r>
                                    <a:rPr lang="en-US" sz="2800" i="1">
                                      <a:latin typeface="Cambria Math" panose="02040503050406030204" pitchFamily="18" charset="0"/>
                                      <a:ea typeface="Cambria Math" panose="02040503050406030204" pitchFamily="18" charset="0"/>
                                    </a:rPr>
                                    <m:t>2</m:t>
                                  </m:r>
                                </m:sub>
                              </m:sSub>
                            </m:e>
                          </m:d>
                          <m:r>
                            <a:rPr lang="en-US" sz="2800" i="1">
                              <a:latin typeface="Cambria Math" panose="02040503050406030204" pitchFamily="18" charset="0"/>
                              <a:ea typeface="Cambria Math" panose="02040503050406030204" pitchFamily="18" charset="0"/>
                            </a:rPr>
                            <m:t>][1+</m:t>
                          </m:r>
                          <m:r>
                            <a:rPr lang="en-US" sz="2800" i="1">
                              <a:latin typeface="Cambria Math" panose="02040503050406030204" pitchFamily="18" charset="0"/>
                              <a:ea typeface="Cambria Math" panose="02040503050406030204" pitchFamily="18" charset="0"/>
                            </a:rPr>
                            <m:t>𝜌</m:t>
                          </m:r>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𝑚</m:t>
                          </m:r>
                          <m:r>
                            <a:rPr lang="en-US" sz="2800" i="1">
                              <a:latin typeface="Cambria Math" panose="02040503050406030204" pitchFamily="18" charset="0"/>
                              <a:ea typeface="Cambria Math" panose="02040503050406030204" pitchFamily="18" charset="0"/>
                            </a:rPr>
                            <m:t>−1)]</m:t>
                          </m:r>
                        </m:num>
                        <m:den>
                          <m:r>
                            <a:rPr lang="en-US" sz="2800" i="1">
                              <a:latin typeface="Cambria Math" panose="02040503050406030204" pitchFamily="18" charset="0"/>
                              <a:ea typeface="Cambria Math" panose="02040503050406030204" pitchFamily="18" charset="0"/>
                            </a:rPr>
                            <m:t>𝐾𝑚</m:t>
                          </m:r>
                        </m:den>
                      </m:f>
                    </m:oMath>
                  </m:oMathPara>
                </a14:m>
                <a:endParaRPr lang="en-US" sz="2800" dirty="0"/>
              </a:p>
              <a:p>
                <a:r>
                  <a:rPr lang="en-US" sz="2400" dirty="0"/>
                  <a:t>(Donner, 1981)</a:t>
                </a:r>
              </a:p>
              <a:p>
                <a:pPr marL="285750" indent="-285750">
                  <a:buFont typeface="Arial" panose="020B0604020202020204" pitchFamily="34" charset="0"/>
                  <a:buChar char="•"/>
                </a:pPr>
                <a:r>
                  <a:rPr lang="en-US" sz="2800" dirty="0"/>
                  <a:t>The same test statistics can be used as above (slide 81).</a:t>
                </a:r>
              </a:p>
            </p:txBody>
          </p:sp>
        </mc:Choice>
        <mc:Fallback xmlns="">
          <p:sp>
            <p:nvSpPr>
              <p:cNvPr id="5" name="TextBox 4">
                <a:extLst>
                  <a:ext uri="{FF2B5EF4-FFF2-40B4-BE49-F238E27FC236}">
                    <a16:creationId xmlns:a16="http://schemas.microsoft.com/office/drawing/2014/main" id="{A918B4A8-F8C6-9A44-844C-A1A8B6887D55}"/>
                  </a:ext>
                </a:extLst>
              </p:cNvPr>
              <p:cNvSpPr txBox="1">
                <a:spLocks noRot="1" noChangeAspect="1" noMove="1" noResize="1" noEditPoints="1" noAdjustHandles="1" noChangeArrowheads="1" noChangeShapeType="1" noTextEdit="1"/>
              </p:cNvSpPr>
              <p:nvPr/>
            </p:nvSpPr>
            <p:spPr>
              <a:xfrm>
                <a:off x="673768" y="1765986"/>
                <a:ext cx="11411325" cy="5048818"/>
              </a:xfrm>
              <a:prstGeom prst="rect">
                <a:avLst/>
              </a:prstGeom>
              <a:blipFill>
                <a:blip r:embed="rId2"/>
                <a:stretch>
                  <a:fillRect l="-962" b="-1329"/>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61DD23C6-AF97-445C-246F-ADBD6695AF01}"/>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87448183-2F12-30B6-ED62-B50955F26D5E}"/>
              </a:ext>
            </a:extLst>
          </p:cNvPr>
          <p:cNvSpPr>
            <a:spLocks noGrp="1"/>
          </p:cNvSpPr>
          <p:nvPr>
            <p:ph type="sldNum" sz="quarter" idx="12"/>
          </p:nvPr>
        </p:nvSpPr>
        <p:spPr/>
        <p:txBody>
          <a:bodyPr/>
          <a:lstStyle/>
          <a:p>
            <a:fld id="{77C6A7FE-225D-49F1-B302-AA37EA92BB49}" type="slidenum">
              <a:rPr lang="en-US" smtClean="0"/>
              <a:t>86</a:t>
            </a:fld>
            <a:endParaRPr lang="en-US" dirty="0"/>
          </a:p>
        </p:txBody>
      </p:sp>
    </p:spTree>
    <p:extLst>
      <p:ext uri="{BB962C8B-B14F-4D97-AF65-F5344CB8AC3E}">
        <p14:creationId xmlns:p14="http://schemas.microsoft.com/office/powerpoint/2010/main" val="2769006361"/>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000" dirty="0">
                <a:solidFill>
                  <a:schemeClr val="bg1"/>
                </a:solidFill>
                <a:latin typeface="Arial" panose="020B0604020202020204" pitchFamily="34" charset="0"/>
                <a:cs typeface="Arial" panose="020B0604020202020204" pitchFamily="34" charset="0"/>
              </a:rPr>
              <a:t>Cluster level analysis: Selection of  weights when cluster size varies</a:t>
            </a:r>
            <a:endParaRPr lang="en-US" sz="40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ACB3C50-768D-49AD-B0B9-819CB94D6E8C}"/>
                  </a:ext>
                </a:extLst>
              </p:cNvPr>
              <p:cNvSpPr txBox="1"/>
              <p:nvPr/>
            </p:nvSpPr>
            <p:spPr>
              <a:xfrm>
                <a:off x="0" y="1337187"/>
                <a:ext cx="12287003" cy="5337615"/>
              </a:xfrm>
              <a:prstGeom prst="rect">
                <a:avLst/>
              </a:prstGeom>
              <a:noFill/>
            </p:spPr>
            <p:txBody>
              <a:bodyPr wrap="square">
                <a:spAutoFit/>
              </a:bodyPr>
              <a:lstStyle/>
              <a:p>
                <a:pPr>
                  <a:spcAft>
                    <a:spcPts val="1200"/>
                  </a:spcAft>
                  <a:buFontTx/>
                  <a:buBlip>
                    <a:blip r:embed="rId4"/>
                  </a:buBlip>
                  <a:tabLst>
                    <a:tab pos="465138" algn="l"/>
                    <a:tab pos="908050" algn="l"/>
                  </a:tabLst>
                </a:pPr>
                <a:r>
                  <a:rPr lang="en-US" altLang="en-US" sz="2800" dirty="0"/>
                  <a:t>When appropriately weighted, cluster-level analyses provide inferences which are equivalent to individual-level analyses even in the presence of variable cluster sizes.</a:t>
                </a:r>
              </a:p>
              <a:p>
                <a:pPr marL="285750" indent="-285750">
                  <a:buFont typeface="Arial" panose="020B0604020202020204" pitchFamily="34" charset="0"/>
                  <a:buChar char="•"/>
                </a:pPr>
                <a:r>
                  <a:rPr lang="en-US" altLang="en-US" sz="2000" dirty="0"/>
                  <a:t>From slide 34, </a:t>
                </a:r>
                <a:r>
                  <a:rPr lang="en-US" sz="2000" dirty="0"/>
                  <a:t>If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rPr>
                          <m:t>𝑖𝑘</m:t>
                        </m:r>
                      </m:sub>
                      <m:sup>
                        <m:r>
                          <a:rPr lang="en-US" sz="2000" i="1">
                            <a:latin typeface="Cambria Math" panose="02040503050406030204" pitchFamily="18" charset="0"/>
                          </a:rPr>
                          <m:t>2</m:t>
                        </m:r>
                      </m:sup>
                    </m:sSubSup>
                    <m:r>
                      <a:rPr lang="en-US" sz="2000">
                        <a:latin typeface="Cambria Math" panose="02040503050406030204" pitchFamily="18" charset="0"/>
                      </a:rPr>
                      <m:t>=</m:t>
                    </m:r>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𝜎</m:t>
                            </m:r>
                          </m:e>
                          <m:sup>
                            <m:r>
                              <a:rPr lang="en-US" sz="2000" i="1">
                                <a:latin typeface="Cambria Math" panose="02040503050406030204" pitchFamily="18" charset="0"/>
                              </a:rPr>
                              <m:t>2</m:t>
                            </m:r>
                          </m:sup>
                        </m:sSup>
                      </m:num>
                      <m:den>
                        <m:sSub>
                          <m:sSubPr>
                            <m:ctrlPr>
                              <a:rPr lang="en-US" sz="2000" b="1" i="1">
                                <a:latin typeface="Cambria Math" panose="02040503050406030204" pitchFamily="18" charset="0"/>
                              </a:rPr>
                            </m:ctrlPr>
                          </m:sSubPr>
                          <m:e>
                            <m:r>
                              <a:rPr lang="en-US" sz="2000" b="1" i="1">
                                <a:latin typeface="Cambria Math" panose="02040503050406030204" pitchFamily="18" charset="0"/>
                              </a:rPr>
                              <m:t>𝒎</m:t>
                            </m:r>
                          </m:e>
                          <m:sub>
                            <m:r>
                              <a:rPr lang="en-CA" sz="2000" b="1" i="1">
                                <a:latin typeface="Cambria Math" panose="02040503050406030204" pitchFamily="18" charset="0"/>
                              </a:rPr>
                              <m:t>𝒊𝒌</m:t>
                            </m:r>
                          </m:sub>
                        </m:sSub>
                      </m:den>
                    </m:f>
                    <m:r>
                      <a:rPr lang="en-US" sz="2000" i="1">
                        <a:latin typeface="Cambria Math" panose="02040503050406030204" pitchFamily="18" charset="0"/>
                      </a:rPr>
                      <m:t>[1+</m:t>
                    </m:r>
                    <m:r>
                      <a:rPr lang="en-US" sz="2000" i="1">
                        <a:latin typeface="Cambria Math" panose="02040503050406030204" pitchFamily="18" charset="0"/>
                        <a:ea typeface="Cambria Math" panose="02040503050406030204" pitchFamily="18" charset="0"/>
                      </a:rPr>
                      <m:t>𝜌</m:t>
                    </m:r>
                    <m:r>
                      <a:rPr lang="en-US" sz="2000" i="1">
                        <a:latin typeface="Cambria Math" panose="02040503050406030204" pitchFamily="18" charset="0"/>
                        <a:ea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𝒎</m:t>
                        </m:r>
                      </m:e>
                      <m:sub>
                        <m:r>
                          <a:rPr lang="en-CA" sz="2000" b="1" i="1">
                            <a:latin typeface="Cambria Math" panose="02040503050406030204" pitchFamily="18" charset="0"/>
                            <a:ea typeface="Cambria Math" panose="02040503050406030204" pitchFamily="18" charset="0"/>
                          </a:rPr>
                          <m:t>𝒊</m:t>
                        </m:r>
                        <m:r>
                          <a:rPr lang="en-US" sz="2000" b="1" i="1">
                            <a:latin typeface="Cambria Math" panose="02040503050406030204" pitchFamily="18" charset="0"/>
                            <a:ea typeface="Cambria Math" panose="02040503050406030204" pitchFamily="18" charset="0"/>
                          </a:rPr>
                          <m:t>𝒌</m:t>
                        </m:r>
                      </m:sub>
                    </m:sSub>
                    <m:r>
                      <a:rPr lang="en-US" sz="2000" i="1">
                        <a:latin typeface="Cambria Math" panose="02040503050406030204" pitchFamily="18" charset="0"/>
                        <a:ea typeface="Cambria Math" panose="02040503050406030204" pitchFamily="18" charset="0"/>
                      </a:rPr>
                      <m:t>−1)</m:t>
                    </m:r>
                    <m:r>
                      <a:rPr lang="en-US" sz="2000" i="1">
                        <a:latin typeface="Cambria Math" panose="02040503050406030204" pitchFamily="18" charset="0"/>
                      </a:rPr>
                      <m:t>], </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𝑖</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𝑘</m:t>
                    </m:r>
                    <m:r>
                      <a:rPr lang="en-US" sz="2000" i="1">
                        <a:latin typeface="Cambria Math" panose="02040503050406030204" pitchFamily="18" charset="0"/>
                        <a:ea typeface="Cambria Math" panose="02040503050406030204" pitchFamily="18" charset="0"/>
                      </a:rPr>
                      <m:t>,</m:t>
                    </m:r>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𝑚</m:t>
                        </m:r>
                      </m:e>
                      <m:sub>
                        <m:r>
                          <a:rPr lang="en-US" sz="2000" i="1">
                            <a:latin typeface="Cambria Math" panose="02040503050406030204" pitchFamily="18" charset="0"/>
                          </a:rPr>
                          <m:t>𝑖𝑘</m:t>
                        </m:r>
                      </m:sub>
                    </m:sSub>
                    <m:r>
                      <a:rPr lang="en-US" sz="2000" i="1">
                        <a:latin typeface="Cambria Math" panose="02040503050406030204" pitchFamily="18" charset="0"/>
                      </a:rPr>
                      <m:t>=</m:t>
                    </m:r>
                    <m:r>
                      <a:rPr lang="en-US" sz="2000" i="1">
                        <a:latin typeface="Cambria Math" panose="02040503050406030204" pitchFamily="18" charset="0"/>
                      </a:rPr>
                      <m:t>𝑚</m:t>
                    </m:r>
                  </m:oMath>
                </a14:m>
                <a:r>
                  <a:rPr lang="en-US" sz="2000" dirty="0"/>
                  <a:t>,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𝑖</m:t>
                    </m:r>
                  </m:oMath>
                </a14:m>
                <a:r>
                  <a:rPr lang="en-US" sz="2000" dirty="0"/>
                  <a:t>, </a:t>
                </a:r>
                <a14:m>
                  <m:oMath xmlns:m="http://schemas.openxmlformats.org/officeDocument/2006/math">
                    <m:r>
                      <a:rPr lang="en-US" sz="2000" i="1">
                        <a:latin typeface="Cambria Math" panose="02040503050406030204" pitchFamily="18" charset="0"/>
                      </a:rPr>
                      <m:t>𝑘</m:t>
                    </m:r>
                  </m:oMath>
                </a14:m>
                <a:r>
                  <a:rPr lang="en-US" sz="2000" dirty="0"/>
                  <a:t> the variance of the outcome in each cluster is constant across all clusters over both intervention groups, and the above formula simplifies to</a:t>
                </a:r>
              </a:p>
              <a:p>
                <a:r>
                  <a:rPr lang="en-US" sz="2000" dirty="0"/>
                  <a:t> </a:t>
                </a:r>
                <a14:m>
                  <m:oMath xmlns:m="http://schemas.openxmlformats.org/officeDocument/2006/math">
                    <m:r>
                      <a:rPr lang="en-US" sz="2000">
                        <a:latin typeface="Cambria Math" panose="02040503050406030204" pitchFamily="18" charset="0"/>
                      </a:rPr>
                      <m:t>                           </m:t>
                    </m:r>
                    <m:r>
                      <a:rPr lang="en-US" sz="2000" i="1">
                        <a:latin typeface="Cambria Math" panose="02040503050406030204" pitchFamily="18" charset="0"/>
                      </a:rPr>
                      <m:t>𝑉𝑎𝑟</m:t>
                    </m:r>
                    <m:d>
                      <m:dPr>
                        <m:ctrlPr>
                          <a:rPr lang="en-US" sz="2000" i="1">
                            <a:latin typeface="Cambria Math" panose="02040503050406030204" pitchFamily="18" charset="0"/>
                          </a:rPr>
                        </m:ctrlPr>
                      </m:dPr>
                      <m:e>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𝑘</m:t>
                            </m:r>
                            <m:r>
                              <a:rPr lang="en-US" altLang="zh-CN" sz="2000" i="1">
                                <a:latin typeface="Cambria Math" panose="02040503050406030204" pitchFamily="18" charset="0"/>
                              </a:rPr>
                              <m:t>=1</m:t>
                            </m:r>
                          </m:sub>
                          <m:sup>
                            <m:r>
                              <a:rPr lang="en-US" altLang="zh-CN" sz="2000" i="1">
                                <a:latin typeface="Cambria Math" panose="02040503050406030204" pitchFamily="18" charset="0"/>
                              </a:rPr>
                              <m:t>𝐾</m:t>
                            </m:r>
                          </m:sup>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𝑤</m:t>
                                </m:r>
                              </m:e>
                              <m:sub>
                                <m:r>
                                  <a:rPr lang="en-US" altLang="zh-CN" sz="2000" i="1">
                                    <a:latin typeface="Cambria Math" panose="02040503050406030204" pitchFamily="18" charset="0"/>
                                  </a:rPr>
                                  <m:t>1</m:t>
                                </m:r>
                                <m:r>
                                  <a:rPr lang="en-US" altLang="zh-CN" sz="2000" i="1">
                                    <a:latin typeface="Cambria Math" panose="02040503050406030204" pitchFamily="18" charset="0"/>
                                  </a:rPr>
                                  <m:t>𝑘</m:t>
                                </m:r>
                              </m:sub>
                            </m:sSub>
                          </m:e>
                        </m:nary>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𝑌</m:t>
                                </m:r>
                              </m:e>
                            </m:acc>
                          </m:e>
                          <m:sub>
                            <m:r>
                              <a:rPr lang="en-US" sz="2000" i="1">
                                <a:latin typeface="Cambria Math" panose="02040503050406030204" pitchFamily="18" charset="0"/>
                              </a:rPr>
                              <m:t>1</m:t>
                            </m:r>
                            <m:r>
                              <a:rPr lang="en-US" sz="2000" i="1">
                                <a:latin typeface="Cambria Math" panose="02040503050406030204" pitchFamily="18" charset="0"/>
                              </a:rPr>
                              <m:t>𝑘</m:t>
                            </m:r>
                          </m:sub>
                        </m:sSub>
                        <m:r>
                          <a:rPr lang="en-US" sz="2000" i="1">
                            <a:latin typeface="Cambria Math" panose="02040503050406030204" pitchFamily="18" charset="0"/>
                          </a:rPr>
                          <m:t>−</m:t>
                        </m:r>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𝑘</m:t>
                            </m:r>
                            <m:r>
                              <a:rPr lang="en-US" altLang="zh-CN" sz="2000" i="1">
                                <a:latin typeface="Cambria Math" panose="02040503050406030204" pitchFamily="18" charset="0"/>
                              </a:rPr>
                              <m:t>=1</m:t>
                            </m:r>
                          </m:sub>
                          <m:sup>
                            <m:r>
                              <a:rPr lang="en-US" altLang="zh-CN" sz="2000" i="1">
                                <a:latin typeface="Cambria Math" panose="02040503050406030204" pitchFamily="18" charset="0"/>
                              </a:rPr>
                              <m:t>𝐾</m:t>
                            </m:r>
                          </m:sup>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𝑤</m:t>
                                </m:r>
                              </m:e>
                              <m:sub>
                                <m:r>
                                  <a:rPr lang="en-US" altLang="zh-CN" sz="2000" i="1">
                                    <a:latin typeface="Cambria Math" panose="02040503050406030204" pitchFamily="18" charset="0"/>
                                  </a:rPr>
                                  <m:t>2</m:t>
                                </m:r>
                                <m:r>
                                  <a:rPr lang="en-US" altLang="zh-CN" sz="2000" i="1">
                                    <a:latin typeface="Cambria Math" panose="02040503050406030204" pitchFamily="18" charset="0"/>
                                  </a:rPr>
                                  <m:t>𝑘</m:t>
                                </m:r>
                              </m:sub>
                            </m:sSub>
                          </m:e>
                        </m:nary>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𝑌</m:t>
                                </m:r>
                              </m:e>
                            </m:acc>
                          </m:e>
                          <m:sub>
                            <m:r>
                              <a:rPr lang="en-US" sz="2000" i="1">
                                <a:latin typeface="Cambria Math" panose="02040503050406030204" pitchFamily="18" charset="0"/>
                              </a:rPr>
                              <m:t>2</m:t>
                            </m:r>
                            <m:r>
                              <a:rPr lang="en-US" sz="2000" i="1">
                                <a:latin typeface="Cambria Math" panose="02040503050406030204" pitchFamily="18" charset="0"/>
                              </a:rPr>
                              <m:t>𝑘</m:t>
                            </m:r>
                          </m:sub>
                        </m:sSub>
                      </m:e>
                    </m:d>
                    <m:r>
                      <a:rPr lang="en-US" sz="2000" i="1">
                        <a:latin typeface="Cambria Math" panose="02040503050406030204" pitchFamily="18" charset="0"/>
                      </a:rPr>
                      <m:t>=2</m:t>
                    </m:r>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𝜎</m:t>
                            </m:r>
                          </m:e>
                          <m:sup>
                            <m:r>
                              <a:rPr lang="en-US" sz="2000" i="1">
                                <a:latin typeface="Cambria Math" panose="02040503050406030204" pitchFamily="18" charset="0"/>
                              </a:rPr>
                              <m:t>2</m:t>
                            </m:r>
                          </m:sup>
                        </m:sSup>
                        <m:r>
                          <a:rPr lang="en-US" sz="2000" i="1">
                            <a:latin typeface="Cambria Math" panose="02040503050406030204" pitchFamily="18" charset="0"/>
                          </a:rPr>
                          <m:t>[1+</m:t>
                        </m:r>
                        <m:r>
                          <a:rPr lang="en-US" sz="2000" i="1">
                            <a:latin typeface="Cambria Math" panose="02040503050406030204" pitchFamily="18" charset="0"/>
                            <a:ea typeface="Cambria Math" panose="02040503050406030204" pitchFamily="18" charset="0"/>
                          </a:rPr>
                          <m:t>𝜌</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𝑚</m:t>
                        </m:r>
                        <m:r>
                          <a:rPr lang="en-US" sz="2000" i="1">
                            <a:latin typeface="Cambria Math" panose="02040503050406030204" pitchFamily="18" charset="0"/>
                            <a:ea typeface="Cambria Math" panose="02040503050406030204" pitchFamily="18" charset="0"/>
                          </a:rPr>
                          <m:t>−1)]</m:t>
                        </m:r>
                      </m:num>
                      <m:den>
                        <m:r>
                          <a:rPr lang="en-US" sz="2000" i="1">
                            <a:latin typeface="Cambria Math" panose="02040503050406030204" pitchFamily="18" charset="0"/>
                          </a:rPr>
                          <m:t>𝐾𝑚</m:t>
                        </m:r>
                      </m:den>
                    </m:f>
                  </m:oMath>
                </a14:m>
                <a:r>
                  <a:rPr lang="en-US" sz="2000" dirty="0"/>
                  <a:t> , same as in individual-level analysis!</a:t>
                </a:r>
              </a:p>
              <a:p>
                <a:pPr>
                  <a:spcAft>
                    <a:spcPts val="1200"/>
                  </a:spcAft>
                  <a:tabLst>
                    <a:tab pos="465138" algn="l"/>
                    <a:tab pos="908050" algn="l"/>
                  </a:tabLst>
                </a:pPr>
                <a:endParaRPr lang="en-US" altLang="en-US" sz="2800" dirty="0"/>
              </a:p>
              <a:p>
                <a:pPr>
                  <a:spcAft>
                    <a:spcPts val="1200"/>
                  </a:spcAft>
                  <a:buFontTx/>
                  <a:buBlip>
                    <a:blip r:embed="rId4"/>
                  </a:buBlip>
                  <a:tabLst>
                    <a:tab pos="465138" algn="l"/>
                    <a:tab pos="908050" algn="l"/>
                  </a:tabLst>
                </a:pPr>
                <a:r>
                  <a:rPr lang="en-US" altLang="en-US" sz="2800" dirty="0"/>
                  <a:t> 	</a:t>
                </a:r>
                <a:r>
                  <a:rPr lang="en-US" altLang="en-US" sz="2600" dirty="0"/>
                  <a:t>Calculation of the optimal weights requires knowledge or estimation of </a:t>
                </a:r>
                <a14:m>
                  <m:oMath xmlns:m="http://schemas.openxmlformats.org/officeDocument/2006/math">
                    <m:r>
                      <a:rPr lang="en-US" sz="2600" i="1" smtClean="0">
                        <a:solidFill>
                          <a:srgbClr val="000000"/>
                        </a:solidFill>
                        <a:latin typeface="Cambria Math" panose="02040503050406030204" pitchFamily="18" charset="0"/>
                      </a:rPr>
                      <m:t>𝜌</m:t>
                    </m:r>
                  </m:oMath>
                </a14:m>
                <a:endParaRPr lang="en-US" altLang="en-US" sz="2600" dirty="0"/>
              </a:p>
              <a:p>
                <a:pPr>
                  <a:spcAft>
                    <a:spcPts val="1200"/>
                  </a:spcAft>
                  <a:buFontTx/>
                  <a:buBlip>
                    <a:blip r:embed="rId4"/>
                  </a:buBlip>
                  <a:tabLst>
                    <a:tab pos="465138" algn="l"/>
                    <a:tab pos="908050" algn="l"/>
                  </a:tabLst>
                </a:pPr>
                <a:r>
                  <a:rPr lang="en-US" altLang="en-US" sz="2600" dirty="0"/>
                  <a:t> 	 When there are few clusters per intervention group, estimates of </a:t>
                </a:r>
                <a14:m>
                  <m:oMath xmlns:m="http://schemas.openxmlformats.org/officeDocument/2006/math">
                    <m:r>
                      <a:rPr lang="en-US" sz="2600" i="1" smtClean="0">
                        <a:solidFill>
                          <a:srgbClr val="000000"/>
                        </a:solidFill>
                        <a:latin typeface="Cambria Math" panose="02040503050406030204" pitchFamily="18" charset="0"/>
                      </a:rPr>
                      <m:t>𝜌</m:t>
                    </m:r>
                  </m:oMath>
                </a14:m>
                <a:r>
                  <a:rPr lang="en-US" altLang="en-US" sz="2600" dirty="0"/>
                  <a:t> will be imprecise</a:t>
                </a:r>
              </a:p>
              <a:p>
                <a:pPr>
                  <a:spcAft>
                    <a:spcPts val="1200"/>
                  </a:spcAft>
                  <a:buFontTx/>
                  <a:buBlip>
                    <a:blip r:embed="rId4"/>
                  </a:buBlip>
                  <a:tabLst>
                    <a:tab pos="465138" algn="l"/>
                    <a:tab pos="908050" algn="l"/>
                  </a:tabLst>
                </a:pPr>
                <a:r>
                  <a:rPr lang="en-US" altLang="en-US" sz="2600" dirty="0"/>
                  <a:t> 	Consequently, the use of weights may  actually result in a loss of finite sample size power and could even compromise validity of statistical inferences  in finite samples (e.g.,  </a:t>
                </a:r>
                <a:r>
                  <a:rPr lang="en-US" altLang="en-US" sz="2600" dirty="0" err="1"/>
                  <a:t>Gumpertz</a:t>
                </a:r>
                <a:r>
                  <a:rPr lang="en-US" altLang="en-US" sz="2600" dirty="0"/>
                  <a:t> and </a:t>
                </a:r>
                <a:r>
                  <a:rPr lang="en-US" altLang="en-US" sz="2600" dirty="0" err="1"/>
                  <a:t>Pantula</a:t>
                </a:r>
                <a:r>
                  <a:rPr lang="en-US" altLang="en-US" sz="2600" dirty="0"/>
                  <a:t>, 1989). </a:t>
                </a:r>
                <a:endParaRPr lang="en-CA" altLang="en-US" sz="2600" dirty="0"/>
              </a:p>
            </p:txBody>
          </p:sp>
        </mc:Choice>
        <mc:Fallback xmlns="">
          <p:sp>
            <p:nvSpPr>
              <p:cNvPr id="5" name="TextBox 4">
                <a:extLst>
                  <a:ext uri="{FF2B5EF4-FFF2-40B4-BE49-F238E27FC236}">
                    <a16:creationId xmlns:a16="http://schemas.microsoft.com/office/drawing/2014/main" id="{DACB3C50-768D-49AD-B0B9-819CB94D6E8C}"/>
                  </a:ext>
                </a:extLst>
              </p:cNvPr>
              <p:cNvSpPr txBox="1">
                <a:spLocks noRot="1" noChangeAspect="1" noMove="1" noResize="1" noEditPoints="1" noAdjustHandles="1" noChangeArrowheads="1" noChangeShapeType="1" noTextEdit="1"/>
              </p:cNvSpPr>
              <p:nvPr/>
            </p:nvSpPr>
            <p:spPr>
              <a:xfrm>
                <a:off x="0" y="1337187"/>
                <a:ext cx="12287003" cy="5337615"/>
              </a:xfrm>
              <a:prstGeom prst="rect">
                <a:avLst/>
              </a:prstGeom>
              <a:blipFill>
                <a:blip r:embed="rId5"/>
                <a:stretch>
                  <a:fillRect l="-992" t="-1027" r="-992" b="-2055"/>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B31F4B00-8A28-6A09-68F1-FDFD3B1167FB}"/>
              </a:ext>
            </a:extLst>
          </p:cNvPr>
          <p:cNvSpPr>
            <a:spLocks noGrp="1"/>
          </p:cNvSpPr>
          <p:nvPr>
            <p:ph type="sldNum" sz="quarter" idx="12"/>
          </p:nvPr>
        </p:nvSpPr>
        <p:spPr/>
        <p:txBody>
          <a:bodyPr/>
          <a:lstStyle/>
          <a:p>
            <a:fld id="{77C6A7FE-225D-49F1-B302-AA37EA92BB49}" type="slidenum">
              <a:rPr lang="en-US" smtClean="0"/>
              <a:t>87</a:t>
            </a:fld>
            <a:endParaRPr lang="en-US"/>
          </a:p>
        </p:txBody>
      </p:sp>
    </p:spTree>
    <p:extLst>
      <p:ext uri="{BB962C8B-B14F-4D97-AF65-F5344CB8AC3E}">
        <p14:creationId xmlns:p14="http://schemas.microsoft.com/office/powerpoint/2010/main" val="3737042121"/>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A Common Misconception</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7C17801-E315-458F-886D-9A89A3EE2AF7}"/>
                  </a:ext>
                </a:extLst>
              </p:cNvPr>
              <p:cNvSpPr txBox="1"/>
              <p:nvPr/>
            </p:nvSpPr>
            <p:spPr>
              <a:xfrm>
                <a:off x="186906" y="1197487"/>
                <a:ext cx="12005094" cy="5632311"/>
              </a:xfrm>
              <a:prstGeom prst="rect">
                <a:avLst/>
              </a:prstGeom>
              <a:noFill/>
            </p:spPr>
            <p:txBody>
              <a:bodyPr wrap="square" rtlCol="0">
                <a:spAutoFit/>
              </a:bodyPr>
              <a:lstStyle/>
              <a:p>
                <a:pPr eaLnBrk="1" hangingPunct="1">
                  <a:buFontTx/>
                  <a:buBlip>
                    <a:blip r:embed="rId4"/>
                  </a:buBlip>
                </a:pPr>
                <a:r>
                  <a:rPr lang="en-US" altLang="en-US" sz="2400" dirty="0"/>
                  <a:t>Investigators have occasionally claimed that cluster level analyses will only provide valid statistical inferences when the intra-cluster correlation coefficient </a:t>
                </a:r>
                <a14:m>
                  <m:oMath xmlns:m="http://schemas.openxmlformats.org/officeDocument/2006/math">
                    <m:r>
                      <a:rPr lang="en-US" altLang="en-US" sz="2400" i="1" smtClean="0">
                        <a:latin typeface="Cambria Math" panose="02040503050406030204" pitchFamily="18" charset="0"/>
                        <a:ea typeface="Cambria Math" panose="02040503050406030204" pitchFamily="18" charset="0"/>
                      </a:rPr>
                      <m:t>𝜌</m:t>
                    </m:r>
                  </m:oMath>
                </a14:m>
                <a:r>
                  <a:rPr lang="en-US" altLang="en-US" sz="2400" dirty="0"/>
                  <a:t>=1       </a:t>
                </a:r>
              </a:p>
              <a:p>
                <a:pPr eaLnBrk="1" hangingPunct="1"/>
                <a:endParaRPr lang="en-US" altLang="en-US" sz="2400" dirty="0"/>
              </a:p>
              <a:p>
                <a:pPr lvl="1">
                  <a:buBlip>
                    <a:blip r:embed="rId4"/>
                  </a:buBlip>
                </a:pPr>
                <a:r>
                  <a:rPr lang="en-US" altLang="en-US" sz="2400" dirty="0"/>
                  <a:t> This is incorrect.</a:t>
                </a:r>
              </a:p>
              <a:p>
                <a:pPr eaLnBrk="1" hangingPunct="1">
                  <a:buFontTx/>
                  <a:buBlip>
                    <a:blip r:embed="rId4"/>
                  </a:buBlip>
                </a:pPr>
                <a:endParaRPr lang="en-US" altLang="en-US" sz="2400" dirty="0"/>
              </a:p>
              <a:p>
                <a:pPr eaLnBrk="1" hangingPunct="1">
                  <a:buFontTx/>
                  <a:buBlip>
                    <a:blip r:embed="rId4"/>
                  </a:buBlip>
                </a:pPr>
                <a:r>
                  <a:rPr lang="en-US" altLang="en-US" sz="2400" dirty="0"/>
                  <a:t> For balanced designs with homoscedastic outcomes, unweighted cluster level analyses provide inferences which are equivalent to those obtained using a mixed linear regression model for any value of </a:t>
                </a:r>
                <a14:m>
                  <m:oMath xmlns:m="http://schemas.openxmlformats.org/officeDocument/2006/math">
                    <m:r>
                      <a:rPr lang="en-US" altLang="en-US" sz="2400" i="1" smtClean="0">
                        <a:latin typeface="Cambria Math" panose="02040503050406030204" pitchFamily="18" charset="0"/>
                        <a:ea typeface="Cambria Math" panose="02040503050406030204" pitchFamily="18" charset="0"/>
                      </a:rPr>
                      <m:t>𝜌</m:t>
                    </m:r>
                  </m:oMath>
                </a14:m>
                <a:r>
                  <a:rPr lang="en-US" altLang="en-US" sz="2400" dirty="0"/>
                  <a:t> (</a:t>
                </a:r>
                <a:r>
                  <a:rPr lang="en-US" altLang="en-US" sz="2400" dirty="0" err="1"/>
                  <a:t>Koepsell</a:t>
                </a:r>
                <a:r>
                  <a:rPr lang="en-US" altLang="en-US" sz="2400" dirty="0"/>
                  <a:t>, 1981).  Balanced design here means all clusters have the same size and there are the same numbers of clusters in each group. (not the case for HPTN)</a:t>
                </a:r>
              </a:p>
              <a:p>
                <a:pPr eaLnBrk="1" hangingPunct="1"/>
                <a:r>
                  <a:rPr lang="en-US" altLang="en-US" sz="2400" dirty="0"/>
                  <a:t>      </a:t>
                </a:r>
              </a:p>
              <a:p>
                <a:pPr>
                  <a:buBlip>
                    <a:blip r:embed="rId4"/>
                  </a:buBlip>
                </a:pPr>
                <a:r>
                  <a:rPr lang="en-US" altLang="en-US" sz="2400" b="1" dirty="0"/>
                  <a:t> </a:t>
                </a:r>
                <a:r>
                  <a:rPr lang="en-US" altLang="en-US" sz="2400" dirty="0"/>
                  <a:t>Otherwise, the </a:t>
                </a:r>
                <a:r>
                  <a:rPr lang="en-US" altLang="en-US" sz="2400" b="1" dirty="0"/>
                  <a:t>unweighted </a:t>
                </a:r>
                <a:r>
                  <a:rPr lang="en-US" altLang="en-US" sz="2400" dirty="0"/>
                  <a:t>cluster level analysis remains unbiased/consistent, but is inefficient</a:t>
                </a:r>
                <a:r>
                  <a:rPr lang="en-US" altLang="en-US" sz="2400" b="1" dirty="0"/>
                  <a:t>. </a:t>
                </a:r>
                <a:r>
                  <a:rPr lang="en-US" altLang="en-US" sz="2400" dirty="0"/>
                  <a:t>An interesting research question is how inefficient for small departures from balance?  From normality of residuals in the case of continuous data using the model-based variance rather than the robust variance?</a:t>
                </a:r>
                <a:endParaRPr lang="en-CA" altLang="en-US" sz="2400" dirty="0"/>
              </a:p>
              <a:p>
                <a:endParaRPr lang="en-US" sz="2400" dirty="0"/>
              </a:p>
            </p:txBody>
          </p:sp>
        </mc:Choice>
        <mc:Fallback xmlns="">
          <p:sp>
            <p:nvSpPr>
              <p:cNvPr id="3" name="TextBox 2">
                <a:extLst>
                  <a:ext uri="{FF2B5EF4-FFF2-40B4-BE49-F238E27FC236}">
                    <a16:creationId xmlns:a16="http://schemas.microsoft.com/office/drawing/2014/main" id="{17C17801-E315-458F-886D-9A89A3EE2AF7}"/>
                  </a:ext>
                </a:extLst>
              </p:cNvPr>
              <p:cNvSpPr txBox="1">
                <a:spLocks noRot="1" noChangeAspect="1" noMove="1" noResize="1" noEditPoints="1" noAdjustHandles="1" noChangeArrowheads="1" noChangeShapeType="1" noTextEdit="1"/>
              </p:cNvSpPr>
              <p:nvPr/>
            </p:nvSpPr>
            <p:spPr>
              <a:xfrm>
                <a:off x="186906" y="1197487"/>
                <a:ext cx="12005094" cy="5632311"/>
              </a:xfrm>
              <a:prstGeom prst="rect">
                <a:avLst/>
              </a:prstGeom>
              <a:blipFill>
                <a:blip r:embed="rId5"/>
                <a:stretch>
                  <a:fillRect l="-813" t="-866"/>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93145615-DACC-9C50-E177-3F9B271C0045}"/>
              </a:ext>
            </a:extLst>
          </p:cNvPr>
          <p:cNvSpPr>
            <a:spLocks noGrp="1"/>
          </p:cNvSpPr>
          <p:nvPr>
            <p:ph type="sldNum" sz="quarter" idx="12"/>
          </p:nvPr>
        </p:nvSpPr>
        <p:spPr/>
        <p:txBody>
          <a:bodyPr/>
          <a:lstStyle/>
          <a:p>
            <a:fld id="{77C6A7FE-225D-49F1-B302-AA37EA92BB49}" type="slidenum">
              <a:rPr lang="en-US" smtClean="0"/>
              <a:t>88</a:t>
            </a:fld>
            <a:endParaRPr lang="en-US"/>
          </a:p>
        </p:txBody>
      </p:sp>
    </p:spTree>
    <p:extLst>
      <p:ext uri="{BB962C8B-B14F-4D97-AF65-F5344CB8AC3E}">
        <p14:creationId xmlns:p14="http://schemas.microsoft.com/office/powerpoint/2010/main" val="3257380664"/>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The Benefits of Balance for  Cluster-level Analysis</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2" name="TextBox 1">
            <a:extLst>
              <a:ext uri="{FF2B5EF4-FFF2-40B4-BE49-F238E27FC236}">
                <a16:creationId xmlns:a16="http://schemas.microsoft.com/office/drawing/2014/main" id="{145F60C1-61A6-4AC3-91A1-064740955BD7}"/>
              </a:ext>
            </a:extLst>
          </p:cNvPr>
          <p:cNvSpPr txBox="1"/>
          <p:nvPr/>
        </p:nvSpPr>
        <p:spPr>
          <a:xfrm>
            <a:off x="918519" y="2199503"/>
            <a:ext cx="10354962" cy="3139321"/>
          </a:xfrm>
          <a:prstGeom prst="rect">
            <a:avLst/>
          </a:prstGeom>
          <a:noFill/>
        </p:spPr>
        <p:txBody>
          <a:bodyPr wrap="square" rtlCol="0">
            <a:spAutoFit/>
          </a:bodyPr>
          <a:lstStyle/>
          <a:p>
            <a:pPr>
              <a:spcAft>
                <a:spcPts val="1800"/>
              </a:spcAft>
              <a:buFontTx/>
              <a:buBlip>
                <a:blip r:embed="rId4"/>
              </a:buBlip>
              <a:tabLst>
                <a:tab pos="509588" algn="l"/>
                <a:tab pos="908050" algn="l"/>
              </a:tabLst>
            </a:pPr>
            <a:r>
              <a:rPr lang="en-US" altLang="en-US" sz="2800" dirty="0"/>
              <a:t>To repeat, an important special case arises in trials having a homoscedastic quantitative outcome variable when each cluster has a fixed number of participants (i.e., balanced design).</a:t>
            </a:r>
          </a:p>
          <a:p>
            <a:pPr>
              <a:spcAft>
                <a:spcPts val="1800"/>
              </a:spcAft>
              <a:buFontTx/>
              <a:buBlip>
                <a:blip r:embed="rId4"/>
              </a:buBlip>
              <a:tabLst>
                <a:tab pos="509588" algn="l"/>
                <a:tab pos="908050" algn="l"/>
              </a:tabLst>
            </a:pPr>
            <a:r>
              <a:rPr lang="en-US" altLang="en-US" sz="2800" dirty="0"/>
              <a:t> 	Unweighted cluster-level analyses are then fully efficient, as well as being unbiased/consistent.</a:t>
            </a:r>
          </a:p>
          <a:p>
            <a:pPr>
              <a:spcAft>
                <a:spcPts val="1800"/>
              </a:spcAft>
              <a:tabLst>
                <a:tab pos="509588" algn="l"/>
                <a:tab pos="908050" algn="l"/>
              </a:tabLst>
            </a:pPr>
            <a:endParaRPr lang="en-CA" altLang="en-US" sz="2800" dirty="0"/>
          </a:p>
        </p:txBody>
      </p:sp>
      <p:sp>
        <p:nvSpPr>
          <p:cNvPr id="3" name="Footer Placeholder 2">
            <a:extLst>
              <a:ext uri="{FF2B5EF4-FFF2-40B4-BE49-F238E27FC236}">
                <a16:creationId xmlns:a16="http://schemas.microsoft.com/office/drawing/2014/main" id="{1AD70CEF-BCA3-2442-A37B-8F55A9D609C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374313E-EE3A-836D-58CC-65C5270CF6C7}"/>
              </a:ext>
            </a:extLst>
          </p:cNvPr>
          <p:cNvSpPr>
            <a:spLocks noGrp="1"/>
          </p:cNvSpPr>
          <p:nvPr>
            <p:ph type="sldNum" sz="quarter" idx="12"/>
          </p:nvPr>
        </p:nvSpPr>
        <p:spPr/>
        <p:txBody>
          <a:bodyPr/>
          <a:lstStyle/>
          <a:p>
            <a:fld id="{77C6A7FE-225D-49F1-B302-AA37EA92BB49}" type="slidenum">
              <a:rPr lang="en-US" smtClean="0"/>
              <a:t>89</a:t>
            </a:fld>
            <a:endParaRPr lang="en-US"/>
          </a:p>
        </p:txBody>
      </p:sp>
    </p:spTree>
    <p:extLst>
      <p:ext uri="{BB962C8B-B14F-4D97-AF65-F5344CB8AC3E}">
        <p14:creationId xmlns:p14="http://schemas.microsoft.com/office/powerpoint/2010/main" val="406140391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The Benefits of Balance (cont.)</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45F60C1-61A6-4AC3-91A1-064740955BD7}"/>
                  </a:ext>
                </a:extLst>
              </p:cNvPr>
              <p:cNvSpPr txBox="1"/>
              <p:nvPr/>
            </p:nvSpPr>
            <p:spPr>
              <a:xfrm>
                <a:off x="918519" y="1920802"/>
                <a:ext cx="10354962" cy="4832092"/>
              </a:xfrm>
              <a:prstGeom prst="rect">
                <a:avLst/>
              </a:prstGeom>
              <a:noFill/>
            </p:spPr>
            <p:txBody>
              <a:bodyPr wrap="square" rtlCol="0">
                <a:spAutoFit/>
              </a:bodyPr>
              <a:lstStyle/>
              <a:p>
                <a:pPr marL="495300" indent="-495300">
                  <a:buFontTx/>
                  <a:buBlip>
                    <a:blip r:embed="rId4"/>
                  </a:buBlip>
                  <a:tabLst>
                    <a:tab pos="509588" algn="l"/>
                    <a:tab pos="1085850" algn="l"/>
                  </a:tabLst>
                </a:pPr>
                <a:r>
                  <a:rPr lang="en-US" altLang="en-US" sz="2800" dirty="0"/>
                  <a:t>Consider a CRT with </a:t>
                </a:r>
                <a14:m>
                  <m:oMath xmlns:m="http://schemas.openxmlformats.org/officeDocument/2006/math">
                    <m:r>
                      <a:rPr lang="en-US" altLang="en-US" sz="2800" b="0" i="1" smtClean="0">
                        <a:latin typeface="Cambria Math" panose="02040503050406030204" pitchFamily="18" charset="0"/>
                      </a:rPr>
                      <m:t>𝐾</m:t>
                    </m:r>
                  </m:oMath>
                </a14:m>
                <a:r>
                  <a:rPr lang="en-US" altLang="en-US" sz="2800" dirty="0"/>
                  <a:t>  clusters in each of two intervention groups with </a:t>
                </a:r>
                <a14:m>
                  <m:oMath xmlns:m="http://schemas.openxmlformats.org/officeDocument/2006/math">
                    <m:r>
                      <a:rPr lang="en-US" altLang="en-US" sz="2800" b="0" i="1" smtClean="0">
                        <a:latin typeface="Cambria Math"/>
                      </a:rPr>
                      <m:t>𝑚</m:t>
                    </m:r>
                    <m:r>
                      <a:rPr lang="en-US" altLang="en-US" sz="2800" b="0" i="1" smtClean="0">
                        <a:latin typeface="Cambria Math"/>
                      </a:rPr>
                      <m:t> </m:t>
                    </m:r>
                  </m:oMath>
                </a14:m>
                <a:r>
                  <a:rPr lang="en-US" altLang="en-US" sz="2800" dirty="0"/>
                  <a:t>participants per cluster and a homoscedastic outcome. </a:t>
                </a:r>
              </a:p>
              <a:p>
                <a:pPr marL="495300" indent="-495300">
                  <a:buFontTx/>
                  <a:buBlip>
                    <a:blip r:embed="rId4"/>
                  </a:buBlip>
                  <a:tabLst>
                    <a:tab pos="509588" algn="l"/>
                    <a:tab pos="1085850" algn="l"/>
                  </a:tabLst>
                </a:pPr>
                <a:r>
                  <a:rPr lang="en-US" altLang="en-US" sz="2800" dirty="0"/>
                  <a:t>A test for the effect of intervention can be constructed using either</a:t>
                </a:r>
              </a:p>
              <a:p>
                <a:pPr marL="495300" indent="-495300">
                  <a:buFontTx/>
                  <a:buBlip>
                    <a:blip r:embed="rId4"/>
                  </a:buBlip>
                  <a:tabLst>
                    <a:tab pos="509588" algn="l"/>
                    <a:tab pos="1085850" algn="l"/>
                  </a:tabLst>
                </a:pPr>
                <a:endParaRPr lang="en-US" altLang="en-US" sz="2800" dirty="0"/>
              </a:p>
              <a:p>
                <a:pPr marL="952500" lvl="1" indent="-495300">
                  <a:buFontTx/>
                  <a:buAutoNum type="romanLcParenBoth"/>
                  <a:tabLst>
                    <a:tab pos="509588" algn="l"/>
                    <a:tab pos="1085850" algn="l"/>
                  </a:tabLst>
                </a:pPr>
                <a:r>
                  <a:rPr lang="en-US" altLang="en-US" sz="2800" dirty="0"/>
                  <a:t>A two sample t-test with   </a:t>
                </a:r>
                <a:r>
                  <a:rPr lang="en-US" altLang="en-US" sz="2800" dirty="0">
                    <a:latin typeface="Cambria Math" panose="02040503050406030204" pitchFamily="18" charset="0"/>
                    <a:ea typeface="Cambria Math" panose="02040503050406030204" pitchFamily="18" charset="0"/>
                  </a:rPr>
                  <a:t>2(K-1) </a:t>
                </a:r>
                <a:r>
                  <a:rPr lang="en-US" altLang="en-US" sz="2800" dirty="0"/>
                  <a:t>degrees of freedom calculated using the unweighted means as a summary score for each cluster.</a:t>
                </a:r>
              </a:p>
              <a:p>
                <a:pPr marL="952500" lvl="1" indent="-495300">
                  <a:buFontTx/>
                  <a:buAutoNum type="romanLcParenBoth"/>
                  <a:tabLst>
                    <a:tab pos="509588" algn="l"/>
                    <a:tab pos="1085850" algn="l"/>
                  </a:tabLst>
                </a:pPr>
                <a:endParaRPr lang="en-US" altLang="en-US" sz="2800" dirty="0"/>
              </a:p>
              <a:p>
                <a:pPr marL="952500" lvl="1" indent="-495300">
                  <a:buFontTx/>
                  <a:buAutoNum type="romanLcParenBoth"/>
                  <a:tabLst>
                    <a:tab pos="509588" algn="l"/>
                    <a:tab pos="1085850" algn="l"/>
                  </a:tabLst>
                </a:pPr>
                <a:r>
                  <a:rPr lang="en-US" altLang="en-US" sz="2800" dirty="0"/>
                  <a:t>A mixed effects linear regression model.</a:t>
                </a:r>
              </a:p>
              <a:p>
                <a:pPr marL="495300" indent="-495300">
                  <a:tabLst>
                    <a:tab pos="509588" algn="l"/>
                    <a:tab pos="1085850" algn="l"/>
                  </a:tabLst>
                </a:pPr>
                <a:endParaRPr lang="en-US" altLang="en-US" sz="2800" dirty="0"/>
              </a:p>
              <a:p>
                <a:pPr marL="495300" indent="-495300">
                  <a:buFontTx/>
                  <a:buBlip>
                    <a:blip r:embed="rId4"/>
                  </a:buBlip>
                  <a:tabLst>
                    <a:tab pos="509588" algn="l"/>
                    <a:tab pos="1085850" algn="l"/>
                  </a:tabLst>
                </a:pPr>
                <a:r>
                  <a:rPr lang="en-US" altLang="en-US" sz="2800" dirty="0"/>
                  <a:t>The resulting test statistics are identical (</a:t>
                </a:r>
                <a:r>
                  <a:rPr lang="en-US" altLang="en-US" sz="2800" dirty="0" err="1"/>
                  <a:t>Koepsell</a:t>
                </a:r>
                <a:r>
                  <a:rPr lang="en-US" altLang="en-US" sz="2800" dirty="0"/>
                  <a:t> et al. [1991]). </a:t>
                </a:r>
              </a:p>
            </p:txBody>
          </p:sp>
        </mc:Choice>
        <mc:Fallback xmlns="">
          <p:sp>
            <p:nvSpPr>
              <p:cNvPr id="2" name="TextBox 1">
                <a:extLst>
                  <a:ext uri="{FF2B5EF4-FFF2-40B4-BE49-F238E27FC236}">
                    <a16:creationId xmlns:a16="http://schemas.microsoft.com/office/drawing/2014/main" id="{145F60C1-61A6-4AC3-91A1-064740955BD7}"/>
                  </a:ext>
                </a:extLst>
              </p:cNvPr>
              <p:cNvSpPr txBox="1">
                <a:spLocks noRot="1" noChangeAspect="1" noMove="1" noResize="1" noEditPoints="1" noAdjustHandles="1" noChangeArrowheads="1" noChangeShapeType="1" noTextEdit="1"/>
              </p:cNvSpPr>
              <p:nvPr/>
            </p:nvSpPr>
            <p:spPr>
              <a:xfrm>
                <a:off x="918519" y="1920802"/>
                <a:ext cx="10354962" cy="4832092"/>
              </a:xfrm>
              <a:prstGeom prst="rect">
                <a:avLst/>
              </a:prstGeom>
              <a:blipFill>
                <a:blip r:embed="rId5"/>
                <a:stretch>
                  <a:fillRect t="-1135" r="-1001" b="-2648"/>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DE65574F-A49A-D242-8032-70DCC8928C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CCF2213-92D6-24DE-A2EA-732D73E907EC}"/>
              </a:ext>
            </a:extLst>
          </p:cNvPr>
          <p:cNvSpPr>
            <a:spLocks noGrp="1"/>
          </p:cNvSpPr>
          <p:nvPr>
            <p:ph type="sldNum" sz="quarter" idx="12"/>
          </p:nvPr>
        </p:nvSpPr>
        <p:spPr/>
        <p:txBody>
          <a:bodyPr/>
          <a:lstStyle/>
          <a:p>
            <a:fld id="{77C6A7FE-225D-49F1-B302-AA37EA92BB49}" type="slidenum">
              <a:rPr lang="en-US" smtClean="0"/>
              <a:t>90</a:t>
            </a:fld>
            <a:endParaRPr lang="en-US"/>
          </a:p>
        </p:txBody>
      </p:sp>
    </p:spTree>
    <p:extLst>
      <p:ext uri="{BB962C8B-B14F-4D97-AF65-F5344CB8AC3E}">
        <p14:creationId xmlns:p14="http://schemas.microsoft.com/office/powerpoint/2010/main" val="3048756134"/>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000" dirty="0">
                <a:solidFill>
                  <a:schemeClr val="bg1"/>
                </a:solidFill>
                <a:latin typeface="Arial" panose="020B0604020202020204" pitchFamily="34" charset="0"/>
                <a:cs typeface="Arial" panose="020B0604020202020204" pitchFamily="34" charset="0"/>
              </a:rPr>
              <a:t>Conducting an Individual Level Analysis of a CRT using Mixed Effects Regression: continuous outcome</a:t>
            </a:r>
            <a:endParaRPr lang="en-US" sz="40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CCA6719-2889-4E66-BD97-7227E3BCF000}"/>
                  </a:ext>
                </a:extLst>
              </p:cNvPr>
              <p:cNvSpPr txBox="1"/>
              <p:nvPr/>
            </p:nvSpPr>
            <p:spPr>
              <a:xfrm>
                <a:off x="393700" y="1356463"/>
                <a:ext cx="11798300" cy="5042342"/>
              </a:xfrm>
              <a:prstGeom prst="rect">
                <a:avLst/>
              </a:prstGeom>
              <a:noFill/>
            </p:spPr>
            <p:txBody>
              <a:bodyPr wrap="square">
                <a:spAutoFit/>
              </a:bodyPr>
              <a:lstStyle/>
              <a:p>
                <a:pPr>
                  <a:buBlip>
                    <a:blip r:embed="rId4"/>
                  </a:buBlip>
                </a:pPr>
                <a:r>
                  <a:rPr lang="en-US" altLang="en-US" sz="2800" dirty="0"/>
                  <a:t>Let the study outcome be denoted by </a:t>
                </a:r>
                <a14:m>
                  <m:oMath xmlns:m="http://schemas.openxmlformats.org/officeDocument/2006/math">
                    <m:sSub>
                      <m:sSubPr>
                        <m:ctrlPr>
                          <a:rPr lang="en-US" sz="2800" i="1">
                            <a:latin typeface="Cambria Math" panose="02040503050406030204" pitchFamily="18" charset="0"/>
                          </a:rPr>
                        </m:ctrlPr>
                      </m:sSubPr>
                      <m:e>
                        <m:r>
                          <a:rPr lang="en-US" sz="2800" b="0" i="1" smtClean="0">
                            <a:latin typeface="Cambria Math" panose="02040503050406030204" pitchFamily="18" charset="0"/>
                          </a:rPr>
                          <m:t>𝑌</m:t>
                        </m:r>
                      </m:e>
                      <m:sub>
                        <m:r>
                          <a:rPr lang="en-US" sz="2800" i="1">
                            <a:latin typeface="Cambria Math" panose="02040503050406030204" pitchFamily="18" charset="0"/>
                          </a:rPr>
                          <m:t>𝑖𝑘</m:t>
                        </m:r>
                        <m:r>
                          <a:rPr lang="en-US" sz="2800" b="0" i="1" smtClean="0">
                            <a:latin typeface="Cambria Math" panose="02040503050406030204" pitchFamily="18" charset="0"/>
                          </a:rPr>
                          <m:t>𝑗</m:t>
                        </m:r>
                      </m:sub>
                    </m:sSub>
                  </m:oMath>
                </a14:m>
                <a:r>
                  <a:rPr lang="en-US" altLang="en-US" sz="2800" dirty="0"/>
                  <a:t> for the  </a:t>
                </a:r>
                <a14:m>
                  <m:oMath xmlns:m="http://schemas.openxmlformats.org/officeDocument/2006/math">
                    <m:sSup>
                      <m:sSupPr>
                        <m:ctrlPr>
                          <a:rPr lang="en-US" altLang="en-US" sz="2800" b="0" i="1" smtClean="0">
                            <a:latin typeface="Cambria Math" panose="02040503050406030204" pitchFamily="18" charset="0"/>
                          </a:rPr>
                        </m:ctrlPr>
                      </m:sSupPr>
                      <m:e>
                        <m:r>
                          <a:rPr lang="en-US" altLang="en-US" sz="2800" b="0" i="1" smtClean="0">
                            <a:latin typeface="Cambria Math" panose="02040503050406030204" pitchFamily="18" charset="0"/>
                          </a:rPr>
                          <m:t>𝑗</m:t>
                        </m:r>
                      </m:e>
                      <m:sup>
                        <m:r>
                          <a:rPr lang="en-US" altLang="en-US" sz="2800" b="0" i="1" smtClean="0">
                            <a:latin typeface="Cambria Math"/>
                          </a:rPr>
                          <m:t>𝑡h</m:t>
                        </m:r>
                      </m:sup>
                    </m:sSup>
                  </m:oMath>
                </a14:m>
                <a:r>
                  <a:rPr lang="en-US" altLang="en-US" sz="2800" dirty="0"/>
                  <a:t>  subject, j=1,...,</a:t>
                </a:r>
                <a:r>
                  <a:rPr lang="en-US" sz="2800" dirty="0"/>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𝑚</m:t>
                        </m:r>
                      </m:e>
                      <m:sub>
                        <m:r>
                          <a:rPr lang="en-US" sz="2800" i="1">
                            <a:latin typeface="Cambria Math" panose="02040503050406030204" pitchFamily="18" charset="0"/>
                          </a:rPr>
                          <m:t>𝑖𝑘</m:t>
                        </m:r>
                      </m:sub>
                    </m:sSub>
                  </m:oMath>
                </a14:m>
                <a:r>
                  <a:rPr lang="en-US" altLang="en-US" sz="2800" dirty="0"/>
                  <a:t>, in the </a:t>
                </a:r>
                <a14:m>
                  <m:oMath xmlns:m="http://schemas.openxmlformats.org/officeDocument/2006/math">
                    <m:r>
                      <a:rPr lang="en-US" altLang="en-US" sz="2800" i="1" smtClean="0">
                        <a:latin typeface="Cambria Math" panose="02040503050406030204" pitchFamily="18" charset="0"/>
                      </a:rPr>
                      <m:t>𝑘</m:t>
                    </m:r>
                  </m:oMath>
                </a14:m>
                <a:r>
                  <a:rPr lang="en-US" altLang="en-US" sz="2800" baseline="30000" dirty="0" err="1"/>
                  <a:t>th</a:t>
                </a:r>
                <a:r>
                  <a:rPr lang="en-US" altLang="en-US" sz="2800" dirty="0"/>
                  <a:t> cluster, in the </a:t>
                </a:r>
                <a14:m>
                  <m:oMath xmlns:m="http://schemas.openxmlformats.org/officeDocument/2006/math">
                    <m:sSup>
                      <m:sSupPr>
                        <m:ctrlPr>
                          <a:rPr lang="en-US" altLang="en-US" sz="2800" i="1" smtClean="0">
                            <a:latin typeface="Cambria Math" panose="02040503050406030204" pitchFamily="18" charset="0"/>
                          </a:rPr>
                        </m:ctrlPr>
                      </m:sSupPr>
                      <m:e>
                        <m:r>
                          <a:rPr lang="en-US" altLang="en-US" sz="2800" b="0" i="1" smtClean="0">
                            <a:latin typeface="Cambria Math"/>
                          </a:rPr>
                          <m:t>𝑖</m:t>
                        </m:r>
                      </m:e>
                      <m:sup>
                        <m:r>
                          <a:rPr lang="en-US" altLang="en-US" sz="2800" b="0" i="1" smtClean="0">
                            <a:latin typeface="Cambria Math"/>
                          </a:rPr>
                          <m:t>𝑡h</m:t>
                        </m:r>
                      </m:sup>
                    </m:sSup>
                  </m:oMath>
                </a14:m>
                <a:r>
                  <a:rPr lang="en-US" altLang="en-US" sz="2800" dirty="0"/>
                  <a:t> intervention group, </a:t>
                </a:r>
                <a14:m>
                  <m:oMath xmlns:m="http://schemas.openxmlformats.org/officeDocument/2006/math">
                    <m:r>
                      <a:rPr lang="en-US" sz="2800" i="1">
                        <a:solidFill>
                          <a:srgbClr val="000000"/>
                        </a:solidFill>
                        <a:latin typeface="Cambria Math" panose="02040503050406030204" pitchFamily="18" charset="0"/>
                      </a:rPr>
                      <m:t>𝑖</m:t>
                    </m:r>
                    <m:r>
                      <a:rPr lang="en-US" sz="2800" i="1">
                        <a:solidFill>
                          <a:srgbClr val="000000"/>
                        </a:solidFill>
                        <a:latin typeface="Cambria Math" panose="02040503050406030204" pitchFamily="18" charset="0"/>
                      </a:rPr>
                      <m:t>=1,2.</m:t>
                    </m:r>
                  </m:oMath>
                </a14:m>
                <a:r>
                  <a:rPr lang="en-US" altLang="en-US" sz="2800" dirty="0"/>
                  <a:t>              </a:t>
                </a:r>
              </a:p>
              <a:p>
                <a:pPr eaLnBrk="1" hangingPunct="1">
                  <a:buFontTx/>
                  <a:buBlip>
                    <a:blip r:embed="rId4"/>
                  </a:buBlip>
                </a:pPr>
                <a:endParaRPr lang="en-US" altLang="en-US" sz="2800" dirty="0"/>
              </a:p>
              <a:p>
                <a:pPr eaLnBrk="1" hangingPunct="1">
                  <a:buFontTx/>
                  <a:buBlip>
                    <a:blip r:embed="rId4"/>
                  </a:buBlip>
                </a:pPr>
                <a:r>
                  <a:rPr lang="en-US" altLang="en-US" sz="2800" dirty="0"/>
                  <a:t> 	Consider the mixed effects linear regression 	model given by </a:t>
                </a:r>
              </a:p>
              <a:p>
                <a:pPr eaLnBrk="1" hangingPunct="1"/>
                <a:r>
                  <a:rPr lang="en-US" sz="2800" dirty="0">
                    <a:solidFill>
                      <a:schemeClr val="tx1"/>
                    </a:solidFill>
                  </a:rPr>
                  <a:t>	</a:t>
                </a:r>
              </a:p>
              <a:p>
                <a:r>
                  <a:rPr lang="en-US" sz="2800" dirty="0"/>
                  <a:t>			</a:t>
                </a:r>
                <a14:m>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𝑌</m:t>
                        </m:r>
                      </m:e>
                      <m:sub>
                        <m:r>
                          <a:rPr lang="en-US" sz="2800" i="1">
                            <a:solidFill>
                              <a:schemeClr val="tx1"/>
                            </a:solidFill>
                            <a:latin typeface="Cambria Math" panose="02040503050406030204" pitchFamily="18" charset="0"/>
                          </a:rPr>
                          <m:t>𝑖</m:t>
                        </m:r>
                        <m:r>
                          <a:rPr lang="en-US" sz="2800" b="0" i="1" smtClean="0">
                            <a:solidFill>
                              <a:schemeClr val="tx1"/>
                            </a:solidFill>
                            <a:latin typeface="Cambria Math" panose="02040503050406030204" pitchFamily="18" charset="0"/>
                          </a:rPr>
                          <m:t>𝑘𝑗</m:t>
                        </m:r>
                      </m:sub>
                    </m:sSub>
                    <m:r>
                      <a:rPr lang="en-US" sz="280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𝛽</m:t>
                        </m:r>
                      </m:e>
                      <m:sub>
                        <m:r>
                          <a:rPr lang="en-US" sz="2800" i="1">
                            <a:solidFill>
                              <a:schemeClr val="tx1"/>
                            </a:solidFill>
                            <a:latin typeface="Cambria Math" panose="02040503050406030204" pitchFamily="18" charset="0"/>
                          </a:rPr>
                          <m:t>0</m:t>
                        </m:r>
                      </m:sub>
                    </m:sSub>
                    <m:r>
                      <a:rPr lang="en-US" sz="2800" i="1">
                        <a:solidFill>
                          <a:schemeClr val="tx1"/>
                        </a:solidFill>
                        <a:latin typeface="Cambria Math" panose="02040503050406030204" pitchFamily="18" charset="0"/>
                      </a:rPr>
                      <m:t>+</m:t>
                    </m:r>
                    <m:sSup>
                      <m:sSupPr>
                        <m:ctrlPr>
                          <a:rPr lang="en-US" sz="2800" i="1" smtClean="0">
                            <a:solidFill>
                              <a:schemeClr val="tx1"/>
                            </a:solidFill>
                            <a:latin typeface="Cambria Math" panose="02040503050406030204" pitchFamily="18" charset="0"/>
                          </a:rPr>
                        </m:ctrlPr>
                      </m:sSupPr>
                      <m:e>
                        <m:r>
                          <a:rPr lang="en-US" sz="2800" i="1">
                            <a:latin typeface="Cambria Math" panose="02040503050406030204" pitchFamily="18" charset="0"/>
                          </a:rPr>
                          <m:t>𝛽</m:t>
                        </m:r>
                      </m:e>
                      <m:sup>
                        <m:r>
                          <a:rPr lang="en-US" sz="2800" b="0" i="1" smtClean="0">
                            <a:solidFill>
                              <a:schemeClr val="tx1"/>
                            </a:solidFill>
                            <a:latin typeface="Cambria Math" panose="02040503050406030204" pitchFamily="18" charset="0"/>
                          </a:rPr>
                          <m:t>∗</m:t>
                        </m:r>
                      </m:sup>
                    </m:sSup>
                    <m:sSub>
                      <m:sSubPr>
                        <m:ctrlPr>
                          <a:rPr lang="en-US" sz="2800" i="1">
                            <a:solidFill>
                              <a:schemeClr val="tx1"/>
                            </a:solidFill>
                            <a:latin typeface="Cambria Math" panose="02040503050406030204" pitchFamily="18" charset="0"/>
                          </a:rPr>
                        </m:ctrlPr>
                      </m:sSubPr>
                      <m:e>
                        <m:r>
                          <m:rPr>
                            <m:sty m:val="p"/>
                          </m:rPr>
                          <a:rPr lang="en-US" sz="2800" i="1">
                            <a:solidFill>
                              <a:schemeClr val="tx1"/>
                            </a:solidFill>
                            <a:latin typeface="Cambria Math" panose="02040503050406030204" pitchFamily="18" charset="0"/>
                          </a:rPr>
                          <m:t>Χ</m:t>
                        </m:r>
                      </m:e>
                      <m:sub>
                        <m:r>
                          <a:rPr lang="en-US" sz="2800" i="1">
                            <a:solidFill>
                              <a:schemeClr val="tx1"/>
                            </a:solidFill>
                            <a:latin typeface="Cambria Math" panose="02040503050406030204" pitchFamily="18" charset="0"/>
                          </a:rPr>
                          <m:t>𝑖</m:t>
                        </m:r>
                        <m:r>
                          <a:rPr lang="en-US" sz="2800" b="0" i="1" smtClean="0">
                            <a:solidFill>
                              <a:schemeClr val="tx1"/>
                            </a:solidFill>
                            <a:latin typeface="Cambria Math" panose="02040503050406030204" pitchFamily="18" charset="0"/>
                          </a:rPr>
                          <m:t>𝑘𝑗</m:t>
                        </m:r>
                      </m:sub>
                    </m:sSub>
                    <m:r>
                      <a:rPr lang="en-US" sz="280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r>
                          <m:rPr>
                            <m:sty m:val="p"/>
                          </m:rPr>
                          <a:rPr lang="en-US" sz="2800" i="0">
                            <a:solidFill>
                              <a:schemeClr val="tx1"/>
                            </a:solidFill>
                            <a:latin typeface="Cambria Math" panose="02040503050406030204" pitchFamily="18" charset="0"/>
                          </a:rPr>
                          <m:t>b</m:t>
                        </m:r>
                      </m:e>
                      <m:sub>
                        <m:r>
                          <a:rPr lang="en-US" sz="2800" i="1">
                            <a:solidFill>
                              <a:schemeClr val="tx1"/>
                            </a:solidFill>
                            <a:latin typeface="Cambria Math" panose="02040503050406030204" pitchFamily="18" charset="0"/>
                          </a:rPr>
                          <m:t>𝑖</m:t>
                        </m:r>
                        <m:r>
                          <a:rPr lang="en-US" sz="2800" b="0" i="1" smtClean="0">
                            <a:solidFill>
                              <a:schemeClr val="tx1"/>
                            </a:solidFill>
                            <a:latin typeface="Cambria Math" panose="02040503050406030204" pitchFamily="18" charset="0"/>
                          </a:rPr>
                          <m:t>𝑘</m:t>
                        </m:r>
                      </m:sub>
                    </m:sSub>
                    <m:r>
                      <a:rPr lang="en-US" sz="280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𝜀</m:t>
                        </m:r>
                      </m:e>
                      <m:sub>
                        <m:r>
                          <a:rPr lang="en-US" sz="2800" i="1">
                            <a:solidFill>
                              <a:schemeClr val="tx1"/>
                            </a:solidFill>
                            <a:latin typeface="Cambria Math" panose="02040503050406030204" pitchFamily="18" charset="0"/>
                          </a:rPr>
                          <m:t>𝑖</m:t>
                        </m:r>
                        <m:r>
                          <a:rPr lang="en-US" sz="2800" b="0" i="1" smtClean="0">
                            <a:solidFill>
                              <a:schemeClr val="tx1"/>
                            </a:solidFill>
                            <a:latin typeface="Cambria Math" panose="02040503050406030204" pitchFamily="18" charset="0"/>
                          </a:rPr>
                          <m:t>𝑘𝑗</m:t>
                        </m:r>
                      </m:sub>
                    </m:sSub>
                  </m:oMath>
                </a14:m>
                <a:r>
                  <a:rPr lang="en-US" altLang="en-US" sz="2800" dirty="0"/>
                  <a:t> </a:t>
                </a:r>
              </a:p>
              <a:p>
                <a:pPr eaLnBrk="1" hangingPunct="1"/>
                <a:r>
                  <a:rPr lang="en-US" altLang="en-US" sz="2800" dirty="0"/>
                  <a:t>where </a:t>
                </a:r>
              </a:p>
              <a:p>
                <a:pPr eaLnBrk="1" hangingPunct="1"/>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m:rPr>
                              <m:sty m:val="p"/>
                            </m:rPr>
                            <a:rPr lang="en-US" sz="2800" i="1">
                              <a:solidFill>
                                <a:schemeClr val="tx1"/>
                              </a:solidFill>
                              <a:latin typeface="Cambria Math" panose="02040503050406030204" pitchFamily="18" charset="0"/>
                            </a:rPr>
                            <m:t>Χ</m:t>
                          </m:r>
                        </m:e>
                        <m:sub>
                          <m:r>
                            <a:rPr lang="en-US" sz="2800" i="1">
                              <a:solidFill>
                                <a:schemeClr val="tx1"/>
                              </a:solidFill>
                              <a:latin typeface="Cambria Math" panose="02040503050406030204" pitchFamily="18" charset="0"/>
                            </a:rPr>
                            <m:t>𝑖</m:t>
                          </m:r>
                          <m:r>
                            <a:rPr lang="en-US" sz="2800" b="0" i="1" smtClean="0">
                              <a:solidFill>
                                <a:schemeClr val="tx1"/>
                              </a:solidFill>
                              <a:latin typeface="Cambria Math" panose="02040503050406030204" pitchFamily="18" charset="0"/>
                            </a:rPr>
                            <m:t>𝑘𝑗</m:t>
                          </m:r>
                        </m:sub>
                      </m:sSub>
                      <m:r>
                        <a:rPr lang="en-US" sz="2800" i="1">
                          <a:solidFill>
                            <a:schemeClr val="tx1"/>
                          </a:solidFill>
                          <a:latin typeface="Cambria Math" panose="02040503050406030204" pitchFamily="18" charset="0"/>
                        </a:rPr>
                        <m:t>=</m:t>
                      </m:r>
                      <m:d>
                        <m:dPr>
                          <m:begChr m:val="{"/>
                          <m:endChr m:val=""/>
                          <m:ctrlPr>
                            <a:rPr lang="en-US" sz="2800" i="1">
                              <a:solidFill>
                                <a:schemeClr val="tx1"/>
                              </a:solidFill>
                              <a:latin typeface="Cambria Math" panose="02040503050406030204" pitchFamily="18" charset="0"/>
                            </a:rPr>
                          </m:ctrlPr>
                        </m:dPr>
                        <m:e>
                          <m:m>
                            <m:mPr>
                              <m:plcHide m:val="on"/>
                              <m:mcs>
                                <m:mc>
                                  <m:mcPr>
                                    <m:count m:val="1"/>
                                    <m:mcJc m:val="center"/>
                                  </m:mcPr>
                                </m:mc>
                              </m:mcs>
                              <m:ctrlPr>
                                <a:rPr lang="en-US" sz="2800" i="1">
                                  <a:solidFill>
                                    <a:schemeClr val="tx1"/>
                                  </a:solidFill>
                                  <a:latin typeface="Cambria Math" panose="02040503050406030204" pitchFamily="18" charset="0"/>
                                </a:rPr>
                              </m:ctrlPr>
                            </m:mPr>
                            <m:mr>
                              <m:e>
                                <m:r>
                                  <a:rPr lang="en-US" sz="2800" b="0" i="1" smtClean="0">
                                    <a:solidFill>
                                      <a:schemeClr val="tx1"/>
                                    </a:solidFill>
                                    <a:latin typeface="Cambria Math" panose="02040503050406030204" pitchFamily="18" charset="0"/>
                                  </a:rPr>
                                  <m:t>0  </m:t>
                                </m:r>
                                <m:r>
                                  <a:rPr lang="en-US" sz="2800" i="1">
                                    <a:solidFill>
                                      <a:schemeClr val="tx1"/>
                                    </a:solidFill>
                                    <a:latin typeface="Cambria Math" panose="02040503050406030204" pitchFamily="18" charset="0"/>
                                  </a:rPr>
                                  <m:t>𝑖𝑓</m:t>
                                </m:r>
                                <m:r>
                                  <a:rPr lang="en-US" sz="2800" b="0" i="1" smtClean="0">
                                    <a:solidFill>
                                      <a:schemeClr val="tx1"/>
                                    </a:solidFill>
                                    <a:latin typeface="Cambria Math" panose="02040503050406030204" pitchFamily="18" charset="0"/>
                                  </a:rPr>
                                  <m:t> </m:t>
                                </m:r>
                                <m:r>
                                  <a:rPr lang="en-US" sz="2800" i="1">
                                    <a:solidFill>
                                      <a:schemeClr val="tx1"/>
                                    </a:solidFill>
                                    <a:latin typeface="Cambria Math" panose="02040503050406030204" pitchFamily="18" charset="0"/>
                                  </a:rPr>
                                  <m:t>𝑖</m:t>
                                </m:r>
                                <m:r>
                                  <a:rPr lang="en-US" sz="2800" i="1">
                                    <a:solidFill>
                                      <a:schemeClr val="tx1"/>
                                    </a:solidFill>
                                    <a:latin typeface="Cambria Math" panose="02040503050406030204" pitchFamily="18" charset="0"/>
                                  </a:rPr>
                                  <m:t>=1</m:t>
                                </m:r>
                                <m:d>
                                  <m:dPr>
                                    <m:ctrlPr>
                                      <a:rPr lang="en-US" sz="2800" i="1">
                                        <a:solidFill>
                                          <a:schemeClr val="tx1"/>
                                        </a:solidFill>
                                        <a:latin typeface="Cambria Math" panose="02040503050406030204" pitchFamily="18" charset="0"/>
                                      </a:rPr>
                                    </m:ctrlPr>
                                  </m:dPr>
                                  <m:e>
                                    <m:r>
                                      <m:rPr>
                                        <m:nor/>
                                      </m:rPr>
                                      <a:rPr lang="en-US" sz="2800" b="0" i="0" smtClean="0">
                                        <a:solidFill>
                                          <a:schemeClr val="tx1"/>
                                        </a:solidFill>
                                        <a:latin typeface="Cambria Math" panose="02040503050406030204" pitchFamily="18" charset="0"/>
                                      </a:rPr>
                                      <m:t>control</m:t>
                                    </m:r>
                                  </m:e>
                                </m:d>
                              </m:e>
                            </m:mr>
                            <m:mr>
                              <m:e>
                                <m:eqArr>
                                  <m:eqArrPr>
                                    <m:ctrlPr>
                                      <a:rPr lang="en-US" sz="2800" i="1">
                                        <a:solidFill>
                                          <a:schemeClr val="tx1"/>
                                        </a:solidFill>
                                        <a:latin typeface="Cambria Math" panose="02040503050406030204" pitchFamily="18" charset="0"/>
                                      </a:rPr>
                                    </m:ctrlPr>
                                  </m:eqArrPr>
                                  <m:e>
                                    <m:r>
                                      <m:rPr>
                                        <m:nor/>
                                      </m:rPr>
                                      <a:rPr lang="en-US" sz="2800" b="0" i="0" smtClean="0">
                                        <a:solidFill>
                                          <a:schemeClr val="tx1"/>
                                        </a:solidFill>
                                        <a:latin typeface="Cambria Math" panose="02040503050406030204" pitchFamily="18" charset="0"/>
                                      </a:rPr>
                                      <m:t>1 </m:t>
                                    </m:r>
                                    <m:r>
                                      <m:rPr>
                                        <m:nor/>
                                      </m:rPr>
                                      <a:rPr lang="en-US" sz="2800" i="0">
                                        <a:solidFill>
                                          <a:schemeClr val="tx1"/>
                                        </a:solidFill>
                                        <a:latin typeface="Cambria Math" panose="02040503050406030204" pitchFamily="18" charset="0"/>
                                      </a:rPr>
                                      <m:t> </m:t>
                                    </m:r>
                                    <m:r>
                                      <a:rPr lang="en-US" sz="2800" i="1">
                                        <a:solidFill>
                                          <a:schemeClr val="tx1"/>
                                        </a:solidFill>
                                        <a:latin typeface="Cambria Math" panose="02040503050406030204" pitchFamily="18" charset="0"/>
                                      </a:rPr>
                                      <m:t>𝑖𝑓</m:t>
                                    </m:r>
                                    <m:r>
                                      <a:rPr lang="en-US" sz="2800" b="0" i="1" smtClean="0">
                                        <a:solidFill>
                                          <a:schemeClr val="tx1"/>
                                        </a:solidFill>
                                        <a:latin typeface="Cambria Math" panose="02040503050406030204" pitchFamily="18" charset="0"/>
                                      </a:rPr>
                                      <m:t> </m:t>
                                    </m:r>
                                    <m:r>
                                      <a:rPr lang="en-US" sz="2800" i="1">
                                        <a:solidFill>
                                          <a:schemeClr val="tx1"/>
                                        </a:solidFill>
                                        <a:latin typeface="Cambria Math" panose="02040503050406030204" pitchFamily="18" charset="0"/>
                                      </a:rPr>
                                      <m:t>𝑖</m:t>
                                    </m:r>
                                    <m:r>
                                      <a:rPr lang="en-US" sz="2800" i="1">
                                        <a:solidFill>
                                          <a:schemeClr val="tx1"/>
                                        </a:solidFill>
                                        <a:latin typeface="Cambria Math" panose="02040503050406030204" pitchFamily="18" charset="0"/>
                                      </a:rPr>
                                      <m:t>=2</m:t>
                                    </m:r>
                                    <m:d>
                                      <m:dPr>
                                        <m:ctrlPr>
                                          <a:rPr lang="en-US" sz="2800" i="1">
                                            <a:solidFill>
                                              <a:schemeClr val="tx1"/>
                                            </a:solidFill>
                                            <a:latin typeface="Cambria Math" panose="02040503050406030204" pitchFamily="18" charset="0"/>
                                          </a:rPr>
                                        </m:ctrlPr>
                                      </m:dPr>
                                      <m:e>
                                        <m:r>
                                          <m:rPr>
                                            <m:nor/>
                                          </m:rPr>
                                          <a:rPr lang="en-US" sz="2800" b="0" i="0" smtClean="0">
                                            <a:solidFill>
                                              <a:schemeClr val="tx1"/>
                                            </a:solidFill>
                                            <a:latin typeface="Cambria Math" panose="02040503050406030204" pitchFamily="18" charset="0"/>
                                          </a:rPr>
                                          <m:t>intervention</m:t>
                                        </m:r>
                                      </m:e>
                                    </m:d>
                                  </m:e>
                                  <m:e/>
                                </m:eqArr>
                              </m:e>
                            </m:mr>
                          </m:m>
                        </m:e>
                      </m:d>
                    </m:oMath>
                  </m:oMathPara>
                </a14:m>
                <a:endParaRPr lang="en-US" sz="2800" b="0" i="1" dirty="0">
                  <a:solidFill>
                    <a:schemeClr val="tx1"/>
                  </a:solidFill>
                  <a:latin typeface="Cambria Math" panose="02040503050406030204" pitchFamily="18" charset="0"/>
                </a:endParaRPr>
              </a:p>
              <a:p>
                <a:pPr eaLnBrk="1" hangingPunct="1"/>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m:rPr>
                              <m:sty m:val="p"/>
                            </m:rPr>
                            <a:rPr lang="en-US" sz="2800" i="0">
                              <a:solidFill>
                                <a:schemeClr val="tx1"/>
                              </a:solidFill>
                              <a:latin typeface="Cambria Math" panose="02040503050406030204" pitchFamily="18" charset="0"/>
                            </a:rPr>
                            <m:t>b</m:t>
                          </m:r>
                        </m:e>
                        <m:sub>
                          <m:r>
                            <a:rPr lang="en-US" sz="2800" i="1">
                              <a:solidFill>
                                <a:schemeClr val="tx1"/>
                              </a:solidFill>
                              <a:latin typeface="Cambria Math" panose="02040503050406030204" pitchFamily="18" charset="0"/>
                            </a:rPr>
                            <m:t>𝑖</m:t>
                          </m:r>
                          <m:r>
                            <a:rPr lang="en-US" sz="2800" b="0" i="1" smtClean="0">
                              <a:solidFill>
                                <a:schemeClr val="tx1"/>
                              </a:solidFill>
                              <a:latin typeface="Cambria Math" panose="02040503050406030204" pitchFamily="18" charset="0"/>
                            </a:rPr>
                            <m:t>𝑘</m:t>
                          </m:r>
                        </m:sub>
                      </m:sSub>
                      <m:r>
                        <a:rPr lang="en-US" sz="2800" i="1">
                          <a:solidFill>
                            <a:schemeClr val="tx1"/>
                          </a:solidFill>
                          <a:latin typeface="Cambria Math" panose="02040503050406030204" pitchFamily="18" charset="0"/>
                        </a:rPr>
                        <m:t>~</m:t>
                      </m:r>
                      <m:r>
                        <m:rPr>
                          <m:sty m:val="p"/>
                        </m:rPr>
                        <a:rPr lang="en-US" sz="2800" i="1">
                          <a:solidFill>
                            <a:schemeClr val="tx1"/>
                          </a:solidFill>
                          <a:latin typeface="Cambria Math" panose="02040503050406030204" pitchFamily="18" charset="0"/>
                        </a:rPr>
                        <m:t>Ν</m:t>
                      </m:r>
                      <m:d>
                        <m:dPr>
                          <m:ctrlPr>
                            <a:rPr lang="en-US" sz="2800" i="1">
                              <a:solidFill>
                                <a:schemeClr val="tx1"/>
                              </a:solidFill>
                              <a:latin typeface="Cambria Math" panose="02040503050406030204" pitchFamily="18" charset="0"/>
                            </a:rPr>
                          </m:ctrlPr>
                        </m:dPr>
                        <m:e>
                          <m:r>
                            <a:rPr lang="en-US" sz="2800" i="1">
                              <a:solidFill>
                                <a:schemeClr val="tx1"/>
                              </a:solidFill>
                              <a:latin typeface="Cambria Math" panose="02040503050406030204" pitchFamily="18" charset="0"/>
                            </a:rPr>
                            <m:t>0,</m:t>
                          </m:r>
                          <m:sSubSup>
                            <m:sSubSupPr>
                              <m:ctrlPr>
                                <a:rPr lang="en-US" sz="2800" i="1">
                                  <a:solidFill>
                                    <a:schemeClr val="tx1"/>
                                  </a:solidFill>
                                  <a:latin typeface="Cambria Math" panose="02040503050406030204" pitchFamily="18" charset="0"/>
                                </a:rPr>
                              </m:ctrlPr>
                            </m:sSubSupPr>
                            <m:e>
                              <m:r>
                                <a:rPr lang="en-US" sz="2800" i="1">
                                  <a:solidFill>
                                    <a:schemeClr val="tx1"/>
                                  </a:solidFill>
                                  <a:latin typeface="Cambria Math" panose="02040503050406030204" pitchFamily="18" charset="0"/>
                                </a:rPr>
                                <m:t>𝜎</m:t>
                              </m:r>
                            </m:e>
                            <m:sub>
                              <m:r>
                                <a:rPr lang="en-US" sz="2800" i="1">
                                  <a:solidFill>
                                    <a:schemeClr val="tx1"/>
                                  </a:solidFill>
                                  <a:latin typeface="Cambria Math" panose="02040503050406030204" pitchFamily="18" charset="0"/>
                                </a:rPr>
                                <m:t>𝐵</m:t>
                              </m:r>
                            </m:sub>
                            <m:sup>
                              <m:r>
                                <a:rPr lang="en-US" sz="2800" i="1">
                                  <a:solidFill>
                                    <a:schemeClr val="tx1"/>
                                  </a:solidFill>
                                  <a:latin typeface="Cambria Math" panose="02040503050406030204" pitchFamily="18" charset="0"/>
                                </a:rPr>
                                <m:t>2</m:t>
                              </m:r>
                            </m:sup>
                          </m:sSubSup>
                        </m:e>
                      </m:d>
                      <m:r>
                        <a:rPr lang="en-US" sz="2800" b="0" i="1" smtClean="0">
                          <a:solidFill>
                            <a:schemeClr val="tx1"/>
                          </a:solidFill>
                          <a:latin typeface="Cambria Math" panose="02040503050406030204" pitchFamily="18" charset="0"/>
                        </a:rPr>
                        <m:t> </m:t>
                      </m:r>
                      <m:r>
                        <a:rPr lang="en-US" sz="2800" b="0" i="1" smtClean="0">
                          <a:solidFill>
                            <a:schemeClr val="tx1"/>
                          </a:solidFill>
                          <a:latin typeface="Cambria Math" panose="02040503050406030204" pitchFamily="18" charset="0"/>
                        </a:rPr>
                        <m:t>𝑎𝑛𝑑</m:t>
                      </m:r>
                      <m:r>
                        <a:rPr lang="en-US" sz="2800" b="0" i="1" smtClean="0">
                          <a:solidFill>
                            <a:schemeClr val="tx1"/>
                          </a:solidFill>
                          <a:latin typeface="Cambria Math" panose="02040503050406030204" pitchFamily="18" charset="0"/>
                        </a:rPr>
                        <m:t> </m:t>
                      </m:r>
                      <m:sSub>
                        <m:sSubPr>
                          <m:ctrlPr>
                            <a:rPr lang="en-US" sz="2800" i="1" smtClean="0">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𝜀</m:t>
                          </m:r>
                        </m:e>
                        <m:sub>
                          <m:r>
                            <a:rPr lang="en-US" sz="2800" i="1">
                              <a:solidFill>
                                <a:schemeClr val="tx1"/>
                              </a:solidFill>
                              <a:latin typeface="Cambria Math" panose="02040503050406030204" pitchFamily="18" charset="0"/>
                            </a:rPr>
                            <m:t>𝑖</m:t>
                          </m:r>
                          <m:r>
                            <a:rPr lang="en-US" sz="2800" b="0" i="1" smtClean="0">
                              <a:solidFill>
                                <a:schemeClr val="tx1"/>
                              </a:solidFill>
                              <a:latin typeface="Cambria Math" panose="02040503050406030204" pitchFamily="18" charset="0"/>
                            </a:rPr>
                            <m:t>𝑘𝑗</m:t>
                          </m:r>
                        </m:sub>
                      </m:sSub>
                      <m:r>
                        <a:rPr lang="en-US" sz="2800" i="1">
                          <a:solidFill>
                            <a:schemeClr val="tx1"/>
                          </a:solidFill>
                          <a:latin typeface="Cambria Math" panose="02040503050406030204" pitchFamily="18" charset="0"/>
                        </a:rPr>
                        <m:t>~</m:t>
                      </m:r>
                      <m:r>
                        <m:rPr>
                          <m:sty m:val="p"/>
                        </m:rPr>
                        <a:rPr lang="en-US" sz="2800" i="1">
                          <a:solidFill>
                            <a:schemeClr val="tx1"/>
                          </a:solidFill>
                          <a:latin typeface="Cambria Math" panose="02040503050406030204" pitchFamily="18" charset="0"/>
                        </a:rPr>
                        <m:t>Ν</m:t>
                      </m:r>
                      <m:d>
                        <m:dPr>
                          <m:ctrlPr>
                            <a:rPr lang="en-US" sz="2800" i="1">
                              <a:solidFill>
                                <a:schemeClr val="tx1"/>
                              </a:solidFill>
                              <a:latin typeface="Cambria Math" panose="02040503050406030204" pitchFamily="18" charset="0"/>
                            </a:rPr>
                          </m:ctrlPr>
                        </m:dPr>
                        <m:e>
                          <m:r>
                            <a:rPr lang="en-US" sz="2800" i="1">
                              <a:solidFill>
                                <a:schemeClr val="tx1"/>
                              </a:solidFill>
                              <a:latin typeface="Cambria Math" panose="02040503050406030204" pitchFamily="18" charset="0"/>
                            </a:rPr>
                            <m:t>0,</m:t>
                          </m:r>
                          <m:sSubSup>
                            <m:sSubSupPr>
                              <m:ctrlPr>
                                <a:rPr lang="en-US" sz="2800" i="1">
                                  <a:solidFill>
                                    <a:schemeClr val="tx1"/>
                                  </a:solidFill>
                                  <a:latin typeface="Cambria Math" panose="02040503050406030204" pitchFamily="18" charset="0"/>
                                </a:rPr>
                              </m:ctrlPr>
                            </m:sSubSupPr>
                            <m:e>
                              <m:r>
                                <a:rPr lang="en-US" sz="2800" i="1">
                                  <a:solidFill>
                                    <a:schemeClr val="tx1"/>
                                  </a:solidFill>
                                  <a:latin typeface="Cambria Math" panose="02040503050406030204" pitchFamily="18" charset="0"/>
                                </a:rPr>
                                <m:t>𝜎</m:t>
                              </m:r>
                            </m:e>
                            <m:sub>
                              <m:r>
                                <a:rPr lang="en-US" sz="2800" i="1">
                                  <a:solidFill>
                                    <a:schemeClr val="tx1"/>
                                  </a:solidFill>
                                  <a:latin typeface="Cambria Math" panose="02040503050406030204" pitchFamily="18" charset="0"/>
                                </a:rPr>
                                <m:t>𝑊</m:t>
                              </m:r>
                            </m:sub>
                            <m:sup>
                              <m:r>
                                <a:rPr lang="en-US" sz="2800" i="1">
                                  <a:solidFill>
                                    <a:schemeClr val="tx1"/>
                                  </a:solidFill>
                                  <a:latin typeface="Cambria Math" panose="02040503050406030204" pitchFamily="18" charset="0"/>
                                </a:rPr>
                                <m:t>2</m:t>
                              </m:r>
                            </m:sup>
                          </m:sSubSup>
                        </m:e>
                      </m:d>
                    </m:oMath>
                  </m:oMathPara>
                </a14:m>
                <a:endParaRPr lang="en-US" sz="2800" dirty="0"/>
              </a:p>
            </p:txBody>
          </p:sp>
        </mc:Choice>
        <mc:Fallback xmlns="">
          <p:sp>
            <p:nvSpPr>
              <p:cNvPr id="5" name="TextBox 4">
                <a:extLst>
                  <a:ext uri="{FF2B5EF4-FFF2-40B4-BE49-F238E27FC236}">
                    <a16:creationId xmlns:a16="http://schemas.microsoft.com/office/drawing/2014/main" id="{2CCA6719-2889-4E66-BD97-7227E3BCF000}"/>
                  </a:ext>
                </a:extLst>
              </p:cNvPr>
              <p:cNvSpPr txBox="1">
                <a:spLocks noRot="1" noChangeAspect="1" noMove="1" noResize="1" noEditPoints="1" noAdjustHandles="1" noChangeArrowheads="1" noChangeShapeType="1" noTextEdit="1"/>
              </p:cNvSpPr>
              <p:nvPr/>
            </p:nvSpPr>
            <p:spPr>
              <a:xfrm>
                <a:off x="393700" y="1356463"/>
                <a:ext cx="11798300" cy="5042342"/>
              </a:xfrm>
              <a:prstGeom prst="rect">
                <a:avLst/>
              </a:prstGeom>
              <a:blipFill>
                <a:blip r:embed="rId5"/>
                <a:stretch>
                  <a:fillRect l="-1085" t="-1088"/>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424D503A-7A85-6012-069E-1527C097C32E}"/>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264FAD97-9189-EAF8-75F4-C22F6D01CD27}"/>
              </a:ext>
            </a:extLst>
          </p:cNvPr>
          <p:cNvSpPr>
            <a:spLocks noGrp="1"/>
          </p:cNvSpPr>
          <p:nvPr>
            <p:ph type="sldNum" sz="quarter" idx="12"/>
          </p:nvPr>
        </p:nvSpPr>
        <p:spPr/>
        <p:txBody>
          <a:bodyPr/>
          <a:lstStyle/>
          <a:p>
            <a:fld id="{77C6A7FE-225D-49F1-B302-AA37EA92BB49}" type="slidenum">
              <a:rPr lang="en-US" smtClean="0"/>
              <a:t>91</a:t>
            </a:fld>
            <a:endParaRPr lang="en-US"/>
          </a:p>
        </p:txBody>
      </p:sp>
    </p:spTree>
    <p:extLst>
      <p:ext uri="{BB962C8B-B14F-4D97-AF65-F5344CB8AC3E}">
        <p14:creationId xmlns:p14="http://schemas.microsoft.com/office/powerpoint/2010/main" val="54607903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EE1A0EC-944A-4F0D-BF57-ADE4BFED50FD}"/>
                  </a:ext>
                </a:extLst>
              </p:cNvPr>
              <p:cNvSpPr txBox="1"/>
              <p:nvPr/>
            </p:nvSpPr>
            <p:spPr>
              <a:xfrm>
                <a:off x="1257643" y="1552929"/>
                <a:ext cx="10540314" cy="5955476"/>
              </a:xfrm>
              <a:prstGeom prst="rect">
                <a:avLst/>
              </a:prstGeom>
              <a:noFill/>
            </p:spPr>
            <p:txBody>
              <a:bodyPr wrap="square" rtlCol="0">
                <a:spAutoFit/>
              </a:bodyPr>
              <a:lstStyle/>
              <a:p>
                <a:pPr>
                  <a:spcAft>
                    <a:spcPts val="1200"/>
                  </a:spcAft>
                </a:pPr>
                <a:r>
                  <a:rPr lang="en-US" sz="2800" dirty="0">
                    <a:solidFill>
                      <a:srgbClr val="000000"/>
                    </a:solidFill>
                  </a:rPr>
                  <a:t>The fixed effects are </a:t>
                </a:r>
                <a14:m>
                  <m:oMath xmlns:m="http://schemas.openxmlformats.org/officeDocument/2006/math">
                    <m:sSub>
                      <m:sSubPr>
                        <m:ctrlPr>
                          <a:rPr lang="en-US" sz="2800" i="1" smtClean="0">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 </m:t>
                        </m:r>
                        <m:r>
                          <a:rPr lang="en-US" sz="2800" i="1">
                            <a:solidFill>
                              <a:srgbClr val="000000"/>
                            </a:solidFill>
                            <a:latin typeface="Cambria Math" panose="02040503050406030204" pitchFamily="18" charset="0"/>
                          </a:rPr>
                          <m:t>𝛽</m:t>
                        </m:r>
                      </m:e>
                      <m:sub>
                        <m:r>
                          <a:rPr lang="en-US" sz="2800" i="1">
                            <a:solidFill>
                              <a:srgbClr val="000000"/>
                            </a:solidFill>
                            <a:latin typeface="Cambria Math" panose="02040503050406030204" pitchFamily="18" charset="0"/>
                          </a:rPr>
                          <m:t>0</m:t>
                        </m:r>
                      </m:sub>
                    </m:sSub>
                    <m:r>
                      <a:rPr lang="en-US" sz="2800" i="1">
                        <a:solidFill>
                          <a:srgbClr val="000000"/>
                        </a:solidFill>
                        <a:latin typeface="Cambria Math" panose="02040503050406030204" pitchFamily="18" charset="0"/>
                      </a:rPr>
                      <m:t>=</m:t>
                    </m:r>
                    <m:r>
                      <m:rPr>
                        <m:nor/>
                      </m:rPr>
                      <a:rPr lang="en-US" sz="2800" i="0">
                        <a:solidFill>
                          <a:srgbClr val="000000"/>
                        </a:solidFill>
                        <a:latin typeface="Cambria Math" panose="02040503050406030204" pitchFamily="18" charset="0"/>
                      </a:rPr>
                      <m:t>intercept</m:t>
                    </m:r>
                    <m:r>
                      <m:rPr>
                        <m:nor/>
                      </m:rPr>
                      <a:rPr lang="en-US" sz="2800" b="0" i="0" smtClean="0">
                        <a:solidFill>
                          <a:srgbClr val="000000"/>
                        </a:solidFill>
                        <a:latin typeface="Cambria Math" panose="02040503050406030204" pitchFamily="18" charset="0"/>
                      </a:rPr>
                      <m:t> </m:t>
                    </m:r>
                    <m:r>
                      <m:rPr>
                        <m:nor/>
                      </m:rPr>
                      <a:rPr lang="en-US" sz="2800" b="0" i="0" smtClean="0">
                        <a:solidFill>
                          <a:srgbClr val="000000"/>
                        </a:solidFill>
                        <a:latin typeface="Cambria Math" panose="02040503050406030204" pitchFamily="18" charset="0"/>
                      </a:rPr>
                      <m:t>and</m:t>
                    </m:r>
                    <m:r>
                      <m:rPr>
                        <m:nor/>
                      </m:rPr>
                      <a:rPr lang="en-US" sz="2800" b="0" i="0" smtClean="0">
                        <a:solidFill>
                          <a:srgbClr val="000000"/>
                        </a:solidFill>
                        <a:latin typeface="Cambria Math" panose="02040503050406030204" pitchFamily="18" charset="0"/>
                      </a:rPr>
                      <m:t> </m:t>
                    </m:r>
                    <m:sSup>
                      <m:sSupPr>
                        <m:ctrlPr>
                          <a:rPr lang="en-US" sz="2800" i="1">
                            <a:latin typeface="Cambria Math" panose="02040503050406030204" pitchFamily="18" charset="0"/>
                          </a:rPr>
                        </m:ctrlPr>
                      </m:sSupPr>
                      <m:e>
                        <m:r>
                          <a:rPr lang="en-US" sz="2800" i="1">
                            <a:latin typeface="Cambria Math" panose="02040503050406030204" pitchFamily="18" charset="0"/>
                          </a:rPr>
                          <m:t>𝛽</m:t>
                        </m:r>
                      </m:e>
                      <m:sup>
                        <m:r>
                          <a:rPr lang="en-US" sz="2800" i="1">
                            <a:latin typeface="Cambria Math" panose="02040503050406030204" pitchFamily="18" charset="0"/>
                          </a:rPr>
                          <m:t>∗</m:t>
                        </m:r>
                      </m:sup>
                    </m:sSup>
                    <m:r>
                      <a:rPr lang="en-US" sz="2800" i="1">
                        <a:solidFill>
                          <a:srgbClr val="000000"/>
                        </a:solidFill>
                        <a:latin typeface="Cambria Math" panose="02040503050406030204" pitchFamily="18" charset="0"/>
                      </a:rPr>
                      <m:t>=</m:t>
                    </m:r>
                    <m:r>
                      <m:rPr>
                        <m:nor/>
                      </m:rPr>
                      <a:rPr lang="en-US" sz="2800" i="0">
                        <a:solidFill>
                          <a:srgbClr val="000000"/>
                        </a:solidFill>
                        <a:latin typeface="Cambria Math" panose="02040503050406030204" pitchFamily="18" charset="0"/>
                      </a:rPr>
                      <m:t>intervention</m:t>
                    </m:r>
                    <m:r>
                      <m:rPr>
                        <m:nor/>
                      </m:rPr>
                      <a:rPr lang="en-US" sz="2800" b="0" i="0" smtClean="0">
                        <a:solidFill>
                          <a:srgbClr val="000000"/>
                        </a:solidFill>
                        <a:latin typeface="Cambria Math" panose="02040503050406030204" pitchFamily="18" charset="0"/>
                      </a:rPr>
                      <m:t> </m:t>
                    </m:r>
                    <m:r>
                      <m:rPr>
                        <m:nor/>
                      </m:rPr>
                      <a:rPr lang="en-US" sz="2800" i="0">
                        <a:solidFill>
                          <a:srgbClr val="000000"/>
                        </a:solidFill>
                        <a:latin typeface="Cambria Math" panose="02040503050406030204" pitchFamily="18" charset="0"/>
                      </a:rPr>
                      <m:t>effect</m:t>
                    </m:r>
                  </m:oMath>
                </a14:m>
                <a:endParaRPr lang="en-US" sz="2800" dirty="0"/>
              </a:p>
              <a:p>
                <a:pPr>
                  <a:spcAft>
                    <a:spcPts val="1200"/>
                  </a:spcAft>
                </a:pPr>
                <a:r>
                  <a:rPr lang="en-US" sz="2800" dirty="0">
                    <a:solidFill>
                      <a:schemeClr val="tx1"/>
                    </a:solidFill>
                  </a:rPr>
                  <a:t>The random effects are </a:t>
                </a:r>
                <a14:m>
                  <m:oMath xmlns:m="http://schemas.openxmlformats.org/officeDocument/2006/math">
                    <m:sSub>
                      <m:sSubPr>
                        <m:ctrlPr>
                          <a:rPr lang="en-US" sz="2800" i="1" smtClean="0">
                            <a:solidFill>
                              <a:schemeClr val="tx1"/>
                            </a:solidFill>
                            <a:latin typeface="Cambria Math" panose="02040503050406030204" pitchFamily="18" charset="0"/>
                          </a:rPr>
                        </m:ctrlPr>
                      </m:sSubPr>
                      <m:e>
                        <m:r>
                          <m:rPr>
                            <m:sty m:val="p"/>
                          </m:rPr>
                          <a:rPr lang="en-US" sz="2800" i="0">
                            <a:solidFill>
                              <a:schemeClr val="tx1"/>
                            </a:solidFill>
                            <a:latin typeface="Cambria Math" panose="02040503050406030204" pitchFamily="18" charset="0"/>
                          </a:rPr>
                          <m:t>b</m:t>
                        </m:r>
                      </m:e>
                      <m:sub>
                        <m:r>
                          <a:rPr lang="en-US" sz="2800" i="1">
                            <a:solidFill>
                              <a:schemeClr val="tx1"/>
                            </a:solidFill>
                            <a:latin typeface="Cambria Math" panose="02040503050406030204" pitchFamily="18" charset="0"/>
                          </a:rPr>
                          <m:t>𝑖</m:t>
                        </m:r>
                        <m:r>
                          <a:rPr lang="en-US" sz="2800" b="0" i="1" smtClean="0">
                            <a:solidFill>
                              <a:schemeClr val="tx1"/>
                            </a:solidFill>
                            <a:latin typeface="Cambria Math" panose="02040503050406030204" pitchFamily="18" charset="0"/>
                          </a:rPr>
                          <m:t>𝑘</m:t>
                        </m:r>
                      </m:sub>
                    </m:sSub>
                    <m:r>
                      <a:rPr lang="en-US" sz="2800" i="1">
                        <a:solidFill>
                          <a:schemeClr val="tx1"/>
                        </a:solidFill>
                        <a:latin typeface="Cambria Math" panose="02040503050406030204" pitchFamily="18" charset="0"/>
                      </a:rPr>
                      <m:t>~</m:t>
                    </m:r>
                    <m:r>
                      <m:rPr>
                        <m:sty m:val="p"/>
                      </m:rPr>
                      <a:rPr lang="en-US" sz="2800" i="1">
                        <a:solidFill>
                          <a:schemeClr val="tx1"/>
                        </a:solidFill>
                        <a:latin typeface="Cambria Math" panose="02040503050406030204" pitchFamily="18" charset="0"/>
                      </a:rPr>
                      <m:t>Ν</m:t>
                    </m:r>
                    <m:d>
                      <m:dPr>
                        <m:ctrlPr>
                          <a:rPr lang="en-US" sz="2800" i="1">
                            <a:solidFill>
                              <a:schemeClr val="tx1"/>
                            </a:solidFill>
                            <a:latin typeface="Cambria Math" panose="02040503050406030204" pitchFamily="18" charset="0"/>
                          </a:rPr>
                        </m:ctrlPr>
                      </m:dPr>
                      <m:e>
                        <m:r>
                          <a:rPr lang="en-US" sz="2800" i="1">
                            <a:solidFill>
                              <a:schemeClr val="tx1"/>
                            </a:solidFill>
                            <a:latin typeface="Cambria Math" panose="02040503050406030204" pitchFamily="18" charset="0"/>
                          </a:rPr>
                          <m:t>0,</m:t>
                        </m:r>
                        <m:sSubSup>
                          <m:sSubSupPr>
                            <m:ctrlPr>
                              <a:rPr lang="en-US" sz="2800" i="1">
                                <a:solidFill>
                                  <a:schemeClr val="tx1"/>
                                </a:solidFill>
                                <a:latin typeface="Cambria Math" panose="02040503050406030204" pitchFamily="18" charset="0"/>
                              </a:rPr>
                            </m:ctrlPr>
                          </m:sSubSupPr>
                          <m:e>
                            <m:r>
                              <a:rPr lang="en-US" sz="2800" i="1">
                                <a:solidFill>
                                  <a:schemeClr val="tx1"/>
                                </a:solidFill>
                                <a:latin typeface="Cambria Math" panose="02040503050406030204" pitchFamily="18" charset="0"/>
                              </a:rPr>
                              <m:t>𝜎</m:t>
                            </m:r>
                          </m:e>
                          <m:sub>
                            <m:r>
                              <a:rPr lang="en-US" sz="2800" i="1">
                                <a:solidFill>
                                  <a:schemeClr val="tx1"/>
                                </a:solidFill>
                                <a:latin typeface="Cambria Math" panose="02040503050406030204" pitchFamily="18" charset="0"/>
                              </a:rPr>
                              <m:t>𝐵</m:t>
                            </m:r>
                          </m:sub>
                          <m:sup>
                            <m:r>
                              <a:rPr lang="en-US" sz="2800" i="1">
                                <a:solidFill>
                                  <a:schemeClr val="tx1"/>
                                </a:solidFill>
                                <a:latin typeface="Cambria Math" panose="02040503050406030204" pitchFamily="18" charset="0"/>
                              </a:rPr>
                              <m:t>2</m:t>
                            </m:r>
                          </m:sup>
                        </m:sSubSup>
                      </m:e>
                    </m:d>
                  </m:oMath>
                </a14:m>
                <a:r>
                  <a:rPr lang="en-US" sz="2800" dirty="0"/>
                  <a:t> and </a:t>
                </a:r>
                <a14:m>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𝜀</m:t>
                        </m:r>
                      </m:e>
                      <m:sub>
                        <m:r>
                          <a:rPr lang="en-US" sz="2800" i="1">
                            <a:solidFill>
                              <a:schemeClr val="tx1"/>
                            </a:solidFill>
                            <a:latin typeface="Cambria Math" panose="02040503050406030204" pitchFamily="18" charset="0"/>
                          </a:rPr>
                          <m:t>𝑖</m:t>
                        </m:r>
                        <m:r>
                          <a:rPr lang="en-US" sz="2800" b="0" i="1" smtClean="0">
                            <a:solidFill>
                              <a:schemeClr val="tx1"/>
                            </a:solidFill>
                            <a:latin typeface="Cambria Math" panose="02040503050406030204" pitchFamily="18" charset="0"/>
                          </a:rPr>
                          <m:t>𝑘𝑗</m:t>
                        </m:r>
                      </m:sub>
                    </m:sSub>
                    <m:r>
                      <a:rPr lang="en-US" sz="2800" i="1">
                        <a:solidFill>
                          <a:schemeClr val="tx1"/>
                        </a:solidFill>
                        <a:latin typeface="Cambria Math" panose="02040503050406030204" pitchFamily="18" charset="0"/>
                      </a:rPr>
                      <m:t>~</m:t>
                    </m:r>
                    <m:r>
                      <m:rPr>
                        <m:sty m:val="p"/>
                      </m:rPr>
                      <a:rPr lang="en-US" sz="2800" i="1">
                        <a:solidFill>
                          <a:schemeClr val="tx1"/>
                        </a:solidFill>
                        <a:latin typeface="Cambria Math" panose="02040503050406030204" pitchFamily="18" charset="0"/>
                      </a:rPr>
                      <m:t>Ν</m:t>
                    </m:r>
                    <m:d>
                      <m:dPr>
                        <m:ctrlPr>
                          <a:rPr lang="en-US" sz="2800" i="1">
                            <a:solidFill>
                              <a:schemeClr val="tx1"/>
                            </a:solidFill>
                            <a:latin typeface="Cambria Math" panose="02040503050406030204" pitchFamily="18" charset="0"/>
                          </a:rPr>
                        </m:ctrlPr>
                      </m:dPr>
                      <m:e>
                        <m:r>
                          <a:rPr lang="en-US" sz="2800" i="1">
                            <a:solidFill>
                              <a:schemeClr val="tx1"/>
                            </a:solidFill>
                            <a:latin typeface="Cambria Math" panose="02040503050406030204" pitchFamily="18" charset="0"/>
                          </a:rPr>
                          <m:t>0,</m:t>
                        </m:r>
                        <m:sSubSup>
                          <m:sSubSupPr>
                            <m:ctrlPr>
                              <a:rPr lang="en-US" sz="2800" i="1">
                                <a:solidFill>
                                  <a:schemeClr val="tx1"/>
                                </a:solidFill>
                                <a:latin typeface="Cambria Math" panose="02040503050406030204" pitchFamily="18" charset="0"/>
                              </a:rPr>
                            </m:ctrlPr>
                          </m:sSubSupPr>
                          <m:e>
                            <m:r>
                              <a:rPr lang="en-US" sz="2800" i="1">
                                <a:solidFill>
                                  <a:schemeClr val="tx1"/>
                                </a:solidFill>
                                <a:latin typeface="Cambria Math" panose="02040503050406030204" pitchFamily="18" charset="0"/>
                              </a:rPr>
                              <m:t>𝜎</m:t>
                            </m:r>
                          </m:e>
                          <m:sub>
                            <m:r>
                              <a:rPr lang="en-US" sz="2800" i="1">
                                <a:solidFill>
                                  <a:schemeClr val="tx1"/>
                                </a:solidFill>
                                <a:latin typeface="Cambria Math" panose="02040503050406030204" pitchFamily="18" charset="0"/>
                              </a:rPr>
                              <m:t>𝑊</m:t>
                            </m:r>
                          </m:sub>
                          <m:sup>
                            <m:r>
                              <a:rPr lang="en-US" sz="2800" i="1">
                                <a:solidFill>
                                  <a:schemeClr val="tx1"/>
                                </a:solidFill>
                                <a:latin typeface="Cambria Math" panose="02040503050406030204" pitchFamily="18" charset="0"/>
                              </a:rPr>
                              <m:t>2</m:t>
                            </m:r>
                          </m:sup>
                        </m:sSubSup>
                      </m:e>
                    </m:d>
                  </m:oMath>
                </a14:m>
                <a:r>
                  <a:rPr lang="en-US" sz="2800" dirty="0"/>
                  <a:t> giving</a:t>
                </a:r>
              </a:p>
              <a:p>
                <a:pPr>
                  <a:spcAft>
                    <a:spcPts val="1200"/>
                  </a:spcAft>
                </a:pPr>
                <a14:m>
                  <m:oMathPara xmlns:m="http://schemas.openxmlformats.org/officeDocument/2006/math">
                    <m:oMathParaPr>
                      <m:jc m:val="left"/>
                    </m:oMathParaPr>
                    <m:oMath xmlns:m="http://schemas.openxmlformats.org/officeDocument/2006/math">
                      <m:r>
                        <a:rPr lang="en-US" sz="2800" i="1" smtClean="0">
                          <a:solidFill>
                            <a:srgbClr val="000000"/>
                          </a:solidFill>
                          <a:latin typeface="Cambria Math" panose="02040503050406030204" pitchFamily="18" charset="0"/>
                        </a:rPr>
                        <m:t>𝜌</m:t>
                      </m:r>
                      <m:r>
                        <a:rPr lang="en-US" sz="2800" i="1" smtClean="0">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sSubSup>
                            <m:sSubSupPr>
                              <m:ctrlPr>
                                <a:rPr lang="en-US" sz="2800" i="1">
                                  <a:solidFill>
                                    <a:srgbClr val="000000"/>
                                  </a:solidFill>
                                  <a:latin typeface="Cambria Math" panose="02040503050406030204" pitchFamily="18" charset="0"/>
                                </a:rPr>
                              </m:ctrlPr>
                            </m:sSubSupPr>
                            <m:e>
                              <m:r>
                                <a:rPr lang="en-US" sz="2800" i="1">
                                  <a:solidFill>
                                    <a:srgbClr val="000000"/>
                                  </a:solidFill>
                                  <a:latin typeface="Cambria Math" panose="02040503050406030204" pitchFamily="18" charset="0"/>
                                </a:rPr>
                                <m:t>𝜎</m:t>
                              </m:r>
                            </m:e>
                            <m:sub>
                              <m:r>
                                <a:rPr lang="en-US" sz="2800" i="1">
                                  <a:solidFill>
                                    <a:srgbClr val="000000"/>
                                  </a:solidFill>
                                  <a:latin typeface="Cambria Math" panose="02040503050406030204" pitchFamily="18" charset="0"/>
                                </a:rPr>
                                <m:t>𝐵</m:t>
                              </m:r>
                            </m:sub>
                            <m:sup>
                              <m:r>
                                <a:rPr lang="en-US" sz="2800" i="1">
                                  <a:solidFill>
                                    <a:srgbClr val="000000"/>
                                  </a:solidFill>
                                  <a:latin typeface="Cambria Math" panose="02040503050406030204" pitchFamily="18" charset="0"/>
                                </a:rPr>
                                <m:t>2</m:t>
                              </m:r>
                            </m:sup>
                          </m:sSubSup>
                        </m:num>
                        <m:den>
                          <m:sSubSup>
                            <m:sSubSupPr>
                              <m:ctrlPr>
                                <a:rPr lang="en-US" sz="2800" i="1">
                                  <a:solidFill>
                                    <a:srgbClr val="000000"/>
                                  </a:solidFill>
                                  <a:latin typeface="Cambria Math" panose="02040503050406030204" pitchFamily="18" charset="0"/>
                                </a:rPr>
                              </m:ctrlPr>
                            </m:sSubSupPr>
                            <m:e>
                              <m:r>
                                <a:rPr lang="en-US" sz="2800" i="1">
                                  <a:solidFill>
                                    <a:srgbClr val="000000"/>
                                  </a:solidFill>
                                  <a:latin typeface="Cambria Math" panose="02040503050406030204" pitchFamily="18" charset="0"/>
                                </a:rPr>
                                <m:t>𝜎</m:t>
                              </m:r>
                            </m:e>
                            <m:sub>
                              <m:r>
                                <a:rPr lang="en-US" sz="2800" i="1">
                                  <a:solidFill>
                                    <a:srgbClr val="000000"/>
                                  </a:solidFill>
                                  <a:latin typeface="Cambria Math" panose="02040503050406030204" pitchFamily="18" charset="0"/>
                                </a:rPr>
                                <m:t>𝐵</m:t>
                              </m:r>
                            </m:sub>
                            <m:sup>
                              <m:r>
                                <a:rPr lang="en-US" sz="2800" i="1">
                                  <a:solidFill>
                                    <a:srgbClr val="000000"/>
                                  </a:solidFill>
                                  <a:latin typeface="Cambria Math" panose="02040503050406030204" pitchFamily="18" charset="0"/>
                                </a:rPr>
                                <m:t>2</m:t>
                              </m:r>
                            </m:sup>
                          </m:sSubSup>
                          <m:r>
                            <a:rPr lang="en-US" sz="2800" i="1">
                              <a:solidFill>
                                <a:srgbClr val="000000"/>
                              </a:solidFill>
                              <a:latin typeface="Cambria Math" panose="02040503050406030204" pitchFamily="18" charset="0"/>
                            </a:rPr>
                            <m:t>+</m:t>
                          </m:r>
                          <m:sSubSup>
                            <m:sSubSupPr>
                              <m:ctrlPr>
                                <a:rPr lang="en-US" sz="2800" i="1">
                                  <a:solidFill>
                                    <a:srgbClr val="000000"/>
                                  </a:solidFill>
                                  <a:latin typeface="Cambria Math" panose="02040503050406030204" pitchFamily="18" charset="0"/>
                                </a:rPr>
                              </m:ctrlPr>
                            </m:sSubSupPr>
                            <m:e>
                              <m:r>
                                <a:rPr lang="en-US" sz="2800" i="1">
                                  <a:solidFill>
                                    <a:srgbClr val="000000"/>
                                  </a:solidFill>
                                  <a:latin typeface="Cambria Math" panose="02040503050406030204" pitchFamily="18" charset="0"/>
                                </a:rPr>
                                <m:t>𝜎</m:t>
                              </m:r>
                            </m:e>
                            <m:sub>
                              <m:r>
                                <a:rPr lang="en-US" sz="2800" i="1">
                                  <a:solidFill>
                                    <a:srgbClr val="000000"/>
                                  </a:solidFill>
                                  <a:latin typeface="Cambria Math" panose="02040503050406030204" pitchFamily="18" charset="0"/>
                                </a:rPr>
                                <m:t>𝑊</m:t>
                              </m:r>
                            </m:sub>
                            <m:sup>
                              <m:r>
                                <a:rPr lang="en-US" sz="2800" i="1">
                                  <a:solidFill>
                                    <a:srgbClr val="000000"/>
                                  </a:solidFill>
                                  <a:latin typeface="Cambria Math" panose="02040503050406030204" pitchFamily="18" charset="0"/>
                                </a:rPr>
                                <m:t>2</m:t>
                              </m:r>
                            </m:sup>
                          </m:sSubSup>
                        </m:den>
                      </m:f>
                    </m:oMath>
                  </m:oMathPara>
                </a14:m>
                <a:endParaRPr lang="en-US" sz="2800" dirty="0"/>
              </a:p>
              <a:p>
                <a:pPr>
                  <a:spcAft>
                    <a:spcPts val="1200"/>
                  </a:spcAft>
                  <a:buBlip>
                    <a:blip r:embed="rId4"/>
                  </a:buBlip>
                </a:pPr>
                <a:r>
                  <a:rPr lang="en-US" altLang="en-US" sz="2800" dirty="0"/>
                  <a:t> The random effects </a:t>
                </a:r>
                <a14:m>
                  <m:oMath xmlns:m="http://schemas.openxmlformats.org/officeDocument/2006/math">
                    <m:sSub>
                      <m:sSubPr>
                        <m:ctrlPr>
                          <a:rPr lang="en-US" sz="2800" i="1" smtClean="0">
                            <a:solidFill>
                              <a:schemeClr val="tx1"/>
                            </a:solidFill>
                            <a:latin typeface="Cambria Math" panose="02040503050406030204" pitchFamily="18" charset="0"/>
                          </a:rPr>
                        </m:ctrlPr>
                      </m:sSubPr>
                      <m:e>
                        <m:r>
                          <m:rPr>
                            <m:sty m:val="p"/>
                          </m:rPr>
                          <a:rPr lang="en-US" sz="2800" i="0" smtClean="0">
                            <a:solidFill>
                              <a:schemeClr val="tx1"/>
                            </a:solidFill>
                            <a:latin typeface="Cambria Math" panose="02040503050406030204" pitchFamily="18" charset="0"/>
                          </a:rPr>
                          <m:t>b</m:t>
                        </m:r>
                      </m:e>
                      <m:sub>
                        <m:r>
                          <a:rPr lang="en-US" sz="2800" i="1">
                            <a:solidFill>
                              <a:schemeClr val="tx1"/>
                            </a:solidFill>
                            <a:latin typeface="Cambria Math" panose="02040503050406030204" pitchFamily="18" charset="0"/>
                          </a:rPr>
                          <m:t>𝑖</m:t>
                        </m:r>
                        <m:r>
                          <a:rPr lang="en-US" sz="2800" b="0" i="1" smtClean="0">
                            <a:solidFill>
                              <a:schemeClr val="tx1"/>
                            </a:solidFill>
                            <a:latin typeface="Cambria Math" panose="02040503050406030204" pitchFamily="18" charset="0"/>
                          </a:rPr>
                          <m:t>𝑘</m:t>
                        </m:r>
                      </m:sub>
                    </m:sSub>
                  </m:oMath>
                </a14:m>
                <a:r>
                  <a:rPr lang="en-US" altLang="en-US" sz="2800" dirty="0"/>
                  <a:t> and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𝜀</m:t>
                        </m:r>
                      </m:e>
                      <m:sub>
                        <m:r>
                          <a:rPr lang="en-US" sz="2800" i="1">
                            <a:latin typeface="Cambria Math" panose="02040503050406030204" pitchFamily="18" charset="0"/>
                          </a:rPr>
                          <m:t>𝑖𝑘</m:t>
                        </m:r>
                        <m:r>
                          <a:rPr lang="en-US" sz="2800" b="0" i="1" smtClean="0">
                            <a:latin typeface="Cambria Math" panose="02040503050406030204" pitchFamily="18" charset="0"/>
                          </a:rPr>
                          <m:t>𝑗</m:t>
                        </m:r>
                      </m:sub>
                    </m:sSub>
                  </m:oMath>
                </a14:m>
                <a:r>
                  <a:rPr lang="en-US" altLang="en-US" sz="2800" dirty="0"/>
                  <a:t> are assumed to be independent, except for </a:t>
                </a:r>
                <a14:m>
                  <m:oMath xmlns:m="http://schemas.openxmlformats.org/officeDocument/2006/math">
                    <m:sSub>
                      <m:sSubPr>
                        <m:ctrlPr>
                          <a:rPr lang="en-US" sz="2800" i="1">
                            <a:latin typeface="Cambria Math" panose="02040503050406030204" pitchFamily="18" charset="0"/>
                          </a:rPr>
                        </m:ctrlPr>
                      </m:sSubPr>
                      <m:e>
                        <m:r>
                          <m:rPr>
                            <m:sty m:val="p"/>
                          </m:rPr>
                          <a:rPr lang="en-US" sz="2800">
                            <a:latin typeface="Cambria Math" panose="02040503050406030204" pitchFamily="18" charset="0"/>
                          </a:rPr>
                          <m:t>b</m:t>
                        </m:r>
                      </m:e>
                      <m:sub>
                        <m:r>
                          <a:rPr lang="en-US" sz="2800" i="1">
                            <a:latin typeface="Cambria Math" panose="02040503050406030204" pitchFamily="18" charset="0"/>
                          </a:rPr>
                          <m:t>𝑖𝑘</m:t>
                        </m:r>
                      </m:sub>
                    </m:sSub>
                  </m:oMath>
                </a14:m>
                <a:r>
                  <a:rPr lang="en-US" altLang="en-US" sz="2800" dirty="0"/>
                  <a:t> within the same cluster, as assumed in slides 26-27. </a:t>
                </a:r>
              </a:p>
              <a:p>
                <a:pPr eaLnBrk="1" hangingPunct="1">
                  <a:spcAft>
                    <a:spcPts val="1200"/>
                  </a:spcAft>
                  <a:buFontTx/>
                  <a:buBlip>
                    <a:blip r:embed="rId4"/>
                  </a:buBlip>
                </a:pPr>
                <a:r>
                  <a:rPr lang="en-US" altLang="en-US" sz="2800" dirty="0"/>
                  <a:t> Estimation and inference may be obtained using procedure PROC MIXED or PROC GENMOD in SAS</a:t>
                </a:r>
                <a:r>
                  <a:rPr lang="en-US" altLang="en-US" dirty="0"/>
                  <a:t>.</a:t>
                </a:r>
              </a:p>
              <a:p>
                <a:pPr>
                  <a:spcAft>
                    <a:spcPts val="1200"/>
                  </a:spcAft>
                  <a:buBlip>
                    <a:blip r:embed="rId4"/>
                  </a:buBlip>
                </a:pPr>
                <a:r>
                  <a:rPr lang="en-US" altLang="en-US" sz="2800" dirty="0"/>
                  <a:t> Or using </a:t>
                </a:r>
                <a:r>
                  <a:rPr lang="en-US" altLang="en-US" sz="2800" dirty="0" err="1">
                    <a:latin typeface="Courier New" panose="02070309020205020404" pitchFamily="49" charset="0"/>
                    <a:cs typeface="Courier New" panose="02070309020205020404" pitchFamily="49" charset="0"/>
                  </a:rPr>
                  <a:t>glmer</a:t>
                </a:r>
                <a:r>
                  <a:rPr lang="en-US" altLang="en-US" sz="2800" dirty="0">
                    <a:latin typeface="Courier New" panose="02070309020205020404" pitchFamily="49" charset="0"/>
                    <a:cs typeface="Courier New" panose="02070309020205020404" pitchFamily="49" charset="0"/>
                  </a:rPr>
                  <a:t>()</a:t>
                </a:r>
                <a:r>
                  <a:rPr lang="en-US" altLang="en-US" sz="2800" dirty="0"/>
                  <a:t> in </a:t>
                </a:r>
                <a:r>
                  <a:rPr lang="en-US" altLang="en-US" sz="2800" dirty="0">
                    <a:latin typeface="Courier New" panose="02070309020205020404" pitchFamily="49" charset="0"/>
                    <a:cs typeface="Courier New" panose="02070309020205020404" pitchFamily="49" charset="0"/>
                  </a:rPr>
                  <a:t>lme4</a:t>
                </a:r>
                <a:r>
                  <a:rPr lang="en-US" altLang="en-US" sz="2800" dirty="0"/>
                  <a:t> package in R.</a:t>
                </a:r>
                <a:endParaRPr lang="en-CA" altLang="en-US" sz="2800" dirty="0"/>
              </a:p>
              <a:p>
                <a:pPr eaLnBrk="1" hangingPunct="1">
                  <a:spcAft>
                    <a:spcPts val="1200"/>
                  </a:spcAft>
                  <a:buFontTx/>
                  <a:buBlip>
                    <a:blip r:embed="rId4"/>
                  </a:buBlip>
                </a:pPr>
                <a:endParaRPr lang="en-CA" altLang="en-US" sz="2800" dirty="0"/>
              </a:p>
              <a:p>
                <a:endParaRPr lang="en-US" dirty="0"/>
              </a:p>
            </p:txBody>
          </p:sp>
        </mc:Choice>
        <mc:Fallback xmlns="">
          <p:sp>
            <p:nvSpPr>
              <p:cNvPr id="2" name="TextBox 1">
                <a:extLst>
                  <a:ext uri="{FF2B5EF4-FFF2-40B4-BE49-F238E27FC236}">
                    <a16:creationId xmlns:a16="http://schemas.microsoft.com/office/drawing/2014/main" id="{4EE1A0EC-944A-4F0D-BF57-ADE4BFED50FD}"/>
                  </a:ext>
                </a:extLst>
              </p:cNvPr>
              <p:cNvSpPr txBox="1">
                <a:spLocks noRot="1" noChangeAspect="1" noMove="1" noResize="1" noEditPoints="1" noAdjustHandles="1" noChangeArrowheads="1" noChangeShapeType="1" noTextEdit="1"/>
              </p:cNvSpPr>
              <p:nvPr/>
            </p:nvSpPr>
            <p:spPr>
              <a:xfrm>
                <a:off x="1257643" y="1552929"/>
                <a:ext cx="10540314" cy="5955476"/>
              </a:xfrm>
              <a:prstGeom prst="rect">
                <a:avLst/>
              </a:prstGeom>
              <a:blipFill>
                <a:blip r:embed="rId5"/>
                <a:stretch>
                  <a:fillRect l="-1157" t="-1024"/>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7E112929-A7CB-ECB9-70BF-9CA0715BE84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FE63E16-6FC1-2E48-799B-60C9AAFC20A2}"/>
              </a:ext>
            </a:extLst>
          </p:cNvPr>
          <p:cNvSpPr>
            <a:spLocks noGrp="1"/>
          </p:cNvSpPr>
          <p:nvPr>
            <p:ph type="sldNum" sz="quarter" idx="12"/>
          </p:nvPr>
        </p:nvSpPr>
        <p:spPr/>
        <p:txBody>
          <a:bodyPr/>
          <a:lstStyle/>
          <a:p>
            <a:fld id="{77C6A7FE-225D-49F1-B302-AA37EA92BB49}" type="slidenum">
              <a:rPr lang="en-US" smtClean="0"/>
              <a:t>92</a:t>
            </a:fld>
            <a:endParaRPr lang="en-US"/>
          </a:p>
        </p:txBody>
      </p:sp>
    </p:spTree>
    <p:extLst>
      <p:ext uri="{BB962C8B-B14F-4D97-AF65-F5344CB8AC3E}">
        <p14:creationId xmlns:p14="http://schemas.microsoft.com/office/powerpoint/2010/main" val="366687465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Relationship between Mixed Effects Linear Regression and Multilevel Modelling</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719EA30-1FD2-43C0-8E82-D6D9C7973B6B}"/>
                  </a:ext>
                </a:extLst>
              </p:cNvPr>
              <p:cNvSpPr txBox="1"/>
              <p:nvPr/>
            </p:nvSpPr>
            <p:spPr>
              <a:xfrm>
                <a:off x="308919" y="1541671"/>
                <a:ext cx="11883081" cy="5600892"/>
              </a:xfrm>
              <a:prstGeom prst="rect">
                <a:avLst/>
              </a:prstGeom>
              <a:noFill/>
            </p:spPr>
            <p:txBody>
              <a:bodyPr wrap="square" rtlCol="0">
                <a:spAutoFit/>
              </a:bodyPr>
              <a:lstStyle/>
              <a:p>
                <a:pPr eaLnBrk="1" hangingPunct="1"/>
                <a:r>
                  <a:rPr lang="en-US" altLang="en-US" sz="2800" dirty="0"/>
                  <a:t>The mixed effects linear regression model can also be expressed as a multilevel model:</a:t>
                </a:r>
              </a:p>
              <a:p>
                <a:pPr eaLnBrk="1" hangingPunct="1">
                  <a:buFontTx/>
                  <a:buBlip>
                    <a:blip r:embed="rId4"/>
                  </a:buBlip>
                </a:pPr>
                <a:endParaRPr lang="en-US" altLang="en-US" sz="2800" dirty="0"/>
              </a:p>
              <a:p>
                <a:r>
                  <a:rPr lang="en-US" altLang="en-US" sz="2800" dirty="0"/>
                  <a:t> </a:t>
                </a:r>
                <a14:m>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𝑌</m:t>
                        </m:r>
                      </m:e>
                      <m:sub>
                        <m:r>
                          <a:rPr lang="en-US" sz="2800" i="1">
                            <a:solidFill>
                              <a:schemeClr val="tx1"/>
                            </a:solidFill>
                            <a:latin typeface="Cambria Math" panose="02040503050406030204" pitchFamily="18" charset="0"/>
                          </a:rPr>
                          <m:t>𝑖</m:t>
                        </m:r>
                        <m:r>
                          <a:rPr lang="en-US" sz="2800" b="0" i="1" smtClean="0">
                            <a:solidFill>
                              <a:schemeClr val="tx1"/>
                            </a:solidFill>
                            <a:latin typeface="Cambria Math" panose="02040503050406030204" pitchFamily="18" charset="0"/>
                          </a:rPr>
                          <m:t>𝑘𝑗</m:t>
                        </m:r>
                      </m:sub>
                    </m:sSub>
                    <m:r>
                      <a:rPr lang="en-US" sz="280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𝛽</m:t>
                        </m:r>
                      </m:e>
                      <m:sub>
                        <m:sSub>
                          <m:sSubPr>
                            <m:ctrlPr>
                              <a:rPr lang="en-US" sz="2800" i="1" smtClean="0">
                                <a:solidFill>
                                  <a:schemeClr val="tx1"/>
                                </a:solidFill>
                                <a:latin typeface="Cambria Math" panose="02040503050406030204" pitchFamily="18" charset="0"/>
                              </a:rPr>
                            </m:ctrlPr>
                          </m:sSubPr>
                          <m:e>
                            <m:r>
                              <a:rPr lang="en-US" altLang="zh-CN" sz="2800" b="0" i="1" smtClean="0">
                                <a:solidFill>
                                  <a:schemeClr val="tx1"/>
                                </a:solidFill>
                                <a:latin typeface="Cambria Math" panose="02040503050406030204" pitchFamily="18" charset="0"/>
                              </a:rPr>
                              <m:t>0</m:t>
                            </m:r>
                          </m:e>
                          <m:sub>
                            <m:r>
                              <m:rPr>
                                <m:sty m:val="p"/>
                              </m:rPr>
                              <a:rPr lang="en-US" sz="2800" i="1">
                                <a:latin typeface="Cambria Math" panose="02040503050406030204" pitchFamily="18" charset="0"/>
                              </a:rPr>
                              <m:t>ik</m:t>
                            </m:r>
                          </m:sub>
                        </m:sSub>
                      </m:sub>
                    </m:sSub>
                    <m:r>
                      <a:rPr lang="en-US" sz="280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sSup>
                          <m:sSupPr>
                            <m:ctrlPr>
                              <a:rPr lang="en-US" sz="2800" i="1" smtClean="0">
                                <a:solidFill>
                                  <a:schemeClr val="tx1"/>
                                </a:solidFill>
                                <a:latin typeface="Cambria Math" panose="02040503050406030204" pitchFamily="18" charset="0"/>
                              </a:rPr>
                            </m:ctrlPr>
                          </m:sSupPr>
                          <m:e>
                            <m:r>
                              <a:rPr lang="en-US" sz="2800" i="1">
                                <a:latin typeface="Cambria Math" panose="02040503050406030204" pitchFamily="18" charset="0"/>
                              </a:rPr>
                              <m:t>𝛽</m:t>
                            </m:r>
                          </m:e>
                          <m:sup>
                            <m:r>
                              <a:rPr lang="en-US" sz="2800" b="0" i="1" smtClean="0">
                                <a:solidFill>
                                  <a:schemeClr val="tx1"/>
                                </a:solidFill>
                                <a:latin typeface="Cambria Math" panose="02040503050406030204" pitchFamily="18" charset="0"/>
                              </a:rPr>
                              <m:t>∗</m:t>
                            </m:r>
                          </m:sup>
                        </m:sSup>
                      </m:e>
                      <m:sub>
                        <m:r>
                          <a:rPr lang="en-US" sz="2800" b="0" i="1" smtClean="0">
                            <a:solidFill>
                              <a:schemeClr val="tx1"/>
                            </a:solidFill>
                            <a:latin typeface="Cambria Math" panose="02040503050406030204" pitchFamily="18" charset="0"/>
                          </a:rPr>
                          <m:t>𝑖𝑘</m:t>
                        </m:r>
                      </m:sub>
                    </m:sSub>
                    <m:sSub>
                      <m:sSubPr>
                        <m:ctrlPr>
                          <a:rPr lang="en-US" sz="2800" i="1" smtClean="0">
                            <a:solidFill>
                              <a:schemeClr val="tx1"/>
                            </a:solidFill>
                            <a:latin typeface="Cambria Math" panose="02040503050406030204" pitchFamily="18" charset="0"/>
                          </a:rPr>
                        </m:ctrlPr>
                      </m:sSubPr>
                      <m:e>
                        <m:r>
                          <m:rPr>
                            <m:sty m:val="p"/>
                          </m:rPr>
                          <a:rPr lang="en-US" sz="2800" i="1">
                            <a:solidFill>
                              <a:schemeClr val="tx1"/>
                            </a:solidFill>
                            <a:latin typeface="Cambria Math" panose="02040503050406030204" pitchFamily="18" charset="0"/>
                          </a:rPr>
                          <m:t>Χ</m:t>
                        </m:r>
                      </m:e>
                      <m:sub>
                        <m:r>
                          <a:rPr lang="en-US" sz="2800" i="1">
                            <a:solidFill>
                              <a:schemeClr val="tx1"/>
                            </a:solidFill>
                            <a:latin typeface="Cambria Math" panose="02040503050406030204" pitchFamily="18" charset="0"/>
                          </a:rPr>
                          <m:t>𝑖</m:t>
                        </m:r>
                        <m:r>
                          <a:rPr lang="en-US" sz="2800" b="0" i="1" smtClean="0">
                            <a:solidFill>
                              <a:schemeClr val="tx1"/>
                            </a:solidFill>
                            <a:latin typeface="Cambria Math" panose="02040503050406030204" pitchFamily="18" charset="0"/>
                          </a:rPr>
                          <m:t>𝑘𝑗</m:t>
                        </m:r>
                      </m:sub>
                    </m:sSub>
                    <m:r>
                      <a:rPr lang="en-US" sz="280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𝜀</m:t>
                        </m:r>
                      </m:e>
                      <m:sub>
                        <m:r>
                          <a:rPr lang="en-US" sz="2800" i="1">
                            <a:solidFill>
                              <a:schemeClr val="tx1"/>
                            </a:solidFill>
                            <a:latin typeface="Cambria Math" panose="02040503050406030204" pitchFamily="18" charset="0"/>
                          </a:rPr>
                          <m:t>𝑖</m:t>
                        </m:r>
                        <m:r>
                          <a:rPr lang="en-US" sz="2800" b="0" i="1" smtClean="0">
                            <a:solidFill>
                              <a:schemeClr val="tx1"/>
                            </a:solidFill>
                            <a:latin typeface="Cambria Math" panose="02040503050406030204" pitchFamily="18" charset="0"/>
                          </a:rPr>
                          <m:t>𝑘𝑗</m:t>
                        </m:r>
                      </m:sub>
                    </m:sSub>
                    <m:r>
                      <a:rPr lang="en-US" sz="2800" b="0" i="0" smtClean="0">
                        <a:solidFill>
                          <a:schemeClr val="tx1"/>
                        </a:solidFill>
                        <a:latin typeface="Cambria Math" panose="02040503050406030204" pitchFamily="18" charset="0"/>
                      </a:rPr>
                      <m:t>,  </m:t>
                    </m:r>
                    <m:r>
                      <a:rPr lang="en-US" sz="2800" b="0" i="1" smtClean="0">
                        <a:solidFill>
                          <a:schemeClr val="tx1"/>
                        </a:solidFill>
                        <a:latin typeface="Cambria Math" panose="02040503050406030204" pitchFamily="18" charset="0"/>
                      </a:rPr>
                      <m:t>𝑖</m:t>
                    </m:r>
                    <m:r>
                      <a:rPr lang="en-US" sz="2800" b="0" i="0" smtClean="0">
                        <a:solidFill>
                          <a:schemeClr val="tx1"/>
                        </a:solidFill>
                        <a:latin typeface="Cambria Math" panose="02040503050406030204" pitchFamily="18" charset="0"/>
                      </a:rPr>
                      <m:t>=1,2;</m:t>
                    </m:r>
                    <m:r>
                      <a:rPr lang="en-US" sz="2800" b="0" i="1" smtClean="0">
                        <a:solidFill>
                          <a:schemeClr val="tx1"/>
                        </a:solidFill>
                        <a:latin typeface="Cambria Math" panose="02040503050406030204" pitchFamily="18" charset="0"/>
                      </a:rPr>
                      <m:t>𝑘</m:t>
                    </m:r>
                    <m:r>
                      <a:rPr lang="en-US" sz="2800" b="0" i="1" smtClean="0">
                        <a:solidFill>
                          <a:schemeClr val="tx1"/>
                        </a:solidFill>
                        <a:latin typeface="Cambria Math" panose="02040503050406030204" pitchFamily="18" charset="0"/>
                      </a:rPr>
                      <m:t>=1,</m:t>
                    </m:r>
                    <m:r>
                      <a:rPr lang="en-US" sz="2800" b="0" i="1" smtClean="0">
                        <a:solidFill>
                          <a:schemeClr val="tx1"/>
                        </a:solidFill>
                        <a:latin typeface="Cambria Math" panose="02040503050406030204" pitchFamily="18" charset="0"/>
                      </a:rPr>
                      <m:t>𝐾</m:t>
                    </m:r>
                  </m:oMath>
                </a14:m>
                <a:r>
                  <a:rPr lang="en-US" altLang="en-US" sz="2800" dirty="0"/>
                  <a:t>	</a:t>
                </a:r>
                <a:r>
                  <a:rPr lang="en-US" altLang="en-US" sz="2800" b="1" dirty="0"/>
                  <a:t>(Level 1)</a:t>
                </a:r>
              </a:p>
              <a:p>
                <a:r>
                  <a:rPr lang="en-US" altLang="en-US" sz="2800" dirty="0"/>
                  <a:t>       Run a regression within each cluster </a:t>
                </a:r>
                <a:r>
                  <a:rPr lang="en-US" altLang="en-US" sz="2800" i="1" dirty="0">
                    <a:latin typeface="Cambria Math" panose="02040503050406030204" pitchFamily="18" charset="0"/>
                    <a:ea typeface="Cambria Math" panose="02040503050406030204" pitchFamily="18" charset="0"/>
                  </a:rPr>
                  <a:t>k,  k=1,…,K</a:t>
                </a:r>
                <a:r>
                  <a:rPr lang="en-US" altLang="en-US" sz="2800" dirty="0">
                    <a:latin typeface="Cambria Math" panose="02040503050406030204" pitchFamily="18" charset="0"/>
                    <a:ea typeface="Cambria Math" panose="02040503050406030204" pitchFamily="18" charset="0"/>
                  </a:rPr>
                  <a:t>,</a:t>
                </a:r>
                <a:r>
                  <a:rPr lang="en-US" altLang="en-US" sz="2800" dirty="0"/>
                  <a:t> to get an estimate of </a:t>
                </a:r>
                <a14:m>
                  <m:oMath xmlns:m="http://schemas.openxmlformats.org/officeDocument/2006/math">
                    <m:sSub>
                      <m:sSubPr>
                        <m:ctrlPr>
                          <a:rPr lang="en-US" altLang="en-US" sz="2800" i="1" smtClean="0">
                            <a:latin typeface="Cambria Math" panose="02040503050406030204" pitchFamily="18" charset="0"/>
                          </a:rPr>
                        </m:ctrlPr>
                      </m:sSubPr>
                      <m:e>
                        <m:acc>
                          <m:accPr>
                            <m:chr m:val="̂"/>
                            <m:ctrlPr>
                              <a:rPr lang="en-US" altLang="en-US" sz="2800" i="1" smtClean="0">
                                <a:latin typeface="Cambria Math" panose="02040503050406030204" pitchFamily="18" charset="0"/>
                              </a:rPr>
                            </m:ctrlPr>
                          </m:accPr>
                          <m:e>
                            <m:r>
                              <a:rPr lang="en-US" altLang="en-US" sz="2800" i="1" smtClean="0">
                                <a:latin typeface="Cambria Math" panose="02040503050406030204" pitchFamily="18" charset="0"/>
                                <a:ea typeface="Cambria Math" panose="02040503050406030204" pitchFamily="18" charset="0"/>
                              </a:rPr>
                              <m:t>𝛽</m:t>
                            </m:r>
                          </m:e>
                        </m:acc>
                      </m:e>
                      <m:sub>
                        <m:r>
                          <a:rPr lang="en-US" altLang="en-US" sz="2800" b="0" i="1" smtClean="0">
                            <a:latin typeface="Cambria Math" panose="02040503050406030204" pitchFamily="18" charset="0"/>
                          </a:rPr>
                          <m:t>1</m:t>
                        </m:r>
                        <m:r>
                          <a:rPr lang="en-US" altLang="en-US" sz="2800" b="0" i="1" smtClean="0">
                            <a:latin typeface="Cambria Math" panose="02040503050406030204" pitchFamily="18" charset="0"/>
                          </a:rPr>
                          <m:t>𝑖𝑘</m:t>
                        </m:r>
                      </m:sub>
                    </m:sSub>
                  </m:oMath>
                </a14:m>
                <a:endParaRPr lang="en-US" altLang="en-US" sz="2800" dirty="0"/>
              </a:p>
              <a:p>
                <a:endParaRPr lang="en-US" altLang="en-US" sz="2800" dirty="0"/>
              </a:p>
              <a:p>
                <a14:m>
                  <m:oMath xmlns:m="http://schemas.openxmlformats.org/officeDocument/2006/math">
                    <m:sSub>
                      <m:sSubPr>
                        <m:ctrlPr>
                          <a:rPr lang="en-US" sz="2800" i="1">
                            <a:latin typeface="Cambria Math" panose="02040503050406030204" pitchFamily="18" charset="0"/>
                          </a:rPr>
                        </m:ctrlPr>
                      </m:sSubPr>
                      <m:e>
                        <m:sSup>
                          <m:sSupPr>
                            <m:ctrlPr>
                              <a:rPr lang="en-US" sz="2800" i="1">
                                <a:latin typeface="Cambria Math" panose="02040503050406030204" pitchFamily="18" charset="0"/>
                              </a:rPr>
                            </m:ctrlPr>
                          </m:sSupPr>
                          <m:e>
                            <m:acc>
                              <m:accPr>
                                <m:chr m:val="̂"/>
                                <m:ctrlPr>
                                  <a:rPr lang="en-US" sz="2800" i="1" smtClean="0">
                                    <a:latin typeface="Cambria Math" panose="02040503050406030204" pitchFamily="18" charset="0"/>
                                  </a:rPr>
                                </m:ctrlPr>
                              </m:accPr>
                              <m:e>
                                <m:r>
                                  <a:rPr lang="en-US" sz="2800" i="1">
                                    <a:latin typeface="Cambria Math" panose="02040503050406030204" pitchFamily="18" charset="0"/>
                                  </a:rPr>
                                  <m:t>𝛽</m:t>
                                </m:r>
                              </m:e>
                            </m:acc>
                          </m:e>
                          <m:sup>
                            <m:r>
                              <a:rPr lang="en-US" sz="2800" i="1">
                                <a:latin typeface="Cambria Math" panose="02040503050406030204" pitchFamily="18" charset="0"/>
                              </a:rPr>
                              <m:t>∗</m:t>
                            </m:r>
                          </m:sup>
                        </m:sSup>
                      </m:e>
                      <m:sub>
                        <m:r>
                          <a:rPr lang="en-US" sz="2800" i="1">
                            <a:latin typeface="Cambria Math" panose="02040503050406030204" pitchFamily="18" charset="0"/>
                          </a:rPr>
                          <m:t>𝑖𝑘</m:t>
                        </m:r>
                      </m:sub>
                    </m:sSub>
                    <m:r>
                      <a:rPr lang="en-US" sz="2800" b="0" i="1" smtClean="0">
                        <a:solidFill>
                          <a:schemeClr val="tx1"/>
                        </a:solidFill>
                        <a:latin typeface="Cambria Math" panose="02040503050406030204" pitchFamily="18" charset="0"/>
                      </a:rPr>
                      <m:t>=</m:t>
                    </m:r>
                    <m:sSub>
                      <m:sSubPr>
                        <m:ctrlPr>
                          <a:rPr lang="en-US" sz="2800" i="1">
                            <a:latin typeface="Cambria Math" panose="02040503050406030204" pitchFamily="18" charset="0"/>
                          </a:rPr>
                        </m:ctrlPr>
                      </m:sSubPr>
                      <m:e>
                        <m:sSup>
                          <m:sSupPr>
                            <m:ctrlPr>
                              <a:rPr lang="en-US" sz="2800" i="1">
                                <a:latin typeface="Cambria Math" panose="02040503050406030204" pitchFamily="18" charset="0"/>
                              </a:rPr>
                            </m:ctrlPr>
                          </m:sSupPr>
                          <m:e>
                            <m:r>
                              <a:rPr lang="en-US" sz="2800" i="1">
                                <a:latin typeface="Cambria Math" panose="02040503050406030204" pitchFamily="18" charset="0"/>
                              </a:rPr>
                              <m:t>𝛽</m:t>
                            </m:r>
                          </m:e>
                          <m:sup>
                            <m:r>
                              <a:rPr lang="en-US" sz="2800" i="1">
                                <a:latin typeface="Cambria Math" panose="02040503050406030204" pitchFamily="18" charset="0"/>
                              </a:rPr>
                              <m:t>∗</m:t>
                            </m:r>
                          </m:sup>
                        </m:sSup>
                      </m:e>
                      <m:sub>
                        <m:r>
                          <a:rPr lang="en-US" sz="2800" i="1">
                            <a:latin typeface="Cambria Math" panose="02040503050406030204" pitchFamily="18" charset="0"/>
                          </a:rPr>
                          <m:t>𝑖𝑘</m:t>
                        </m:r>
                      </m:sub>
                    </m:sSub>
                    <m:r>
                      <a:rPr lang="en-US" sz="280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r>
                          <m:rPr>
                            <m:sty m:val="p"/>
                          </m:rPr>
                          <a:rPr lang="en-US" sz="2800" i="0">
                            <a:solidFill>
                              <a:schemeClr val="tx1"/>
                            </a:solidFill>
                            <a:latin typeface="Cambria Math" panose="02040503050406030204" pitchFamily="18" charset="0"/>
                          </a:rPr>
                          <m:t>b</m:t>
                        </m:r>
                      </m:e>
                      <m:sub>
                        <m:r>
                          <a:rPr lang="en-US" sz="2800" i="1">
                            <a:solidFill>
                              <a:schemeClr val="tx1"/>
                            </a:solidFill>
                            <a:latin typeface="Cambria Math" panose="02040503050406030204" pitchFamily="18" charset="0"/>
                          </a:rPr>
                          <m:t>𝑖</m:t>
                        </m:r>
                        <m:r>
                          <a:rPr lang="en-US" sz="2800" b="0" i="1" smtClean="0">
                            <a:solidFill>
                              <a:schemeClr val="tx1"/>
                            </a:solidFill>
                            <a:latin typeface="Cambria Math" panose="02040503050406030204" pitchFamily="18" charset="0"/>
                          </a:rPr>
                          <m:t>𝑘</m:t>
                        </m:r>
                      </m:sub>
                    </m:sSub>
                  </m:oMath>
                </a14:m>
                <a:r>
                  <a:rPr lang="en-US" altLang="en-US" sz="2800" dirty="0"/>
                  <a:t> +</a:t>
                </a:r>
                <a:r>
                  <a:rPr lang="en-US" sz="2800" dirty="0"/>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𝜀</m:t>
                        </m:r>
                      </m:e>
                      <m:sub>
                        <m:r>
                          <a:rPr lang="en-US" sz="2800" i="1">
                            <a:latin typeface="Cambria Math" panose="02040503050406030204" pitchFamily="18" charset="0"/>
                          </a:rPr>
                          <m:t>𝑖𝑘</m:t>
                        </m:r>
                      </m:sub>
                    </m:sSub>
                    <m:r>
                      <a:rPr lang="en-US" sz="2800" i="1">
                        <a:latin typeface="Cambria Math" panose="02040503050406030204" pitchFamily="18" charset="0"/>
                      </a:rPr>
                      <m:t> </m:t>
                    </m:r>
                  </m:oMath>
                </a14:m>
                <a:r>
                  <a:rPr lang="en-US" altLang="en-US" sz="2800" dirty="0"/>
                  <a:t>		</a:t>
                </a:r>
                <a:r>
                  <a:rPr lang="en-US" altLang="en-US" sz="2800" b="1" dirty="0"/>
                  <a:t>(Level 2)</a:t>
                </a:r>
              </a:p>
              <a:p>
                <a:r>
                  <a:rPr lang="en-US" altLang="en-US" sz="2800" dirty="0"/>
                  <a:t>     Run a regression on the 2</a:t>
                </a:r>
                <a:r>
                  <a:rPr lang="en-US" altLang="en-US" sz="2800" i="1" dirty="0">
                    <a:latin typeface="Cambria Math" panose="02040503050406030204" pitchFamily="18" charset="0"/>
                    <a:ea typeface="Cambria Math" panose="02040503050406030204" pitchFamily="18" charset="0"/>
                  </a:rPr>
                  <a:t>K  </a:t>
                </a:r>
                <a14:m>
                  <m:oMath xmlns:m="http://schemas.openxmlformats.org/officeDocument/2006/math">
                    <m:sSub>
                      <m:sSubPr>
                        <m:ctrlPr>
                          <a:rPr lang="en-US" sz="2800" i="1">
                            <a:latin typeface="Cambria Math" panose="02040503050406030204" pitchFamily="18" charset="0"/>
                          </a:rPr>
                        </m:ctrlPr>
                      </m:sSubPr>
                      <m:e>
                        <m:sSup>
                          <m:sSupPr>
                            <m:ctrlPr>
                              <a:rPr lang="en-US" altLang="en-US" sz="2800" i="1">
                                <a:latin typeface="Cambria Math" panose="02040503050406030204" pitchFamily="18" charset="0"/>
                              </a:rPr>
                            </m:ctrlPr>
                          </m:sSupPr>
                          <m:e>
                            <m:acc>
                              <m:accPr>
                                <m:chr m:val="̂"/>
                                <m:ctrlPr>
                                  <a:rPr lang="en-US" altLang="en-US" sz="2800" i="1">
                                    <a:latin typeface="Cambria Math" panose="02040503050406030204" pitchFamily="18" charset="0"/>
                                  </a:rPr>
                                </m:ctrlPr>
                              </m:accPr>
                              <m:e>
                                <m:r>
                                  <a:rPr lang="en-US" altLang="en-US" sz="2800" i="1">
                                    <a:latin typeface="Cambria Math" panose="02040503050406030204" pitchFamily="18" charset="0"/>
                                    <a:ea typeface="Cambria Math" panose="02040503050406030204" pitchFamily="18" charset="0"/>
                                  </a:rPr>
                                  <m:t>𝛽</m:t>
                                </m:r>
                              </m:e>
                            </m:acc>
                          </m:e>
                          <m:sup>
                            <m:r>
                              <a:rPr lang="en-US" altLang="en-US" sz="2800" i="1">
                                <a:latin typeface="Cambria Math" panose="02040503050406030204" pitchFamily="18" charset="0"/>
                              </a:rPr>
                              <m:t>∗</m:t>
                            </m:r>
                          </m:sup>
                        </m:sSup>
                      </m:e>
                      <m:sub>
                        <m:r>
                          <a:rPr lang="en-US" sz="2800" i="1">
                            <a:latin typeface="Cambria Math" panose="02040503050406030204" pitchFamily="18" charset="0"/>
                          </a:rPr>
                          <m:t>𝑖𝑘</m:t>
                        </m:r>
                      </m:sub>
                    </m:sSub>
                    <m:r>
                      <a:rPr lang="en-US" altLang="en-US" sz="2800" b="0" i="0" smtClean="0">
                        <a:latin typeface="Cambria Math" panose="02040503050406030204" pitchFamily="18" charset="0"/>
                      </a:rPr>
                      <m:t>,</m:t>
                    </m:r>
                  </m:oMath>
                </a14:m>
                <a:r>
                  <a:rPr lang="en-US" altLang="en-US" sz="2800" dirty="0"/>
                  <a:t> weighted by the inverse of </a:t>
                </a:r>
                <a14:m>
                  <m:oMath xmlns:m="http://schemas.openxmlformats.org/officeDocument/2006/math">
                    <m:r>
                      <a:rPr lang="en-US" sz="2800" i="1">
                        <a:latin typeface="Cambria Math" panose="02040503050406030204" pitchFamily="18" charset="0"/>
                      </a:rPr>
                      <m:t>𝑉𝑎𝑟</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sSup>
                              <m:sSupPr>
                                <m:ctrlPr>
                                  <a:rPr lang="en-US" sz="2800" i="1">
                                    <a:latin typeface="Cambria Math" panose="02040503050406030204" pitchFamily="18" charset="0"/>
                                  </a:rPr>
                                </m:ctrlPr>
                              </m:sSupPr>
                              <m:e>
                                <m:acc>
                                  <m:accPr>
                                    <m:chr m:val="̂"/>
                                    <m:ctrlPr>
                                      <a:rPr lang="en-US" sz="2800" i="1">
                                        <a:latin typeface="Cambria Math" panose="02040503050406030204" pitchFamily="18" charset="0"/>
                                      </a:rPr>
                                    </m:ctrlPr>
                                  </m:accPr>
                                  <m:e>
                                    <m:r>
                                      <a:rPr lang="en-US" sz="2800" i="1">
                                        <a:latin typeface="Cambria Math" panose="02040503050406030204" pitchFamily="18" charset="0"/>
                                      </a:rPr>
                                      <m:t>𝛽</m:t>
                                    </m:r>
                                  </m:e>
                                </m:acc>
                              </m:e>
                              <m:sup>
                                <m:r>
                                  <a:rPr lang="en-US" sz="2800" i="1">
                                    <a:latin typeface="Cambria Math" panose="02040503050406030204" pitchFamily="18" charset="0"/>
                                  </a:rPr>
                                  <m:t>∗</m:t>
                                </m:r>
                              </m:sup>
                            </m:sSup>
                          </m:e>
                          <m:sub>
                            <m:r>
                              <a:rPr lang="en-US" sz="2800" i="1">
                                <a:latin typeface="Cambria Math" panose="02040503050406030204" pitchFamily="18" charset="0"/>
                              </a:rPr>
                              <m:t>𝑖𝑘</m:t>
                            </m:r>
                          </m:sub>
                        </m:sSub>
                      </m:e>
                    </m:d>
                    <m:r>
                      <a:rPr lang="en-US" sz="2800" b="0" i="1" smtClean="0">
                        <a:latin typeface="Cambria Math" panose="02040503050406030204" pitchFamily="18" charset="0"/>
                      </a:rPr>
                      <m:t>,</m:t>
                    </m:r>
                  </m:oMath>
                </a14:m>
                <a:r>
                  <a:rPr lang="en-US" altLang="en-US" sz="2800" dirty="0"/>
                  <a:t> to obtain a common estimate, </a:t>
                </a:r>
                <a14:m>
                  <m:oMath xmlns:m="http://schemas.openxmlformats.org/officeDocument/2006/math">
                    <m:sSup>
                      <m:sSupPr>
                        <m:ctrlPr>
                          <a:rPr lang="en-US" altLang="en-US" sz="2800" i="1" smtClean="0">
                            <a:latin typeface="Cambria Math" panose="02040503050406030204" pitchFamily="18" charset="0"/>
                          </a:rPr>
                        </m:ctrlPr>
                      </m:sSupPr>
                      <m:e>
                        <m:acc>
                          <m:accPr>
                            <m:chr m:val="̂"/>
                            <m:ctrlPr>
                              <a:rPr lang="en-US" altLang="en-US" sz="2800" i="1">
                                <a:latin typeface="Cambria Math" panose="02040503050406030204" pitchFamily="18" charset="0"/>
                              </a:rPr>
                            </m:ctrlPr>
                          </m:accPr>
                          <m:e>
                            <m:r>
                              <a:rPr lang="en-US" altLang="en-US" sz="2800" i="1">
                                <a:latin typeface="Cambria Math" panose="02040503050406030204" pitchFamily="18" charset="0"/>
                                <a:ea typeface="Cambria Math" panose="02040503050406030204" pitchFamily="18" charset="0"/>
                              </a:rPr>
                              <m:t>𝛽</m:t>
                            </m:r>
                          </m:e>
                        </m:acc>
                      </m:e>
                      <m:sup>
                        <m:r>
                          <a:rPr lang="en-US" altLang="en-US" sz="2800" b="0" i="1" smtClean="0">
                            <a:latin typeface="Cambria Math" panose="02040503050406030204" pitchFamily="18" charset="0"/>
                          </a:rPr>
                          <m:t>∗</m:t>
                        </m:r>
                      </m:sup>
                    </m:sSup>
                  </m:oMath>
                </a14:m>
                <a:r>
                  <a:rPr lang="en-US" dirty="0"/>
                  <a:t>.</a:t>
                </a:r>
              </a:p>
              <a:p>
                <a:endParaRPr lang="en-US" dirty="0"/>
              </a:p>
              <a:p>
                <a:r>
                  <a:rPr lang="en-US" dirty="0"/>
                  <a:t>Note: This approach is not an option for CRTs because </a:t>
                </a:r>
                <a14:m>
                  <m:oMath xmlns:m="http://schemas.openxmlformats.org/officeDocument/2006/math">
                    <m:r>
                      <a:rPr lang="en-US" sz="1800" i="1" dirty="0" smtClean="0">
                        <a:solidFill>
                          <a:schemeClr val="tx1"/>
                        </a:solidFill>
                        <a:latin typeface="Cambria Math" panose="02040503050406030204" pitchFamily="18" charset="0"/>
                      </a:rPr>
                      <m:t>𝛸</m:t>
                    </m:r>
                  </m:oMath>
                </a14:m>
                <a:r>
                  <a:rPr lang="en-US" dirty="0"/>
                  <a:t> is the same for all participants in a given cluster! Is an option for SWDs though.</a:t>
                </a:r>
              </a:p>
              <a:p>
                <a:endParaRPr lang="en-US" altLang="en-US" dirty="0"/>
              </a:p>
              <a:p>
                <a:pPr eaLnBrk="1" hangingPunct="1"/>
                <a:r>
                  <a:rPr lang="en-US" altLang="en-US" dirty="0"/>
                  <a:t>					       </a:t>
                </a:r>
                <a:endParaRPr lang="en-CA" altLang="en-US" dirty="0"/>
              </a:p>
            </p:txBody>
          </p:sp>
        </mc:Choice>
        <mc:Fallback xmlns="">
          <p:sp>
            <p:nvSpPr>
              <p:cNvPr id="2" name="TextBox 1">
                <a:extLst>
                  <a:ext uri="{FF2B5EF4-FFF2-40B4-BE49-F238E27FC236}">
                    <a16:creationId xmlns:a16="http://schemas.microsoft.com/office/drawing/2014/main" id="{B719EA30-1FD2-43C0-8E82-D6D9C7973B6B}"/>
                  </a:ext>
                </a:extLst>
              </p:cNvPr>
              <p:cNvSpPr txBox="1">
                <a:spLocks noRot="1" noChangeAspect="1" noMove="1" noResize="1" noEditPoints="1" noAdjustHandles="1" noChangeArrowheads="1" noChangeShapeType="1" noTextEdit="1"/>
              </p:cNvSpPr>
              <p:nvPr/>
            </p:nvSpPr>
            <p:spPr>
              <a:xfrm>
                <a:off x="308919" y="1541671"/>
                <a:ext cx="11883081" cy="5600892"/>
              </a:xfrm>
              <a:prstGeom prst="rect">
                <a:avLst/>
              </a:prstGeom>
              <a:blipFill>
                <a:blip r:embed="rId5"/>
                <a:stretch>
                  <a:fillRect l="-1077" t="-1088"/>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235CF029-851C-EC46-A363-0F722A5D8181}"/>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2F43823E-4AF3-0955-8128-31A45BD9BE9D}"/>
              </a:ext>
            </a:extLst>
          </p:cNvPr>
          <p:cNvSpPr>
            <a:spLocks noGrp="1"/>
          </p:cNvSpPr>
          <p:nvPr>
            <p:ph type="sldNum" sz="quarter" idx="12"/>
          </p:nvPr>
        </p:nvSpPr>
        <p:spPr/>
        <p:txBody>
          <a:bodyPr/>
          <a:lstStyle/>
          <a:p>
            <a:fld id="{77C6A7FE-225D-49F1-B302-AA37EA92BB49}" type="slidenum">
              <a:rPr lang="en-US" smtClean="0"/>
              <a:t>93</a:t>
            </a:fld>
            <a:endParaRPr lang="en-US"/>
          </a:p>
        </p:txBody>
      </p:sp>
    </p:spTree>
    <p:extLst>
      <p:ext uri="{BB962C8B-B14F-4D97-AF65-F5344CB8AC3E}">
        <p14:creationId xmlns:p14="http://schemas.microsoft.com/office/powerpoint/2010/main" val="2801716747"/>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2" name="TextBox 1">
            <a:extLst>
              <a:ext uri="{FF2B5EF4-FFF2-40B4-BE49-F238E27FC236}">
                <a16:creationId xmlns:a16="http://schemas.microsoft.com/office/drawing/2014/main" id="{E17DEBC4-1437-4F7F-BA30-2D77311E1C1F}"/>
              </a:ext>
            </a:extLst>
          </p:cNvPr>
          <p:cNvSpPr txBox="1"/>
          <p:nvPr/>
        </p:nvSpPr>
        <p:spPr>
          <a:xfrm>
            <a:off x="240890" y="1410355"/>
            <a:ext cx="11710219" cy="5447645"/>
          </a:xfrm>
          <a:prstGeom prst="rect">
            <a:avLst/>
          </a:prstGeom>
          <a:noFill/>
        </p:spPr>
        <p:txBody>
          <a:bodyPr wrap="square" rtlCol="0">
            <a:spAutoFit/>
          </a:bodyPr>
          <a:lstStyle/>
          <a:p>
            <a:pPr eaLnBrk="1" hangingPunct="1">
              <a:buFontTx/>
              <a:buBlip>
                <a:blip r:embed="rId4"/>
              </a:buBlip>
            </a:pPr>
            <a:r>
              <a:rPr lang="en-US" altLang="en-US" sz="3000" dirty="0"/>
              <a:t>Multi-level and mixed regression analysis will provide identical results even with individually randomized and stepped wedge unbalanced designs where cluster sizes are variable.</a:t>
            </a:r>
          </a:p>
          <a:p>
            <a:pPr eaLnBrk="1" hangingPunct="1"/>
            <a:endParaRPr lang="en-US" altLang="en-US" sz="3000" dirty="0"/>
          </a:p>
          <a:p>
            <a:pPr eaLnBrk="1" hangingPunct="1">
              <a:buFontTx/>
              <a:buBlip>
                <a:blip r:embed="rId4"/>
              </a:buBlip>
            </a:pPr>
            <a:r>
              <a:rPr lang="en-US" altLang="en-US" sz="3000" dirty="0"/>
              <a:t>In addition, a </a:t>
            </a:r>
            <a:r>
              <a:rPr lang="en-US" altLang="en-US" sz="3000" b="1" i="1" dirty="0"/>
              <a:t>properly weighted </a:t>
            </a:r>
            <a:r>
              <a:rPr lang="en-US" altLang="en-US" sz="3000" dirty="0"/>
              <a:t>cluster-level analysis will also provide identical inferences. Proper weights are based upon the inverse of the variance of each cluster-level mean, and incorporate heteroscedasticity and variable cluster size.</a:t>
            </a:r>
          </a:p>
          <a:p>
            <a:pPr eaLnBrk="1" hangingPunct="1"/>
            <a:endParaRPr lang="en-US" altLang="en-US" sz="3000" dirty="0"/>
          </a:p>
          <a:p>
            <a:pPr eaLnBrk="1" hangingPunct="1">
              <a:buFontTx/>
              <a:buBlip>
                <a:blip r:embed="rId4"/>
              </a:buBlip>
            </a:pPr>
            <a:r>
              <a:rPr lang="en-US" altLang="en-US" sz="3000" dirty="0"/>
              <a:t>Other terms used for multilevel models  are “random-coefficient” models and “hierarchical” models</a:t>
            </a:r>
            <a:endParaRPr lang="en-CA" altLang="en-US" sz="3000" dirty="0"/>
          </a:p>
          <a:p>
            <a:endParaRPr lang="en-US" dirty="0"/>
          </a:p>
        </p:txBody>
      </p:sp>
      <p:sp>
        <p:nvSpPr>
          <p:cNvPr id="5" name="Slide Number Placeholder 4">
            <a:extLst>
              <a:ext uri="{FF2B5EF4-FFF2-40B4-BE49-F238E27FC236}">
                <a16:creationId xmlns:a16="http://schemas.microsoft.com/office/drawing/2014/main" id="{384D84C4-EBC7-8513-026E-8EA6BE00B81E}"/>
              </a:ext>
            </a:extLst>
          </p:cNvPr>
          <p:cNvSpPr>
            <a:spLocks noGrp="1"/>
          </p:cNvSpPr>
          <p:nvPr>
            <p:ph type="sldNum" sz="quarter" idx="12"/>
          </p:nvPr>
        </p:nvSpPr>
        <p:spPr/>
        <p:txBody>
          <a:bodyPr/>
          <a:lstStyle/>
          <a:p>
            <a:fld id="{77C6A7FE-225D-49F1-B302-AA37EA92BB49}" type="slidenum">
              <a:rPr lang="en-US" smtClean="0"/>
              <a:t>94</a:t>
            </a:fld>
            <a:endParaRPr lang="en-US"/>
          </a:p>
        </p:txBody>
      </p:sp>
    </p:spTree>
    <p:extLst>
      <p:ext uri="{BB962C8B-B14F-4D97-AF65-F5344CB8AC3E}">
        <p14:creationId xmlns:p14="http://schemas.microsoft.com/office/powerpoint/2010/main" val="3155771551"/>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Generalized Estimating Equations Approach</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A471B82-B397-4D05-B9E8-DB41384814D9}"/>
                  </a:ext>
                </a:extLst>
              </p:cNvPr>
              <p:cNvSpPr txBox="1"/>
              <p:nvPr/>
            </p:nvSpPr>
            <p:spPr>
              <a:xfrm>
                <a:off x="358815" y="1655180"/>
                <a:ext cx="10683433" cy="4615238"/>
              </a:xfrm>
              <a:prstGeom prst="rect">
                <a:avLst/>
              </a:prstGeom>
              <a:noFill/>
            </p:spPr>
            <p:txBody>
              <a:bodyPr wrap="square" rtlCol="0">
                <a:spAutoFit/>
              </a:bodyPr>
              <a:lstStyle/>
              <a:p>
                <a:pPr eaLnBrk="1" hangingPunct="1">
                  <a:buFontTx/>
                  <a:buBlip>
                    <a:blip r:embed="rId4"/>
                  </a:buBlip>
                </a:pPr>
                <a:r>
                  <a:rPr lang="en-US" altLang="en-US" sz="2800" dirty="0"/>
                  <a:t>The normality assumptions of the mixed effects linear regression model may be avoided by using the robust variance estimation procedure popularized by Liang and </a:t>
                </a:r>
                <a:r>
                  <a:rPr lang="en-US" altLang="en-US" sz="2800" dirty="0" err="1"/>
                  <a:t>Zeger</a:t>
                </a:r>
                <a:r>
                  <a:rPr lang="en-US" altLang="en-US" sz="2800" dirty="0"/>
                  <a:t> (1986).</a:t>
                </a:r>
              </a:p>
              <a:p>
                <a:pPr eaLnBrk="1" hangingPunct="1">
                  <a:buFontTx/>
                  <a:buBlip>
                    <a:blip r:embed="rId4"/>
                  </a:buBlip>
                </a:pPr>
                <a:endParaRPr lang="en-US" altLang="en-US" sz="2800" dirty="0"/>
              </a:p>
              <a:p>
                <a:pPr eaLnBrk="1" hangingPunct="1">
                  <a:buFontTx/>
                  <a:buBlip>
                    <a:blip r:embed="rId4"/>
                  </a:buBlip>
                </a:pPr>
                <a:r>
                  <a:rPr lang="en-US" altLang="en-US" sz="2800" dirty="0"/>
                  <a:t> For a </a:t>
                </a:r>
                <a:r>
                  <a:rPr lang="en-US" altLang="en-US" sz="2800" b="1" dirty="0"/>
                  <a:t>balanced design</a:t>
                </a:r>
                <a:r>
                  <a:rPr lang="en-US" altLang="en-US" sz="2800" dirty="0"/>
                  <a:t>, a robust test of the effect of intervention on the cluster level is given by the two sample t-test statistic inflated by </a:t>
                </a:r>
                <a:r>
                  <a:rPr lang="en-US" altLang="en-US" sz="2800" dirty="0" err="1"/>
                  <a:t>by</a:t>
                </a:r>
                <a:r>
                  <a:rPr lang="en-US" altLang="en-US" sz="2800" dirty="0"/>
                  <a:t> a factor of </a:t>
                </a:r>
              </a:p>
              <a:p>
                <a:pPr eaLnBrk="1" hangingPunct="1">
                  <a:buFontTx/>
                  <a:buBlip>
                    <a:blip r:embed="rId4"/>
                  </a:buBlip>
                </a:pPr>
                <a:endParaRPr lang="en-US" altLang="en-US" sz="2800" dirty="0"/>
              </a:p>
              <a:p>
                <a:pPr algn="ctr"/>
                <a14:m>
                  <m:oMathPara xmlns:m="http://schemas.openxmlformats.org/officeDocument/2006/math">
                    <m:oMathParaPr>
                      <m:jc m:val="centerGroup"/>
                    </m:oMathParaPr>
                    <m:oMath xmlns:m="http://schemas.openxmlformats.org/officeDocument/2006/math">
                      <m:rad>
                        <m:radPr>
                          <m:degHide m:val="on"/>
                          <m:ctrlPr>
                            <a:rPr lang="en-US" sz="2800" i="1" smtClean="0">
                              <a:solidFill>
                                <a:schemeClr val="tx1"/>
                              </a:solidFill>
                              <a:latin typeface="Cambria Math" panose="02040503050406030204" pitchFamily="18" charset="0"/>
                            </a:rPr>
                          </m:ctrlPr>
                        </m:radPr>
                        <m:deg/>
                        <m:e>
                          <m:r>
                            <a:rPr lang="en-US" sz="2800" b="0" i="1" smtClean="0">
                              <a:solidFill>
                                <a:schemeClr val="tx1"/>
                              </a:solidFill>
                              <a:latin typeface="Cambria Math" panose="02040503050406030204" pitchFamily="18" charset="0"/>
                            </a:rPr>
                            <m:t>2</m:t>
                          </m:r>
                          <m:r>
                            <a:rPr lang="en-US" sz="2800" b="0" i="1" smtClean="0">
                              <a:solidFill>
                                <a:schemeClr val="tx1"/>
                              </a:solidFill>
                              <a:latin typeface="Cambria Math" panose="02040503050406030204" pitchFamily="18" charset="0"/>
                            </a:rPr>
                            <m:t>𝐾</m:t>
                          </m:r>
                          <m:r>
                            <a:rPr lang="en-US" sz="2800" i="1">
                              <a:solidFill>
                                <a:schemeClr val="tx1"/>
                              </a:solidFill>
                              <a:latin typeface="Cambria Math" panose="02040503050406030204" pitchFamily="18" charset="0"/>
                            </a:rPr>
                            <m:t>/</m:t>
                          </m:r>
                          <m:d>
                            <m:dPr>
                              <m:ctrlPr>
                                <a:rPr lang="en-US" sz="2800" i="1">
                                  <a:solidFill>
                                    <a:schemeClr val="tx1"/>
                                  </a:solidFill>
                                  <a:latin typeface="Cambria Math" panose="02040503050406030204" pitchFamily="18" charset="0"/>
                                </a:rPr>
                              </m:ctrlPr>
                            </m:dPr>
                            <m:e>
                              <m:r>
                                <a:rPr lang="en-US" sz="2800" b="0" i="1" smtClean="0">
                                  <a:solidFill>
                                    <a:schemeClr val="tx1"/>
                                  </a:solidFill>
                                  <a:latin typeface="Cambria Math" panose="02040503050406030204" pitchFamily="18" charset="0"/>
                                </a:rPr>
                                <m:t>2</m:t>
                              </m:r>
                              <m:r>
                                <a:rPr lang="en-US" sz="2800" b="0" i="1" smtClean="0">
                                  <a:solidFill>
                                    <a:schemeClr val="tx1"/>
                                  </a:solidFill>
                                  <a:latin typeface="Cambria Math" panose="02040503050406030204" pitchFamily="18" charset="0"/>
                                </a:rPr>
                                <m:t>𝐾</m:t>
                              </m:r>
                              <m:r>
                                <a:rPr lang="en-US" sz="2800" i="1">
                                  <a:solidFill>
                                    <a:schemeClr val="tx1"/>
                                  </a:solidFill>
                                  <a:latin typeface="Cambria Math" panose="02040503050406030204" pitchFamily="18" charset="0"/>
                                </a:rPr>
                                <m:t>−1</m:t>
                              </m:r>
                            </m:e>
                          </m:d>
                        </m:e>
                      </m:rad>
                    </m:oMath>
                  </m:oMathPara>
                </a14:m>
                <a:endParaRPr lang="en-US" sz="2800" dirty="0"/>
              </a:p>
              <a:p>
                <a:pPr algn="ctr" eaLnBrk="1" hangingPunct="1"/>
                <a:endParaRPr lang="en-US" altLang="en-US" dirty="0"/>
              </a:p>
              <a:p>
                <a:pPr eaLnBrk="1" hangingPunct="1"/>
                <a:endParaRPr lang="en-US" altLang="en-US" dirty="0"/>
              </a:p>
            </p:txBody>
          </p:sp>
        </mc:Choice>
        <mc:Fallback xmlns="">
          <p:sp>
            <p:nvSpPr>
              <p:cNvPr id="2" name="TextBox 1">
                <a:extLst>
                  <a:ext uri="{FF2B5EF4-FFF2-40B4-BE49-F238E27FC236}">
                    <a16:creationId xmlns:a16="http://schemas.microsoft.com/office/drawing/2014/main" id="{BA471B82-B397-4D05-B9E8-DB41384814D9}"/>
                  </a:ext>
                </a:extLst>
              </p:cNvPr>
              <p:cNvSpPr txBox="1">
                <a:spLocks noRot="1" noChangeAspect="1" noMove="1" noResize="1" noEditPoints="1" noAdjustHandles="1" noChangeArrowheads="1" noChangeShapeType="1" noTextEdit="1"/>
              </p:cNvSpPr>
              <p:nvPr/>
            </p:nvSpPr>
            <p:spPr>
              <a:xfrm>
                <a:off x="358815" y="1655180"/>
                <a:ext cx="10683433" cy="4615238"/>
              </a:xfrm>
              <a:prstGeom prst="rect">
                <a:avLst/>
              </a:prstGeom>
              <a:blipFill>
                <a:blip r:embed="rId5"/>
                <a:stretch>
                  <a:fillRect l="-1199" t="-1321"/>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EE1074A4-6629-8A73-25B9-F139015B6FE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026C229-7A5C-9180-416A-CE7231C56241}"/>
              </a:ext>
            </a:extLst>
          </p:cNvPr>
          <p:cNvSpPr>
            <a:spLocks noGrp="1"/>
          </p:cNvSpPr>
          <p:nvPr>
            <p:ph type="sldNum" sz="quarter" idx="12"/>
          </p:nvPr>
        </p:nvSpPr>
        <p:spPr/>
        <p:txBody>
          <a:bodyPr/>
          <a:lstStyle/>
          <a:p>
            <a:fld id="{77C6A7FE-225D-49F1-B302-AA37EA92BB49}" type="slidenum">
              <a:rPr lang="en-US" smtClean="0"/>
              <a:t>95</a:t>
            </a:fld>
            <a:endParaRPr lang="en-US"/>
          </a:p>
        </p:txBody>
      </p:sp>
    </p:spTree>
    <p:extLst>
      <p:ext uri="{BB962C8B-B14F-4D97-AF65-F5344CB8AC3E}">
        <p14:creationId xmlns:p14="http://schemas.microsoft.com/office/powerpoint/2010/main" val="3472442681"/>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211209"/>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Multiple Levels of Inference and Cluster</a:t>
            </a:r>
            <a:br>
              <a:rPr lang="en-US" altLang="en-US" sz="4400" dirty="0">
                <a:solidFill>
                  <a:schemeClr val="bg1"/>
                </a:solidFill>
                <a:latin typeface="Arial" panose="020B0604020202020204" pitchFamily="34" charset="0"/>
                <a:cs typeface="Arial" panose="020B0604020202020204" pitchFamily="34" charset="0"/>
              </a:rPr>
            </a:br>
            <a:r>
              <a:rPr lang="en-US" altLang="en-US" sz="4400" dirty="0">
                <a:solidFill>
                  <a:schemeClr val="bg1"/>
                </a:solidFill>
                <a:latin typeface="Arial" panose="020B0604020202020204" pitchFamily="34" charset="0"/>
                <a:cs typeface="Arial" panose="020B0604020202020204" pitchFamily="34" charset="0"/>
              </a:rPr>
              <a:t>Randomized Trials</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3" name="TextBox 2">
            <a:extLst>
              <a:ext uri="{FF2B5EF4-FFF2-40B4-BE49-F238E27FC236}">
                <a16:creationId xmlns:a16="http://schemas.microsoft.com/office/drawing/2014/main" id="{981AE1E8-5F5C-4931-87A5-18F5AA438A51}"/>
              </a:ext>
            </a:extLst>
          </p:cNvPr>
          <p:cNvSpPr txBox="1"/>
          <p:nvPr/>
        </p:nvSpPr>
        <p:spPr>
          <a:xfrm>
            <a:off x="0" y="1062471"/>
            <a:ext cx="12191999" cy="6863417"/>
          </a:xfrm>
          <a:prstGeom prst="rect">
            <a:avLst/>
          </a:prstGeom>
          <a:noFill/>
        </p:spPr>
        <p:txBody>
          <a:bodyPr wrap="square" rtlCol="0">
            <a:spAutoFit/>
          </a:bodyPr>
          <a:lstStyle/>
          <a:p>
            <a:pPr>
              <a:buFontTx/>
              <a:buBlip>
                <a:blip r:embed="rId4"/>
              </a:buBlip>
              <a:tabLst>
                <a:tab pos="465138" algn="l"/>
                <a:tab pos="908050" algn="l"/>
              </a:tabLst>
            </a:pPr>
            <a:r>
              <a:rPr lang="en-US" altLang="en-US" sz="2800" dirty="0"/>
              <a:t>Decisions regarding the appropriate unit of inference and the appropriate unit of analysis can be difficult in some trials.</a:t>
            </a:r>
          </a:p>
          <a:p>
            <a:pPr>
              <a:tabLst>
                <a:tab pos="465138" algn="l"/>
                <a:tab pos="908050" algn="l"/>
              </a:tabLst>
            </a:pPr>
            <a:endParaRPr lang="en-US" altLang="en-US" sz="2800" dirty="0"/>
          </a:p>
          <a:p>
            <a:pPr>
              <a:buFontTx/>
              <a:buBlip>
                <a:blip r:embed="rId4"/>
              </a:buBlip>
              <a:tabLst>
                <a:tab pos="465138" algn="l"/>
                <a:tab pos="908050" algn="l"/>
              </a:tabLst>
            </a:pPr>
            <a:r>
              <a:rPr lang="en-US" altLang="en-US" sz="2800" dirty="0"/>
              <a:t> 	For example, where schools are the unit of randomization, analyses could be carried out at the individual, classroom, or school level.</a:t>
            </a:r>
          </a:p>
          <a:p>
            <a:pPr>
              <a:buFontTx/>
              <a:buBlip>
                <a:blip r:embed="rId4"/>
              </a:buBlip>
              <a:tabLst>
                <a:tab pos="465138" algn="l"/>
                <a:tab pos="908050" algn="l"/>
              </a:tabLst>
            </a:pPr>
            <a:endParaRPr lang="en-US" altLang="en-US" sz="2800" dirty="0"/>
          </a:p>
          <a:p>
            <a:pPr>
              <a:buBlip>
                <a:blip r:embed="rId4"/>
              </a:buBlip>
              <a:tabLst>
                <a:tab pos="465138" algn="l"/>
                <a:tab pos="908050" algn="l"/>
              </a:tabLst>
            </a:pPr>
            <a:r>
              <a:rPr lang="en-US" altLang="en-US" sz="2800" dirty="0"/>
              <a:t>However, analyses conducted at the individual, or classroom level need to account for dependencies of responses for children and classrooms from the same school.</a:t>
            </a:r>
          </a:p>
          <a:p>
            <a:pPr lvl="1">
              <a:buBlip>
                <a:blip r:embed="rId4"/>
              </a:buBlip>
              <a:tabLst>
                <a:tab pos="465138" algn="l"/>
                <a:tab pos="908050" algn="l"/>
              </a:tabLst>
            </a:pPr>
            <a:r>
              <a:rPr lang="en-US" altLang="en-US" sz="2800" dirty="0"/>
              <a:t> It has been shown that a GEE model with an unstructured working correlation matrix at the highest level of correlation will take care of all levels of correlation, asymptotically given sufficient data </a:t>
            </a:r>
            <a:r>
              <a:rPr lang="en-US" altLang="en-US" sz="3200" dirty="0"/>
              <a:t>(</a:t>
            </a:r>
            <a:r>
              <a:rPr lang="en-US" dirty="0"/>
              <a:t>Miglioretti DL, Heagerty PJ. Marginal modeling of </a:t>
            </a:r>
            <a:r>
              <a:rPr lang="en-US" dirty="0" err="1"/>
              <a:t>nonnested</a:t>
            </a:r>
            <a:r>
              <a:rPr lang="en-US" dirty="0"/>
              <a:t> multilevel data using standard software. Am J Epidemiol. 2007 Feb 15;165(4):453-63. </a:t>
            </a:r>
            <a:r>
              <a:rPr lang="en-US" dirty="0" err="1"/>
              <a:t>doi</a:t>
            </a:r>
            <a:r>
              <a:rPr lang="en-US" dirty="0"/>
              <a:t>: 10.1093/</a:t>
            </a:r>
            <a:r>
              <a:rPr lang="en-US" dirty="0" err="1"/>
              <a:t>aje</a:t>
            </a:r>
            <a:r>
              <a:rPr lang="en-US" dirty="0"/>
              <a:t>/kwk020)</a:t>
            </a:r>
            <a:endParaRPr lang="en-US" altLang="en-US" sz="3200" dirty="0"/>
          </a:p>
          <a:p>
            <a:pPr>
              <a:buBlip>
                <a:blip r:embed="rId4"/>
              </a:buBlip>
              <a:tabLst>
                <a:tab pos="465138" algn="l"/>
                <a:tab pos="908050" algn="l"/>
              </a:tabLst>
            </a:pPr>
            <a:endParaRPr lang="en-US" altLang="en-US" sz="3200" dirty="0"/>
          </a:p>
          <a:p>
            <a:pPr>
              <a:buFontTx/>
              <a:buBlip>
                <a:blip r:embed="rId4"/>
              </a:buBlip>
              <a:tabLst>
                <a:tab pos="465138" algn="l"/>
                <a:tab pos="908050" algn="l"/>
              </a:tabLst>
            </a:pPr>
            <a:endParaRPr lang="en-US" altLang="en-US" sz="3200" dirty="0"/>
          </a:p>
          <a:p>
            <a:endParaRPr lang="en-US" dirty="0"/>
          </a:p>
        </p:txBody>
      </p:sp>
      <p:sp>
        <p:nvSpPr>
          <p:cNvPr id="5" name="Slide Number Placeholder 4">
            <a:extLst>
              <a:ext uri="{FF2B5EF4-FFF2-40B4-BE49-F238E27FC236}">
                <a16:creationId xmlns:a16="http://schemas.microsoft.com/office/drawing/2014/main" id="{16EC33A3-D382-54D6-E500-7CD371A55964}"/>
              </a:ext>
            </a:extLst>
          </p:cNvPr>
          <p:cNvSpPr>
            <a:spLocks noGrp="1"/>
          </p:cNvSpPr>
          <p:nvPr>
            <p:ph type="sldNum" sz="quarter" idx="12"/>
          </p:nvPr>
        </p:nvSpPr>
        <p:spPr/>
        <p:txBody>
          <a:bodyPr/>
          <a:lstStyle/>
          <a:p>
            <a:fld id="{77C6A7FE-225D-49F1-B302-AA37EA92BB49}" type="slidenum">
              <a:rPr lang="en-US" smtClean="0"/>
              <a:t>96</a:t>
            </a:fld>
            <a:endParaRPr lang="en-US"/>
          </a:p>
        </p:txBody>
      </p:sp>
    </p:spTree>
    <p:extLst>
      <p:ext uri="{BB962C8B-B14F-4D97-AF65-F5344CB8AC3E}">
        <p14:creationId xmlns:p14="http://schemas.microsoft.com/office/powerpoint/2010/main" val="248236790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Advantages of Cluster Level Analysis</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2" name="TextBox 1">
            <a:extLst>
              <a:ext uri="{FF2B5EF4-FFF2-40B4-BE49-F238E27FC236}">
                <a16:creationId xmlns:a16="http://schemas.microsoft.com/office/drawing/2014/main" id="{3B80B1C8-7A78-4ADB-A92F-6B46B498C5B2}"/>
              </a:ext>
            </a:extLst>
          </p:cNvPr>
          <p:cNvSpPr txBox="1"/>
          <p:nvPr/>
        </p:nvSpPr>
        <p:spPr>
          <a:xfrm>
            <a:off x="243068" y="1689904"/>
            <a:ext cx="11528385" cy="4478149"/>
          </a:xfrm>
          <a:prstGeom prst="rect">
            <a:avLst/>
          </a:prstGeom>
          <a:noFill/>
        </p:spPr>
        <p:txBody>
          <a:bodyPr wrap="square" rtlCol="0">
            <a:spAutoFit/>
          </a:bodyPr>
          <a:lstStyle/>
          <a:p>
            <a:pPr>
              <a:spcAft>
                <a:spcPts val="1800"/>
              </a:spcAft>
              <a:buFontTx/>
              <a:buBlip>
                <a:blip r:embed="rId4"/>
              </a:buBlip>
              <a:tabLst>
                <a:tab pos="687388" algn="l"/>
              </a:tabLst>
              <a:defRPr/>
            </a:pPr>
            <a:r>
              <a:rPr lang="en-US" sz="3200" dirty="0"/>
              <a:t> 	Simplified data collection and lower cost.</a:t>
            </a:r>
          </a:p>
          <a:p>
            <a:pPr>
              <a:spcAft>
                <a:spcPts val="1800"/>
              </a:spcAft>
              <a:buFontTx/>
              <a:buBlip>
                <a:blip r:embed="rId4"/>
              </a:buBlip>
              <a:tabLst>
                <a:tab pos="687388" algn="l"/>
              </a:tabLst>
              <a:defRPr/>
            </a:pPr>
            <a:r>
              <a:rPr lang="en-US" sz="3200" dirty="0"/>
              <a:t> 	Can be applied to any outcome variable.</a:t>
            </a:r>
          </a:p>
          <a:p>
            <a:pPr>
              <a:spcAft>
                <a:spcPts val="1800"/>
              </a:spcAft>
              <a:buFontTx/>
              <a:buBlip>
                <a:blip r:embed="rId4"/>
              </a:buBlip>
              <a:tabLst>
                <a:tab pos="687388" algn="l"/>
              </a:tabLst>
              <a:defRPr/>
            </a:pPr>
            <a:r>
              <a:rPr lang="en-US" sz="3200" dirty="0"/>
              <a:t> 	Exact statistical inferences can be constructed.</a:t>
            </a:r>
          </a:p>
          <a:p>
            <a:pPr>
              <a:spcAft>
                <a:spcPts val="1800"/>
              </a:spcAft>
              <a:buFontTx/>
              <a:buBlip>
                <a:blip r:embed="rId4"/>
              </a:buBlip>
              <a:tabLst>
                <a:tab pos="687388" algn="l"/>
              </a:tabLst>
              <a:defRPr/>
            </a:pPr>
            <a:r>
              <a:rPr lang="en-US" sz="3200" dirty="0"/>
              <a:t> 	Can be adapted to adjust for baseline imbalances.</a:t>
            </a:r>
          </a:p>
          <a:p>
            <a:pPr marL="688975" indent="-688975">
              <a:spcAft>
                <a:spcPts val="1800"/>
              </a:spcAft>
              <a:buFontTx/>
              <a:buBlip>
                <a:blip r:embed="rId4"/>
              </a:buBlip>
              <a:tabLst>
                <a:tab pos="687388" algn="l"/>
              </a:tabLst>
              <a:defRPr/>
            </a:pPr>
            <a:r>
              <a:rPr lang="en-US" sz="3200" dirty="0"/>
              <a:t>Very important for pragmatic and implementation trials! – RAPID!</a:t>
            </a:r>
            <a:endParaRPr lang="en-CA" sz="3200" dirty="0"/>
          </a:p>
          <a:p>
            <a:endParaRPr lang="en-US" dirty="0"/>
          </a:p>
        </p:txBody>
      </p:sp>
      <p:sp>
        <p:nvSpPr>
          <p:cNvPr id="3" name="Footer Placeholder 2">
            <a:extLst>
              <a:ext uri="{FF2B5EF4-FFF2-40B4-BE49-F238E27FC236}">
                <a16:creationId xmlns:a16="http://schemas.microsoft.com/office/drawing/2014/main" id="{03AD9B63-140C-4171-C0D5-50DBDC1236C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B84D4D7-7F5F-8BCA-E19F-C02312D1AB04}"/>
              </a:ext>
            </a:extLst>
          </p:cNvPr>
          <p:cNvSpPr>
            <a:spLocks noGrp="1"/>
          </p:cNvSpPr>
          <p:nvPr>
            <p:ph type="sldNum" sz="quarter" idx="12"/>
          </p:nvPr>
        </p:nvSpPr>
        <p:spPr/>
        <p:txBody>
          <a:bodyPr/>
          <a:lstStyle/>
          <a:p>
            <a:fld id="{77C6A7FE-225D-49F1-B302-AA37EA92BB49}" type="slidenum">
              <a:rPr lang="en-US" smtClean="0"/>
              <a:t>97</a:t>
            </a:fld>
            <a:endParaRPr lang="en-US"/>
          </a:p>
        </p:txBody>
      </p:sp>
    </p:spTree>
    <p:extLst>
      <p:ext uri="{BB962C8B-B14F-4D97-AF65-F5344CB8AC3E}">
        <p14:creationId xmlns:p14="http://schemas.microsoft.com/office/powerpoint/2010/main" val="412631971"/>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Advantages of Individual Level Analyses</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2" name="TextBox 1">
            <a:extLst>
              <a:ext uri="{FF2B5EF4-FFF2-40B4-BE49-F238E27FC236}">
                <a16:creationId xmlns:a16="http://schemas.microsoft.com/office/drawing/2014/main" id="{4E70B68F-29A0-406C-A761-B81F03883AEA}"/>
              </a:ext>
            </a:extLst>
          </p:cNvPr>
          <p:cNvSpPr txBox="1"/>
          <p:nvPr/>
        </p:nvSpPr>
        <p:spPr>
          <a:xfrm>
            <a:off x="335666" y="1620455"/>
            <a:ext cx="11343190" cy="5463034"/>
          </a:xfrm>
          <a:prstGeom prst="rect">
            <a:avLst/>
          </a:prstGeom>
          <a:noFill/>
        </p:spPr>
        <p:txBody>
          <a:bodyPr wrap="square" rtlCol="0">
            <a:spAutoFit/>
          </a:bodyPr>
          <a:lstStyle/>
          <a:p>
            <a:pPr marL="457200" indent="-457200">
              <a:spcAft>
                <a:spcPts val="1800"/>
              </a:spcAft>
              <a:buFontTx/>
              <a:buBlip>
                <a:blip r:embed="rId4"/>
              </a:buBlip>
              <a:tabLst>
                <a:tab pos="576263" algn="l"/>
                <a:tab pos="1152525" algn="l"/>
              </a:tabLst>
            </a:pPr>
            <a:r>
              <a:rPr lang="en-US" altLang="en-US" sz="3200" dirty="0">
                <a:cs typeface="Arial" pitchFamily="34" charset="0"/>
              </a:rPr>
              <a:t>Simplify to standard statistical procedures in the absence of clustering.</a:t>
            </a:r>
          </a:p>
          <a:p>
            <a:pPr marL="457200" indent="-457200">
              <a:spcAft>
                <a:spcPts val="1800"/>
              </a:spcAft>
              <a:buFontTx/>
              <a:buBlip>
                <a:blip r:embed="rId4"/>
              </a:buBlip>
              <a:tabLst>
                <a:tab pos="576263" algn="l"/>
                <a:tab pos="1152525" algn="l"/>
              </a:tabLst>
            </a:pPr>
            <a:r>
              <a:rPr lang="en-US" altLang="en-US" sz="3200" dirty="0">
                <a:cs typeface="Arial" pitchFamily="34" charset="0"/>
              </a:rPr>
              <a:t>Allow more direct examination of the joint effects of cluster-level and individual-level predictors.</a:t>
            </a:r>
          </a:p>
          <a:p>
            <a:pPr marL="457200" indent="-457200">
              <a:spcAft>
                <a:spcPts val="1800"/>
              </a:spcAft>
              <a:buFontTx/>
              <a:buBlip>
                <a:blip r:embed="rId4"/>
              </a:buBlip>
              <a:tabLst>
                <a:tab pos="576263" algn="l"/>
                <a:tab pos="1152525" algn="l"/>
              </a:tabLst>
            </a:pPr>
            <a:r>
              <a:rPr lang="en-US" altLang="en-US" sz="3200" dirty="0">
                <a:cs typeface="Arial" pitchFamily="34" charset="0"/>
              </a:rPr>
              <a:t>Can be extended to analyze multi-level data.</a:t>
            </a:r>
          </a:p>
          <a:p>
            <a:pPr marL="457200" indent="-457200">
              <a:spcAft>
                <a:spcPts val="1800"/>
              </a:spcAft>
              <a:buFontTx/>
              <a:buBlip>
                <a:blip r:embed="rId4"/>
              </a:buBlip>
              <a:tabLst>
                <a:tab pos="576263" algn="l"/>
                <a:tab pos="1152525" algn="l"/>
              </a:tabLst>
            </a:pPr>
            <a:r>
              <a:rPr lang="en-US" altLang="en-US" sz="3200" dirty="0">
                <a:cs typeface="Arial" pitchFamily="34" charset="0"/>
              </a:rPr>
              <a:t>More naturally results in estimation of intra-cluster correlation coefficients helpful in designing future studies.</a:t>
            </a:r>
          </a:p>
          <a:p>
            <a:pPr marL="457200" indent="-457200">
              <a:spcAft>
                <a:spcPts val="1800"/>
              </a:spcAft>
              <a:buFontTx/>
              <a:buBlip>
                <a:blip r:embed="rId4"/>
              </a:buBlip>
              <a:tabLst>
                <a:tab pos="576263" algn="l"/>
                <a:tab pos="1152525" algn="l"/>
              </a:tabLst>
            </a:pPr>
            <a:r>
              <a:rPr lang="en-US" altLang="en-US" sz="3200" dirty="0">
                <a:cs typeface="Arial" pitchFamily="34" charset="0"/>
              </a:rPr>
              <a:t>Readily allows for adjusting for covariates/confounders</a:t>
            </a:r>
            <a:endParaRPr lang="en-CA" altLang="en-US" sz="3200" dirty="0"/>
          </a:p>
          <a:p>
            <a:endParaRPr lang="en-US" dirty="0"/>
          </a:p>
        </p:txBody>
      </p:sp>
      <p:sp>
        <p:nvSpPr>
          <p:cNvPr id="3" name="Footer Placeholder 2">
            <a:extLst>
              <a:ext uri="{FF2B5EF4-FFF2-40B4-BE49-F238E27FC236}">
                <a16:creationId xmlns:a16="http://schemas.microsoft.com/office/drawing/2014/main" id="{46D08E92-A653-15B8-358F-2CF64F53B57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A92A0D1-23E2-7E93-F6F3-64BB30B5B541}"/>
              </a:ext>
            </a:extLst>
          </p:cNvPr>
          <p:cNvSpPr>
            <a:spLocks noGrp="1"/>
          </p:cNvSpPr>
          <p:nvPr>
            <p:ph type="sldNum" sz="quarter" idx="12"/>
          </p:nvPr>
        </p:nvSpPr>
        <p:spPr/>
        <p:txBody>
          <a:bodyPr/>
          <a:lstStyle/>
          <a:p>
            <a:fld id="{77C6A7FE-225D-49F1-B302-AA37EA92BB49}" type="slidenum">
              <a:rPr lang="en-US" smtClean="0"/>
              <a:t>98</a:t>
            </a:fld>
            <a:endParaRPr lang="en-US"/>
          </a:p>
        </p:txBody>
      </p:sp>
    </p:spTree>
    <p:extLst>
      <p:ext uri="{BB962C8B-B14F-4D97-AF65-F5344CB8AC3E}">
        <p14:creationId xmlns:p14="http://schemas.microsoft.com/office/powerpoint/2010/main" val="51236179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189CA74-E87E-F949-8C46-1E541069E624}"/>
              </a:ext>
            </a:extLst>
          </p:cNvPr>
          <p:cNvSpPr/>
          <p:nvPr/>
        </p:nvSpPr>
        <p:spPr>
          <a:xfrm>
            <a:off x="0" y="-18030"/>
            <a:ext cx="12192000" cy="138691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Cluster-level analysis: HPTN with a binary outcome</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CC86A15-484E-6943-A7AA-DDCFF3C06261}"/>
                  </a:ext>
                </a:extLst>
              </p:cNvPr>
              <p:cNvSpPr txBox="1"/>
              <p:nvPr/>
            </p:nvSpPr>
            <p:spPr>
              <a:xfrm>
                <a:off x="759148" y="1614991"/>
                <a:ext cx="11299131" cy="4583819"/>
              </a:xfrm>
              <a:prstGeom prst="rect">
                <a:avLst/>
              </a:prstGeom>
              <a:noFill/>
            </p:spPr>
            <p:txBody>
              <a:bodyPr wrap="square" rtlCol="0">
                <a:spAutoFit/>
              </a:bodyPr>
              <a:lstStyle/>
              <a:p>
                <a:r>
                  <a:rPr lang="en-US" sz="2400" dirty="0"/>
                  <a:t>Recall: in the HPTN study we have</a:t>
                </a:r>
              </a:p>
              <a:p>
                <a:pPr marL="285750" indent="-285750">
                  <a:buFont typeface="Arial" panose="020B0604020202020204" pitchFamily="34" charset="0"/>
                  <a:buChar char="•"/>
                </a:pPr>
                <a:r>
                  <a:rPr lang="en-US" sz="2400" dirty="0"/>
                  <a:t>the primary outcome is a cumulative 30-month risk injection behavior, ``shared cotton’’,</a:t>
                </a:r>
              </a:p>
              <a:p>
                <a:r>
                  <a:rPr lang="en-US" sz="2400" dirty="0"/>
                  <a:t>     which is an indicator variable for sharing needle/syringe “works".</a:t>
                </a:r>
              </a:p>
              <a:p>
                <a:pPr marL="285750" indent="-285750">
                  <a:buFont typeface="Arial" panose="020B0604020202020204" pitchFamily="34" charset="0"/>
                  <a:buChar char="•"/>
                </a:pP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𝑌</m:t>
                        </m:r>
                      </m:e>
                      <m:sub>
                        <m:r>
                          <a:rPr lang="en-US" sz="2400" b="0" i="1" smtClean="0">
                            <a:latin typeface="Cambria Math" panose="02040503050406030204" pitchFamily="18" charset="0"/>
                          </a:rPr>
                          <m:t>𝑖𝑗𝑘</m:t>
                        </m:r>
                      </m:sub>
                    </m:sSub>
                    <m:r>
                      <a:rPr lang="en-US" sz="2400" b="0" i="1" smtClean="0">
                        <a:latin typeface="Cambria Math" panose="02040503050406030204" pitchFamily="18" charset="0"/>
                      </a:rPr>
                      <m:t>=1</m:t>
                    </m:r>
                  </m:oMath>
                </a14:m>
                <a:r>
                  <a:rPr lang="en-US" sz="2400" dirty="0"/>
                  <a:t> for the participants having the risk injection behavior,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𝑖𝑗𝑘</m:t>
                        </m:r>
                      </m:sub>
                    </m:sSub>
                    <m:r>
                      <a:rPr lang="en-US" sz="2400" i="1">
                        <a:latin typeface="Cambria Math" panose="02040503050406030204" pitchFamily="18" charset="0"/>
                      </a:rPr>
                      <m:t>=</m:t>
                    </m:r>
                    <m:r>
                      <a:rPr lang="en-US" sz="2400" b="0" i="1" smtClean="0">
                        <a:latin typeface="Cambria Math" panose="02040503050406030204" pitchFamily="18" charset="0"/>
                      </a:rPr>
                      <m:t>0</m:t>
                    </m:r>
                  </m:oMath>
                </a14:m>
                <a:r>
                  <a:rPr lang="en-US" sz="2400" dirty="0"/>
                  <a:t> for otherwise.</a:t>
                </a:r>
              </a:p>
              <a:p>
                <a:pPr marL="285750" indent="-285750">
                  <a:buFont typeface="Arial" panose="020B0604020202020204" pitchFamily="34" charset="0"/>
                  <a:buChar char="•"/>
                </a:pP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𝑋</m:t>
                        </m:r>
                      </m:e>
                      <m:sub>
                        <m:r>
                          <a:rPr lang="en-US" sz="2400" i="1">
                            <a:latin typeface="Cambria Math" panose="02040503050406030204" pitchFamily="18" charset="0"/>
                          </a:rPr>
                          <m:t>𝑖𝑗𝑘</m:t>
                        </m:r>
                      </m:sub>
                    </m:sSub>
                    <m:r>
                      <a:rPr lang="en-US" sz="2400" i="1">
                        <a:latin typeface="Cambria Math" panose="02040503050406030204" pitchFamily="18" charset="0"/>
                      </a:rPr>
                      <m:t>=1</m:t>
                    </m:r>
                  </m:oMath>
                </a14:m>
                <a:r>
                  <a:rPr lang="en-US" sz="2400" dirty="0"/>
                  <a:t> for the participants in the intervention group,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𝑋</m:t>
                        </m:r>
                      </m:e>
                      <m:sub>
                        <m:r>
                          <a:rPr lang="en-US" sz="2400" i="1">
                            <a:latin typeface="Cambria Math" panose="02040503050406030204" pitchFamily="18" charset="0"/>
                          </a:rPr>
                          <m:t>𝑖𝑗𝑘</m:t>
                        </m:r>
                      </m:sub>
                    </m:sSub>
                    <m:r>
                      <a:rPr lang="en-US" sz="2400" i="1">
                        <a:latin typeface="Cambria Math" panose="02040503050406030204" pitchFamily="18" charset="0"/>
                      </a:rPr>
                      <m:t>=</m:t>
                    </m:r>
                    <m:r>
                      <a:rPr lang="en-US" sz="2400" b="0" i="1" smtClean="0">
                        <a:latin typeface="Cambria Math" panose="02040503050406030204" pitchFamily="18" charset="0"/>
                      </a:rPr>
                      <m:t>0</m:t>
                    </m:r>
                  </m:oMath>
                </a14:m>
                <a:r>
                  <a:rPr lang="en-US" sz="2400" dirty="0"/>
                  <a:t>  for the participant is in control group.</a:t>
                </a:r>
              </a:p>
              <a:p>
                <a:pPr marL="285750" indent="-285750">
                  <a:buFont typeface="Arial" panose="020B0604020202020204" pitchFamily="34" charset="0"/>
                  <a:buChar char="•"/>
                </a:pPr>
                <a:r>
                  <a:rPr lang="en-US" sz="2400" dirty="0"/>
                  <a:t>total </a:t>
                </a:r>
                <a14:m>
                  <m:oMath xmlns:m="http://schemas.openxmlformats.org/officeDocument/2006/math">
                    <m:r>
                      <a:rPr lang="en-US" sz="2400" b="0" i="1" smtClean="0">
                        <a:latin typeface="Cambria Math" panose="02040503050406030204" pitchFamily="18" charset="0"/>
                      </a:rPr>
                      <m:t>𝑛</m:t>
                    </m:r>
                    <m:r>
                      <a:rPr lang="en-US" sz="2400" b="0" i="1" smtClean="0">
                        <a:latin typeface="Cambria Math" panose="02040503050406030204" pitchFamily="18" charset="0"/>
                      </a:rPr>
                      <m:t>=696</m:t>
                    </m:r>
                  </m:oMath>
                </a14:m>
                <a:r>
                  <a:rPr lang="en-US" sz="2400" dirty="0"/>
                  <a:t> participants</a:t>
                </a:r>
              </a:p>
              <a:p>
                <a:pPr marL="285750" indent="-285750">
                  <a:buFont typeface="Arial" panose="020B0604020202020204" pitchFamily="34" charset="0"/>
                  <a:buChar char="•"/>
                </a:pPr>
                <a:r>
                  <a:rPr lang="en-US" sz="2400" dirty="0"/>
                  <a:t>The cluster variable is network id, where there are 112 networks with intervention, and 120 control networks.</a:t>
                </a:r>
              </a:p>
              <a:p>
                <a:r>
                  <a:rPr lang="en-US" sz="2400" dirty="0"/>
                  <a:t> </a:t>
                </a:r>
              </a:p>
              <a:p>
                <a:r>
                  <a:rPr lang="en-US" sz="2400" dirty="0"/>
                  <a:t>We will do a cluster-level analysis for HPTN data, and we will compare the results with individual level analysis considering clustering, and not.</a:t>
                </a:r>
              </a:p>
            </p:txBody>
          </p:sp>
        </mc:Choice>
        <mc:Fallback xmlns="">
          <p:sp>
            <p:nvSpPr>
              <p:cNvPr id="5" name="TextBox 4">
                <a:extLst>
                  <a:ext uri="{FF2B5EF4-FFF2-40B4-BE49-F238E27FC236}">
                    <a16:creationId xmlns:a16="http://schemas.microsoft.com/office/drawing/2014/main" id="{DCC86A15-484E-6943-A7AA-DDCFF3C06261}"/>
                  </a:ext>
                </a:extLst>
              </p:cNvPr>
              <p:cNvSpPr txBox="1">
                <a:spLocks noRot="1" noChangeAspect="1" noMove="1" noResize="1" noEditPoints="1" noAdjustHandles="1" noChangeArrowheads="1" noChangeShapeType="1" noTextEdit="1"/>
              </p:cNvSpPr>
              <p:nvPr/>
            </p:nvSpPr>
            <p:spPr>
              <a:xfrm>
                <a:off x="759148" y="1614991"/>
                <a:ext cx="11299131" cy="4583819"/>
              </a:xfrm>
              <a:prstGeom prst="rect">
                <a:avLst/>
              </a:prstGeom>
              <a:blipFill>
                <a:blip r:embed="rId2"/>
                <a:stretch>
                  <a:fillRect l="-863" t="-1064" r="-971" b="-1995"/>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C31E757E-F531-21AA-A464-2D83AD616778}"/>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06B13516-7A09-8870-9E38-E90C6BD5B3EB}"/>
              </a:ext>
            </a:extLst>
          </p:cNvPr>
          <p:cNvSpPr>
            <a:spLocks noGrp="1"/>
          </p:cNvSpPr>
          <p:nvPr>
            <p:ph type="sldNum" sz="quarter" idx="12"/>
          </p:nvPr>
        </p:nvSpPr>
        <p:spPr/>
        <p:txBody>
          <a:bodyPr/>
          <a:lstStyle/>
          <a:p>
            <a:fld id="{77C6A7FE-225D-49F1-B302-AA37EA92BB49}" type="slidenum">
              <a:rPr lang="en-US" smtClean="0"/>
              <a:t>99</a:t>
            </a:fld>
            <a:endParaRPr lang="en-US"/>
          </a:p>
        </p:txBody>
      </p:sp>
    </p:spTree>
    <p:extLst>
      <p:ext uri="{BB962C8B-B14F-4D97-AF65-F5344CB8AC3E}">
        <p14:creationId xmlns:p14="http://schemas.microsoft.com/office/powerpoint/2010/main" val="2006551815"/>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8FE4A9E-F129-9143-AA9F-4BBFDEEBFFC3}"/>
              </a:ext>
            </a:extLst>
          </p:cNvPr>
          <p:cNvSpPr/>
          <p:nvPr/>
        </p:nvSpPr>
        <p:spPr>
          <a:xfrm>
            <a:off x="0" y="-18030"/>
            <a:ext cx="12192000" cy="138691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Cluster-level analysis </a:t>
            </a:r>
            <a:r>
              <a:rPr lang="en-US" altLang="zh-CN" sz="2800" dirty="0">
                <a:solidFill>
                  <a:schemeClr val="bg1"/>
                </a:solidFill>
              </a:rPr>
              <a:t>example</a:t>
            </a:r>
            <a:r>
              <a:rPr lang="zh-CN" altLang="en-US" sz="2800" dirty="0">
                <a:solidFill>
                  <a:schemeClr val="bg1"/>
                </a:solidFill>
              </a:rPr>
              <a:t> </a:t>
            </a:r>
            <a:r>
              <a:rPr lang="en-US" sz="2800" dirty="0">
                <a:solidFill>
                  <a:schemeClr val="bg1"/>
                </a:solidFill>
              </a:rPr>
              <a:t>for HPTN with a binary outcome</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C4FC1CB-84EC-904F-B31B-60BDBE9CD835}"/>
                  </a:ext>
                </a:extLst>
              </p:cNvPr>
              <p:cNvSpPr txBox="1"/>
              <p:nvPr/>
            </p:nvSpPr>
            <p:spPr>
              <a:xfrm>
                <a:off x="238216" y="1368882"/>
                <a:ext cx="11212257" cy="5527347"/>
              </a:xfrm>
              <a:prstGeom prst="rect">
                <a:avLst/>
              </a:prstGeom>
              <a:noFill/>
            </p:spPr>
            <p:txBody>
              <a:bodyPr wrap="square" rtlCol="0">
                <a:spAutoFit/>
              </a:bodyPr>
              <a:lstStyle/>
              <a:p>
                <a:r>
                  <a:rPr lang="en-US" dirty="0"/>
                  <a:t>For the binary outcome in HPTN data and with the risk difference as the parameter of interest, we will use the formula in slides 78-79 to calculate the test statistic</a:t>
                </a:r>
              </a:p>
              <a:p>
                <a:pPr marL="285750" indent="-285750">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i="1">
                            <a:latin typeface="Cambria Math" panose="02040503050406030204" pitchFamily="18" charset="0"/>
                          </a:rPr>
                          <m:t>𝑖𝑘</m:t>
                        </m:r>
                      </m:sub>
                    </m:sSub>
                    <m:r>
                      <a:rPr lang="en-US" b="0" i="1" smtClean="0">
                        <a:latin typeface="Cambria Math" panose="02040503050406030204" pitchFamily="18" charset="0"/>
                      </a:rPr>
                      <m:t>= </m:t>
                    </m:r>
                    <m:f>
                      <m:fPr>
                        <m:ctrlPr>
                          <a:rPr lang="en-US" b="0" i="1" smtClean="0">
                            <a:latin typeface="Cambria Math" panose="02040503050406030204" pitchFamily="18" charset="0"/>
                          </a:rPr>
                        </m:ctrlPr>
                      </m:fPr>
                      <m:num>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=1</m:t>
                            </m:r>
                          </m:sub>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𝑖𝑘</m:t>
                                </m:r>
                              </m:sub>
                            </m:s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𝑖𝑗𝑘</m:t>
                                </m:r>
                              </m:sub>
                            </m:sSub>
                          </m:e>
                        </m:nary>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𝑖𝑘</m:t>
                            </m:r>
                          </m:sub>
                        </m:sSub>
                      </m:den>
                    </m:f>
                  </m:oMath>
                </a14:m>
                <a:r>
                  <a:rPr lang="en-US" dirty="0"/>
                  <a:t>, which is the network mean for each network</a:t>
                </a:r>
              </a:p>
              <a:p>
                <a:pPr marL="285750" indent="-285750">
                  <a:buFont typeface="Arial" panose="020B0604020202020204" pitchFamily="34" charset="0"/>
                  <a:buChar char="•"/>
                </a:pP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rPr>
                          <m:t>𝑖𝑘</m:t>
                        </m:r>
                      </m:sub>
                      <m:sup>
                        <m:r>
                          <a:rPr lang="en-US" i="1">
                            <a:latin typeface="Cambria Math" panose="02040503050406030204" pitchFamily="18" charset="0"/>
                          </a:rPr>
                          <m:t>2</m:t>
                        </m:r>
                      </m:sup>
                    </m:sSubSup>
                    <m:r>
                      <a:rPr lang="en-CA" b="0" i="1" smtClean="0">
                        <a:latin typeface="Cambria Math" panose="02040503050406030204" pitchFamily="18" charset="0"/>
                      </a:rPr>
                      <m:t>=</m:t>
                    </m:r>
                    <m:r>
                      <a:rPr lang="en-CA" b="0" i="1" smtClean="0">
                        <a:latin typeface="Cambria Math" panose="02040503050406030204" pitchFamily="18" charset="0"/>
                      </a:rPr>
                      <m:t>𝑉𝑎𝑟</m:t>
                    </m:r>
                    <m:d>
                      <m:dPr>
                        <m:ctrlPr>
                          <a:rPr lang="en-CA" b="0" i="1" smtClean="0">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i="1">
                                <a:latin typeface="Cambria Math" panose="02040503050406030204" pitchFamily="18" charset="0"/>
                              </a:rPr>
                              <m:t>𝑖𝑘</m:t>
                            </m:r>
                          </m:sub>
                        </m:sSub>
                      </m:e>
                    </m:d>
                    <m:r>
                      <a:rPr lang="en-US" i="1" smtClean="0">
                        <a:latin typeface="Cambria Math" panose="02040503050406030204" pitchFamily="18" charset="0"/>
                        <a:ea typeface="Cambria Math" panose="02040503050406030204" pitchFamily="18" charset="0"/>
                      </a:rPr>
                      <m:t>≈</m:t>
                    </m:r>
                  </m:oMath>
                </a14:m>
                <a:r>
                  <a:rPr lang="en-US" dirty="0"/>
                  <a:t> </a:t>
                </a:r>
                <a14:m>
                  <m:oMath xmlns:m="http://schemas.openxmlformats.org/officeDocument/2006/math">
                    <m:r>
                      <a:rPr lang="en-CA" i="1">
                        <a:latin typeface="Cambria Math" panose="02040503050406030204" pitchFamily="18" charset="0"/>
                      </a:rPr>
                      <m:t>𝑉𝑎𝑟</m:t>
                    </m:r>
                    <m:d>
                      <m:dPr>
                        <m:ctrlPr>
                          <a:rPr lang="en-CA"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i="1">
                                <a:latin typeface="Cambria Math" panose="02040503050406030204" pitchFamily="18" charset="0"/>
                              </a:rPr>
                              <m:t>𝑖</m:t>
                            </m:r>
                          </m:sub>
                        </m:sSub>
                      </m:e>
                    </m:d>
                  </m:oMath>
                </a14:m>
                <a:r>
                  <a:rPr lang="en-US" dirty="0"/>
                  <a:t> = </a:t>
                </a: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i="1">
                                <a:latin typeface="Cambria Math" panose="02040503050406030204" pitchFamily="18" charset="0"/>
                              </a:rPr>
                              <m:t>𝑖</m:t>
                            </m:r>
                          </m:sub>
                        </m:sSub>
                        <m:r>
                          <a:rPr lang="en-US" b="0" i="1" smtClean="0">
                            <a:latin typeface="Cambria Math" panose="02040503050406030204" pitchFamily="18" charset="0"/>
                          </a:rPr>
                          <m:t>(1−</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i="1">
                                <a:latin typeface="Cambria Math" panose="02040503050406030204" pitchFamily="18" charset="0"/>
                              </a:rPr>
                              <m:t>𝑖</m:t>
                            </m:r>
                          </m:sub>
                        </m:sSub>
                        <m:r>
                          <a:rPr lang="en-US" b="0" i="1" smtClean="0">
                            <a:latin typeface="Cambria Math" panose="02040503050406030204" pitchFamily="18" charset="0"/>
                          </a:rPr>
                          <m:t>)</m:t>
                        </m:r>
                      </m:num>
                      <m:den>
                        <m:sSub>
                          <m:sSubPr>
                            <m:ctrlPr>
                              <a:rPr lang="en-US"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𝑖𝑘</m:t>
                            </m:r>
                          </m:sub>
                        </m:sSub>
                      </m:den>
                    </m:f>
                  </m:oMath>
                </a14:m>
                <a:r>
                  <a:rPr lang="en-US" dirty="0"/>
                  <a:t>, where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i="1">
                            <a:latin typeface="Cambria Math" panose="02040503050406030204" pitchFamily="18" charset="0"/>
                          </a:rPr>
                          <m:t>𝑖</m:t>
                        </m:r>
                      </m:sub>
                    </m:sSub>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𝐾</m:t>
                        </m:r>
                      </m:sup>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i="1">
                                <a:latin typeface="Cambria Math" panose="02040503050406030204" pitchFamily="18" charset="0"/>
                              </a:rPr>
                              <m:t>𝑖𝑘</m:t>
                            </m:r>
                          </m:sub>
                        </m:sSub>
                        <m:r>
                          <a:rPr lang="en-US" b="0" i="1" smtClean="0">
                            <a:latin typeface="Cambria Math" panose="02040503050406030204" pitchFamily="18" charset="0"/>
                          </a:rPr>
                          <m:t>/</m:t>
                        </m:r>
                        <m:r>
                          <a:rPr lang="en-US" b="0" i="1" smtClean="0">
                            <a:latin typeface="Cambria Math" panose="02040503050406030204" pitchFamily="18" charset="0"/>
                          </a:rPr>
                          <m:t>𝐾</m:t>
                        </m:r>
                      </m:e>
                    </m:nary>
                  </m:oMath>
                </a14:m>
                <a:r>
                  <a:rPr lang="en-US" dirty="0"/>
                  <a:t>, because some clusters had 0 probability</a:t>
                </a:r>
              </a:p>
              <a:p>
                <a:pPr marL="285750" indent="-285750">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b="0" i="1" smtClean="0">
                            <a:latin typeface="Cambria Math" panose="02040503050406030204" pitchFamily="18" charset="0"/>
                          </a:rPr>
                          <m:t>1</m:t>
                        </m:r>
                        <m:r>
                          <a:rPr lang="en-US" i="1">
                            <a:latin typeface="Cambria Math" panose="02040503050406030204" pitchFamily="18" charset="0"/>
                          </a:rPr>
                          <m:t>𝑘</m:t>
                        </m:r>
                      </m:sub>
                    </m:sSub>
                    <m:r>
                      <a:rPr lang="en-US" i="1">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1/</m:t>
                        </m:r>
                        <m:sSubSup>
                          <m:sSubSupPr>
                            <m:ctrlPr>
                              <a:rPr lang="en-US" i="1">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1</m:t>
                            </m:r>
                            <m:r>
                              <a:rPr lang="en-US" i="1">
                                <a:latin typeface="Cambria Math" panose="02040503050406030204" pitchFamily="18" charset="0"/>
                              </a:rPr>
                              <m:t>𝑘</m:t>
                            </m:r>
                          </m:sub>
                          <m:sup>
                            <m:r>
                              <a:rPr lang="en-US" i="1">
                                <a:latin typeface="Cambria Math" panose="02040503050406030204" pitchFamily="18" charset="0"/>
                              </a:rPr>
                              <m:t>2</m:t>
                            </m:r>
                          </m:sup>
                        </m:sSubSup>
                      </m:num>
                      <m:den>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𝑘</m:t>
                            </m:r>
                            <m:r>
                              <a:rPr lang="en-US" i="1">
                                <a:latin typeface="Cambria Math" panose="02040503050406030204" pitchFamily="18" charset="0"/>
                              </a:rPr>
                              <m:t>=1</m:t>
                            </m:r>
                          </m:sub>
                          <m:sup>
                            <m:sSub>
                              <m:sSubPr>
                                <m:ctrlPr>
                                  <a:rPr lang="en-US"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1</m:t>
                                </m:r>
                              </m:sub>
                            </m:sSub>
                          </m:sup>
                          <m:e>
                            <m:sSubSup>
                              <m:sSubSupPr>
                                <m:ctrlPr>
                                  <a:rPr lang="en-US" i="1">
                                    <a:latin typeface="Cambria Math" panose="02040503050406030204" pitchFamily="18" charset="0"/>
                                  </a:rPr>
                                </m:ctrlPr>
                              </m:sSubSupPr>
                              <m:e>
                                <m:r>
                                  <a:rPr lang="en-US" b="0" i="1" smtClean="0">
                                    <a:latin typeface="Cambria Math" panose="02040503050406030204" pitchFamily="18" charset="0"/>
                                  </a:rPr>
                                  <m:t>1/</m:t>
                                </m:r>
                                <m:r>
                                  <a:rPr lang="en-US" i="1">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1</m:t>
                                </m:r>
                                <m:r>
                                  <a:rPr lang="en-US" i="1">
                                    <a:latin typeface="Cambria Math" panose="02040503050406030204" pitchFamily="18" charset="0"/>
                                  </a:rPr>
                                  <m:t>𝑘</m:t>
                                </m:r>
                              </m:sub>
                              <m:sup>
                                <m:r>
                                  <a:rPr lang="en-US" i="1">
                                    <a:latin typeface="Cambria Math" panose="02040503050406030204" pitchFamily="18" charset="0"/>
                                  </a:rPr>
                                  <m:t>2</m:t>
                                </m:r>
                              </m:sup>
                            </m:sSubSup>
                          </m:e>
                        </m:nary>
                      </m:den>
                    </m:f>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b="0" i="1" smtClean="0">
                            <a:latin typeface="Cambria Math" panose="02040503050406030204" pitchFamily="18" charset="0"/>
                          </a:rPr>
                          <m:t>2</m:t>
                        </m:r>
                        <m:r>
                          <a:rPr lang="en-US" i="1">
                            <a:latin typeface="Cambria Math" panose="02040503050406030204" pitchFamily="18" charset="0"/>
                          </a:rPr>
                          <m:t>𝑘</m:t>
                        </m:r>
                      </m:sub>
                    </m:sSub>
                    <m:r>
                      <a:rPr lang="en-US" i="1">
                        <a:latin typeface="Cambria Math" panose="02040503050406030204" pitchFamily="18" charset="0"/>
                      </a:rPr>
                      <m:t>=</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b="0" i="1" smtClean="0">
                                <a:latin typeface="Cambria Math" panose="02040503050406030204" pitchFamily="18" charset="0"/>
                              </a:rPr>
                              <m:t>1/</m:t>
                            </m:r>
                            <m:r>
                              <a:rPr lang="en-US" i="1">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2</m:t>
                            </m:r>
                            <m:r>
                              <a:rPr lang="en-US" i="1">
                                <a:latin typeface="Cambria Math" panose="02040503050406030204" pitchFamily="18" charset="0"/>
                              </a:rPr>
                              <m:t>𝑘</m:t>
                            </m:r>
                          </m:sub>
                          <m:sup>
                            <m:r>
                              <a:rPr lang="en-US" i="1">
                                <a:latin typeface="Cambria Math" panose="02040503050406030204" pitchFamily="18" charset="0"/>
                              </a:rPr>
                              <m:t>2</m:t>
                            </m:r>
                          </m:sup>
                        </m:sSubSup>
                      </m:num>
                      <m:den>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𝑘</m:t>
                            </m:r>
                            <m:r>
                              <a:rPr lang="en-US" i="1">
                                <a:latin typeface="Cambria Math" panose="02040503050406030204" pitchFamily="18" charset="0"/>
                              </a:rPr>
                              <m:t>=1</m:t>
                            </m:r>
                          </m:sub>
                          <m:sup>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b="0" i="1" smtClean="0">
                                    <a:latin typeface="Cambria Math" panose="02040503050406030204" pitchFamily="18" charset="0"/>
                                  </a:rPr>
                                  <m:t>2</m:t>
                                </m:r>
                              </m:sub>
                            </m:sSub>
                          </m:sup>
                          <m:e>
                            <m:r>
                              <a:rPr lang="en-US" b="0" i="1" smtClean="0">
                                <a:latin typeface="Cambria Math" panose="02040503050406030204" pitchFamily="18" charset="0"/>
                              </a:rPr>
                              <m:t>1/</m:t>
                            </m:r>
                            <m:sSubSup>
                              <m:sSubSupPr>
                                <m:ctrlPr>
                                  <a:rPr lang="en-US" i="1">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2</m:t>
                                </m:r>
                                <m:r>
                                  <a:rPr lang="en-US" i="1">
                                    <a:latin typeface="Cambria Math" panose="02040503050406030204" pitchFamily="18" charset="0"/>
                                  </a:rPr>
                                  <m:t>𝑘</m:t>
                                </m:r>
                              </m:sub>
                              <m:sup>
                                <m:r>
                                  <a:rPr lang="en-US" i="1">
                                    <a:latin typeface="Cambria Math" panose="02040503050406030204" pitchFamily="18" charset="0"/>
                                  </a:rPr>
                                  <m:t>2</m:t>
                                </m:r>
                              </m:sup>
                            </m:sSubSup>
                          </m:e>
                        </m:nary>
                      </m:den>
                    </m:f>
                  </m:oMath>
                </a14:m>
                <a:r>
                  <a:rPr lang="en-US" dirty="0"/>
                  <a:t> with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1</m:t>
                        </m:r>
                      </m:sub>
                    </m:sSub>
                    <m:r>
                      <a:rPr lang="en-US" b="0" i="1" smtClean="0">
                        <a:latin typeface="Cambria Math" panose="02040503050406030204" pitchFamily="18" charset="0"/>
                      </a:rPr>
                      <m:t>=112</m:t>
                    </m:r>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b="0" i="1" smtClean="0">
                            <a:latin typeface="Cambria Math" panose="02040503050406030204" pitchFamily="18" charset="0"/>
                          </a:rPr>
                          <m:t>2</m:t>
                        </m:r>
                      </m:sub>
                    </m:sSub>
                    <m:r>
                      <a:rPr lang="en-US" i="1">
                        <a:latin typeface="Cambria Math" panose="02040503050406030204" pitchFamily="18" charset="0"/>
                      </a:rPr>
                      <m:t>=1</m:t>
                    </m:r>
                    <m:r>
                      <a:rPr lang="en-US" b="0" i="1" smtClean="0">
                        <a:latin typeface="Cambria Math" panose="02040503050406030204" pitchFamily="18" charset="0"/>
                      </a:rPr>
                      <m:t>20</m:t>
                    </m:r>
                  </m:oMath>
                </a14:m>
                <a:endParaRPr lang="en-US" dirty="0"/>
              </a:p>
              <a:p>
                <a:pPr marL="285750" indent="-285750">
                  <a:buFont typeface="Arial" panose="020B0604020202020204" pitchFamily="34" charset="0"/>
                  <a:buChar char="•"/>
                </a:pPr>
                <a14:m>
                  <m:oMath xmlns:m="http://schemas.openxmlformats.org/officeDocument/2006/math">
                    <m:acc>
                      <m:accPr>
                        <m:chr m:val="̂"/>
                        <m:ctrlPr>
                          <a:rPr lang="en-US" i="1" smtClean="0">
                            <a:latin typeface="Cambria Math" panose="02040503050406030204" pitchFamily="18" charset="0"/>
                          </a:rPr>
                        </m:ctrlPr>
                      </m:accPr>
                      <m:e>
                        <m:r>
                          <a:rPr lang="en-US" i="1">
                            <a:latin typeface="Cambria Math" panose="02040503050406030204" pitchFamily="18" charset="0"/>
                          </a:rPr>
                          <m:t>𝑉𝑎𝑟</m:t>
                        </m:r>
                      </m:e>
                    </m:acc>
                    <m:d>
                      <m:dPr>
                        <m:ctrlPr>
                          <a:rPr lang="en-US" i="1">
                            <a:latin typeface="Cambria Math" panose="02040503050406030204" pitchFamily="18" charset="0"/>
                          </a:rPr>
                        </m:ctrlPr>
                      </m:dPr>
                      <m:e>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𝑘</m:t>
                            </m:r>
                            <m:r>
                              <a:rPr lang="en-US" altLang="zh-CN" i="1">
                                <a:latin typeface="Cambria Math" panose="02040503050406030204" pitchFamily="18" charset="0"/>
                              </a:rPr>
                              <m:t>=1</m:t>
                            </m:r>
                          </m:sub>
                          <m:sup>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𝐾</m:t>
                                </m:r>
                              </m:e>
                              <m:sub>
                                <m:r>
                                  <a:rPr lang="en-US" altLang="zh-CN" b="0" i="1" smtClean="0">
                                    <a:latin typeface="Cambria Math" panose="02040503050406030204" pitchFamily="18" charset="0"/>
                                  </a:rPr>
                                  <m:t>1</m:t>
                                </m:r>
                              </m:sub>
                            </m:sSub>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1</m:t>
                                </m:r>
                                <m:r>
                                  <a:rPr lang="en-US" altLang="zh-CN" i="1">
                                    <a:latin typeface="Cambria Math" panose="02040503050406030204" pitchFamily="18" charset="0"/>
                                  </a:rPr>
                                  <m:t>𝑘</m:t>
                                </m:r>
                              </m:sub>
                            </m:sSub>
                          </m:e>
                        </m:nary>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i="1">
                                <a:latin typeface="Cambria Math" panose="02040503050406030204" pitchFamily="18" charset="0"/>
                              </a:rPr>
                              <m:t>1</m:t>
                            </m:r>
                            <m:r>
                              <a:rPr lang="en-US" i="1">
                                <a:latin typeface="Cambria Math" panose="02040503050406030204" pitchFamily="18" charset="0"/>
                              </a:rPr>
                              <m:t>𝑘</m:t>
                            </m:r>
                          </m:sub>
                        </m:sSub>
                        <m:r>
                          <a:rPr lang="en-US" i="1">
                            <a:latin typeface="Cambria Math" panose="02040503050406030204" pitchFamily="18" charset="0"/>
                          </a:rPr>
                          <m:t>−</m:t>
                        </m:r>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𝑘</m:t>
                            </m:r>
                            <m:r>
                              <a:rPr lang="en-US" altLang="zh-CN" i="1">
                                <a:latin typeface="Cambria Math" panose="02040503050406030204" pitchFamily="18" charset="0"/>
                              </a:rPr>
                              <m:t>=1</m:t>
                            </m:r>
                          </m:sub>
                          <m:sup>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b="0" i="1" smtClean="0">
                                    <a:latin typeface="Cambria Math" panose="02040503050406030204" pitchFamily="18" charset="0"/>
                                  </a:rPr>
                                  <m:t>2</m:t>
                                </m:r>
                              </m:sub>
                            </m:sSub>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b="0" i="1" smtClean="0">
                                    <a:latin typeface="Cambria Math" panose="02040503050406030204" pitchFamily="18" charset="0"/>
                                  </a:rPr>
                                  <m:t>2</m:t>
                                </m:r>
                                <m:r>
                                  <a:rPr lang="en-US" altLang="zh-CN" i="1">
                                    <a:latin typeface="Cambria Math" panose="02040503050406030204" pitchFamily="18" charset="0"/>
                                  </a:rPr>
                                  <m:t>𝑘</m:t>
                                </m:r>
                              </m:sub>
                            </m:sSub>
                          </m:e>
                        </m:nary>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i="1">
                                <a:latin typeface="Cambria Math" panose="02040503050406030204" pitchFamily="18" charset="0"/>
                              </a:rPr>
                              <m:t>2</m:t>
                            </m:r>
                            <m:r>
                              <a:rPr lang="en-US" i="1">
                                <a:latin typeface="Cambria Math" panose="02040503050406030204" pitchFamily="18" charset="0"/>
                              </a:rPr>
                              <m:t>𝑘</m:t>
                            </m:r>
                          </m:sub>
                        </m:sSub>
                      </m:e>
                    </m:d>
                    <m:r>
                      <a:rPr lang="en-US" b="0" i="1" smtClean="0">
                        <a:latin typeface="Cambria Math" panose="02040503050406030204" pitchFamily="18" charset="0"/>
                      </a:rPr>
                      <m:t>=</m:t>
                    </m:r>
                  </m:oMath>
                </a14:m>
                <a:r>
                  <a:rPr lang="en-US" altLang="zh-CN" dirty="0"/>
                  <a:t> </a:t>
                </a:r>
                <a14:m>
                  <m:oMath xmlns:m="http://schemas.openxmlformats.org/officeDocument/2006/math">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𝑘</m:t>
                        </m:r>
                        <m:r>
                          <a:rPr lang="en-US" altLang="zh-CN" i="1">
                            <a:latin typeface="Cambria Math" panose="02040503050406030204" pitchFamily="18" charset="0"/>
                          </a:rPr>
                          <m:t>=1</m:t>
                        </m:r>
                      </m:sub>
                      <m:sup>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i="1">
                                <a:latin typeface="Cambria Math" panose="02040503050406030204" pitchFamily="18" charset="0"/>
                              </a:rPr>
                              <m:t>1</m:t>
                            </m:r>
                          </m:sub>
                        </m:sSub>
                      </m:sup>
                      <m:e>
                        <m:sSup>
                          <m:sSupPr>
                            <m:ctrlPr>
                              <a:rPr lang="en-US" i="1" dirty="0">
                                <a:latin typeface="Cambria Math" panose="02040503050406030204" pitchFamily="18" charset="0"/>
                              </a:rPr>
                            </m:ctrlPr>
                          </m:sSupPr>
                          <m:e>
                            <m:r>
                              <a:rPr lang="en-US" i="1" dirty="0">
                                <a:latin typeface="Cambria Math" panose="02040503050406030204" pitchFamily="18" charset="0"/>
                              </a:rPr>
                              <m:t>(</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b="0" i="1" smtClean="0">
                                        <a:latin typeface="Cambria Math" panose="02040503050406030204" pitchFamily="18" charset="0"/>
                                      </a:rPr>
                                      <m:t>1/</m:t>
                                    </m:r>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rPr>
                                      <m:t>𝑘</m:t>
                                    </m:r>
                                  </m:sub>
                                  <m:sup>
                                    <m:r>
                                      <a:rPr lang="en-US" i="1">
                                        <a:latin typeface="Cambria Math" panose="02040503050406030204" pitchFamily="18" charset="0"/>
                                      </a:rPr>
                                      <m:t>2</m:t>
                                    </m:r>
                                  </m:sup>
                                </m:sSubSup>
                              </m:num>
                              <m:den>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𝑘</m:t>
                                    </m:r>
                                    <m:r>
                                      <a:rPr lang="en-US" i="1">
                                        <a:latin typeface="Cambria Math" panose="02040503050406030204" pitchFamily="18" charset="0"/>
                                      </a:rPr>
                                      <m:t>=1</m:t>
                                    </m:r>
                                  </m:sub>
                                  <m:sup>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1</m:t>
                                        </m:r>
                                      </m:sub>
                                    </m:sSub>
                                  </m:sup>
                                  <m:e>
                                    <m:sSubSup>
                                      <m:sSubSupPr>
                                        <m:ctrlPr>
                                          <a:rPr lang="en-US" i="1">
                                            <a:latin typeface="Cambria Math" panose="02040503050406030204" pitchFamily="18" charset="0"/>
                                          </a:rPr>
                                        </m:ctrlPr>
                                      </m:sSubSupPr>
                                      <m:e>
                                        <m:r>
                                          <a:rPr lang="en-US" b="0" i="1" smtClean="0">
                                            <a:latin typeface="Cambria Math" panose="02040503050406030204" pitchFamily="18" charset="0"/>
                                          </a:rPr>
                                          <m:t>1/</m:t>
                                        </m:r>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rPr>
                                          <m:t>𝑘</m:t>
                                        </m:r>
                                      </m:sub>
                                      <m:sup>
                                        <m:r>
                                          <a:rPr lang="en-US" i="1">
                                            <a:latin typeface="Cambria Math" panose="02040503050406030204" pitchFamily="18" charset="0"/>
                                          </a:rPr>
                                          <m:t>2</m:t>
                                        </m:r>
                                      </m:sup>
                                    </m:sSubSup>
                                  </m:e>
                                </m:nary>
                              </m:den>
                            </m:f>
                            <m:r>
                              <a:rPr lang="en-US" i="1">
                                <a:latin typeface="Cambria Math" panose="02040503050406030204" pitchFamily="18" charset="0"/>
                              </a:rPr>
                              <m:t>)</m:t>
                            </m:r>
                          </m:e>
                          <m:sup>
                            <m:r>
                              <a:rPr lang="en-US" i="1" dirty="0">
                                <a:latin typeface="Cambria Math" panose="02040503050406030204" pitchFamily="18" charset="0"/>
                              </a:rPr>
                              <m:t>2</m:t>
                            </m:r>
                          </m:sup>
                        </m:sSup>
                      </m:e>
                    </m:nary>
                  </m:oMath>
                </a14:m>
                <a:r>
                  <a:rPr lang="en-US" dirty="0"/>
                  <a: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𝑉𝑎𝑟</m:t>
                        </m:r>
                      </m:e>
                    </m:acc>
                  </m:oMath>
                </a14:m>
                <a:r>
                  <a:rPr lang="en-US" dirty="0"/>
                  <a:t>(</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i="1">
                            <a:latin typeface="Cambria Math" panose="02040503050406030204" pitchFamily="18" charset="0"/>
                          </a:rPr>
                          <m:t>1</m:t>
                        </m:r>
                        <m:r>
                          <a:rPr lang="en-US" i="1">
                            <a:latin typeface="Cambria Math" panose="02040503050406030204" pitchFamily="18" charset="0"/>
                          </a:rPr>
                          <m:t>𝑘</m:t>
                        </m:r>
                      </m:sub>
                    </m:sSub>
                    <m:r>
                      <a:rPr lang="en-US" b="0" i="1" smtClean="0">
                        <a:latin typeface="Cambria Math" panose="02040503050406030204" pitchFamily="18" charset="0"/>
                      </a:rPr>
                      <m:t>)+</m:t>
                    </m:r>
                    <m:r>
                      <m:rPr>
                        <m:nor/>
                      </m:rPr>
                      <a:rPr lang="en-US" altLang="zh-CN" i="0" dirty="0"/>
                      <m:t> </m:t>
                    </m:r>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𝑘</m:t>
                        </m:r>
                        <m:r>
                          <a:rPr lang="en-US" altLang="zh-CN" i="1">
                            <a:latin typeface="Cambria Math" panose="02040503050406030204" pitchFamily="18" charset="0"/>
                          </a:rPr>
                          <m:t>=1</m:t>
                        </m:r>
                      </m:sub>
                      <m:sup>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b="0" i="1" smtClean="0">
                                <a:latin typeface="Cambria Math" panose="02040503050406030204" pitchFamily="18" charset="0"/>
                              </a:rPr>
                              <m:t>2</m:t>
                            </m:r>
                          </m:sub>
                        </m:sSub>
                      </m:sup>
                      <m:e>
                        <m:sSup>
                          <m:sSupPr>
                            <m:ctrlPr>
                              <a:rPr lang="en-US" i="1" dirty="0">
                                <a:latin typeface="Cambria Math" panose="02040503050406030204" pitchFamily="18" charset="0"/>
                              </a:rPr>
                            </m:ctrlPr>
                          </m:sSupPr>
                          <m:e>
                            <m:r>
                              <a:rPr lang="en-US" i="1" dirty="0">
                                <a:latin typeface="Cambria Math" panose="02040503050406030204" pitchFamily="18" charset="0"/>
                              </a:rPr>
                              <m:t>(</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b="0" i="1" smtClean="0">
                                        <a:latin typeface="Cambria Math" panose="02040503050406030204" pitchFamily="18" charset="0"/>
                                      </a:rPr>
                                      <m:t>1/</m:t>
                                    </m:r>
                                    <m:r>
                                      <a:rPr lang="en-US" i="1">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2</m:t>
                                    </m:r>
                                    <m:r>
                                      <a:rPr lang="en-US" i="1">
                                        <a:latin typeface="Cambria Math" panose="02040503050406030204" pitchFamily="18" charset="0"/>
                                      </a:rPr>
                                      <m:t>𝑘</m:t>
                                    </m:r>
                                  </m:sub>
                                  <m:sup>
                                    <m:r>
                                      <a:rPr lang="en-US" i="1">
                                        <a:latin typeface="Cambria Math" panose="02040503050406030204" pitchFamily="18" charset="0"/>
                                      </a:rPr>
                                      <m:t>2</m:t>
                                    </m:r>
                                  </m:sup>
                                </m:sSubSup>
                              </m:num>
                              <m:den>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𝑘</m:t>
                                    </m:r>
                                    <m:r>
                                      <a:rPr lang="en-US" i="1">
                                        <a:latin typeface="Cambria Math" panose="02040503050406030204" pitchFamily="18" charset="0"/>
                                      </a:rPr>
                                      <m:t>=1</m:t>
                                    </m:r>
                                  </m:sub>
                                  <m:sup>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b="0" i="1" smtClean="0">
                                            <a:latin typeface="Cambria Math" panose="02040503050406030204" pitchFamily="18" charset="0"/>
                                          </a:rPr>
                                          <m:t>2</m:t>
                                        </m:r>
                                      </m:sub>
                                    </m:sSub>
                                  </m:sup>
                                  <m:e>
                                    <m:sSubSup>
                                      <m:sSubSupPr>
                                        <m:ctrlPr>
                                          <a:rPr lang="en-US" i="1">
                                            <a:latin typeface="Cambria Math" panose="02040503050406030204" pitchFamily="18" charset="0"/>
                                          </a:rPr>
                                        </m:ctrlPr>
                                      </m:sSubSupPr>
                                      <m:e>
                                        <m:r>
                                          <a:rPr lang="en-US" b="0" i="1" smtClean="0">
                                            <a:latin typeface="Cambria Math" panose="02040503050406030204" pitchFamily="18" charset="0"/>
                                          </a:rPr>
                                          <m:t>1/</m:t>
                                        </m:r>
                                        <m:r>
                                          <a:rPr lang="en-US" i="1">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2</m:t>
                                        </m:r>
                                        <m:r>
                                          <a:rPr lang="en-US" i="1">
                                            <a:latin typeface="Cambria Math" panose="02040503050406030204" pitchFamily="18" charset="0"/>
                                          </a:rPr>
                                          <m:t>𝑘</m:t>
                                        </m:r>
                                      </m:sub>
                                      <m:sup>
                                        <m:r>
                                          <a:rPr lang="en-US" i="1">
                                            <a:latin typeface="Cambria Math" panose="02040503050406030204" pitchFamily="18" charset="0"/>
                                          </a:rPr>
                                          <m:t>2</m:t>
                                        </m:r>
                                      </m:sup>
                                    </m:sSubSup>
                                  </m:e>
                                </m:nary>
                              </m:den>
                            </m:f>
                            <m:r>
                              <a:rPr lang="en-US" i="1">
                                <a:latin typeface="Cambria Math" panose="02040503050406030204" pitchFamily="18" charset="0"/>
                              </a:rPr>
                              <m:t>)</m:t>
                            </m:r>
                          </m:e>
                          <m:sup>
                            <m:r>
                              <a:rPr lang="en-US" i="1" dirty="0">
                                <a:latin typeface="Cambria Math" panose="02040503050406030204" pitchFamily="18" charset="0"/>
                              </a:rPr>
                              <m:t>2</m:t>
                            </m:r>
                          </m:sup>
                        </m:sSup>
                      </m:e>
                    </m:nary>
                    <m:acc>
                      <m:accPr>
                        <m:chr m:val="̂"/>
                        <m:ctrlPr>
                          <a:rPr lang="en-US" i="1">
                            <a:latin typeface="Cambria Math" panose="02040503050406030204" pitchFamily="18" charset="0"/>
                          </a:rPr>
                        </m:ctrlPr>
                      </m:accPr>
                      <m:e>
                        <m:r>
                          <a:rPr lang="en-US" i="1">
                            <a:latin typeface="Cambria Math" panose="02040503050406030204" pitchFamily="18" charset="0"/>
                          </a:rPr>
                          <m:t>𝑉𝑎𝑟</m:t>
                        </m:r>
                      </m:e>
                    </m:acc>
                    <m:r>
                      <m:rPr>
                        <m:nor/>
                      </m:rPr>
                      <a:rPr lang="en-US" i="0" dirty="0"/>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b="0" i="1" smtClean="0">
                            <a:latin typeface="Cambria Math" panose="02040503050406030204" pitchFamily="18" charset="0"/>
                          </a:rPr>
                          <m:t>2</m:t>
                        </m:r>
                        <m:r>
                          <a:rPr lang="en-US" i="1">
                            <a:latin typeface="Cambria Math" panose="02040503050406030204" pitchFamily="18" charset="0"/>
                          </a:rPr>
                          <m:t>𝑘</m:t>
                        </m:r>
                      </m:sub>
                    </m:sSub>
                    <m:r>
                      <a:rPr lang="en-US" b="0" i="1" smtClean="0">
                        <a:latin typeface="Cambria Math" panose="02040503050406030204" pitchFamily="18" charset="0"/>
                      </a:rPr>
                      <m:t>)</m:t>
                    </m:r>
                  </m:oMath>
                </a14:m>
                <a:endParaRPr lang="en-US" b="0" dirty="0"/>
              </a:p>
              <a:p>
                <a:r>
                  <a:rPr lang="zh-CN" altLang="en-US" dirty="0"/>
                  <a:t>      </a:t>
                </a:r>
                <a:r>
                  <a:rPr lang="en-US" dirty="0"/>
                  <a:t>                                                    </a:t>
                </a:r>
                <a14:m>
                  <m:oMath xmlns:m="http://schemas.openxmlformats.org/officeDocument/2006/math">
                    <m:r>
                      <a:rPr lang="en-US" i="1">
                        <a:latin typeface="Cambria Math" panose="02040503050406030204" pitchFamily="18" charset="0"/>
                      </a:rPr>
                      <m:t>=</m:t>
                    </m:r>
                  </m:oMath>
                </a14:m>
                <a:r>
                  <a:rPr lang="en-US" altLang="zh-CN" dirty="0"/>
                  <a:t> </a:t>
                </a:r>
                <a14:m>
                  <m:oMath xmlns:m="http://schemas.openxmlformats.org/officeDocument/2006/math">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𝑘</m:t>
                        </m:r>
                        <m:r>
                          <a:rPr lang="en-US" altLang="zh-CN" i="1">
                            <a:latin typeface="Cambria Math" panose="02040503050406030204" pitchFamily="18" charset="0"/>
                          </a:rPr>
                          <m:t>=1</m:t>
                        </m:r>
                      </m:sub>
                      <m:sup>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i="1">
                                <a:latin typeface="Cambria Math" panose="02040503050406030204" pitchFamily="18" charset="0"/>
                              </a:rPr>
                              <m:t>1</m:t>
                            </m:r>
                          </m:sub>
                        </m:sSub>
                      </m:sup>
                      <m:e>
                        <m:f>
                          <m:fPr>
                            <m:ctrlPr>
                              <a:rPr lang="en-US" i="1">
                                <a:latin typeface="Cambria Math" panose="02040503050406030204" pitchFamily="18" charset="0"/>
                              </a:rPr>
                            </m:ctrlPr>
                          </m:fPr>
                          <m:num>
                            <m:sSup>
                              <m:sSupPr>
                                <m:ctrlPr>
                                  <a:rPr lang="en-US" b="0" i="1" smtClean="0">
                                    <a:latin typeface="Cambria Math" panose="02040503050406030204" pitchFamily="18" charset="0"/>
                                  </a:rPr>
                                </m:ctrlPr>
                              </m:sSupPr>
                              <m:e>
                                <m:r>
                                  <a:rPr lang="en-US" i="1">
                                    <a:latin typeface="Cambria Math" panose="02040503050406030204" pitchFamily="18" charset="0"/>
                                  </a:rPr>
                                  <m:t>(</m:t>
                                </m:r>
                                <m:sSubSup>
                                  <m:sSubSupPr>
                                    <m:ctrlPr>
                                      <a:rPr lang="en-US" i="1">
                                        <a:latin typeface="Cambria Math" panose="02040503050406030204" pitchFamily="18" charset="0"/>
                                      </a:rPr>
                                    </m:ctrlPr>
                                  </m:sSubSupPr>
                                  <m:e>
                                    <m:r>
                                      <a:rPr lang="en-US" b="0" i="1" smtClean="0">
                                        <a:latin typeface="Cambria Math" panose="02040503050406030204" pitchFamily="18" charset="0"/>
                                      </a:rPr>
                                      <m:t>1/</m:t>
                                    </m:r>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rPr>
                                      <m:t>𝑘</m:t>
                                    </m:r>
                                  </m:sub>
                                  <m:sup>
                                    <m:r>
                                      <a:rPr lang="en-US" i="1">
                                        <a:latin typeface="Cambria Math" panose="02040503050406030204" pitchFamily="18" charset="0"/>
                                      </a:rPr>
                                      <m:t>2</m:t>
                                    </m:r>
                                  </m:sup>
                                </m:sSubSup>
                                <m:r>
                                  <a:rPr lang="en-US" i="1">
                                    <a:latin typeface="Cambria Math" panose="02040503050406030204" pitchFamily="18" charset="0"/>
                                  </a:rPr>
                                  <m:t>)</m:t>
                                </m:r>
                              </m:e>
                              <m:sup>
                                <m:r>
                                  <a:rPr lang="en-US" b="0" i="1" smtClean="0">
                                    <a:latin typeface="Cambria Math" panose="02040503050406030204" pitchFamily="18" charset="0"/>
                                  </a:rPr>
                                  <m:t>2</m:t>
                                </m:r>
                              </m:sup>
                            </m:sSup>
                            <m:sSubSup>
                              <m:sSubSupPr>
                                <m:ctrlPr>
                                  <a:rPr lang="en-US" i="1">
                                    <a:latin typeface="Cambria Math" panose="02040503050406030204" pitchFamily="18" charset="0"/>
                                  </a:rPr>
                                </m:ctrlPr>
                              </m:sSubSupPr>
                              <m:e>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rPr>
                                  <m:t>𝑘</m:t>
                                </m:r>
                              </m:sub>
                              <m:sup>
                                <m:r>
                                  <a:rPr lang="en-US" i="1">
                                    <a:latin typeface="Cambria Math" panose="02040503050406030204" pitchFamily="18" charset="0"/>
                                  </a:rPr>
                                  <m:t>2</m:t>
                                </m:r>
                              </m:sup>
                            </m:sSubSup>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𝑘</m:t>
                                    </m:r>
                                    <m:r>
                                      <a:rPr lang="en-US" i="1">
                                        <a:latin typeface="Cambria Math" panose="02040503050406030204" pitchFamily="18" charset="0"/>
                                      </a:rPr>
                                      <m:t>=1</m:t>
                                    </m:r>
                                  </m:sub>
                                  <m:sup>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1</m:t>
                                        </m:r>
                                      </m:sub>
                                    </m:sSub>
                                  </m:sup>
                                  <m:e>
                                    <m:sSubSup>
                                      <m:sSubSupPr>
                                        <m:ctrlPr>
                                          <a:rPr lang="en-US" i="1">
                                            <a:latin typeface="Cambria Math" panose="02040503050406030204" pitchFamily="18" charset="0"/>
                                          </a:rPr>
                                        </m:ctrlPr>
                                      </m:sSubSupPr>
                                      <m:e>
                                        <m:r>
                                          <a:rPr lang="en-US" b="0" i="1" smtClean="0">
                                            <a:latin typeface="Cambria Math" panose="02040503050406030204" pitchFamily="18" charset="0"/>
                                          </a:rPr>
                                          <m:t>1/</m:t>
                                        </m:r>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rPr>
                                          <m:t>𝑘</m:t>
                                        </m:r>
                                      </m:sub>
                                      <m:sup>
                                        <m:r>
                                          <a:rPr lang="en-US" i="1">
                                            <a:latin typeface="Cambria Math" panose="02040503050406030204" pitchFamily="18" charset="0"/>
                                          </a:rPr>
                                          <m:t>2</m:t>
                                        </m:r>
                                      </m:sup>
                                    </m:sSubSup>
                                    <m:r>
                                      <a:rPr lang="en-US" b="0" i="1" smtClean="0">
                                        <a:latin typeface="Cambria Math" panose="02040503050406030204" pitchFamily="18" charset="0"/>
                                      </a:rPr>
                                      <m:t>)</m:t>
                                    </m:r>
                                  </m:e>
                                </m:nary>
                              </m:e>
                              <m:sup>
                                <m:r>
                                  <a:rPr lang="en-US" b="0" i="1" smtClean="0">
                                    <a:latin typeface="Cambria Math" panose="02040503050406030204" pitchFamily="18" charset="0"/>
                                  </a:rPr>
                                  <m:t>2</m:t>
                                </m:r>
                              </m:sup>
                            </m:sSup>
                          </m:den>
                        </m:f>
                      </m:e>
                    </m:nary>
                  </m:oMath>
                </a14:m>
                <a:r>
                  <a:rPr lang="en-US" dirty="0"/>
                  <a:t> </a:t>
                </a:r>
                <a14:m>
                  <m:oMath xmlns:m="http://schemas.openxmlformats.org/officeDocument/2006/math">
                    <m:r>
                      <a:rPr lang="en-US" i="1">
                        <a:latin typeface="Cambria Math" panose="02040503050406030204" pitchFamily="18" charset="0"/>
                      </a:rPr>
                      <m:t>+</m:t>
                    </m:r>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𝑘</m:t>
                        </m:r>
                        <m:r>
                          <a:rPr lang="en-US" altLang="zh-CN" i="1">
                            <a:latin typeface="Cambria Math" panose="02040503050406030204" pitchFamily="18" charset="0"/>
                          </a:rPr>
                          <m:t>=1</m:t>
                        </m:r>
                      </m:sub>
                      <m:sup>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b="0" i="1" smtClean="0">
                                <a:latin typeface="Cambria Math" panose="02040503050406030204" pitchFamily="18" charset="0"/>
                              </a:rPr>
                              <m:t>2</m:t>
                            </m:r>
                          </m:sub>
                        </m:sSub>
                      </m:sup>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b="0" i="1" smtClean="0">
                                    <a:latin typeface="Cambria Math" panose="02040503050406030204" pitchFamily="18" charset="0"/>
                                  </a:rPr>
                                  <m:t>(1/</m:t>
                                </m:r>
                                <m:sSubSup>
                                  <m:sSubSupPr>
                                    <m:ctrlPr>
                                      <a:rPr lang="en-US" i="1">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2</m:t>
                                    </m:r>
                                    <m:r>
                                      <a:rPr lang="en-US" i="1">
                                        <a:latin typeface="Cambria Math" panose="02040503050406030204" pitchFamily="18" charset="0"/>
                                      </a:rPr>
                                      <m:t>𝑘</m:t>
                                    </m:r>
                                  </m:sub>
                                  <m:sup>
                                    <m:r>
                                      <a:rPr lang="en-US" i="1">
                                        <a:latin typeface="Cambria Math" panose="02040503050406030204" pitchFamily="18" charset="0"/>
                                      </a:rPr>
                                      <m:t>2</m:t>
                                    </m:r>
                                  </m:sup>
                                </m:sSubSup>
                                <m:r>
                                  <a:rPr lang="en-US" i="1">
                                    <a:latin typeface="Cambria Math" panose="02040503050406030204" pitchFamily="18" charset="0"/>
                                  </a:rPr>
                                  <m:t>)</m:t>
                                </m:r>
                              </m:e>
                              <m:sup>
                                <m:r>
                                  <a:rPr lang="en-US" b="0" i="1" smtClean="0">
                                    <a:latin typeface="Cambria Math" panose="02040503050406030204" pitchFamily="18" charset="0"/>
                                  </a:rPr>
                                  <m:t>2</m:t>
                                </m:r>
                              </m:sup>
                            </m:sSup>
                            <m:sSubSup>
                              <m:sSubSupPr>
                                <m:ctrlPr>
                                  <a:rPr lang="en-US" i="1">
                                    <a:latin typeface="Cambria Math" panose="02040503050406030204" pitchFamily="18" charset="0"/>
                                  </a:rPr>
                                </m:ctrlPr>
                              </m:sSubSupPr>
                              <m:e>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2</m:t>
                                </m:r>
                                <m:r>
                                  <a:rPr lang="en-US" i="1">
                                    <a:latin typeface="Cambria Math" panose="02040503050406030204" pitchFamily="18" charset="0"/>
                                  </a:rPr>
                                  <m:t>𝑘</m:t>
                                </m:r>
                              </m:sub>
                              <m:sup>
                                <m:r>
                                  <a:rPr lang="en-US" i="1">
                                    <a:latin typeface="Cambria Math" panose="02040503050406030204" pitchFamily="18" charset="0"/>
                                  </a:rPr>
                                  <m:t>2</m:t>
                                </m:r>
                              </m:sup>
                            </m:sSubSup>
                          </m:num>
                          <m:den>
                            <m:sSup>
                              <m:sSupPr>
                                <m:ctrlPr>
                                  <a:rPr lang="en-US" i="1">
                                    <a:latin typeface="Cambria Math" panose="02040503050406030204" pitchFamily="18" charset="0"/>
                                  </a:rPr>
                                </m:ctrlPr>
                              </m:sSupPr>
                              <m:e>
                                <m:r>
                                  <a:rPr lang="en-US" i="1">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𝑘</m:t>
                                    </m:r>
                                    <m:r>
                                      <a:rPr lang="en-US" i="1">
                                        <a:latin typeface="Cambria Math" panose="02040503050406030204" pitchFamily="18" charset="0"/>
                                      </a:rPr>
                                      <m:t>=1</m:t>
                                    </m:r>
                                  </m:sub>
                                  <m:sup>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b="0" i="1" smtClean="0">
                                            <a:latin typeface="Cambria Math" panose="02040503050406030204" pitchFamily="18" charset="0"/>
                                          </a:rPr>
                                          <m:t>2</m:t>
                                        </m:r>
                                      </m:sub>
                                    </m:sSub>
                                  </m:sup>
                                  <m:e>
                                    <m:r>
                                      <a:rPr lang="en-US" b="0" i="1" smtClean="0">
                                        <a:latin typeface="Cambria Math" panose="02040503050406030204" pitchFamily="18" charset="0"/>
                                      </a:rPr>
                                      <m:t>1/</m:t>
                                    </m:r>
                                    <m:sSubSup>
                                      <m:sSubSupPr>
                                        <m:ctrlPr>
                                          <a:rPr lang="en-US" i="1">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2</m:t>
                                        </m:r>
                                        <m:r>
                                          <a:rPr lang="en-US" i="1">
                                            <a:latin typeface="Cambria Math" panose="02040503050406030204" pitchFamily="18" charset="0"/>
                                          </a:rPr>
                                          <m:t>𝑘</m:t>
                                        </m:r>
                                      </m:sub>
                                      <m:sup>
                                        <m:r>
                                          <a:rPr lang="en-US" b="0" i="1" smtClean="0">
                                            <a:latin typeface="Cambria Math" panose="02040503050406030204" pitchFamily="18" charset="0"/>
                                          </a:rPr>
                                          <m:t>2</m:t>
                                        </m:r>
                                      </m:sup>
                                    </m:sSubSup>
                                    <m:r>
                                      <a:rPr lang="en-US" i="1">
                                        <a:latin typeface="Cambria Math" panose="02040503050406030204" pitchFamily="18" charset="0"/>
                                      </a:rPr>
                                      <m:t>)</m:t>
                                    </m:r>
                                  </m:e>
                                </m:nary>
                              </m:e>
                              <m:sup>
                                <m:r>
                                  <a:rPr lang="en-US" i="1">
                                    <a:latin typeface="Cambria Math" panose="02040503050406030204" pitchFamily="18" charset="0"/>
                                  </a:rPr>
                                  <m:t>2</m:t>
                                </m:r>
                              </m:sup>
                            </m:sSup>
                          </m:den>
                        </m:f>
                      </m:e>
                    </m:nary>
                  </m:oMath>
                </a14:m>
                <a:r>
                  <a:rPr lang="en-US" dirty="0"/>
                  <a:t> </a:t>
                </a:r>
                <a14:m>
                  <m:oMath xmlns:m="http://schemas.openxmlformats.org/officeDocument/2006/math">
                    <m:r>
                      <a:rPr lang="en-US" i="1">
                        <a:latin typeface="Cambria Math" panose="02040503050406030204" pitchFamily="18" charset="0"/>
                      </a:rPr>
                      <m:t>=</m:t>
                    </m:r>
                  </m:oMath>
                </a14:m>
                <a:r>
                  <a:rPr lang="en-US" altLang="zh-CN" dirty="0"/>
                  <a:t> </a:t>
                </a:r>
                <a14:m>
                  <m:oMath xmlns:m="http://schemas.openxmlformats.org/officeDocument/2006/math">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𝑘</m:t>
                        </m:r>
                        <m:r>
                          <a:rPr lang="en-US" altLang="zh-CN" i="1">
                            <a:latin typeface="Cambria Math" panose="02040503050406030204" pitchFamily="18" charset="0"/>
                          </a:rPr>
                          <m:t>=1</m:t>
                        </m:r>
                      </m:sub>
                      <m:sup>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i="1">
                                <a:latin typeface="Cambria Math" panose="02040503050406030204" pitchFamily="18" charset="0"/>
                              </a:rPr>
                              <m:t>1</m:t>
                            </m:r>
                          </m:sub>
                        </m:sSub>
                      </m:sup>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sSubSup>
                                  <m:sSubSupPr>
                                    <m:ctrlPr>
                                      <a:rPr lang="en-US" i="1">
                                        <a:latin typeface="Cambria Math" panose="02040503050406030204" pitchFamily="18" charset="0"/>
                                      </a:rPr>
                                    </m:ctrlPr>
                                  </m:sSubSupPr>
                                  <m:e>
                                    <m:r>
                                      <a:rPr lang="en-US" i="1">
                                        <a:latin typeface="Cambria Math" panose="02040503050406030204" pitchFamily="18" charset="0"/>
                                      </a:rPr>
                                      <m:t>1/</m:t>
                                    </m:r>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rPr>
                                      <m:t>𝑘</m:t>
                                    </m:r>
                                  </m:sub>
                                  <m:sup>
                                    <m:r>
                                      <a:rPr lang="en-US" i="1">
                                        <a:latin typeface="Cambria Math" panose="02040503050406030204" pitchFamily="18" charset="0"/>
                                      </a:rPr>
                                      <m:t>2</m:t>
                                    </m:r>
                                  </m:sup>
                                </m:sSubSup>
                              </m:e>
                              <m:sup/>
                            </m:sSup>
                          </m:num>
                          <m:den>
                            <m:sSup>
                              <m:sSupPr>
                                <m:ctrlPr>
                                  <a:rPr lang="en-US" i="1">
                                    <a:latin typeface="Cambria Math" panose="02040503050406030204" pitchFamily="18" charset="0"/>
                                  </a:rPr>
                                </m:ctrlPr>
                              </m:sSupPr>
                              <m:e>
                                <m:r>
                                  <a:rPr lang="en-US" i="1">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𝑘</m:t>
                                    </m:r>
                                    <m:r>
                                      <a:rPr lang="en-US" i="1">
                                        <a:latin typeface="Cambria Math" panose="02040503050406030204" pitchFamily="18" charset="0"/>
                                      </a:rPr>
                                      <m:t>=1</m:t>
                                    </m:r>
                                  </m:sub>
                                  <m:sup>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1</m:t>
                                        </m:r>
                                      </m:sub>
                                    </m:sSub>
                                  </m:sup>
                                  <m:e>
                                    <m:sSubSup>
                                      <m:sSubSupPr>
                                        <m:ctrlPr>
                                          <a:rPr lang="en-US" i="1">
                                            <a:latin typeface="Cambria Math" panose="02040503050406030204" pitchFamily="18" charset="0"/>
                                          </a:rPr>
                                        </m:ctrlPr>
                                      </m:sSubSupPr>
                                      <m:e>
                                        <m:r>
                                          <a:rPr lang="en-US" i="1">
                                            <a:latin typeface="Cambria Math" panose="02040503050406030204" pitchFamily="18" charset="0"/>
                                          </a:rPr>
                                          <m:t>1/</m:t>
                                        </m:r>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rPr>
                                          <m:t>𝑘</m:t>
                                        </m:r>
                                      </m:sub>
                                      <m:sup>
                                        <m:r>
                                          <a:rPr lang="en-US" i="1">
                                            <a:latin typeface="Cambria Math" panose="02040503050406030204" pitchFamily="18" charset="0"/>
                                          </a:rPr>
                                          <m:t>2</m:t>
                                        </m:r>
                                      </m:sup>
                                    </m:sSubSup>
                                    <m:r>
                                      <a:rPr lang="en-US" i="1">
                                        <a:latin typeface="Cambria Math" panose="02040503050406030204" pitchFamily="18" charset="0"/>
                                      </a:rPr>
                                      <m:t>)</m:t>
                                    </m:r>
                                  </m:e>
                                </m:nary>
                              </m:e>
                              <m:sup>
                                <m:r>
                                  <a:rPr lang="en-US" i="1">
                                    <a:latin typeface="Cambria Math" panose="02040503050406030204" pitchFamily="18" charset="0"/>
                                  </a:rPr>
                                  <m:t>2</m:t>
                                </m:r>
                              </m:sup>
                            </m:sSup>
                          </m:den>
                        </m:f>
                      </m:e>
                    </m:nary>
                  </m:oMath>
                </a14:m>
                <a:r>
                  <a:rPr lang="en-US" dirty="0"/>
                  <a:t> </a:t>
                </a:r>
                <a14:m>
                  <m:oMath xmlns:m="http://schemas.openxmlformats.org/officeDocument/2006/math">
                    <m:r>
                      <a:rPr lang="en-US" i="1">
                        <a:latin typeface="Cambria Math" panose="02040503050406030204" pitchFamily="18" charset="0"/>
                      </a:rPr>
                      <m:t>+</m:t>
                    </m:r>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𝑘</m:t>
                        </m:r>
                        <m:r>
                          <a:rPr lang="en-US" altLang="zh-CN" i="1">
                            <a:latin typeface="Cambria Math" panose="02040503050406030204" pitchFamily="18" charset="0"/>
                          </a:rPr>
                          <m:t>=1</m:t>
                        </m:r>
                      </m:sub>
                      <m:sup>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i="1">
                                <a:latin typeface="Cambria Math" panose="02040503050406030204" pitchFamily="18" charset="0"/>
                              </a:rPr>
                              <m:t>2</m:t>
                            </m:r>
                          </m:sub>
                        </m:sSub>
                      </m:sup>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1/</m:t>
                                </m:r>
                                <m:sSubSup>
                                  <m:sSubSupPr>
                                    <m:ctrlPr>
                                      <a:rPr lang="en-US" i="1">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2</m:t>
                                    </m:r>
                                    <m:r>
                                      <a:rPr lang="en-US" i="1">
                                        <a:latin typeface="Cambria Math" panose="02040503050406030204" pitchFamily="18" charset="0"/>
                                      </a:rPr>
                                      <m:t>𝑘</m:t>
                                    </m:r>
                                  </m:sub>
                                  <m:sup>
                                    <m:r>
                                      <a:rPr lang="en-US" i="1">
                                        <a:latin typeface="Cambria Math" panose="02040503050406030204" pitchFamily="18" charset="0"/>
                                      </a:rPr>
                                      <m:t>2</m:t>
                                    </m:r>
                                  </m:sup>
                                </m:sSubSup>
                              </m:e>
                              <m:sup/>
                            </m:sSup>
                          </m:num>
                          <m:den>
                            <m:sSup>
                              <m:sSupPr>
                                <m:ctrlPr>
                                  <a:rPr lang="en-US" i="1">
                                    <a:latin typeface="Cambria Math" panose="02040503050406030204" pitchFamily="18" charset="0"/>
                                  </a:rPr>
                                </m:ctrlPr>
                              </m:sSupPr>
                              <m:e>
                                <m:r>
                                  <a:rPr lang="en-US" i="1">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𝑘</m:t>
                                    </m:r>
                                    <m:r>
                                      <a:rPr lang="en-US" i="1">
                                        <a:latin typeface="Cambria Math" panose="02040503050406030204" pitchFamily="18" charset="0"/>
                                      </a:rPr>
                                      <m:t>=1</m:t>
                                    </m:r>
                                  </m:sub>
                                  <m:sup>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2</m:t>
                                        </m:r>
                                      </m:sub>
                                    </m:sSub>
                                  </m:sup>
                                  <m:e>
                                    <m:r>
                                      <a:rPr lang="en-US" i="1">
                                        <a:latin typeface="Cambria Math" panose="02040503050406030204" pitchFamily="18" charset="0"/>
                                      </a:rPr>
                                      <m:t>1/</m:t>
                                    </m:r>
                                    <m:sSubSup>
                                      <m:sSubSupPr>
                                        <m:ctrlPr>
                                          <a:rPr lang="en-US" i="1">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2</m:t>
                                        </m:r>
                                        <m:r>
                                          <a:rPr lang="en-US" i="1">
                                            <a:latin typeface="Cambria Math" panose="02040503050406030204" pitchFamily="18" charset="0"/>
                                          </a:rPr>
                                          <m:t>𝑘</m:t>
                                        </m:r>
                                      </m:sub>
                                      <m:sup>
                                        <m:r>
                                          <a:rPr lang="en-US" i="1">
                                            <a:latin typeface="Cambria Math" panose="02040503050406030204" pitchFamily="18" charset="0"/>
                                          </a:rPr>
                                          <m:t>2</m:t>
                                        </m:r>
                                      </m:sup>
                                    </m:sSubSup>
                                    <m:r>
                                      <a:rPr lang="en-US" i="1">
                                        <a:latin typeface="Cambria Math" panose="02040503050406030204" pitchFamily="18" charset="0"/>
                                      </a:rPr>
                                      <m:t>)</m:t>
                                    </m:r>
                                  </m:e>
                                </m:nary>
                              </m:e>
                              <m:sup>
                                <m:r>
                                  <a:rPr lang="en-US" i="1">
                                    <a:latin typeface="Cambria Math" panose="02040503050406030204" pitchFamily="18" charset="0"/>
                                  </a:rPr>
                                  <m:t>2</m:t>
                                </m:r>
                              </m:sup>
                            </m:sSup>
                          </m:den>
                        </m:f>
                      </m:e>
                    </m:nary>
                  </m:oMath>
                </a14:m>
                <a:endParaRPr lang="en-US" altLang="zh-CN" dirty="0"/>
              </a:p>
              <a:p>
                <a14:m>
                  <m:oMath xmlns:m="http://schemas.openxmlformats.org/officeDocument/2006/math">
                    <m:r>
                      <a:rPr lang="en-US" b="0" i="1" smtClean="0">
                        <a:latin typeface="Cambria Math" panose="02040503050406030204" pitchFamily="18" charset="0"/>
                      </a:rPr>
                      <m:t>                                                                             </m:t>
                    </m:r>
                    <m:r>
                      <a:rPr lang="en-US" i="1">
                        <a:latin typeface="Cambria Math" panose="02040503050406030204" pitchFamily="18" charset="0"/>
                      </a:rPr>
                      <m:t>=</m:t>
                    </m:r>
                    <m:f>
                      <m:fPr>
                        <m:ctrlPr>
                          <a:rPr lang="en-US" i="1">
                            <a:latin typeface="Cambria Math" panose="02040503050406030204" pitchFamily="18" charset="0"/>
                          </a:rPr>
                        </m:ctrlPr>
                      </m:fPr>
                      <m:num>
                        <m:sSubSup>
                          <m:sSubSupPr>
                            <m:ctrlPr>
                              <a:rPr lang="en-US" i="1" smtClean="0">
                                <a:latin typeface="Cambria Math" panose="02040503050406030204" pitchFamily="18" charset="0"/>
                              </a:rPr>
                            </m:ctrlPr>
                          </m:sSubSupPr>
                          <m:e>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𝑘</m:t>
                                </m:r>
                                <m:r>
                                  <a:rPr lang="en-US" b="0" i="1" smtClean="0">
                                    <a:latin typeface="Cambria Math" panose="02040503050406030204" pitchFamily="18" charset="0"/>
                                  </a:rPr>
                                  <m:t>=1</m:t>
                                </m:r>
                              </m:sub>
                              <m:sup>
                                <m:sSub>
                                  <m:sSubPr>
                                    <m:ctrlPr>
                                      <a:rPr lang="en-US"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1</m:t>
                                    </m:r>
                                  </m:sub>
                                </m:sSub>
                              </m:sup>
                              <m:e>
                                <m:sSubSup>
                                  <m:sSubSupPr>
                                    <m:ctrlPr>
                                      <a:rPr lang="en-US" i="1">
                                        <a:latin typeface="Cambria Math" panose="02040503050406030204" pitchFamily="18" charset="0"/>
                                      </a:rPr>
                                    </m:ctrlPr>
                                  </m:sSubSupPr>
                                  <m:e>
                                    <m:r>
                                      <a:rPr lang="en-US" i="1">
                                        <a:latin typeface="Cambria Math" panose="02040503050406030204" pitchFamily="18" charset="0"/>
                                      </a:rPr>
                                      <m:t>1/</m:t>
                                    </m:r>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rPr>
                                      <m:t>𝑘</m:t>
                                    </m:r>
                                  </m:sub>
                                  <m:sup>
                                    <m:r>
                                      <a:rPr lang="en-US" i="1">
                                        <a:latin typeface="Cambria Math" panose="02040503050406030204" pitchFamily="18" charset="0"/>
                                      </a:rPr>
                                      <m:t>2</m:t>
                                    </m:r>
                                  </m:sup>
                                </m:sSubSup>
                              </m:e>
                            </m:nary>
                          </m:e>
                          <m:sub>
                            <m:r>
                              <a:rPr lang="en-US" b="0" i="1" smtClean="0">
                                <a:latin typeface="Cambria Math" panose="02040503050406030204" pitchFamily="18" charset="0"/>
                              </a:rPr>
                              <m:t> </m:t>
                            </m:r>
                          </m:sub>
                          <m:sup>
                            <m:r>
                              <a:rPr lang="en-US" b="0" i="1" smtClean="0">
                                <a:latin typeface="Cambria Math" panose="02040503050406030204" pitchFamily="18" charset="0"/>
                              </a:rPr>
                              <m:t> </m:t>
                            </m:r>
                          </m:sup>
                        </m:sSubSup>
                      </m:num>
                      <m:den>
                        <m:sSup>
                          <m:sSupPr>
                            <m:ctrlPr>
                              <a:rPr lang="en-US" i="1">
                                <a:latin typeface="Cambria Math" panose="02040503050406030204" pitchFamily="18" charset="0"/>
                              </a:rPr>
                            </m:ctrlPr>
                          </m:sSupPr>
                          <m:e>
                            <m:r>
                              <a:rPr lang="en-US" i="1">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𝑘</m:t>
                                </m:r>
                                <m:r>
                                  <a:rPr lang="en-US" i="1">
                                    <a:latin typeface="Cambria Math" panose="02040503050406030204" pitchFamily="18" charset="0"/>
                                  </a:rPr>
                                  <m:t>=1</m:t>
                                </m:r>
                              </m:sub>
                              <m:sup>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1</m:t>
                                    </m:r>
                                  </m:sub>
                                </m:sSub>
                              </m:sup>
                              <m:e>
                                <m:sSubSup>
                                  <m:sSubSupPr>
                                    <m:ctrlPr>
                                      <a:rPr lang="en-US" i="1">
                                        <a:latin typeface="Cambria Math" panose="02040503050406030204" pitchFamily="18" charset="0"/>
                                      </a:rPr>
                                    </m:ctrlPr>
                                  </m:sSubSupPr>
                                  <m:e>
                                    <m:r>
                                      <a:rPr lang="en-US" i="1">
                                        <a:latin typeface="Cambria Math" panose="02040503050406030204" pitchFamily="18" charset="0"/>
                                      </a:rPr>
                                      <m:t>1/</m:t>
                                    </m:r>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rPr>
                                      <m:t>𝑘</m:t>
                                    </m:r>
                                  </m:sub>
                                  <m:sup>
                                    <m:r>
                                      <a:rPr lang="en-US" i="1">
                                        <a:latin typeface="Cambria Math" panose="02040503050406030204" pitchFamily="18" charset="0"/>
                                      </a:rPr>
                                      <m:t>2</m:t>
                                    </m:r>
                                  </m:sup>
                                </m:sSubSup>
                                <m:r>
                                  <a:rPr lang="en-US" i="1">
                                    <a:latin typeface="Cambria Math" panose="02040503050406030204" pitchFamily="18" charset="0"/>
                                  </a:rPr>
                                  <m:t>)</m:t>
                                </m:r>
                              </m:e>
                            </m:nary>
                          </m:e>
                          <m:sup>
                            <m:r>
                              <a:rPr lang="en-US" i="1">
                                <a:latin typeface="Cambria Math" panose="02040503050406030204" pitchFamily="18" charset="0"/>
                              </a:rPr>
                              <m:t>2</m:t>
                            </m:r>
                          </m:sup>
                        </m:sSup>
                      </m:den>
                    </m:f>
                  </m:oMath>
                </a14:m>
                <a:r>
                  <a:rPr lang="en-US" dirty="0"/>
                  <a:t> </a:t>
                </a:r>
                <a14:m>
                  <m:oMath xmlns:m="http://schemas.openxmlformats.org/officeDocument/2006/math">
                    <m:r>
                      <a:rPr lang="en-US" i="1">
                        <a:latin typeface="Cambria Math" panose="02040503050406030204" pitchFamily="18" charset="0"/>
                      </a:rPr>
                      <m:t>+</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𝑘</m:t>
                                </m:r>
                                <m:r>
                                  <a:rPr lang="en-US" i="1">
                                    <a:latin typeface="Cambria Math" panose="02040503050406030204" pitchFamily="18" charset="0"/>
                                  </a:rPr>
                                  <m:t>=1</m:t>
                                </m:r>
                              </m:sub>
                              <m:sup>
                                <m:sSub>
                                  <m:sSubPr>
                                    <m:ctrlPr>
                                      <a:rPr lang="en-US" i="1" smtClean="0">
                                        <a:latin typeface="Cambria Math" panose="02040503050406030204" pitchFamily="18" charset="0"/>
                                      </a:rPr>
                                    </m:ctrlPr>
                                  </m:sSubPr>
                                  <m:e>
                                    <m:r>
                                      <a:rPr lang="en-US" i="1">
                                        <a:latin typeface="Cambria Math" panose="02040503050406030204" pitchFamily="18" charset="0"/>
                                      </a:rPr>
                                      <m:t>𝐾</m:t>
                                    </m:r>
                                  </m:e>
                                  <m:sub>
                                    <m:r>
                                      <a:rPr lang="en-US" b="0" i="1" smtClean="0">
                                        <a:latin typeface="Cambria Math" panose="02040503050406030204" pitchFamily="18" charset="0"/>
                                      </a:rPr>
                                      <m:t>2</m:t>
                                    </m:r>
                                  </m:sub>
                                </m:sSub>
                              </m:sup>
                              <m:e>
                                <m:sSubSup>
                                  <m:sSubSupPr>
                                    <m:ctrlPr>
                                      <a:rPr lang="en-US" i="1">
                                        <a:latin typeface="Cambria Math" panose="02040503050406030204" pitchFamily="18" charset="0"/>
                                      </a:rPr>
                                    </m:ctrlPr>
                                  </m:sSubSupPr>
                                  <m:e>
                                    <m:r>
                                      <a:rPr lang="en-US" i="1">
                                        <a:latin typeface="Cambria Math" panose="02040503050406030204" pitchFamily="18" charset="0"/>
                                      </a:rPr>
                                      <m:t>1/</m:t>
                                    </m:r>
                                    <m:r>
                                      <a:rPr lang="en-US" i="1">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2</m:t>
                                    </m:r>
                                    <m:r>
                                      <a:rPr lang="en-US" i="1">
                                        <a:latin typeface="Cambria Math" panose="02040503050406030204" pitchFamily="18" charset="0"/>
                                      </a:rPr>
                                      <m:t>𝑘</m:t>
                                    </m:r>
                                  </m:sub>
                                  <m:sup>
                                    <m:r>
                                      <a:rPr lang="en-US" i="1">
                                        <a:latin typeface="Cambria Math" panose="02040503050406030204" pitchFamily="18" charset="0"/>
                                      </a:rPr>
                                      <m:t>2</m:t>
                                    </m:r>
                                  </m:sup>
                                </m:sSubSup>
                              </m:e>
                            </m:nary>
                          </m:e>
                          <m:sub>
                            <m:r>
                              <a:rPr lang="en-US" i="1">
                                <a:latin typeface="Cambria Math" panose="02040503050406030204" pitchFamily="18" charset="0"/>
                              </a:rPr>
                              <m:t> </m:t>
                            </m:r>
                          </m:sub>
                          <m:sup>
                            <m:r>
                              <a:rPr lang="en-US" i="1">
                                <a:latin typeface="Cambria Math" panose="02040503050406030204" pitchFamily="18" charset="0"/>
                              </a:rPr>
                              <m:t> </m:t>
                            </m:r>
                          </m:sup>
                        </m:sSubSup>
                      </m:num>
                      <m:den>
                        <m:sSup>
                          <m:sSupPr>
                            <m:ctrlPr>
                              <a:rPr lang="en-US" i="1">
                                <a:latin typeface="Cambria Math" panose="02040503050406030204" pitchFamily="18" charset="0"/>
                              </a:rPr>
                            </m:ctrlPr>
                          </m:sSupPr>
                          <m:e>
                            <m:r>
                              <a:rPr lang="en-US" i="1">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𝑘</m:t>
                                </m:r>
                                <m:r>
                                  <a:rPr lang="en-US" i="1">
                                    <a:latin typeface="Cambria Math" panose="02040503050406030204" pitchFamily="18" charset="0"/>
                                  </a:rPr>
                                  <m:t>=1</m:t>
                                </m:r>
                              </m:sub>
                              <m:sup>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b="0" i="1" smtClean="0">
                                        <a:latin typeface="Cambria Math" panose="02040503050406030204" pitchFamily="18" charset="0"/>
                                      </a:rPr>
                                      <m:t>2</m:t>
                                    </m:r>
                                  </m:sub>
                                </m:sSub>
                              </m:sup>
                              <m:e>
                                <m:sSubSup>
                                  <m:sSubSupPr>
                                    <m:ctrlPr>
                                      <a:rPr lang="en-US" i="1">
                                        <a:latin typeface="Cambria Math" panose="02040503050406030204" pitchFamily="18" charset="0"/>
                                      </a:rPr>
                                    </m:ctrlPr>
                                  </m:sSubSupPr>
                                  <m:e>
                                    <m:r>
                                      <a:rPr lang="en-US" i="1">
                                        <a:latin typeface="Cambria Math" panose="02040503050406030204" pitchFamily="18" charset="0"/>
                                      </a:rPr>
                                      <m:t>1/</m:t>
                                    </m:r>
                                    <m:r>
                                      <a:rPr lang="en-US" i="1">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2</m:t>
                                    </m:r>
                                    <m:r>
                                      <a:rPr lang="en-US" i="1">
                                        <a:latin typeface="Cambria Math" panose="02040503050406030204" pitchFamily="18" charset="0"/>
                                      </a:rPr>
                                      <m:t>𝑘</m:t>
                                    </m:r>
                                  </m:sub>
                                  <m:sup>
                                    <m:r>
                                      <a:rPr lang="en-US" i="1">
                                        <a:latin typeface="Cambria Math" panose="02040503050406030204" pitchFamily="18" charset="0"/>
                                      </a:rPr>
                                      <m:t>2</m:t>
                                    </m:r>
                                  </m:sup>
                                </m:sSubSup>
                                <m:r>
                                  <a:rPr lang="en-US" i="1">
                                    <a:latin typeface="Cambria Math" panose="02040503050406030204" pitchFamily="18" charset="0"/>
                                  </a:rPr>
                                  <m:t>)</m:t>
                                </m:r>
                              </m:e>
                            </m:nary>
                          </m:e>
                          <m:sup>
                            <m:r>
                              <a:rPr lang="en-US" i="1">
                                <a:latin typeface="Cambria Math" panose="02040503050406030204" pitchFamily="18" charset="0"/>
                              </a:rPr>
                              <m:t>2</m:t>
                            </m:r>
                          </m:sup>
                        </m:sSup>
                      </m:den>
                    </m:f>
                  </m:oMath>
                </a14:m>
                <a:r>
                  <a:rPr lang="en-US" altLang="zh-CN" dirty="0"/>
                  <a:t>=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i="1" smtClean="0">
                                <a:latin typeface="Cambria Math" panose="02040503050406030204" pitchFamily="18" charset="0"/>
                              </a:rPr>
                            </m:ctrlPr>
                          </m:sSupPr>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𝑘</m:t>
                                </m:r>
                                <m:r>
                                  <a:rPr lang="en-US" i="1">
                                    <a:latin typeface="Cambria Math" panose="02040503050406030204" pitchFamily="18" charset="0"/>
                                  </a:rPr>
                                  <m:t>=1</m:t>
                                </m:r>
                              </m:sub>
                              <m:sup>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1</m:t>
                                    </m:r>
                                  </m:sub>
                                </m:sSub>
                              </m:sup>
                              <m:e>
                                <m:sSubSup>
                                  <m:sSubSupPr>
                                    <m:ctrlPr>
                                      <a:rPr lang="en-US" i="1">
                                        <a:latin typeface="Cambria Math" panose="02040503050406030204" pitchFamily="18" charset="0"/>
                                      </a:rPr>
                                    </m:ctrlPr>
                                  </m:sSubSupPr>
                                  <m:e>
                                    <m:r>
                                      <a:rPr lang="en-US" i="1">
                                        <a:latin typeface="Cambria Math" panose="02040503050406030204" pitchFamily="18" charset="0"/>
                                      </a:rPr>
                                      <m:t>1/</m:t>
                                    </m:r>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rPr>
                                      <m:t>𝑘</m:t>
                                    </m:r>
                                  </m:sub>
                                  <m:sup>
                                    <m:r>
                                      <a:rPr lang="en-US" i="1">
                                        <a:latin typeface="Cambria Math" panose="02040503050406030204" pitchFamily="18" charset="0"/>
                                      </a:rPr>
                                      <m:t>2</m:t>
                                    </m:r>
                                  </m:sup>
                                </m:sSubSup>
                              </m:e>
                            </m:nary>
                          </m:e>
                          <m:sup/>
                        </m:sSup>
                      </m:den>
                    </m:f>
                  </m:oMath>
                </a14:m>
                <a:r>
                  <a:rPr lang="en-US" dirty="0"/>
                  <a:t> </a:t>
                </a:r>
                <a14:m>
                  <m:oMath xmlns:m="http://schemas.openxmlformats.org/officeDocument/2006/math">
                    <m:r>
                      <a:rPr lang="en-US" i="1" smtClean="0">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1</m:t>
                        </m:r>
                      </m:num>
                      <m:den>
                        <m:sSup>
                          <m:sSupPr>
                            <m:ctrlPr>
                              <a:rPr lang="en-US" i="1">
                                <a:latin typeface="Cambria Math" panose="02040503050406030204" pitchFamily="18" charset="0"/>
                              </a:rPr>
                            </m:ctrlPr>
                          </m:sSupPr>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𝑘</m:t>
                                </m:r>
                                <m:r>
                                  <a:rPr lang="en-US" i="1">
                                    <a:latin typeface="Cambria Math" panose="02040503050406030204" pitchFamily="18" charset="0"/>
                                  </a:rPr>
                                  <m:t>=1</m:t>
                                </m:r>
                              </m:sub>
                              <m:sup>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2</m:t>
                                    </m:r>
                                  </m:sub>
                                </m:sSub>
                              </m:sup>
                              <m:e>
                                <m:sSubSup>
                                  <m:sSubSupPr>
                                    <m:ctrlPr>
                                      <a:rPr lang="en-US" i="1">
                                        <a:latin typeface="Cambria Math" panose="02040503050406030204" pitchFamily="18" charset="0"/>
                                      </a:rPr>
                                    </m:ctrlPr>
                                  </m:sSubSupPr>
                                  <m:e>
                                    <m:r>
                                      <a:rPr lang="en-US" i="1">
                                        <a:latin typeface="Cambria Math" panose="02040503050406030204" pitchFamily="18" charset="0"/>
                                      </a:rPr>
                                      <m:t>1/</m:t>
                                    </m:r>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2</m:t>
                                    </m:r>
                                    <m:r>
                                      <a:rPr lang="en-US" i="1">
                                        <a:latin typeface="Cambria Math" panose="02040503050406030204" pitchFamily="18" charset="0"/>
                                      </a:rPr>
                                      <m:t>𝑘</m:t>
                                    </m:r>
                                  </m:sub>
                                  <m:sup>
                                    <m:r>
                                      <a:rPr lang="en-US" i="1">
                                        <a:latin typeface="Cambria Math" panose="02040503050406030204" pitchFamily="18" charset="0"/>
                                      </a:rPr>
                                      <m:t>2</m:t>
                                    </m:r>
                                  </m:sup>
                                </m:sSubSup>
                              </m:e>
                            </m:nary>
                          </m:e>
                          <m:sup/>
                        </m:sSup>
                      </m:den>
                    </m:f>
                  </m:oMath>
                </a14:m>
                <a:r>
                  <a:rPr lang="en-US" altLang="zh-CN" dirty="0"/>
                  <a:t>=</a:t>
                </a:r>
                <a:r>
                  <a:rPr lang="zh-CN" altLang="en-US" dirty="0"/>
                  <a:t> </a:t>
                </a:r>
                <a:r>
                  <a:rPr lang="en-US" altLang="zh-CN" dirty="0"/>
                  <a:t>0.0014</a:t>
                </a: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14:m>
                  <m:oMath xmlns:m="http://schemas.openxmlformats.org/officeDocument/2006/math">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𝑘</m:t>
                        </m:r>
                        <m:r>
                          <a:rPr lang="en-US" altLang="zh-CN" i="1">
                            <a:latin typeface="Cambria Math" panose="02040503050406030204" pitchFamily="18" charset="0"/>
                          </a:rPr>
                          <m:t>=1</m:t>
                        </m:r>
                      </m:sub>
                      <m:sup>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𝐾</m:t>
                            </m:r>
                          </m:e>
                          <m:sub>
                            <m:r>
                              <a:rPr lang="en-US" altLang="zh-CN" b="0" i="1" smtClean="0">
                                <a:latin typeface="Cambria Math" panose="02040503050406030204" pitchFamily="18" charset="0"/>
                              </a:rPr>
                              <m:t>1</m:t>
                            </m:r>
                          </m:sub>
                        </m:sSub>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1</m:t>
                            </m:r>
                            <m:r>
                              <a:rPr lang="en-US" altLang="zh-CN" i="1">
                                <a:latin typeface="Cambria Math" panose="02040503050406030204" pitchFamily="18" charset="0"/>
                              </a:rPr>
                              <m:t>𝑘</m:t>
                            </m:r>
                          </m:sub>
                        </m:sSub>
                      </m:e>
                    </m:nary>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i="1">
                            <a:latin typeface="Cambria Math" panose="02040503050406030204" pitchFamily="18" charset="0"/>
                          </a:rPr>
                          <m:t>1</m:t>
                        </m:r>
                        <m:r>
                          <a:rPr lang="en-US" i="1">
                            <a:latin typeface="Cambria Math" panose="02040503050406030204" pitchFamily="18" charset="0"/>
                          </a:rPr>
                          <m:t>𝑘</m:t>
                        </m:r>
                      </m:sub>
                    </m:sSub>
                    <m:r>
                      <a:rPr lang="en-US" i="1">
                        <a:latin typeface="Cambria Math" panose="02040503050406030204" pitchFamily="18" charset="0"/>
                      </a:rPr>
                      <m:t>−</m:t>
                    </m:r>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𝑘</m:t>
                        </m:r>
                        <m:r>
                          <a:rPr lang="en-US" altLang="zh-CN" i="1">
                            <a:latin typeface="Cambria Math" panose="02040503050406030204" pitchFamily="18" charset="0"/>
                          </a:rPr>
                          <m:t>=1</m:t>
                        </m:r>
                      </m:sub>
                      <m:sup>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𝐾</m:t>
                            </m:r>
                          </m:e>
                          <m:sub>
                            <m:r>
                              <a:rPr lang="en-US" altLang="zh-CN" b="0" i="1" smtClean="0">
                                <a:latin typeface="Cambria Math" panose="02040503050406030204" pitchFamily="18" charset="0"/>
                              </a:rPr>
                              <m:t>2</m:t>
                            </m:r>
                          </m:sub>
                        </m:sSub>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b="0" i="1" smtClean="0">
                                <a:latin typeface="Cambria Math" panose="02040503050406030204" pitchFamily="18" charset="0"/>
                              </a:rPr>
                              <m:t>2</m:t>
                            </m:r>
                            <m:r>
                              <a:rPr lang="en-US" altLang="zh-CN" i="1">
                                <a:latin typeface="Cambria Math" panose="02040503050406030204" pitchFamily="18" charset="0"/>
                              </a:rPr>
                              <m:t>𝑘</m:t>
                            </m:r>
                          </m:sub>
                        </m:sSub>
                      </m:e>
                    </m:nary>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altLang="zh-CN" b="0" i="1" smtClean="0">
                            <a:latin typeface="Cambria Math" panose="02040503050406030204" pitchFamily="18" charset="0"/>
                          </a:rPr>
                          <m:t>2</m:t>
                        </m:r>
                        <m:r>
                          <a:rPr lang="en-US" i="1">
                            <a:latin typeface="Cambria Math" panose="02040503050406030204" pitchFamily="18" charset="0"/>
                          </a:rPr>
                          <m:t>𝑘</m:t>
                        </m:r>
                      </m:sub>
                    </m:sSub>
                  </m:oMath>
                </a14:m>
                <a:r>
                  <a:rPr lang="en-US" dirty="0"/>
                  <a:t>= -0.068</a:t>
                </a:r>
              </a:p>
              <a:p>
                <a:pPr marL="285750" indent="-285750">
                  <a:buFont typeface="Arial" panose="020B0604020202020204" pitchFamily="34" charset="0"/>
                  <a:buChar char="•"/>
                </a:pP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𝑍</m:t>
                        </m:r>
                      </m:e>
                      <m:sup>
                        <m:r>
                          <a:rPr lang="en-US" b="0" i="1" smtClean="0">
                            <a:latin typeface="Cambria Math" panose="02040503050406030204" pitchFamily="18" charset="0"/>
                          </a:rPr>
                          <m:t>2</m:t>
                        </m:r>
                      </m:sup>
                    </m:sSup>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m:t>
                        </m:r>
                        <m:sSup>
                          <m:sSupPr>
                            <m:ctrlPr>
                              <a:rPr lang="en-US" i="1">
                                <a:latin typeface="Cambria Math" panose="02040503050406030204" pitchFamily="18" charset="0"/>
                              </a:rPr>
                            </m:ctrlPr>
                          </m:sSupPr>
                          <m:e>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𝑘</m:t>
                                </m:r>
                                <m:r>
                                  <a:rPr lang="en-US" altLang="zh-CN" i="1">
                                    <a:latin typeface="Cambria Math" panose="02040503050406030204" pitchFamily="18" charset="0"/>
                                  </a:rPr>
                                  <m:t>=1</m:t>
                                </m:r>
                              </m:sub>
                              <m:sup>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i="1">
                                        <a:latin typeface="Cambria Math" panose="02040503050406030204" pitchFamily="18" charset="0"/>
                                      </a:rPr>
                                      <m:t>1</m:t>
                                    </m:r>
                                  </m:sub>
                                </m:sSub>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1</m:t>
                                    </m:r>
                                    <m:r>
                                      <a:rPr lang="en-US" altLang="zh-CN" i="1">
                                        <a:latin typeface="Cambria Math" panose="02040503050406030204" pitchFamily="18" charset="0"/>
                                      </a:rPr>
                                      <m:t>𝑘</m:t>
                                    </m:r>
                                  </m:sub>
                                </m:sSub>
                              </m:e>
                            </m:nary>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i="1">
                                    <a:latin typeface="Cambria Math" panose="02040503050406030204" pitchFamily="18" charset="0"/>
                                  </a:rPr>
                                  <m:t>1</m:t>
                                </m:r>
                                <m:r>
                                  <a:rPr lang="en-US" i="1">
                                    <a:latin typeface="Cambria Math" panose="02040503050406030204" pitchFamily="18" charset="0"/>
                                  </a:rPr>
                                  <m:t>𝑘</m:t>
                                </m:r>
                              </m:sub>
                            </m:sSub>
                            <m:r>
                              <a:rPr lang="en-US" i="1">
                                <a:latin typeface="Cambria Math" panose="02040503050406030204" pitchFamily="18" charset="0"/>
                              </a:rPr>
                              <m:t>−</m:t>
                            </m:r>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𝑘</m:t>
                                </m:r>
                                <m:r>
                                  <a:rPr lang="en-US" altLang="zh-CN" i="1">
                                    <a:latin typeface="Cambria Math" panose="02040503050406030204" pitchFamily="18" charset="0"/>
                                  </a:rPr>
                                  <m:t>=1</m:t>
                                </m:r>
                              </m:sub>
                              <m:sup>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i="1">
                                        <a:latin typeface="Cambria Math" panose="02040503050406030204" pitchFamily="18" charset="0"/>
                                      </a:rPr>
                                      <m:t>2</m:t>
                                    </m:r>
                                  </m:sub>
                                </m:sSub>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2</m:t>
                                    </m:r>
                                    <m:r>
                                      <a:rPr lang="en-US" altLang="zh-CN" i="1">
                                        <a:latin typeface="Cambria Math" panose="02040503050406030204" pitchFamily="18" charset="0"/>
                                      </a:rPr>
                                      <m:t>𝑘</m:t>
                                    </m:r>
                                  </m:sub>
                                </m:sSub>
                              </m:e>
                            </m:nary>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altLang="zh-CN" i="1">
                                    <a:latin typeface="Cambria Math" panose="02040503050406030204" pitchFamily="18" charset="0"/>
                                  </a:rPr>
                                  <m:t>2</m:t>
                                </m:r>
                                <m:r>
                                  <a:rPr lang="en-US" i="1">
                                    <a:latin typeface="Cambria Math" panose="02040503050406030204" pitchFamily="18" charset="0"/>
                                  </a:rPr>
                                  <m:t>𝑘</m:t>
                                </m:r>
                              </m:sub>
                            </m:sSub>
                            <m:r>
                              <a:rPr lang="en-US" i="1">
                                <a:latin typeface="Cambria Math" panose="02040503050406030204" pitchFamily="18" charset="0"/>
                              </a:rPr>
                              <m:t>)</m:t>
                            </m:r>
                          </m:e>
                          <m:sup>
                            <m:r>
                              <a:rPr lang="en-US" i="1">
                                <a:latin typeface="Cambria Math" panose="02040503050406030204" pitchFamily="18" charset="0"/>
                              </a:rPr>
                              <m:t>2</m:t>
                            </m:r>
                          </m:sup>
                        </m:sSup>
                      </m:num>
                      <m:den>
                        <m:acc>
                          <m:accPr>
                            <m:chr m:val="̂"/>
                            <m:ctrlPr>
                              <a:rPr lang="en-US" i="1">
                                <a:latin typeface="Cambria Math" panose="02040503050406030204" pitchFamily="18" charset="0"/>
                              </a:rPr>
                            </m:ctrlPr>
                          </m:accPr>
                          <m:e>
                            <m:r>
                              <a:rPr lang="en-US" i="1">
                                <a:latin typeface="Cambria Math" panose="02040503050406030204" pitchFamily="18" charset="0"/>
                              </a:rPr>
                              <m:t>𝑉𝑎𝑟</m:t>
                            </m:r>
                          </m:e>
                        </m:acc>
                        <m:d>
                          <m:dPr>
                            <m:ctrlPr>
                              <a:rPr lang="en-US" i="1">
                                <a:latin typeface="Cambria Math" panose="02040503050406030204" pitchFamily="18" charset="0"/>
                              </a:rPr>
                            </m:ctrlPr>
                          </m:dPr>
                          <m:e>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𝑘</m:t>
                                </m:r>
                                <m:r>
                                  <a:rPr lang="en-US" altLang="zh-CN" i="1">
                                    <a:latin typeface="Cambria Math" panose="02040503050406030204" pitchFamily="18" charset="0"/>
                                  </a:rPr>
                                  <m:t>=1</m:t>
                                </m:r>
                              </m:sub>
                              <m:sup>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i="1">
                                        <a:latin typeface="Cambria Math" panose="02040503050406030204" pitchFamily="18" charset="0"/>
                                      </a:rPr>
                                      <m:t>1</m:t>
                                    </m:r>
                                  </m:sub>
                                </m:sSub>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1</m:t>
                                    </m:r>
                                    <m:r>
                                      <a:rPr lang="en-US" altLang="zh-CN" i="1">
                                        <a:latin typeface="Cambria Math" panose="02040503050406030204" pitchFamily="18" charset="0"/>
                                      </a:rPr>
                                      <m:t>𝑘</m:t>
                                    </m:r>
                                  </m:sub>
                                </m:sSub>
                              </m:e>
                            </m:nary>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i="1">
                                    <a:latin typeface="Cambria Math" panose="02040503050406030204" pitchFamily="18" charset="0"/>
                                  </a:rPr>
                                  <m:t>1</m:t>
                                </m:r>
                                <m:r>
                                  <a:rPr lang="en-US" i="1">
                                    <a:latin typeface="Cambria Math" panose="02040503050406030204" pitchFamily="18" charset="0"/>
                                  </a:rPr>
                                  <m:t>𝑘</m:t>
                                </m:r>
                              </m:sub>
                            </m:sSub>
                            <m:r>
                              <a:rPr lang="en-US" i="1">
                                <a:latin typeface="Cambria Math" panose="02040503050406030204" pitchFamily="18" charset="0"/>
                              </a:rPr>
                              <m:t>−</m:t>
                            </m:r>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𝑘</m:t>
                                </m:r>
                                <m:r>
                                  <a:rPr lang="en-US" altLang="zh-CN" i="1">
                                    <a:latin typeface="Cambria Math" panose="02040503050406030204" pitchFamily="18" charset="0"/>
                                  </a:rPr>
                                  <m:t>=1</m:t>
                                </m:r>
                              </m:sub>
                              <m:sup>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i="1">
                                        <a:latin typeface="Cambria Math" panose="02040503050406030204" pitchFamily="18" charset="0"/>
                                      </a:rPr>
                                      <m:t>1</m:t>
                                    </m:r>
                                  </m:sub>
                                </m:sSub>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2</m:t>
                                    </m:r>
                                    <m:r>
                                      <a:rPr lang="en-US" altLang="zh-CN" i="1">
                                        <a:latin typeface="Cambria Math" panose="02040503050406030204" pitchFamily="18" charset="0"/>
                                      </a:rPr>
                                      <m:t>𝑘</m:t>
                                    </m:r>
                                  </m:sub>
                                </m:sSub>
                              </m:e>
                            </m:nary>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i="1">
                                    <a:latin typeface="Cambria Math" panose="02040503050406030204" pitchFamily="18" charset="0"/>
                                  </a:rPr>
                                  <m:t>2</m:t>
                                </m:r>
                                <m:r>
                                  <a:rPr lang="en-US" i="1">
                                    <a:latin typeface="Cambria Math" panose="02040503050406030204" pitchFamily="18" charset="0"/>
                                  </a:rPr>
                                  <m:t>𝑘</m:t>
                                </m:r>
                              </m:sub>
                            </m:sSub>
                          </m:e>
                        </m:d>
                      </m:den>
                    </m:f>
                    <m:r>
                      <a:rPr lang="en-US" altLang="zh-CN" b="0" i="0" smtClean="0">
                        <a:latin typeface="Cambria Math" panose="02040503050406030204" pitchFamily="18" charset="0"/>
                      </a:rPr>
                      <m:t>=</m:t>
                    </m:r>
                    <m:f>
                      <m:fPr>
                        <m:ctrlPr>
                          <a:rPr lang="en-US" altLang="zh-CN" b="0" i="1" smtClean="0">
                            <a:latin typeface="Cambria Math" panose="02040503050406030204" pitchFamily="18" charset="0"/>
                          </a:rPr>
                        </m:ctrlPr>
                      </m:fPr>
                      <m:num>
                        <m:sSup>
                          <m:sSupPr>
                            <m:ctrlPr>
                              <a:rPr lang="en-US" b="0" i="1" dirty="0" smtClean="0">
                                <a:latin typeface="Cambria Math" panose="02040503050406030204" pitchFamily="18" charset="0"/>
                              </a:rPr>
                            </m:ctrlPr>
                          </m:sSupPr>
                          <m:e>
                            <m:r>
                              <a:rPr lang="en-US" altLang="zh-CN" i="1">
                                <a:latin typeface="Cambria Math" panose="02040503050406030204" pitchFamily="18" charset="0"/>
                              </a:rPr>
                              <m:t>(</m:t>
                            </m:r>
                            <m:r>
                              <m:rPr>
                                <m:nor/>
                              </m:rPr>
                              <a:rPr lang="en-US" i="1" dirty="0"/>
                              <m:t>−</m:t>
                            </m:r>
                            <m:r>
                              <m:rPr>
                                <m:nor/>
                              </m:rPr>
                              <a:rPr lang="en-US" i="0" dirty="0"/>
                              <m:t>0.068</m:t>
                            </m:r>
                            <m:r>
                              <a:rPr lang="en-US" b="0" i="0" dirty="0" smtClean="0">
                                <a:latin typeface="Cambria Math" panose="02040503050406030204" pitchFamily="18" charset="0"/>
                              </a:rPr>
                              <m:t>)</m:t>
                            </m:r>
                          </m:e>
                          <m:sup>
                            <m:r>
                              <a:rPr lang="en-US" b="0" i="1" dirty="0" smtClean="0">
                                <a:latin typeface="Cambria Math" panose="02040503050406030204" pitchFamily="18" charset="0"/>
                              </a:rPr>
                              <m:t>2</m:t>
                            </m:r>
                          </m:sup>
                        </m:sSup>
                      </m:num>
                      <m:den>
                        <m:r>
                          <m:rPr>
                            <m:nor/>
                          </m:rPr>
                          <a:rPr lang="en-US" altLang="zh-CN" i="0" dirty="0"/>
                          <m:t>0.0014</m:t>
                        </m:r>
                      </m:den>
                    </m:f>
                    <m:r>
                      <a:rPr lang="en-US" altLang="zh-CN" b="0" i="1" smtClean="0">
                        <a:latin typeface="Cambria Math" panose="02040503050406030204" pitchFamily="18" charset="0"/>
                        <a:ea typeface="Cambria Math" panose="02040503050406030204" pitchFamily="18" charset="0"/>
                      </a:rPr>
                      <m:t>≈3.283</m:t>
                    </m:r>
                  </m:oMath>
                </a14:m>
                <a:r>
                  <a:rPr lang="zh-CN" altLang="en-US" dirty="0"/>
                  <a:t> </a:t>
                </a:r>
                <a:r>
                  <a:rPr lang="en-US" altLang="zh-CN" dirty="0"/>
                  <a:t>with p-value =0.070</a:t>
                </a:r>
                <a:endParaRPr lang="en-US" dirty="0"/>
              </a:p>
              <a:p>
                <a:pPr marL="285750" indent="-285750">
                  <a:buFont typeface="Arial" panose="020B0604020202020204" pitchFamily="34" charset="0"/>
                  <a:buChar char="•"/>
                </a:pPr>
                <a:endParaRPr lang="en-US" dirty="0"/>
              </a:p>
            </p:txBody>
          </p:sp>
        </mc:Choice>
        <mc:Fallback xmlns="">
          <p:sp>
            <p:nvSpPr>
              <p:cNvPr id="5" name="TextBox 4">
                <a:extLst>
                  <a:ext uri="{FF2B5EF4-FFF2-40B4-BE49-F238E27FC236}">
                    <a16:creationId xmlns:a16="http://schemas.microsoft.com/office/drawing/2014/main" id="{DC4FC1CB-84EC-904F-B31B-60BDBE9CD835}"/>
                  </a:ext>
                </a:extLst>
              </p:cNvPr>
              <p:cNvSpPr txBox="1">
                <a:spLocks noRot="1" noChangeAspect="1" noMove="1" noResize="1" noEditPoints="1" noAdjustHandles="1" noChangeArrowheads="1" noChangeShapeType="1" noTextEdit="1"/>
              </p:cNvSpPr>
              <p:nvPr/>
            </p:nvSpPr>
            <p:spPr>
              <a:xfrm>
                <a:off x="238216" y="1368882"/>
                <a:ext cx="11212257" cy="5527347"/>
              </a:xfrm>
              <a:prstGeom prst="rect">
                <a:avLst/>
              </a:prstGeom>
              <a:blipFill>
                <a:blip r:embed="rId2"/>
                <a:stretch>
                  <a:fillRect l="-435" t="-662" r="-489"/>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E3A8F8B9-B97A-5F22-19A1-F95CE5222E38}"/>
              </a:ext>
            </a:extLst>
          </p:cNvPr>
          <p:cNvSpPr>
            <a:spLocks noGrp="1"/>
          </p:cNvSpPr>
          <p:nvPr>
            <p:ph type="sldNum" sz="quarter" idx="12"/>
          </p:nvPr>
        </p:nvSpPr>
        <p:spPr/>
        <p:txBody>
          <a:bodyPr/>
          <a:lstStyle/>
          <a:p>
            <a:fld id="{77C6A7FE-225D-49F1-B302-AA37EA92BB49}" type="slidenum">
              <a:rPr lang="en-US" smtClean="0"/>
              <a:t>100</a:t>
            </a:fld>
            <a:endParaRPr lang="en-US"/>
          </a:p>
        </p:txBody>
      </p:sp>
    </p:spTree>
    <p:extLst>
      <p:ext uri="{BB962C8B-B14F-4D97-AF65-F5344CB8AC3E}">
        <p14:creationId xmlns:p14="http://schemas.microsoft.com/office/powerpoint/2010/main" val="334869154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AA3EA51-FF36-B946-8E88-6F7E7A6E169D}"/>
              </a:ext>
            </a:extLst>
          </p:cNvPr>
          <p:cNvSpPr>
            <a:spLocks noGrp="1"/>
          </p:cNvSpPr>
          <p:nvPr>
            <p:ph type="ftr" sz="quarter" idx="11"/>
          </p:nvPr>
        </p:nvSpPr>
        <p:spPr/>
        <p:txBody>
          <a:bodyPr/>
          <a:lstStyle/>
          <a:p>
            <a:endParaRPr lang="en-US"/>
          </a:p>
        </p:txBody>
      </p:sp>
      <p:graphicFrame>
        <p:nvGraphicFramePr>
          <p:cNvPr id="5" name="Table 7">
            <a:extLst>
              <a:ext uri="{FF2B5EF4-FFF2-40B4-BE49-F238E27FC236}">
                <a16:creationId xmlns:a16="http://schemas.microsoft.com/office/drawing/2014/main" id="{D2718FE9-8E18-9944-BD89-CF78E1EDAE84}"/>
              </a:ext>
            </a:extLst>
          </p:cNvPr>
          <p:cNvGraphicFramePr>
            <a:graphicFrameLocks noGrp="1"/>
          </p:cNvGraphicFramePr>
          <p:nvPr>
            <p:extLst>
              <p:ext uri="{D42A27DB-BD31-4B8C-83A1-F6EECF244321}">
                <p14:modId xmlns:p14="http://schemas.microsoft.com/office/powerpoint/2010/main" val="2892728413"/>
              </p:ext>
            </p:extLst>
          </p:nvPr>
        </p:nvGraphicFramePr>
        <p:xfrm>
          <a:off x="2554654" y="1436339"/>
          <a:ext cx="7279640" cy="4783706"/>
        </p:xfrm>
        <a:graphic>
          <a:graphicData uri="http://schemas.openxmlformats.org/drawingml/2006/table">
            <a:tbl>
              <a:tblPr firstRow="1" bandRow="1">
                <a:tableStyleId>{5C22544A-7EE6-4342-B048-85BDC9FD1C3A}</a:tableStyleId>
              </a:tblPr>
              <a:tblGrid>
                <a:gridCol w="2482788">
                  <a:extLst>
                    <a:ext uri="{9D8B030D-6E8A-4147-A177-3AD203B41FA5}">
                      <a16:colId xmlns:a16="http://schemas.microsoft.com/office/drawing/2014/main" val="2448394520"/>
                    </a:ext>
                  </a:extLst>
                </a:gridCol>
                <a:gridCol w="1514006">
                  <a:extLst>
                    <a:ext uri="{9D8B030D-6E8A-4147-A177-3AD203B41FA5}">
                      <a16:colId xmlns:a16="http://schemas.microsoft.com/office/drawing/2014/main" val="2347101912"/>
                    </a:ext>
                  </a:extLst>
                </a:gridCol>
                <a:gridCol w="1459875">
                  <a:extLst>
                    <a:ext uri="{9D8B030D-6E8A-4147-A177-3AD203B41FA5}">
                      <a16:colId xmlns:a16="http://schemas.microsoft.com/office/drawing/2014/main" val="3128940458"/>
                    </a:ext>
                  </a:extLst>
                </a:gridCol>
                <a:gridCol w="1822971">
                  <a:extLst>
                    <a:ext uri="{9D8B030D-6E8A-4147-A177-3AD203B41FA5}">
                      <a16:colId xmlns:a16="http://schemas.microsoft.com/office/drawing/2014/main" val="1569069121"/>
                    </a:ext>
                  </a:extLst>
                </a:gridCol>
              </a:tblGrid>
              <a:tr h="821854">
                <a:tc>
                  <a:txBody>
                    <a:bodyPr/>
                    <a:lstStyle/>
                    <a:p>
                      <a:endParaRPr lang="en-US" dirty="0"/>
                    </a:p>
                  </a:txBody>
                  <a:tcPr/>
                </a:tc>
                <a:tc>
                  <a:txBody>
                    <a:bodyPr/>
                    <a:lstStyle/>
                    <a:p>
                      <a:r>
                        <a:rPr lang="en-US" dirty="0"/>
                        <a:t>RR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RD</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P-value</a:t>
                      </a:r>
                    </a:p>
                    <a:p>
                      <a:endParaRPr lang="en-US" dirty="0"/>
                    </a:p>
                  </a:txBody>
                  <a:tcPr/>
                </a:tc>
                <a:extLst>
                  <a:ext uri="{0D108BD9-81ED-4DB2-BD59-A6C34878D82A}">
                    <a16:rowId xmlns:a16="http://schemas.microsoft.com/office/drawing/2014/main" val="4218929179"/>
                  </a:ext>
                </a:extLst>
              </a:tr>
              <a:tr h="826926">
                <a:tc>
                  <a:txBody>
                    <a:bodyPr/>
                    <a:lstStyle/>
                    <a:p>
                      <a:r>
                        <a:rPr lang="en-US" dirty="0"/>
                        <a:t>Cluster-level analysis, allowing for variable cluster size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0.856</a:t>
                      </a:r>
                    </a:p>
                    <a:p>
                      <a:endParaRPr lang="en-US" dirty="0"/>
                    </a:p>
                  </a:txBody>
                  <a:tcPr/>
                </a:tc>
                <a:tc>
                  <a:txBody>
                    <a:bodyPr/>
                    <a:lstStyle/>
                    <a:p>
                      <a:r>
                        <a:rPr lang="en-US" dirty="0"/>
                        <a:t>-0.068</a:t>
                      </a:r>
                    </a:p>
                  </a:txBody>
                  <a:tcPr/>
                </a:tc>
                <a:tc>
                  <a:txBody>
                    <a:bodyPr/>
                    <a:lstStyle/>
                    <a:p>
                      <a:r>
                        <a:rPr lang="en-US" dirty="0"/>
                        <a:t>0.070</a:t>
                      </a:r>
                    </a:p>
                  </a:txBody>
                  <a:tcPr/>
                </a:tc>
                <a:extLst>
                  <a:ext uri="{0D108BD9-81ED-4DB2-BD59-A6C34878D82A}">
                    <a16:rowId xmlns:a16="http://schemas.microsoft.com/office/drawing/2014/main" val="4242059460"/>
                  </a:ext>
                </a:extLst>
              </a:tr>
              <a:tr h="826926">
                <a:tc>
                  <a:txBody>
                    <a:bodyPr/>
                    <a:lstStyle/>
                    <a:p>
                      <a:r>
                        <a:rPr lang="en-US" sz="1800" kern="1200" dirty="0">
                          <a:solidFill>
                            <a:schemeClr val="dk1"/>
                          </a:solidFill>
                          <a:effectLst/>
                          <a:latin typeface="+mn-lt"/>
                          <a:ea typeface="+mn-ea"/>
                          <a:cs typeface="+mn-cs"/>
                        </a:rPr>
                        <a:t>Cluster-level analysis fixed (average) cluster size</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210122356"/>
                  </a:ext>
                </a:extLst>
              </a:tr>
              <a:tr h="838234">
                <a:tc>
                  <a:txBody>
                    <a:bodyPr/>
                    <a:lstStyle/>
                    <a:p>
                      <a:r>
                        <a:rPr lang="en-US" dirty="0" err="1"/>
                        <a:t>Unclustered</a:t>
                      </a:r>
                      <a:r>
                        <a:rPr lang="en-US" dirty="0"/>
                        <a:t> analysis</a:t>
                      </a:r>
                    </a:p>
                  </a:txBody>
                  <a:tcPr/>
                </a:tc>
                <a:tc>
                  <a:txBody>
                    <a:bodyPr/>
                    <a:lstStyle/>
                    <a:p>
                      <a:r>
                        <a:rPr lang="en-US" dirty="0"/>
                        <a:t> </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4156244041"/>
                  </a:ext>
                </a:extLst>
              </a:tr>
              <a:tr h="12948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Individual-level analysis,  variable cluster size using GEE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endParaRPr lang="en-US" dirty="0"/>
                    </a:p>
                  </a:txBody>
                  <a:tcPr/>
                </a:tc>
                <a:extLst>
                  <a:ext uri="{0D108BD9-81ED-4DB2-BD59-A6C34878D82A}">
                    <a16:rowId xmlns:a16="http://schemas.microsoft.com/office/drawing/2014/main" val="1317639007"/>
                  </a:ext>
                </a:extLst>
              </a:tr>
            </a:tbl>
          </a:graphicData>
        </a:graphic>
      </p:graphicFrame>
      <p:sp>
        <p:nvSpPr>
          <p:cNvPr id="6" name="Rectangle 5">
            <a:extLst>
              <a:ext uri="{FF2B5EF4-FFF2-40B4-BE49-F238E27FC236}">
                <a16:creationId xmlns:a16="http://schemas.microsoft.com/office/drawing/2014/main" id="{1717D2A1-7DDC-C344-B4BC-F8A604EFBD93}"/>
              </a:ext>
            </a:extLst>
          </p:cNvPr>
          <p:cNvSpPr/>
          <p:nvPr/>
        </p:nvSpPr>
        <p:spPr>
          <a:xfrm>
            <a:off x="0" y="-18030"/>
            <a:ext cx="12192000" cy="138691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Cluster-level analysis </a:t>
            </a:r>
            <a:r>
              <a:rPr lang="en-US" altLang="zh-CN" sz="2800" dirty="0">
                <a:solidFill>
                  <a:schemeClr val="bg1"/>
                </a:solidFill>
              </a:rPr>
              <a:t>example</a:t>
            </a:r>
            <a:r>
              <a:rPr lang="zh-CN" altLang="en-US" sz="2800" dirty="0">
                <a:solidFill>
                  <a:schemeClr val="bg1"/>
                </a:solidFill>
              </a:rPr>
              <a:t> </a:t>
            </a:r>
            <a:r>
              <a:rPr lang="en-US" sz="2800" dirty="0">
                <a:solidFill>
                  <a:schemeClr val="bg1"/>
                </a:solidFill>
              </a:rPr>
              <a:t>for HPTN data with a binary outcome</a:t>
            </a:r>
          </a:p>
        </p:txBody>
      </p:sp>
      <p:sp>
        <p:nvSpPr>
          <p:cNvPr id="2" name="Slide Number Placeholder 1">
            <a:extLst>
              <a:ext uri="{FF2B5EF4-FFF2-40B4-BE49-F238E27FC236}">
                <a16:creationId xmlns:a16="http://schemas.microsoft.com/office/drawing/2014/main" id="{4589017D-53F1-E58F-7D39-DE79D9B1F1BC}"/>
              </a:ext>
            </a:extLst>
          </p:cNvPr>
          <p:cNvSpPr>
            <a:spLocks noGrp="1"/>
          </p:cNvSpPr>
          <p:nvPr>
            <p:ph type="sldNum" sz="quarter" idx="12"/>
          </p:nvPr>
        </p:nvSpPr>
        <p:spPr/>
        <p:txBody>
          <a:bodyPr/>
          <a:lstStyle/>
          <a:p>
            <a:fld id="{77C6A7FE-225D-49F1-B302-AA37EA92BB49}" type="slidenum">
              <a:rPr lang="en-US" smtClean="0"/>
              <a:t>101</a:t>
            </a:fld>
            <a:endParaRPr lang="en-US"/>
          </a:p>
        </p:txBody>
      </p:sp>
    </p:spTree>
    <p:extLst>
      <p:ext uri="{BB962C8B-B14F-4D97-AF65-F5344CB8AC3E}">
        <p14:creationId xmlns:p14="http://schemas.microsoft.com/office/powerpoint/2010/main" val="905093996"/>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34A528-02A1-5A4D-9B47-80C90D3E82D3}"/>
              </a:ext>
            </a:extLst>
          </p:cNvPr>
          <p:cNvSpPr/>
          <p:nvPr/>
        </p:nvSpPr>
        <p:spPr>
          <a:xfrm>
            <a:off x="0" y="-18030"/>
            <a:ext cx="12192000" cy="138691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Cluster-level analysis </a:t>
            </a:r>
            <a:r>
              <a:rPr lang="en-US" altLang="zh-CN" sz="2800" dirty="0">
                <a:solidFill>
                  <a:schemeClr val="bg1"/>
                </a:solidFill>
              </a:rPr>
              <a:t>example</a:t>
            </a:r>
            <a:r>
              <a:rPr lang="zh-CN" altLang="en-US" sz="2800" dirty="0">
                <a:solidFill>
                  <a:schemeClr val="bg1"/>
                </a:solidFill>
              </a:rPr>
              <a:t> </a:t>
            </a:r>
            <a:r>
              <a:rPr lang="en-US" sz="2800" dirty="0">
                <a:solidFill>
                  <a:schemeClr val="bg1"/>
                </a:solidFill>
              </a:rPr>
              <a:t>for HPTN with a binary outcome</a:t>
            </a:r>
          </a:p>
        </p:txBody>
      </p:sp>
      <p:sp>
        <p:nvSpPr>
          <p:cNvPr id="5" name="TextBox 4">
            <a:extLst>
              <a:ext uri="{FF2B5EF4-FFF2-40B4-BE49-F238E27FC236}">
                <a16:creationId xmlns:a16="http://schemas.microsoft.com/office/drawing/2014/main" id="{E49B7AA5-7A41-E640-A3C2-396FF2262B12}"/>
              </a:ext>
            </a:extLst>
          </p:cNvPr>
          <p:cNvSpPr txBox="1"/>
          <p:nvPr/>
        </p:nvSpPr>
        <p:spPr>
          <a:xfrm>
            <a:off x="451262" y="1615044"/>
            <a:ext cx="237566" cy="369332"/>
          </a:xfrm>
          <a:prstGeom prst="rect">
            <a:avLst/>
          </a:prstGeom>
          <a:noFill/>
        </p:spPr>
        <p:txBody>
          <a:bodyPr wrap="none" rtlCol="0">
            <a:spAutoFit/>
          </a:bodyPr>
          <a:lstStyle/>
          <a:p>
            <a:r>
              <a:rPr lang="en-US" dirty="0"/>
              <a:t> </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2423CEB-08BB-C1CD-3C24-A8BD837CDE81}"/>
                  </a:ext>
                </a:extLst>
              </p:cNvPr>
              <p:cNvSpPr txBox="1"/>
              <p:nvPr/>
            </p:nvSpPr>
            <p:spPr>
              <a:xfrm>
                <a:off x="2724492" y="2261830"/>
                <a:ext cx="7626723" cy="4219360"/>
              </a:xfrm>
              <a:prstGeom prst="rect">
                <a:avLst/>
              </a:prstGeom>
              <a:noFill/>
            </p:spPr>
            <p:txBody>
              <a:bodyPr wrap="square" rtlCol="0">
                <a:spAutoFit/>
              </a:bodyPr>
              <a:lstStyle/>
              <a:p>
                <a:r>
                  <a:rPr lang="en-US" dirty="0">
                    <a:latin typeface="Cambria Math" panose="02040503050406030204" pitchFamily="18" charset="0"/>
                  </a:rPr>
                  <a:t>Cluster-level analysis, fixed (averaged) cluster size</a:t>
                </a:r>
              </a:p>
              <a:p>
                <a:pPr marL="285750" indent="-285750">
                  <a:buFont typeface="Arial" panose="020B0604020202020204" pitchFamily="34" charset="0"/>
                  <a:buChar char="•"/>
                </a:pPr>
                <a:endParaRPr lang="en-US" dirty="0">
                  <a:latin typeface="Cambria Math" panose="02040503050406030204" pitchFamily="18" charset="0"/>
                </a:endParaRPr>
              </a:p>
              <a:p>
                <a:pPr marL="285750" indent="-285750">
                  <a:buFont typeface="Arial" panose="020B0604020202020204" pitchFamily="34" charset="0"/>
                  <a:buChar char="•"/>
                </a:pPr>
                <a14:m>
                  <m:oMath xmlns:m="http://schemas.openxmlformats.org/officeDocument/2006/math">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i="1" smtClean="0">
                                <a:latin typeface="Cambria Math" panose="02040503050406030204" pitchFamily="18" charset="0"/>
                                <a:ea typeface="Cambria Math" panose="02040503050406030204" pitchFamily="18" charset="0"/>
                              </a:rPr>
                              <m:t>𝛽</m:t>
                            </m:r>
                          </m:e>
                        </m:acc>
                      </m:e>
                      <m:sub>
                        <m:r>
                          <a:rPr lang="en-US" b="0" i="1" smtClean="0">
                            <a:latin typeface="Cambria Math" panose="02040503050406030204" pitchFamily="18" charset="0"/>
                          </a:rPr>
                          <m:t>0</m:t>
                        </m:r>
                      </m:sub>
                    </m:sSub>
                    <m:r>
                      <a:rPr lang="en-US" b="0" i="1" smtClean="0">
                        <a:latin typeface="Cambria Math" panose="02040503050406030204" pitchFamily="18" charset="0"/>
                      </a:rPr>
                      <m:t>=0.489 </m:t>
                    </m:r>
                  </m:oMath>
                </a14:m>
                <a:r>
                  <a:rPr lang="en-US" dirty="0"/>
                  <a:t>and </a:t>
                </a:r>
                <a14:m>
                  <m:oMath xmlns:m="http://schemas.openxmlformats.org/officeDocument/2006/math">
                    <m:sSup>
                      <m:sSupPr>
                        <m:ctrlPr>
                          <a:rPr lang="en-US" i="1" smtClean="0">
                            <a:latin typeface="Cambria Math" panose="02040503050406030204" pitchFamily="18" charset="0"/>
                          </a:rPr>
                        </m:ctrlPr>
                      </m:sSupPr>
                      <m:e>
                        <m:acc>
                          <m:accPr>
                            <m:chr m:val="̂"/>
                            <m:ctrlPr>
                              <a:rPr lang="en-US" i="1" smtClean="0">
                                <a:latin typeface="Cambria Math" panose="02040503050406030204" pitchFamily="18" charset="0"/>
                              </a:rPr>
                            </m:ctrlPr>
                          </m:accPr>
                          <m:e>
                            <m:r>
                              <a:rPr lang="en-US" i="1" smtClean="0">
                                <a:latin typeface="Cambria Math" panose="02040503050406030204" pitchFamily="18" charset="0"/>
                                <a:ea typeface="Cambria Math" panose="02040503050406030204" pitchFamily="18" charset="0"/>
                              </a:rPr>
                              <m:t>𝛽</m:t>
                            </m:r>
                          </m:e>
                        </m:acc>
                      </m:e>
                      <m:sup>
                        <m:r>
                          <a:rPr lang="en-US"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rPr>
                      <m:t>=−0.077</m:t>
                    </m:r>
                  </m:oMath>
                </a14:m>
                <a:endParaRPr lang="en-US" dirty="0"/>
              </a:p>
              <a:p>
                <a:pPr marL="285750" indent="-285750">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i="1">
                            <a:latin typeface="Cambria Math" panose="02040503050406030204" pitchFamily="18" charset="0"/>
                          </a:rPr>
                          <m:t>2</m:t>
                        </m:r>
                      </m:sub>
                    </m:sSub>
                    <m:r>
                      <a:rPr lang="en-US" i="1">
                        <a:latin typeface="Cambria Math" panose="02040503050406030204" pitchFamily="18" charset="0"/>
                      </a:rPr>
                      <m:t>=0.48</m:t>
                    </m:r>
                    <m:r>
                      <a:rPr lang="en-US" b="0" i="1" smtClean="0">
                        <a:latin typeface="Cambria Math" panose="02040503050406030204" pitchFamily="18" charset="0"/>
                      </a:rPr>
                      <m:t>9</m:t>
                    </m:r>
                  </m:oMath>
                </a14:m>
                <a:endParaRPr lang="en-US" dirty="0"/>
              </a:p>
              <a:p>
                <a:pPr marL="285750" indent="-285750">
                  <a:buFont typeface="Arial" panose="020B0604020202020204" pitchFamily="34" charset="0"/>
                  <a:buChar char="•"/>
                </a:pPr>
                <a14:m>
                  <m:oMath xmlns:m="http://schemas.openxmlformats.org/officeDocument/2006/math">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𝑝</m:t>
                            </m:r>
                          </m:e>
                        </m:acc>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i="1">
                            <a:latin typeface="Cambria Math" panose="02040503050406030204" pitchFamily="18" charset="0"/>
                          </a:rPr>
                          <m:t>2</m:t>
                        </m:r>
                      </m:sub>
                    </m:sSub>
                    <m:r>
                      <a:rPr lang="en-US" b="0" i="1" smtClean="0">
                        <a:latin typeface="Cambria Math" panose="02040503050406030204" pitchFamily="18" charset="0"/>
                      </a:rPr>
                      <m:t>−</m:t>
                    </m:r>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p>
                        <m:r>
                          <a:rPr lang="en-US" i="1">
                            <a:latin typeface="Cambria Math" panose="02040503050406030204" pitchFamily="18" charset="0"/>
                            <a:ea typeface="Cambria Math" panose="02040503050406030204" pitchFamily="18" charset="0"/>
                          </a:rPr>
                          <m:t>∗</m:t>
                        </m:r>
                      </m:sup>
                    </m:sSup>
                    <m:r>
                      <a:rPr lang="en-US" i="1">
                        <a:latin typeface="Cambria Math" panose="02040503050406030204" pitchFamily="18" charset="0"/>
                      </a:rPr>
                      <m:t>=0.41</m:t>
                    </m:r>
                    <m:r>
                      <a:rPr lang="en-US" b="0" i="1" smtClean="0">
                        <a:latin typeface="Cambria Math" panose="02040503050406030204" pitchFamily="18" charset="0"/>
                      </a:rPr>
                      <m:t>1</m:t>
                    </m:r>
                  </m:oMath>
                </a14:m>
                <a:endParaRPr lang="en-US" b="0" dirty="0"/>
              </a:p>
              <a:p>
                <a:pPr marL="285750" indent="-285750">
                  <a:buFont typeface="Arial" panose="020B0604020202020204" pitchFamily="34" charset="0"/>
                  <a:buChar char="•"/>
                </a:pPr>
                <a14:m>
                  <m:oMath xmlns:m="http://schemas.openxmlformats.org/officeDocument/2006/math">
                    <m:r>
                      <a:rPr lang="en-US" i="1" smtClean="0">
                        <a:latin typeface="Cambria Math" panose="02040503050406030204" pitchFamily="18" charset="0"/>
                        <a:ea typeface="Cambria Math" panose="02040503050406030204" pitchFamily="18" charset="0"/>
                      </a:rPr>
                      <m:t>𝜌</m:t>
                    </m:r>
                    <m:r>
                      <a:rPr lang="en-US" b="0" i="1" smtClean="0">
                        <a:latin typeface="Cambria Math" panose="02040503050406030204" pitchFamily="18" charset="0"/>
                        <a:ea typeface="Cambria Math" panose="02040503050406030204" pitchFamily="18" charset="0"/>
                      </a:rPr>
                      <m:t>=0.121</m:t>
                    </m:r>
                  </m:oMath>
                </a14:m>
                <a:endParaRPr lang="en-US" dirty="0"/>
              </a:p>
              <a:p>
                <a:pPr marL="285750" indent="-285750">
                  <a:buFont typeface="Arial" panose="020B0604020202020204" pitchFamily="34" charset="0"/>
                  <a:buChar char="•"/>
                </a:pPr>
                <a14:m>
                  <m:oMath xmlns:m="http://schemas.openxmlformats.org/officeDocument/2006/math">
                    <m:r>
                      <a:rPr lang="en-US" i="1" dirty="0" smtClean="0">
                        <a:latin typeface="Cambria Math" panose="02040503050406030204" pitchFamily="18" charset="0"/>
                      </a:rPr>
                      <m:t>𝐾</m:t>
                    </m:r>
                  </m:oMath>
                </a14:m>
                <a:r>
                  <a:rPr lang="en-US" dirty="0"/>
                  <a:t>=(112+120)/2=116</a:t>
                </a:r>
              </a:p>
              <a:p>
                <a:pPr marL="285750" indent="-285750">
                  <a:buFont typeface="Arial" panose="020B0604020202020204" pitchFamily="34" charset="0"/>
                  <a:buChar char="•"/>
                </a:pPr>
                <a14:m>
                  <m:oMath xmlns:m="http://schemas.openxmlformats.org/officeDocument/2006/math">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𝑚</m:t>
                        </m:r>
                      </m:e>
                    </m:acc>
                  </m:oMath>
                </a14:m>
                <a:r>
                  <a:rPr lang="en-US" dirty="0"/>
                  <a:t> =696/ (112+120) = 3</a:t>
                </a:r>
              </a:p>
              <a:p>
                <a:pPr marL="285750" indent="-285750">
                  <a:buFont typeface="Arial" panose="020B0604020202020204" pitchFamily="34" charset="0"/>
                  <a:buChar char="•"/>
                </a:pPr>
                <a:r>
                  <a:rPr lang="en-US" dirty="0"/>
                  <a:t>Wald test-statistic is</a:t>
                </a:r>
              </a:p>
              <a:p>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𝑍</m:t>
                          </m:r>
                        </m:e>
                        <m:sup>
                          <m:r>
                            <a:rPr lang="en-US" i="1">
                              <a:latin typeface="Cambria Math" panose="02040503050406030204" pitchFamily="18" charset="0"/>
                            </a:rPr>
                            <m:t>2</m:t>
                          </m:r>
                        </m:sup>
                      </m:sSup>
                      <m:r>
                        <a:rPr lang="en-CA" b="0" i="0"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(0.411</m:t>
                          </m:r>
                          <m:r>
                            <a:rPr lang="en-CA" b="0" i="1" smtClean="0">
                              <a:latin typeface="Cambria Math" panose="02040503050406030204" pitchFamily="18" charset="0"/>
                            </a:rPr>
                            <m:t>−0.489)^2</m:t>
                          </m:r>
                        </m:num>
                        <m:den>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CA"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i="1">
                                      <a:latin typeface="Cambria Math" panose="02040503050406030204" pitchFamily="18" charset="0"/>
                                    </a:rPr>
                                    <m:t>1</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i="1">
                                          <a:latin typeface="Cambria Math" panose="02040503050406030204" pitchFamily="18" charset="0"/>
                                        </a:rPr>
                                        <m:t>1</m:t>
                                      </m:r>
                                    </m:sub>
                                  </m:sSub>
                                </m:e>
                              </m:d>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CA" b="0" i="1" smtClean="0">
                                      <a:latin typeface="Cambria Math" panose="02040503050406030204" pitchFamily="18" charset="0"/>
                                    </a:rPr>
                                    <m:t>2</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CA" b="0" i="1" smtClean="0">
                                          <a:latin typeface="Cambria Math" panose="02040503050406030204" pitchFamily="18" charset="0"/>
                                        </a:rPr>
                                        <m:t>2</m:t>
                                      </m:r>
                                    </m:sub>
                                  </m:sSub>
                                </m:e>
                              </m:d>
                              <m:r>
                                <a:rPr lang="en-CA"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[1+</m:t>
                              </m:r>
                              <m:r>
                                <a:rPr lang="en-US" i="1">
                                  <a:latin typeface="Cambria Math" panose="02040503050406030204" pitchFamily="18" charset="0"/>
                                  <a:ea typeface="Cambria Math" panose="02040503050406030204" pitchFamily="18" charset="0"/>
                                </a:rPr>
                                <m:t>𝜌</m:t>
                              </m:r>
                              <m:r>
                                <a:rPr lang="en-US" i="1">
                                  <a:latin typeface="Cambria Math" panose="02040503050406030204" pitchFamily="18" charset="0"/>
                                  <a:ea typeface="Cambria Math" panose="02040503050406030204" pitchFamily="18" charset="0"/>
                                </a:rPr>
                                <m:t>(</m:t>
                              </m:r>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𝑚</m:t>
                                  </m:r>
                                </m:e>
                              </m:acc>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rPr>
                                <m:t>𝐾</m:t>
                              </m:r>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𝑚</m:t>
                                  </m:r>
                                </m:e>
                              </m:acc>
                            </m:den>
                          </m:f>
                        </m:den>
                      </m:f>
                      <m:r>
                        <a:rPr lang="en-US">
                          <a:latin typeface="Cambria Math" panose="02040503050406030204" pitchFamily="18" charset="0"/>
                        </a:rPr>
                        <m:t>=</m:t>
                      </m:r>
                      <m:f>
                        <m:fPr>
                          <m:ctrlPr>
                            <a:rPr lang="en-CA" b="0" i="1" smtClean="0">
                              <a:latin typeface="Cambria Math" panose="02040503050406030204" pitchFamily="18" charset="0"/>
                            </a:rPr>
                          </m:ctrlPr>
                        </m:fPr>
                        <m:num>
                          <m:r>
                            <a:rPr lang="en-CA" b="0" i="0" smtClean="0">
                              <a:latin typeface="Cambria Math" panose="02040503050406030204" pitchFamily="18" charset="0"/>
                            </a:rPr>
                            <m:t>0.006084</m:t>
                          </m:r>
                        </m:num>
                        <m:den>
                          <m:r>
                            <a:rPr lang="en-CA" b="0" i="0" smtClean="0">
                              <a:latin typeface="Cambria Math" panose="02040503050406030204" pitchFamily="18" charset="0"/>
                            </a:rPr>
                            <m:t>0.00351</m:t>
                          </m:r>
                        </m:den>
                      </m:f>
                      <m:r>
                        <a:rPr lang="en-CA" b="0" i="0" smtClean="0">
                          <a:latin typeface="Cambria Math" panose="02040503050406030204" pitchFamily="18" charset="0"/>
                        </a:rPr>
                        <m:t>=1.733</m:t>
                      </m:r>
                      <m:r>
                        <a:rPr lang="en-US" b="0" i="0" smtClean="0">
                          <a:latin typeface="Cambria Math" panose="02040503050406030204" pitchFamily="18" charset="0"/>
                        </a:rPr>
                        <m:t> </m:t>
                      </m:r>
                    </m:oMath>
                  </m:oMathPara>
                </a14:m>
                <a:endParaRPr lang="en-US" dirty="0"/>
              </a:p>
              <a:p>
                <a:r>
                  <a:rPr lang="en-US" dirty="0"/>
                  <a:t>with P-value = 0.188</a:t>
                </a:r>
              </a:p>
              <a:p>
                <a:endParaRPr lang="en-US" b="0" dirty="0"/>
              </a:p>
              <a:p>
                <a:pPr marL="285750" indent="-285750">
                  <a:buFont typeface="Arial" panose="020B0604020202020204" pitchFamily="34" charset="0"/>
                  <a:buChar char="•"/>
                </a:pPr>
                <a:endParaRPr lang="en-US" dirty="0"/>
              </a:p>
            </p:txBody>
          </p:sp>
        </mc:Choice>
        <mc:Fallback xmlns="">
          <p:sp>
            <p:nvSpPr>
              <p:cNvPr id="7" name="TextBox 6">
                <a:extLst>
                  <a:ext uri="{FF2B5EF4-FFF2-40B4-BE49-F238E27FC236}">
                    <a16:creationId xmlns:a16="http://schemas.microsoft.com/office/drawing/2014/main" id="{02423CEB-08BB-C1CD-3C24-A8BD837CDE81}"/>
                  </a:ext>
                </a:extLst>
              </p:cNvPr>
              <p:cNvSpPr txBox="1">
                <a:spLocks noRot="1" noChangeAspect="1" noMove="1" noResize="1" noEditPoints="1" noAdjustHandles="1" noChangeArrowheads="1" noChangeShapeType="1" noTextEdit="1"/>
              </p:cNvSpPr>
              <p:nvPr/>
            </p:nvSpPr>
            <p:spPr>
              <a:xfrm>
                <a:off x="2724492" y="2261830"/>
                <a:ext cx="7626723" cy="4219360"/>
              </a:xfrm>
              <a:prstGeom prst="rect">
                <a:avLst/>
              </a:prstGeom>
              <a:blipFill>
                <a:blip r:embed="rId3"/>
                <a:stretch>
                  <a:fillRect l="-719" t="-867"/>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D1A115D6-3ABE-8A4C-496C-033AAFC606FA}"/>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81ECC491-5EF4-01EB-6F89-CF274F15B9C0}"/>
              </a:ext>
            </a:extLst>
          </p:cNvPr>
          <p:cNvSpPr>
            <a:spLocks noGrp="1"/>
          </p:cNvSpPr>
          <p:nvPr>
            <p:ph type="sldNum" sz="quarter" idx="12"/>
          </p:nvPr>
        </p:nvSpPr>
        <p:spPr/>
        <p:txBody>
          <a:bodyPr/>
          <a:lstStyle/>
          <a:p>
            <a:fld id="{77C6A7FE-225D-49F1-B302-AA37EA92BB49}" type="slidenum">
              <a:rPr lang="en-US" smtClean="0"/>
              <a:t>102</a:t>
            </a:fld>
            <a:endParaRPr lang="en-US"/>
          </a:p>
        </p:txBody>
      </p:sp>
    </p:spTree>
    <p:extLst>
      <p:ext uri="{BB962C8B-B14F-4D97-AF65-F5344CB8AC3E}">
        <p14:creationId xmlns:p14="http://schemas.microsoft.com/office/powerpoint/2010/main" val="78514384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AA3EA51-FF36-B946-8E88-6F7E7A6E169D}"/>
              </a:ext>
            </a:extLst>
          </p:cNvPr>
          <p:cNvSpPr>
            <a:spLocks noGrp="1"/>
          </p:cNvSpPr>
          <p:nvPr>
            <p:ph type="ftr" sz="quarter" idx="11"/>
          </p:nvPr>
        </p:nvSpPr>
        <p:spPr/>
        <p:txBody>
          <a:bodyPr/>
          <a:lstStyle/>
          <a:p>
            <a:endParaRPr lang="en-US"/>
          </a:p>
        </p:txBody>
      </p:sp>
      <p:graphicFrame>
        <p:nvGraphicFramePr>
          <p:cNvPr id="5" name="Table 7">
            <a:extLst>
              <a:ext uri="{FF2B5EF4-FFF2-40B4-BE49-F238E27FC236}">
                <a16:creationId xmlns:a16="http://schemas.microsoft.com/office/drawing/2014/main" id="{D2718FE9-8E18-9944-BD89-CF78E1EDAE84}"/>
              </a:ext>
            </a:extLst>
          </p:cNvPr>
          <p:cNvGraphicFramePr>
            <a:graphicFrameLocks noGrp="1"/>
          </p:cNvGraphicFramePr>
          <p:nvPr>
            <p:extLst>
              <p:ext uri="{D42A27DB-BD31-4B8C-83A1-F6EECF244321}">
                <p14:modId xmlns:p14="http://schemas.microsoft.com/office/powerpoint/2010/main" val="3494600147"/>
              </p:ext>
            </p:extLst>
          </p:nvPr>
        </p:nvGraphicFramePr>
        <p:xfrm>
          <a:off x="542974" y="1470763"/>
          <a:ext cx="7279640" cy="4783706"/>
        </p:xfrm>
        <a:graphic>
          <a:graphicData uri="http://schemas.openxmlformats.org/drawingml/2006/table">
            <a:tbl>
              <a:tblPr firstRow="1" bandRow="1">
                <a:tableStyleId>{5C22544A-7EE6-4342-B048-85BDC9FD1C3A}</a:tableStyleId>
              </a:tblPr>
              <a:tblGrid>
                <a:gridCol w="2482788">
                  <a:extLst>
                    <a:ext uri="{9D8B030D-6E8A-4147-A177-3AD203B41FA5}">
                      <a16:colId xmlns:a16="http://schemas.microsoft.com/office/drawing/2014/main" val="2448394520"/>
                    </a:ext>
                  </a:extLst>
                </a:gridCol>
                <a:gridCol w="1514006">
                  <a:extLst>
                    <a:ext uri="{9D8B030D-6E8A-4147-A177-3AD203B41FA5}">
                      <a16:colId xmlns:a16="http://schemas.microsoft.com/office/drawing/2014/main" val="2347101912"/>
                    </a:ext>
                  </a:extLst>
                </a:gridCol>
                <a:gridCol w="1459875">
                  <a:extLst>
                    <a:ext uri="{9D8B030D-6E8A-4147-A177-3AD203B41FA5}">
                      <a16:colId xmlns:a16="http://schemas.microsoft.com/office/drawing/2014/main" val="3128940458"/>
                    </a:ext>
                  </a:extLst>
                </a:gridCol>
                <a:gridCol w="1822971">
                  <a:extLst>
                    <a:ext uri="{9D8B030D-6E8A-4147-A177-3AD203B41FA5}">
                      <a16:colId xmlns:a16="http://schemas.microsoft.com/office/drawing/2014/main" val="1569069121"/>
                    </a:ext>
                  </a:extLst>
                </a:gridCol>
              </a:tblGrid>
              <a:tr h="821854">
                <a:tc>
                  <a:txBody>
                    <a:bodyPr/>
                    <a:lstStyle/>
                    <a:p>
                      <a:endParaRPr lang="en-US" dirty="0"/>
                    </a:p>
                  </a:txBody>
                  <a:tcPr/>
                </a:tc>
                <a:tc>
                  <a:txBody>
                    <a:bodyPr/>
                    <a:lstStyle/>
                    <a:p>
                      <a:r>
                        <a:rPr lang="en-US" dirty="0"/>
                        <a:t>RR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RD</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P-value</a:t>
                      </a:r>
                    </a:p>
                    <a:p>
                      <a:endParaRPr lang="en-US" dirty="0"/>
                    </a:p>
                  </a:txBody>
                  <a:tcPr/>
                </a:tc>
                <a:extLst>
                  <a:ext uri="{0D108BD9-81ED-4DB2-BD59-A6C34878D82A}">
                    <a16:rowId xmlns:a16="http://schemas.microsoft.com/office/drawing/2014/main" val="4218929179"/>
                  </a:ext>
                </a:extLst>
              </a:tr>
              <a:tr h="826926">
                <a:tc>
                  <a:txBody>
                    <a:bodyPr/>
                    <a:lstStyle/>
                    <a:p>
                      <a:r>
                        <a:rPr lang="en-US" dirty="0"/>
                        <a:t>Cluster-level analysis, allowing for variable cluster size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0.856</a:t>
                      </a:r>
                    </a:p>
                    <a:p>
                      <a:endParaRPr lang="en-US" dirty="0"/>
                    </a:p>
                  </a:txBody>
                  <a:tcPr/>
                </a:tc>
                <a:tc>
                  <a:txBody>
                    <a:bodyPr/>
                    <a:lstStyle/>
                    <a:p>
                      <a:r>
                        <a:rPr lang="en-US" dirty="0"/>
                        <a:t>-0.068</a:t>
                      </a:r>
                    </a:p>
                  </a:txBody>
                  <a:tcPr/>
                </a:tc>
                <a:tc>
                  <a:txBody>
                    <a:bodyPr/>
                    <a:lstStyle/>
                    <a:p>
                      <a:r>
                        <a:rPr lang="en-US" dirty="0"/>
                        <a:t>0.070</a:t>
                      </a:r>
                    </a:p>
                  </a:txBody>
                  <a:tcPr/>
                </a:tc>
                <a:extLst>
                  <a:ext uri="{0D108BD9-81ED-4DB2-BD59-A6C34878D82A}">
                    <a16:rowId xmlns:a16="http://schemas.microsoft.com/office/drawing/2014/main" val="4242059460"/>
                  </a:ext>
                </a:extLst>
              </a:tr>
              <a:tr h="826926">
                <a:tc>
                  <a:txBody>
                    <a:bodyPr/>
                    <a:lstStyle/>
                    <a:p>
                      <a:r>
                        <a:rPr lang="en-US" sz="1800" kern="1200" dirty="0">
                          <a:solidFill>
                            <a:schemeClr val="dk1"/>
                          </a:solidFill>
                          <a:effectLst/>
                          <a:latin typeface="+mn-lt"/>
                          <a:ea typeface="+mn-ea"/>
                          <a:cs typeface="+mn-cs"/>
                        </a:rPr>
                        <a:t>Cluster-level analysis fixed (average)cluster size</a:t>
                      </a:r>
                      <a:endParaRPr lang="en-US" dirty="0"/>
                    </a:p>
                  </a:txBody>
                  <a:tcPr/>
                </a:tc>
                <a:tc>
                  <a:txBody>
                    <a:bodyPr/>
                    <a:lstStyle/>
                    <a:p>
                      <a:r>
                        <a:rPr lang="en-US" dirty="0"/>
                        <a:t>0.840</a:t>
                      </a:r>
                    </a:p>
                  </a:txBody>
                  <a:tcPr/>
                </a:tc>
                <a:tc>
                  <a:txBody>
                    <a:bodyPr/>
                    <a:lstStyle/>
                    <a:p>
                      <a:r>
                        <a:rPr lang="en-US" dirty="0"/>
                        <a:t>-0.077</a:t>
                      </a:r>
                    </a:p>
                  </a:txBody>
                  <a:tcPr/>
                </a:tc>
                <a:tc>
                  <a:txBody>
                    <a:bodyPr/>
                    <a:lstStyle/>
                    <a:p>
                      <a:r>
                        <a:rPr lang="en-US" dirty="0"/>
                        <a:t>0.188</a:t>
                      </a:r>
                    </a:p>
                  </a:txBody>
                  <a:tcPr/>
                </a:tc>
                <a:extLst>
                  <a:ext uri="{0D108BD9-81ED-4DB2-BD59-A6C34878D82A}">
                    <a16:rowId xmlns:a16="http://schemas.microsoft.com/office/drawing/2014/main" val="2210122356"/>
                  </a:ext>
                </a:extLst>
              </a:tr>
              <a:tr h="838234">
                <a:tc>
                  <a:txBody>
                    <a:bodyPr/>
                    <a:lstStyle/>
                    <a:p>
                      <a:r>
                        <a:rPr lang="en-US" dirty="0" err="1"/>
                        <a:t>Unclustered</a:t>
                      </a:r>
                      <a:r>
                        <a:rPr lang="en-US" dirty="0"/>
                        <a:t> analysis</a:t>
                      </a:r>
                    </a:p>
                  </a:txBody>
                  <a:tcPr/>
                </a:tc>
                <a:tc>
                  <a:txBody>
                    <a:bodyPr/>
                    <a:lstStyle/>
                    <a:p>
                      <a:r>
                        <a:rPr lang="en-US" dirty="0"/>
                        <a:t> </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4156244041"/>
                  </a:ext>
                </a:extLst>
              </a:tr>
              <a:tr h="12948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Individual-level analysis,  variable cluster size using GEE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endParaRPr lang="en-US" dirty="0"/>
                    </a:p>
                  </a:txBody>
                  <a:tcPr/>
                </a:tc>
                <a:extLst>
                  <a:ext uri="{0D108BD9-81ED-4DB2-BD59-A6C34878D82A}">
                    <a16:rowId xmlns:a16="http://schemas.microsoft.com/office/drawing/2014/main" val="1317639007"/>
                  </a:ext>
                </a:extLst>
              </a:tr>
            </a:tbl>
          </a:graphicData>
        </a:graphic>
      </p:graphicFrame>
      <p:sp>
        <p:nvSpPr>
          <p:cNvPr id="6" name="Rectangle 5">
            <a:extLst>
              <a:ext uri="{FF2B5EF4-FFF2-40B4-BE49-F238E27FC236}">
                <a16:creationId xmlns:a16="http://schemas.microsoft.com/office/drawing/2014/main" id="{1717D2A1-7DDC-C344-B4BC-F8A604EFBD93}"/>
              </a:ext>
            </a:extLst>
          </p:cNvPr>
          <p:cNvSpPr/>
          <p:nvPr/>
        </p:nvSpPr>
        <p:spPr>
          <a:xfrm>
            <a:off x="0" y="-18030"/>
            <a:ext cx="12192000" cy="138691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Cluster-level analysis </a:t>
            </a:r>
            <a:r>
              <a:rPr lang="en-US" altLang="zh-CN" sz="2800" dirty="0">
                <a:solidFill>
                  <a:schemeClr val="bg1"/>
                </a:solidFill>
              </a:rPr>
              <a:t>example</a:t>
            </a:r>
            <a:r>
              <a:rPr lang="zh-CN" altLang="en-US" sz="2800" dirty="0">
                <a:solidFill>
                  <a:schemeClr val="bg1"/>
                </a:solidFill>
              </a:rPr>
              <a:t> </a:t>
            </a:r>
            <a:r>
              <a:rPr lang="en-US" sz="2800" dirty="0">
                <a:solidFill>
                  <a:schemeClr val="bg1"/>
                </a:solidFill>
              </a:rPr>
              <a:t>for HPTN data with a binary outcome</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06F588E-234A-074E-AF87-B2ADF23E4C8B}"/>
                  </a:ext>
                </a:extLst>
              </p:cNvPr>
              <p:cNvSpPr txBox="1"/>
              <p:nvPr/>
            </p:nvSpPr>
            <p:spPr>
              <a:xfrm>
                <a:off x="8679766" y="1470763"/>
                <a:ext cx="3362179" cy="2585323"/>
              </a:xfrm>
              <a:prstGeom prst="rect">
                <a:avLst/>
              </a:prstGeom>
              <a:noFill/>
            </p:spPr>
            <p:txBody>
              <a:bodyPr wrap="square" rtlCol="0">
                <a:spAutoFit/>
              </a:bodyPr>
              <a:lstStyle/>
              <a:p>
                <a:r>
                  <a:rPr lang="en-US" dirty="0"/>
                  <a:t> Since some of the </a:t>
                </a:r>
                <a:r>
                  <a:rPr lang="en-US" sz="1800" dirty="0"/>
                  <a:t>cluster-level variances are 0, because no events occurred, we used the average</a:t>
                </a:r>
                <a:r>
                  <a:rPr lang="en-US" dirty="0">
                    <a:solidFill>
                      <a:srgbClr val="FF0000"/>
                    </a:solidFill>
                  </a:rPr>
                  <a:t> group level variance</a:t>
                </a:r>
                <a:r>
                  <a:rPr lang="en-US" sz="1800" dirty="0"/>
                  <a:t>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𝑉𝑎𝑟</m:t>
                        </m:r>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i="1">
                            <a:latin typeface="Cambria Math" panose="02040503050406030204" pitchFamily="18" charset="0"/>
                          </a:rPr>
                          <m:t>𝑖</m:t>
                        </m:r>
                      </m:sub>
                    </m:sSub>
                    <m:r>
                      <a:rPr lang="en-US" b="0" i="1" smtClean="0">
                        <a:latin typeface="Cambria Math" panose="02040503050406030204" pitchFamily="18" charset="0"/>
                      </a:rPr>
                      <m:t>)</m:t>
                    </m:r>
                  </m:oMath>
                </a14:m>
                <a:r>
                  <a:rPr lang="en-US" dirty="0"/>
                  <a:t> instead,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=1,2, </m:t>
                    </m:r>
                  </m:oMath>
                </a14:m>
                <a:r>
                  <a:rPr lang="en-US" dirty="0"/>
                  <a:t> of</a:t>
                </a:r>
                <a14:m>
                  <m:oMath xmlns:m="http://schemas.openxmlformats.org/officeDocument/2006/math">
                    <m:r>
                      <a:rPr lang="en-US" b="0" i="0" smtClean="0">
                        <a:latin typeface="Cambria Math" panose="02040503050406030204" pitchFamily="18" charset="0"/>
                      </a:rPr>
                      <m:t> </m:t>
                    </m:r>
                    <m:r>
                      <a:rPr lang="en-CA" i="1">
                        <a:latin typeface="Cambria Math" panose="02040503050406030204" pitchFamily="18" charset="0"/>
                      </a:rPr>
                      <m:t>𝑉𝑎𝑟</m:t>
                    </m:r>
                    <m:d>
                      <m:dPr>
                        <m:ctrlPr>
                          <a:rPr lang="en-CA"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i="1">
                                <a:latin typeface="Cambria Math" panose="02040503050406030204" pitchFamily="18" charset="0"/>
                              </a:rPr>
                              <m:t>𝑖𝑘</m:t>
                            </m:r>
                          </m:sub>
                        </m:sSub>
                      </m:e>
                    </m:d>
                    <m:r>
                      <a:rPr lang="en-US" b="0" i="0" smtClean="0">
                        <a:latin typeface="Cambria Math" panose="02040503050406030204" pitchFamily="18" charset="0"/>
                      </a:rPr>
                      <m:t> </m:t>
                    </m:r>
                    <m:r>
                      <m:rPr>
                        <m:sty m:val="p"/>
                      </m:rPr>
                      <a:rPr lang="en-US" b="0" i="0" smtClean="0">
                        <a:latin typeface="Cambria Math" panose="02040503050406030204" pitchFamily="18" charset="0"/>
                      </a:rPr>
                      <m:t>for</m:t>
                    </m:r>
                    <m:r>
                      <a:rPr lang="en-US" b="0" i="0" smtClean="0">
                        <a:latin typeface="Cambria Math" panose="02040503050406030204" pitchFamily="18" charset="0"/>
                      </a:rPr>
                      <m:t> </m:t>
                    </m:r>
                    <m:r>
                      <m:rPr>
                        <m:sty m:val="p"/>
                      </m:rPr>
                      <a:rPr lang="en-US" b="0" i="0" smtClean="0">
                        <a:latin typeface="Cambria Math" panose="02040503050406030204" pitchFamily="18" charset="0"/>
                      </a:rPr>
                      <m:t>all</m:t>
                    </m:r>
                  </m:oMath>
                </a14:m>
                <a:r>
                  <a:rPr lang="en-US" dirty="0"/>
                  <a:t> </a:t>
                </a:r>
                <a14:m>
                  <m:oMath xmlns:m="http://schemas.openxmlformats.org/officeDocument/2006/math">
                    <m:r>
                      <a:rPr lang="en-US" b="0" i="1" dirty="0" smtClean="0">
                        <a:latin typeface="Cambria Math" panose="02040503050406030204" pitchFamily="18" charset="0"/>
                      </a:rPr>
                      <m:t>𝑘</m:t>
                    </m:r>
                  </m:oMath>
                </a14:m>
                <a:r>
                  <a:rPr lang="en-US" dirty="0"/>
                  <a:t> in each intervention group</a:t>
                </a:r>
              </a:p>
              <a:p>
                <a:endParaRPr lang="en-US" dirty="0"/>
              </a:p>
              <a:p>
                <a:r>
                  <a:rPr lang="en-US" dirty="0"/>
                  <a:t> </a:t>
                </a:r>
              </a:p>
            </p:txBody>
          </p:sp>
        </mc:Choice>
        <mc:Fallback xmlns="">
          <p:sp>
            <p:nvSpPr>
              <p:cNvPr id="2" name="TextBox 1">
                <a:extLst>
                  <a:ext uri="{FF2B5EF4-FFF2-40B4-BE49-F238E27FC236}">
                    <a16:creationId xmlns:a16="http://schemas.microsoft.com/office/drawing/2014/main" id="{206F588E-234A-074E-AF87-B2ADF23E4C8B}"/>
                  </a:ext>
                </a:extLst>
              </p:cNvPr>
              <p:cNvSpPr txBox="1">
                <a:spLocks noRot="1" noChangeAspect="1" noMove="1" noResize="1" noEditPoints="1" noAdjustHandles="1" noChangeArrowheads="1" noChangeShapeType="1" noTextEdit="1"/>
              </p:cNvSpPr>
              <p:nvPr/>
            </p:nvSpPr>
            <p:spPr>
              <a:xfrm>
                <a:off x="8679766" y="1470763"/>
                <a:ext cx="3362179" cy="2585323"/>
              </a:xfrm>
              <a:prstGeom prst="rect">
                <a:avLst/>
              </a:prstGeom>
              <a:blipFill>
                <a:blip r:embed="rId2"/>
                <a:stretch>
                  <a:fillRect l="-1633" t="-1179"/>
                </a:stretch>
              </a:blipFill>
            </p:spPr>
            <p:txBody>
              <a:bodyPr/>
              <a:lstStyle/>
              <a:p>
                <a:r>
                  <a:rPr lang="en-US">
                    <a:noFill/>
                  </a:rPr>
                  <a:t> </a:t>
                </a:r>
              </a:p>
            </p:txBody>
          </p:sp>
        </mc:Fallback>
      </mc:AlternateContent>
      <p:sp>
        <p:nvSpPr>
          <p:cNvPr id="3" name="Left Arrow 2">
            <a:extLst>
              <a:ext uri="{FF2B5EF4-FFF2-40B4-BE49-F238E27FC236}">
                <a16:creationId xmlns:a16="http://schemas.microsoft.com/office/drawing/2014/main" id="{A93F9B3C-5C61-984F-9AB4-27D2C4B4EE0E}"/>
              </a:ext>
            </a:extLst>
          </p:cNvPr>
          <p:cNvSpPr/>
          <p:nvPr/>
        </p:nvSpPr>
        <p:spPr>
          <a:xfrm>
            <a:off x="7962314" y="2377440"/>
            <a:ext cx="717452" cy="590843"/>
          </a:xfrm>
          <a:prstGeom prst="leftArrow">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solidFill>
                <a:schemeClr val="bg1"/>
              </a:solidFill>
              <a:latin typeface="Arial" panose="020B0604020202020204" pitchFamily="34" charset="0"/>
              <a:cs typeface="Arial" panose="020B0604020202020204" pitchFamily="34" charset="0"/>
            </a:endParaRPr>
          </a:p>
        </p:txBody>
      </p:sp>
      <p:sp>
        <p:nvSpPr>
          <p:cNvPr id="7" name="Slide Number Placeholder 6">
            <a:extLst>
              <a:ext uri="{FF2B5EF4-FFF2-40B4-BE49-F238E27FC236}">
                <a16:creationId xmlns:a16="http://schemas.microsoft.com/office/drawing/2014/main" id="{178FE10F-3E83-0110-57AA-814DD6460268}"/>
              </a:ext>
            </a:extLst>
          </p:cNvPr>
          <p:cNvSpPr>
            <a:spLocks noGrp="1"/>
          </p:cNvSpPr>
          <p:nvPr>
            <p:ph type="sldNum" sz="quarter" idx="12"/>
          </p:nvPr>
        </p:nvSpPr>
        <p:spPr/>
        <p:txBody>
          <a:bodyPr/>
          <a:lstStyle/>
          <a:p>
            <a:fld id="{77C6A7FE-225D-49F1-B302-AA37EA92BB49}" type="slidenum">
              <a:rPr lang="en-US" smtClean="0"/>
              <a:t>103</a:t>
            </a:fld>
            <a:endParaRPr lang="en-US"/>
          </a:p>
        </p:txBody>
      </p:sp>
    </p:spTree>
    <p:extLst>
      <p:ext uri="{BB962C8B-B14F-4D97-AF65-F5344CB8AC3E}">
        <p14:creationId xmlns:p14="http://schemas.microsoft.com/office/powerpoint/2010/main" val="359125245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34A528-02A1-5A4D-9B47-80C90D3E82D3}"/>
              </a:ext>
            </a:extLst>
          </p:cNvPr>
          <p:cNvSpPr/>
          <p:nvPr/>
        </p:nvSpPr>
        <p:spPr>
          <a:xfrm>
            <a:off x="0" y="-18030"/>
            <a:ext cx="12192000" cy="138691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err="1"/>
              <a:t>Unclustered</a:t>
            </a:r>
            <a:r>
              <a:rPr lang="en-US" sz="2800" dirty="0"/>
              <a:t> analysis</a:t>
            </a:r>
          </a:p>
          <a:p>
            <a:pPr algn="ctr"/>
            <a:r>
              <a:rPr lang="en-US" altLang="zh-CN" sz="2800" dirty="0">
                <a:solidFill>
                  <a:schemeClr val="bg1"/>
                </a:solidFill>
              </a:rPr>
              <a:t>example</a:t>
            </a:r>
            <a:r>
              <a:rPr lang="zh-CN" altLang="en-US" sz="2800" dirty="0">
                <a:solidFill>
                  <a:schemeClr val="bg1"/>
                </a:solidFill>
              </a:rPr>
              <a:t> </a:t>
            </a:r>
            <a:r>
              <a:rPr lang="en-US" sz="2800" dirty="0">
                <a:solidFill>
                  <a:schemeClr val="bg1"/>
                </a:solidFill>
              </a:rPr>
              <a:t>for HPTN with a binary outcome</a:t>
            </a:r>
          </a:p>
        </p:txBody>
      </p:sp>
      <p:sp>
        <p:nvSpPr>
          <p:cNvPr id="5" name="TextBox 4">
            <a:extLst>
              <a:ext uri="{FF2B5EF4-FFF2-40B4-BE49-F238E27FC236}">
                <a16:creationId xmlns:a16="http://schemas.microsoft.com/office/drawing/2014/main" id="{E49B7AA5-7A41-E640-A3C2-396FF2262B12}"/>
              </a:ext>
            </a:extLst>
          </p:cNvPr>
          <p:cNvSpPr txBox="1"/>
          <p:nvPr/>
        </p:nvSpPr>
        <p:spPr>
          <a:xfrm>
            <a:off x="451262" y="1615044"/>
            <a:ext cx="7563161" cy="677108"/>
          </a:xfrm>
          <a:prstGeom prst="rect">
            <a:avLst/>
          </a:prstGeom>
          <a:noFill/>
        </p:spPr>
        <p:txBody>
          <a:bodyPr wrap="none" rtlCol="0">
            <a:spAutoFit/>
          </a:bodyPr>
          <a:lstStyle/>
          <a:p>
            <a:r>
              <a:rPr lang="en-US" dirty="0"/>
              <a:t>Comparison with estimation result </a:t>
            </a:r>
            <a:r>
              <a:rPr lang="en-US" sz="2000" dirty="0" err="1">
                <a:solidFill>
                  <a:srgbClr val="FF0000"/>
                </a:solidFill>
              </a:rPr>
              <a:t>unclustered</a:t>
            </a:r>
            <a:r>
              <a:rPr lang="en-US" dirty="0"/>
              <a:t> analysis using the </a:t>
            </a:r>
            <a:r>
              <a:rPr lang="en-US" dirty="0">
                <a:solidFill>
                  <a:srgbClr val="FF0000"/>
                </a:solidFill>
              </a:rPr>
              <a:t>identity link</a:t>
            </a:r>
            <a:endParaRPr lang="en-US" dirty="0"/>
          </a:p>
          <a:p>
            <a:r>
              <a:rPr lang="en-US" dirty="0"/>
              <a:t> </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051237B-610A-864B-96BE-177EC3E317A2}"/>
                  </a:ext>
                </a:extLst>
              </p:cNvPr>
              <p:cNvSpPr txBox="1"/>
              <p:nvPr/>
            </p:nvSpPr>
            <p:spPr>
              <a:xfrm>
                <a:off x="7509888" y="2247543"/>
                <a:ext cx="4045531" cy="3169329"/>
              </a:xfrm>
              <a:prstGeom prst="rect">
                <a:avLst/>
              </a:prstGeom>
              <a:noFill/>
            </p:spPr>
            <p:txBody>
              <a:bodyPr wrap="none" rtlCol="0">
                <a:spAutoFit/>
              </a:bodyPr>
              <a:lstStyle/>
              <a:p>
                <a:r>
                  <a:rPr lang="en-US" dirty="0">
                    <a:latin typeface="Cambria Math" panose="02040503050406030204" pitchFamily="18" charset="0"/>
                  </a:rPr>
                  <a:t>Assuming data are independent --</a:t>
                </a:r>
              </a:p>
              <a:p>
                <a:pPr marL="285750" indent="-285750">
                  <a:buFont typeface="Arial" panose="020B0604020202020204" pitchFamily="34" charset="0"/>
                  <a:buChar char="•"/>
                </a:pPr>
                <a:endParaRPr lang="en-US" dirty="0">
                  <a:latin typeface="Cambria Math" panose="02040503050406030204" pitchFamily="18" charset="0"/>
                </a:endParaRPr>
              </a:p>
              <a:p>
                <a:pPr marL="285750" indent="-285750">
                  <a:buFont typeface="Arial" panose="020B0604020202020204" pitchFamily="34" charset="0"/>
                  <a:buChar char="•"/>
                </a:pPr>
                <a14:m>
                  <m:oMath xmlns:m="http://schemas.openxmlformats.org/officeDocument/2006/math">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i="1" smtClean="0">
                                <a:latin typeface="Cambria Math" panose="02040503050406030204" pitchFamily="18" charset="0"/>
                                <a:ea typeface="Cambria Math" panose="02040503050406030204" pitchFamily="18" charset="0"/>
                              </a:rPr>
                              <m:t>𝛽</m:t>
                            </m:r>
                          </m:e>
                        </m:acc>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b="0" i="1" smtClean="0">
                            <a:latin typeface="Cambria Math" panose="02040503050406030204" pitchFamily="18" charset="0"/>
                          </a:rPr>
                          <m:t>2 </m:t>
                        </m:r>
                      </m:sub>
                    </m:sSub>
                    <m:r>
                      <a:rPr lang="en-US" b="0" i="1" smtClean="0">
                        <a:latin typeface="Cambria Math" panose="02040503050406030204" pitchFamily="18" charset="0"/>
                      </a:rPr>
                      <m:t>= 0.4</m:t>
                    </m:r>
                    <m:r>
                      <a:rPr lang="en-CA" b="0" i="1" smtClean="0">
                        <a:latin typeface="Cambria Math" panose="02040503050406030204" pitchFamily="18" charset="0"/>
                      </a:rPr>
                      <m:t>94</m:t>
                    </m:r>
                    <m:r>
                      <a:rPr lang="en-US" b="0" i="1" smtClean="0">
                        <a:latin typeface="Cambria Math" panose="02040503050406030204" pitchFamily="18" charset="0"/>
                      </a:rPr>
                      <m:t> </m:t>
                    </m:r>
                  </m:oMath>
                </a14:m>
                <a:r>
                  <a:rPr lang="en-US" dirty="0"/>
                  <a:t>and </a:t>
                </a:r>
                <a14:m>
                  <m:oMath xmlns:m="http://schemas.openxmlformats.org/officeDocument/2006/math">
                    <m:sSup>
                      <m:sSupPr>
                        <m:ctrlPr>
                          <a:rPr lang="en-US" i="1" smtClean="0">
                            <a:latin typeface="Cambria Math" panose="02040503050406030204" pitchFamily="18" charset="0"/>
                          </a:rPr>
                        </m:ctrlPr>
                      </m:sSupPr>
                      <m:e>
                        <m:acc>
                          <m:accPr>
                            <m:chr m:val="̂"/>
                            <m:ctrlPr>
                              <a:rPr lang="en-US" i="1" smtClean="0">
                                <a:latin typeface="Cambria Math" panose="02040503050406030204" pitchFamily="18" charset="0"/>
                              </a:rPr>
                            </m:ctrlPr>
                          </m:accPr>
                          <m:e>
                            <m:r>
                              <a:rPr lang="en-US" i="1" smtClean="0">
                                <a:latin typeface="Cambria Math" panose="02040503050406030204" pitchFamily="18" charset="0"/>
                                <a:ea typeface="Cambria Math" panose="02040503050406030204" pitchFamily="18" charset="0"/>
                              </a:rPr>
                              <m:t>𝛽</m:t>
                            </m:r>
                          </m:e>
                        </m:acc>
                      </m:e>
                      <m:sup>
                        <m:r>
                          <a:rPr lang="en-US"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rPr>
                      <m:t>=−0.07</m:t>
                    </m:r>
                    <m:r>
                      <a:rPr lang="en-CA" b="0" i="1" smtClean="0">
                        <a:latin typeface="Cambria Math" panose="02040503050406030204" pitchFamily="18" charset="0"/>
                      </a:rPr>
                      <m:t>78</m:t>
                    </m:r>
                  </m:oMath>
                </a14:m>
                <a:endParaRPr lang="en-US" dirty="0"/>
              </a:p>
              <a:p>
                <a:pPr marL="285750" indent="-285750">
                  <a:buFont typeface="Arial" panose="020B0604020202020204" pitchFamily="34" charset="0"/>
                  <a:buChar char="•"/>
                </a:pPr>
                <a14:m>
                  <m:oMath xmlns:m="http://schemas.openxmlformats.org/officeDocument/2006/math">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𝑝</m:t>
                            </m:r>
                          </m:e>
                        </m:acc>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i="1">
                            <a:latin typeface="Cambria Math" panose="02040503050406030204" pitchFamily="18" charset="0"/>
                          </a:rPr>
                          <m:t>2</m:t>
                        </m:r>
                      </m:sub>
                    </m:sSub>
                    <m:r>
                      <a:rPr lang="en-US" b="0" i="1" smtClean="0">
                        <a:latin typeface="Cambria Math" panose="02040503050406030204" pitchFamily="18" charset="0"/>
                      </a:rPr>
                      <m:t>+</m:t>
                    </m:r>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p>
                        <m:r>
                          <a:rPr lang="en-US" i="1">
                            <a:latin typeface="Cambria Math" panose="02040503050406030204" pitchFamily="18" charset="0"/>
                            <a:ea typeface="Cambria Math" panose="02040503050406030204" pitchFamily="18" charset="0"/>
                          </a:rPr>
                          <m:t>∗</m:t>
                        </m:r>
                      </m:sup>
                    </m:sSup>
                    <m:r>
                      <a:rPr lang="en-US" i="1">
                        <a:latin typeface="Cambria Math" panose="02040503050406030204" pitchFamily="18" charset="0"/>
                      </a:rPr>
                      <m:t>=0.41</m:t>
                    </m:r>
                    <m:r>
                      <a:rPr lang="en-CA" b="0" i="1" smtClean="0">
                        <a:latin typeface="Cambria Math" panose="02040503050406030204" pitchFamily="18" charset="0"/>
                      </a:rPr>
                      <m:t>6</m:t>
                    </m:r>
                  </m:oMath>
                </a14:m>
                <a:endParaRPr lang="en-US" b="0" dirty="0"/>
              </a:p>
              <a:p>
                <a:pPr marL="285750" indent="-285750">
                  <a:buFont typeface="Arial" panose="020B0604020202020204" pitchFamily="34" charset="0"/>
                  <a:buChar char="•"/>
                </a:pPr>
                <a:r>
                  <a:rPr lang="en-US" dirty="0"/>
                  <a:t>RR = </a:t>
                </a:r>
                <a14:m>
                  <m:oMath xmlns:m="http://schemas.openxmlformats.org/officeDocument/2006/math">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𝑝</m:t>
                            </m:r>
                          </m:e>
                        </m:acc>
                      </m:e>
                      <m:sub>
                        <m:r>
                          <a:rPr lang="en-US" b="0" i="1" smtClean="0">
                            <a:latin typeface="Cambria Math" panose="02040503050406030204" pitchFamily="18" charset="0"/>
                          </a:rPr>
                          <m:t>1</m:t>
                        </m:r>
                      </m:sub>
                    </m:sSub>
                  </m:oMath>
                </a14:m>
                <a:r>
                  <a:rPr lang="en-US" dirty="0"/>
                  <a:t>/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CA" b="0" i="1" smtClean="0">
                            <a:latin typeface="Cambria Math" panose="02040503050406030204" pitchFamily="18" charset="0"/>
                          </a:rPr>
                          <m:t>2</m:t>
                        </m:r>
                      </m:sub>
                    </m:sSub>
                  </m:oMath>
                </a14:m>
                <a:r>
                  <a:rPr lang="en-US" dirty="0"/>
                  <a:t>=0.843</a:t>
                </a:r>
              </a:p>
              <a:p>
                <a:pPr marL="285750" indent="-285750">
                  <a:buFont typeface="Arial" panose="020B0604020202020204" pitchFamily="34" charset="0"/>
                  <a:buChar char="•"/>
                </a:pPr>
                <a:r>
                  <a:rPr lang="en-US" dirty="0"/>
                  <a:t>RD = </a:t>
                </a:r>
                <a14:m>
                  <m:oMath xmlns:m="http://schemas.openxmlformats.org/officeDocument/2006/math">
                    <m:r>
                      <a:rPr lang="en-US" b="0" i="1" smtClean="0">
                        <a:latin typeface="Cambria Math" panose="02040503050406030204" pitchFamily="18" charset="0"/>
                      </a:rPr>
                      <m:t>−0.07</m:t>
                    </m:r>
                    <m:r>
                      <a:rPr lang="en-CA" b="0" i="1" smtClean="0">
                        <a:latin typeface="Cambria Math" panose="02040503050406030204" pitchFamily="18" charset="0"/>
                      </a:rPr>
                      <m:t>78</m:t>
                    </m:r>
                  </m:oMath>
                </a14:m>
                <a:endParaRPr lang="en-US" dirty="0"/>
              </a:p>
              <a:p>
                <a:pPr marL="285750" indent="-285750">
                  <a:buFont typeface="Arial" panose="020B0604020202020204" pitchFamily="34" charset="0"/>
                  <a:buChar char="•"/>
                </a:pPr>
                <a:r>
                  <a:rPr lang="en-US" dirty="0"/>
                  <a:t>Wald test-statistic is</a:t>
                </a:r>
              </a:p>
              <a:p>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𝑍</m:t>
                          </m:r>
                        </m:e>
                        <m:sup>
                          <m:r>
                            <a:rPr lang="en-US" i="1">
                              <a:latin typeface="Cambria Math" panose="02040503050406030204" pitchFamily="18" charset="0"/>
                            </a:rPr>
                            <m:t>2</m:t>
                          </m:r>
                        </m:sup>
                      </m:sSup>
                      <m:r>
                        <a:rPr lang="en-US">
                          <a:latin typeface="Cambria Math" panose="02040503050406030204" pitchFamily="18" charset="0"/>
                        </a:rPr>
                        <m:t>=</m:t>
                      </m:r>
                      <m:r>
                        <a:rPr lang="en-CA" b="0" i="0" smtClean="0">
                          <a:latin typeface="Cambria Math" panose="02040503050406030204" pitchFamily="18" charset="0"/>
                        </a:rPr>
                        <m:t>4.24</m:t>
                      </m:r>
                      <m:r>
                        <a:rPr lang="en-US" b="0" i="0" smtClean="0">
                          <a:latin typeface="Cambria Math" panose="02040503050406030204" pitchFamily="18" charset="0"/>
                        </a:rPr>
                        <m:t> </m:t>
                      </m:r>
                    </m:oMath>
                  </m:oMathPara>
                </a14:m>
                <a:endParaRPr lang="en-US" dirty="0"/>
              </a:p>
              <a:p>
                <a:r>
                  <a:rPr lang="en-US" dirty="0"/>
                  <a:t>with P-value = 0.039</a:t>
                </a:r>
              </a:p>
              <a:p>
                <a:endParaRPr lang="en-US" b="0" dirty="0"/>
              </a:p>
              <a:p>
                <a:pPr marL="285750" indent="-285750">
                  <a:buFont typeface="Arial" panose="020B0604020202020204" pitchFamily="34" charset="0"/>
                  <a:buChar char="•"/>
                </a:pPr>
                <a:endParaRPr lang="en-US" dirty="0"/>
              </a:p>
            </p:txBody>
          </p:sp>
        </mc:Choice>
        <mc:Fallback xmlns="">
          <p:sp>
            <p:nvSpPr>
              <p:cNvPr id="6" name="TextBox 5">
                <a:extLst>
                  <a:ext uri="{FF2B5EF4-FFF2-40B4-BE49-F238E27FC236}">
                    <a16:creationId xmlns:a16="http://schemas.microsoft.com/office/drawing/2014/main" id="{1051237B-610A-864B-96BE-177EC3E317A2}"/>
                  </a:ext>
                </a:extLst>
              </p:cNvPr>
              <p:cNvSpPr txBox="1">
                <a:spLocks noRot="1" noChangeAspect="1" noMove="1" noResize="1" noEditPoints="1" noAdjustHandles="1" noChangeArrowheads="1" noChangeShapeType="1" noTextEdit="1"/>
              </p:cNvSpPr>
              <p:nvPr/>
            </p:nvSpPr>
            <p:spPr>
              <a:xfrm>
                <a:off x="7509888" y="2247543"/>
                <a:ext cx="4045531" cy="3169329"/>
              </a:xfrm>
              <a:prstGeom prst="rect">
                <a:avLst/>
              </a:prstGeom>
              <a:blipFill>
                <a:blip r:embed="rId3"/>
                <a:stretch>
                  <a:fillRect l="-1355" t="-1346"/>
                </a:stretch>
              </a:blipFill>
            </p:spPr>
            <p:txBody>
              <a:bodyPr/>
              <a:lstStyle/>
              <a:p>
                <a:r>
                  <a:rPr lang="en-US">
                    <a:noFill/>
                  </a:rPr>
                  <a:t> </a:t>
                </a:r>
              </a:p>
            </p:txBody>
          </p:sp>
        </mc:Fallback>
      </mc:AlternateContent>
      <p:sp>
        <p:nvSpPr>
          <p:cNvPr id="9" name="Rectangle 2">
            <a:extLst>
              <a:ext uri="{FF2B5EF4-FFF2-40B4-BE49-F238E27FC236}">
                <a16:creationId xmlns:a16="http://schemas.microsoft.com/office/drawing/2014/main" id="{89842195-8581-0124-3310-E424161C21B6}"/>
              </a:ext>
            </a:extLst>
          </p:cNvPr>
          <p:cNvSpPr>
            <a:spLocks noChangeArrowheads="1"/>
          </p:cNvSpPr>
          <p:nvPr/>
        </p:nvSpPr>
        <p:spPr bwMode="auto">
          <a:xfrm>
            <a:off x="395810" y="2770150"/>
            <a:ext cx="6876528" cy="1477328"/>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586E75"/>
                </a:solidFill>
                <a:effectLst/>
                <a:latin typeface="Lucida Console" panose="020B0609040504020204" pitchFamily="49" charset="0"/>
              </a:rPr>
              <a:t>Call: </a:t>
            </a:r>
            <a:r>
              <a:rPr kumimoji="0" lang="en-US" altLang="en-US" sz="1600" b="0" i="0" u="none" strike="noStrike" cap="none" normalizeH="0" baseline="0" dirty="0" err="1">
                <a:ln>
                  <a:noFill/>
                </a:ln>
                <a:solidFill>
                  <a:srgbClr val="586E75"/>
                </a:solidFill>
                <a:effectLst/>
                <a:latin typeface="Lucida Console" panose="020B0609040504020204" pitchFamily="49" charset="0"/>
              </a:rPr>
              <a:t>lm</a:t>
            </a:r>
            <a:r>
              <a:rPr kumimoji="0" lang="en-US" altLang="en-US" sz="1600" b="0" i="0" u="none" strike="noStrike" cap="none" normalizeH="0" baseline="0" dirty="0">
                <a:ln>
                  <a:noFill/>
                </a:ln>
                <a:solidFill>
                  <a:srgbClr val="586E75"/>
                </a:solidFill>
                <a:effectLst/>
                <a:latin typeface="Lucida Console" panose="020B0609040504020204" pitchFamily="49" charset="0"/>
              </a:rPr>
              <a:t>(formula = cotton ~ Treat, data = base_hptn_30)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586E75"/>
                </a:solidFill>
                <a:effectLst/>
                <a:latin typeface="Lucida Console" panose="020B0609040504020204" pitchFamily="49" charset="0"/>
              </a:rPr>
              <a:t> Residuals: Min 1Q Median 3Q Max</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586E75"/>
                </a:solidFill>
                <a:effectLst/>
                <a:latin typeface="Lucida Console" panose="020B0609040504020204" pitchFamily="49" charset="0"/>
              </a:rPr>
              <a:t>           -0.494 -0.494 -0.417 0.506 0.583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586E75"/>
                </a:solidFill>
                <a:effectLst/>
                <a:latin typeface="Lucida Console" panose="020B0609040504020204" pitchFamily="49" charset="0"/>
              </a:rPr>
              <a:t>Coefficients: Estimate Std. Error t value </a:t>
            </a:r>
            <a:r>
              <a:rPr kumimoji="0" lang="en-US" altLang="en-US" sz="1600" b="0" i="0" u="none" strike="noStrike" cap="none" normalizeH="0" baseline="0" dirty="0" err="1">
                <a:ln>
                  <a:noFill/>
                </a:ln>
                <a:solidFill>
                  <a:srgbClr val="586E75"/>
                </a:solidFill>
                <a:effectLst/>
                <a:latin typeface="Lucida Console" panose="020B0609040504020204" pitchFamily="49" charset="0"/>
              </a:rPr>
              <a:t>Pr</a:t>
            </a:r>
            <a:r>
              <a:rPr kumimoji="0" lang="en-US" altLang="en-US" sz="1600" b="0" i="0" u="none" strike="noStrike" cap="none" normalizeH="0" baseline="0" dirty="0">
                <a:ln>
                  <a:noFill/>
                </a:ln>
                <a:solidFill>
                  <a:srgbClr val="586E75"/>
                </a:solidFill>
                <a:effectLst/>
                <a:latin typeface="Lucida Console" panose="020B0609040504020204" pitchFamily="49" charset="0"/>
              </a:rPr>
              <a:t>(&gt;|t|)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586E75"/>
                </a:solidFill>
                <a:effectLst/>
                <a:latin typeface="Lucida Console" panose="020B0609040504020204" pitchFamily="49" charset="0"/>
              </a:rPr>
              <a:t>(Intercept)    0.4944   0.0262    18.86    &lt;2e-16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586E75"/>
                </a:solidFill>
                <a:effectLst/>
                <a:latin typeface="Lucida Console" panose="020B0609040504020204" pitchFamily="49" charset="0"/>
              </a:rPr>
              <a:t> Treat         -0.0778  0.0377    -2.06      0.04 * </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
        <p:nvSpPr>
          <p:cNvPr id="2" name="Footer Placeholder 1">
            <a:extLst>
              <a:ext uri="{FF2B5EF4-FFF2-40B4-BE49-F238E27FC236}">
                <a16:creationId xmlns:a16="http://schemas.microsoft.com/office/drawing/2014/main" id="{EC073568-B984-11F8-ABBD-15ADDECFEAF2}"/>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558D1769-73EE-40F4-FB15-F225165B67DD}"/>
              </a:ext>
            </a:extLst>
          </p:cNvPr>
          <p:cNvSpPr>
            <a:spLocks noGrp="1"/>
          </p:cNvSpPr>
          <p:nvPr>
            <p:ph type="sldNum" sz="quarter" idx="12"/>
          </p:nvPr>
        </p:nvSpPr>
        <p:spPr/>
        <p:txBody>
          <a:bodyPr/>
          <a:lstStyle/>
          <a:p>
            <a:fld id="{77C6A7FE-225D-49F1-B302-AA37EA92BB49}" type="slidenum">
              <a:rPr lang="en-US" smtClean="0"/>
              <a:t>104</a:t>
            </a:fld>
            <a:endParaRPr lang="en-US"/>
          </a:p>
        </p:txBody>
      </p:sp>
    </p:spTree>
    <p:extLst>
      <p:ext uri="{BB962C8B-B14F-4D97-AF65-F5344CB8AC3E}">
        <p14:creationId xmlns:p14="http://schemas.microsoft.com/office/powerpoint/2010/main" val="3496758705"/>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AA3EA51-FF36-B946-8E88-6F7E7A6E169D}"/>
              </a:ext>
            </a:extLst>
          </p:cNvPr>
          <p:cNvSpPr>
            <a:spLocks noGrp="1"/>
          </p:cNvSpPr>
          <p:nvPr>
            <p:ph type="ftr" sz="quarter" idx="11"/>
          </p:nvPr>
        </p:nvSpPr>
        <p:spPr/>
        <p:txBody>
          <a:bodyPr/>
          <a:lstStyle/>
          <a:p>
            <a:endParaRPr lang="en-US"/>
          </a:p>
        </p:txBody>
      </p:sp>
      <p:graphicFrame>
        <p:nvGraphicFramePr>
          <p:cNvPr id="5" name="Table 7">
            <a:extLst>
              <a:ext uri="{FF2B5EF4-FFF2-40B4-BE49-F238E27FC236}">
                <a16:creationId xmlns:a16="http://schemas.microsoft.com/office/drawing/2014/main" id="{D2718FE9-8E18-9944-BD89-CF78E1EDAE84}"/>
              </a:ext>
            </a:extLst>
          </p:cNvPr>
          <p:cNvGraphicFramePr>
            <a:graphicFrameLocks noGrp="1"/>
          </p:cNvGraphicFramePr>
          <p:nvPr>
            <p:extLst>
              <p:ext uri="{D42A27DB-BD31-4B8C-83A1-F6EECF244321}">
                <p14:modId xmlns:p14="http://schemas.microsoft.com/office/powerpoint/2010/main" val="881934295"/>
              </p:ext>
            </p:extLst>
          </p:nvPr>
        </p:nvGraphicFramePr>
        <p:xfrm>
          <a:off x="2554654" y="1436339"/>
          <a:ext cx="7279640" cy="4783706"/>
        </p:xfrm>
        <a:graphic>
          <a:graphicData uri="http://schemas.openxmlformats.org/drawingml/2006/table">
            <a:tbl>
              <a:tblPr firstRow="1" bandRow="1">
                <a:tableStyleId>{5C22544A-7EE6-4342-B048-85BDC9FD1C3A}</a:tableStyleId>
              </a:tblPr>
              <a:tblGrid>
                <a:gridCol w="2482788">
                  <a:extLst>
                    <a:ext uri="{9D8B030D-6E8A-4147-A177-3AD203B41FA5}">
                      <a16:colId xmlns:a16="http://schemas.microsoft.com/office/drawing/2014/main" val="2448394520"/>
                    </a:ext>
                  </a:extLst>
                </a:gridCol>
                <a:gridCol w="1514006">
                  <a:extLst>
                    <a:ext uri="{9D8B030D-6E8A-4147-A177-3AD203B41FA5}">
                      <a16:colId xmlns:a16="http://schemas.microsoft.com/office/drawing/2014/main" val="2347101912"/>
                    </a:ext>
                  </a:extLst>
                </a:gridCol>
                <a:gridCol w="1459875">
                  <a:extLst>
                    <a:ext uri="{9D8B030D-6E8A-4147-A177-3AD203B41FA5}">
                      <a16:colId xmlns:a16="http://schemas.microsoft.com/office/drawing/2014/main" val="3128940458"/>
                    </a:ext>
                  </a:extLst>
                </a:gridCol>
                <a:gridCol w="1822971">
                  <a:extLst>
                    <a:ext uri="{9D8B030D-6E8A-4147-A177-3AD203B41FA5}">
                      <a16:colId xmlns:a16="http://schemas.microsoft.com/office/drawing/2014/main" val="1569069121"/>
                    </a:ext>
                  </a:extLst>
                </a:gridCol>
              </a:tblGrid>
              <a:tr h="821854">
                <a:tc>
                  <a:txBody>
                    <a:bodyPr/>
                    <a:lstStyle/>
                    <a:p>
                      <a:endParaRPr lang="en-US" dirty="0"/>
                    </a:p>
                  </a:txBody>
                  <a:tcPr/>
                </a:tc>
                <a:tc>
                  <a:txBody>
                    <a:bodyPr/>
                    <a:lstStyle/>
                    <a:p>
                      <a:r>
                        <a:rPr lang="en-US" dirty="0"/>
                        <a:t>RR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RD</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P-value</a:t>
                      </a:r>
                    </a:p>
                    <a:p>
                      <a:endParaRPr lang="en-US" dirty="0"/>
                    </a:p>
                  </a:txBody>
                  <a:tcPr/>
                </a:tc>
                <a:extLst>
                  <a:ext uri="{0D108BD9-81ED-4DB2-BD59-A6C34878D82A}">
                    <a16:rowId xmlns:a16="http://schemas.microsoft.com/office/drawing/2014/main" val="4218929179"/>
                  </a:ext>
                </a:extLst>
              </a:tr>
              <a:tr h="826926">
                <a:tc>
                  <a:txBody>
                    <a:bodyPr/>
                    <a:lstStyle/>
                    <a:p>
                      <a:r>
                        <a:rPr lang="en-US" dirty="0"/>
                        <a:t>Cluster-level analysis, allowing for variable cluster size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0.856</a:t>
                      </a:r>
                    </a:p>
                    <a:p>
                      <a:endParaRPr lang="en-US" dirty="0"/>
                    </a:p>
                  </a:txBody>
                  <a:tcPr/>
                </a:tc>
                <a:tc>
                  <a:txBody>
                    <a:bodyPr/>
                    <a:lstStyle/>
                    <a:p>
                      <a:r>
                        <a:rPr lang="en-US" dirty="0"/>
                        <a:t>-0.068</a:t>
                      </a:r>
                    </a:p>
                  </a:txBody>
                  <a:tcPr/>
                </a:tc>
                <a:tc>
                  <a:txBody>
                    <a:bodyPr/>
                    <a:lstStyle/>
                    <a:p>
                      <a:r>
                        <a:rPr lang="en-US" dirty="0"/>
                        <a:t>0.070</a:t>
                      </a:r>
                    </a:p>
                  </a:txBody>
                  <a:tcPr/>
                </a:tc>
                <a:extLst>
                  <a:ext uri="{0D108BD9-81ED-4DB2-BD59-A6C34878D82A}">
                    <a16:rowId xmlns:a16="http://schemas.microsoft.com/office/drawing/2014/main" val="4242059460"/>
                  </a:ext>
                </a:extLst>
              </a:tr>
              <a:tr h="826926">
                <a:tc>
                  <a:txBody>
                    <a:bodyPr/>
                    <a:lstStyle/>
                    <a:p>
                      <a:r>
                        <a:rPr lang="en-US" sz="1800" kern="1200" dirty="0">
                          <a:solidFill>
                            <a:schemeClr val="dk1"/>
                          </a:solidFill>
                          <a:effectLst/>
                          <a:latin typeface="+mn-lt"/>
                          <a:ea typeface="+mn-ea"/>
                          <a:cs typeface="+mn-cs"/>
                        </a:rPr>
                        <a:t>Cluster-level analysis fixed (average)cluster size</a:t>
                      </a:r>
                      <a:endParaRPr lang="en-US" dirty="0"/>
                    </a:p>
                  </a:txBody>
                  <a:tcPr/>
                </a:tc>
                <a:tc>
                  <a:txBody>
                    <a:bodyPr/>
                    <a:lstStyle/>
                    <a:p>
                      <a:r>
                        <a:rPr lang="en-US" dirty="0"/>
                        <a:t>0.840</a:t>
                      </a:r>
                    </a:p>
                  </a:txBody>
                  <a:tcPr/>
                </a:tc>
                <a:tc>
                  <a:txBody>
                    <a:bodyPr/>
                    <a:lstStyle/>
                    <a:p>
                      <a:r>
                        <a:rPr lang="en-US" dirty="0"/>
                        <a:t>-0.077</a:t>
                      </a:r>
                    </a:p>
                  </a:txBody>
                  <a:tcPr/>
                </a:tc>
                <a:tc>
                  <a:txBody>
                    <a:bodyPr/>
                    <a:lstStyle/>
                    <a:p>
                      <a:r>
                        <a:rPr lang="en-US" dirty="0"/>
                        <a:t>0.188</a:t>
                      </a:r>
                    </a:p>
                  </a:txBody>
                  <a:tcPr/>
                </a:tc>
                <a:extLst>
                  <a:ext uri="{0D108BD9-81ED-4DB2-BD59-A6C34878D82A}">
                    <a16:rowId xmlns:a16="http://schemas.microsoft.com/office/drawing/2014/main" val="2210122356"/>
                  </a:ext>
                </a:extLst>
              </a:tr>
              <a:tr h="838234">
                <a:tc>
                  <a:txBody>
                    <a:bodyPr/>
                    <a:lstStyle/>
                    <a:p>
                      <a:r>
                        <a:rPr lang="en-US" dirty="0" err="1"/>
                        <a:t>Unclustered</a:t>
                      </a:r>
                      <a:r>
                        <a:rPr lang="en-US" dirty="0"/>
                        <a:t> analysis</a:t>
                      </a:r>
                    </a:p>
                  </a:txBody>
                  <a:tcPr/>
                </a:tc>
                <a:tc>
                  <a:txBody>
                    <a:bodyPr/>
                    <a:lstStyle/>
                    <a:p>
                      <a:r>
                        <a:rPr lang="en-US" dirty="0"/>
                        <a:t> 0.843</a:t>
                      </a:r>
                    </a:p>
                  </a:txBody>
                  <a:tcPr/>
                </a:tc>
                <a:tc>
                  <a:txBody>
                    <a:bodyPr/>
                    <a:lstStyle/>
                    <a:p>
                      <a:r>
                        <a:rPr lang="en-US" dirty="0"/>
                        <a:t>-0.078</a:t>
                      </a:r>
                    </a:p>
                  </a:txBody>
                  <a:tcPr/>
                </a:tc>
                <a:tc>
                  <a:txBody>
                    <a:bodyPr/>
                    <a:lstStyle/>
                    <a:p>
                      <a:r>
                        <a:rPr lang="en-US" dirty="0"/>
                        <a:t>0.039</a:t>
                      </a:r>
                    </a:p>
                  </a:txBody>
                  <a:tcPr/>
                </a:tc>
                <a:extLst>
                  <a:ext uri="{0D108BD9-81ED-4DB2-BD59-A6C34878D82A}">
                    <a16:rowId xmlns:a16="http://schemas.microsoft.com/office/drawing/2014/main" val="4156244041"/>
                  </a:ext>
                </a:extLst>
              </a:tr>
              <a:tr h="12948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Individual-level analysis,  variable cluster size using GEE, allowing for clustering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endParaRPr lang="en-US" dirty="0"/>
                    </a:p>
                  </a:txBody>
                  <a:tcPr/>
                </a:tc>
                <a:extLst>
                  <a:ext uri="{0D108BD9-81ED-4DB2-BD59-A6C34878D82A}">
                    <a16:rowId xmlns:a16="http://schemas.microsoft.com/office/drawing/2014/main" val="1317639007"/>
                  </a:ext>
                </a:extLst>
              </a:tr>
            </a:tbl>
          </a:graphicData>
        </a:graphic>
      </p:graphicFrame>
      <p:sp>
        <p:nvSpPr>
          <p:cNvPr id="6" name="Rectangle 5">
            <a:extLst>
              <a:ext uri="{FF2B5EF4-FFF2-40B4-BE49-F238E27FC236}">
                <a16:creationId xmlns:a16="http://schemas.microsoft.com/office/drawing/2014/main" id="{1717D2A1-7DDC-C344-B4BC-F8A604EFBD93}"/>
              </a:ext>
            </a:extLst>
          </p:cNvPr>
          <p:cNvSpPr/>
          <p:nvPr/>
        </p:nvSpPr>
        <p:spPr>
          <a:xfrm>
            <a:off x="0" y="-18030"/>
            <a:ext cx="12192000" cy="138691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Cluster-level analysis </a:t>
            </a:r>
            <a:r>
              <a:rPr lang="en-US" altLang="zh-CN" sz="2800" dirty="0">
                <a:solidFill>
                  <a:schemeClr val="bg1"/>
                </a:solidFill>
              </a:rPr>
              <a:t>example</a:t>
            </a:r>
            <a:r>
              <a:rPr lang="zh-CN" altLang="en-US" sz="2800" dirty="0">
                <a:solidFill>
                  <a:schemeClr val="bg1"/>
                </a:solidFill>
              </a:rPr>
              <a:t> </a:t>
            </a:r>
            <a:r>
              <a:rPr lang="en-US" sz="2800" dirty="0">
                <a:solidFill>
                  <a:schemeClr val="bg1"/>
                </a:solidFill>
              </a:rPr>
              <a:t>for HPTN data with a binary outcome</a:t>
            </a:r>
          </a:p>
        </p:txBody>
      </p:sp>
      <p:sp>
        <p:nvSpPr>
          <p:cNvPr id="2" name="Slide Number Placeholder 1">
            <a:extLst>
              <a:ext uri="{FF2B5EF4-FFF2-40B4-BE49-F238E27FC236}">
                <a16:creationId xmlns:a16="http://schemas.microsoft.com/office/drawing/2014/main" id="{484BC6BE-AC73-B775-BE52-1C6B853F3549}"/>
              </a:ext>
            </a:extLst>
          </p:cNvPr>
          <p:cNvSpPr>
            <a:spLocks noGrp="1"/>
          </p:cNvSpPr>
          <p:nvPr>
            <p:ph type="sldNum" sz="quarter" idx="12"/>
          </p:nvPr>
        </p:nvSpPr>
        <p:spPr/>
        <p:txBody>
          <a:bodyPr/>
          <a:lstStyle/>
          <a:p>
            <a:fld id="{77C6A7FE-225D-49F1-B302-AA37EA92BB49}" type="slidenum">
              <a:rPr lang="en-US" smtClean="0"/>
              <a:t>105</a:t>
            </a:fld>
            <a:endParaRPr lang="en-US"/>
          </a:p>
        </p:txBody>
      </p:sp>
    </p:spTree>
    <p:extLst>
      <p:ext uri="{BB962C8B-B14F-4D97-AF65-F5344CB8AC3E}">
        <p14:creationId xmlns:p14="http://schemas.microsoft.com/office/powerpoint/2010/main" val="2580850916"/>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34A528-02A1-5A4D-9B47-80C90D3E82D3}"/>
              </a:ext>
            </a:extLst>
          </p:cNvPr>
          <p:cNvSpPr/>
          <p:nvPr/>
        </p:nvSpPr>
        <p:spPr>
          <a:xfrm>
            <a:off x="0" y="-18030"/>
            <a:ext cx="12192000" cy="138691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Cluster-level analysis </a:t>
            </a:r>
            <a:r>
              <a:rPr lang="en-US" altLang="zh-CN" sz="2800" dirty="0">
                <a:solidFill>
                  <a:schemeClr val="bg1"/>
                </a:solidFill>
              </a:rPr>
              <a:t>example</a:t>
            </a:r>
            <a:r>
              <a:rPr lang="zh-CN" altLang="en-US" sz="2800" dirty="0">
                <a:solidFill>
                  <a:schemeClr val="bg1"/>
                </a:solidFill>
              </a:rPr>
              <a:t> </a:t>
            </a:r>
            <a:r>
              <a:rPr lang="en-US" sz="2800" dirty="0">
                <a:solidFill>
                  <a:schemeClr val="bg1"/>
                </a:solidFill>
              </a:rPr>
              <a:t>for HPTN with a binary outcome</a:t>
            </a:r>
          </a:p>
        </p:txBody>
      </p:sp>
      <p:sp>
        <p:nvSpPr>
          <p:cNvPr id="5" name="TextBox 4">
            <a:extLst>
              <a:ext uri="{FF2B5EF4-FFF2-40B4-BE49-F238E27FC236}">
                <a16:creationId xmlns:a16="http://schemas.microsoft.com/office/drawing/2014/main" id="{E49B7AA5-7A41-E640-A3C2-396FF2262B12}"/>
              </a:ext>
            </a:extLst>
          </p:cNvPr>
          <p:cNvSpPr txBox="1"/>
          <p:nvPr/>
        </p:nvSpPr>
        <p:spPr>
          <a:xfrm>
            <a:off x="451262" y="1615044"/>
            <a:ext cx="7576433" cy="923330"/>
          </a:xfrm>
          <a:prstGeom prst="rect">
            <a:avLst/>
          </a:prstGeom>
          <a:noFill/>
        </p:spPr>
        <p:txBody>
          <a:bodyPr wrap="none" rtlCol="0">
            <a:spAutoFit/>
          </a:bodyPr>
          <a:lstStyle/>
          <a:p>
            <a:r>
              <a:rPr lang="en-US" dirty="0"/>
              <a:t>Comparison with estimation by </a:t>
            </a:r>
            <a:r>
              <a:rPr lang="en-US" dirty="0">
                <a:solidFill>
                  <a:srgbClr val="FF0000"/>
                </a:solidFill>
              </a:rPr>
              <a:t>GEE using the identity link </a:t>
            </a:r>
            <a:r>
              <a:rPr lang="en-US" dirty="0"/>
              <a:t>considering clusters:</a:t>
            </a:r>
          </a:p>
          <a:p>
            <a:endParaRPr lang="en-US" dirty="0"/>
          </a:p>
          <a:p>
            <a:r>
              <a:rPr lang="en-US" dirty="0"/>
              <a:t> </a:t>
            </a:r>
          </a:p>
        </p:txBody>
      </p:sp>
      <p:pic>
        <p:nvPicPr>
          <p:cNvPr id="3" name="Picture 2" descr="Text&#10;&#10;Description automatically generated">
            <a:extLst>
              <a:ext uri="{FF2B5EF4-FFF2-40B4-BE49-F238E27FC236}">
                <a16:creationId xmlns:a16="http://schemas.microsoft.com/office/drawing/2014/main" id="{BC2E0E0C-2734-5544-8C55-33A2E4DA0C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0777" y="2076709"/>
            <a:ext cx="5973874" cy="3999719"/>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679ED9F-36DE-F0B3-78CE-2878D252513E}"/>
                  </a:ext>
                </a:extLst>
              </p:cNvPr>
              <p:cNvSpPr txBox="1"/>
              <p:nvPr/>
            </p:nvSpPr>
            <p:spPr>
              <a:xfrm>
                <a:off x="6975365" y="2233255"/>
                <a:ext cx="5091458" cy="4277325"/>
              </a:xfrm>
              <a:prstGeom prst="rect">
                <a:avLst/>
              </a:prstGeom>
              <a:noFill/>
            </p:spPr>
            <p:txBody>
              <a:bodyPr wrap="none" rtlCol="0">
                <a:spAutoFit/>
              </a:bodyPr>
              <a:lstStyle/>
              <a:p>
                <a:r>
                  <a:rPr lang="en-US" dirty="0"/>
                  <a:t>Individual-level</a:t>
                </a:r>
                <a:r>
                  <a:rPr lang="en-US" dirty="0">
                    <a:latin typeface="Cambria Math" panose="02040503050406030204" pitchFamily="18" charset="0"/>
                  </a:rPr>
                  <a:t> GEE analysis, variable cluster size</a:t>
                </a:r>
              </a:p>
              <a:p>
                <a:pPr marL="285750" indent="-285750">
                  <a:buFont typeface="Arial" panose="020B0604020202020204" pitchFamily="34" charset="0"/>
                  <a:buChar char="•"/>
                </a:pPr>
                <a:endParaRPr lang="en-US" dirty="0">
                  <a:latin typeface="Cambria Math" panose="02040503050406030204" pitchFamily="18" charset="0"/>
                </a:endParaRPr>
              </a:p>
              <a:p>
                <a:pPr marL="285750" indent="-285750">
                  <a:buFont typeface="Arial" panose="020B0604020202020204" pitchFamily="34" charset="0"/>
                  <a:buChar char="•"/>
                </a:pPr>
                <a14:m>
                  <m:oMath xmlns:m="http://schemas.openxmlformats.org/officeDocument/2006/math">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i="1" smtClean="0">
                                <a:latin typeface="Cambria Math" panose="02040503050406030204" pitchFamily="18" charset="0"/>
                                <a:ea typeface="Cambria Math" panose="02040503050406030204" pitchFamily="18" charset="0"/>
                              </a:rPr>
                              <m:t>𝛽</m:t>
                            </m:r>
                          </m:e>
                        </m:acc>
                      </m:e>
                      <m:sub>
                        <m:r>
                          <a:rPr lang="en-US" b="0" i="1" smtClean="0">
                            <a:latin typeface="Cambria Math" panose="02040503050406030204" pitchFamily="18" charset="0"/>
                          </a:rPr>
                          <m:t>0</m:t>
                        </m:r>
                      </m:sub>
                    </m:sSub>
                    <m:r>
                      <a:rPr lang="en-US" b="0" i="1" smtClean="0">
                        <a:latin typeface="Cambria Math" panose="02040503050406030204" pitchFamily="18" charset="0"/>
                      </a:rPr>
                      <m:t>=0.489 </m:t>
                    </m:r>
                  </m:oMath>
                </a14:m>
                <a:r>
                  <a:rPr lang="en-US" dirty="0"/>
                  <a:t>and </a:t>
                </a:r>
                <a14:m>
                  <m:oMath xmlns:m="http://schemas.openxmlformats.org/officeDocument/2006/math">
                    <m:sSup>
                      <m:sSupPr>
                        <m:ctrlPr>
                          <a:rPr lang="en-US" i="1" smtClean="0">
                            <a:latin typeface="Cambria Math" panose="02040503050406030204" pitchFamily="18" charset="0"/>
                          </a:rPr>
                        </m:ctrlPr>
                      </m:sSupPr>
                      <m:e>
                        <m:acc>
                          <m:accPr>
                            <m:chr m:val="̂"/>
                            <m:ctrlPr>
                              <a:rPr lang="en-US" i="1" smtClean="0">
                                <a:latin typeface="Cambria Math" panose="02040503050406030204" pitchFamily="18" charset="0"/>
                              </a:rPr>
                            </m:ctrlPr>
                          </m:accPr>
                          <m:e>
                            <m:r>
                              <a:rPr lang="en-US" i="1" smtClean="0">
                                <a:latin typeface="Cambria Math" panose="02040503050406030204" pitchFamily="18" charset="0"/>
                                <a:ea typeface="Cambria Math" panose="02040503050406030204" pitchFamily="18" charset="0"/>
                              </a:rPr>
                              <m:t>𝛽</m:t>
                            </m:r>
                          </m:e>
                        </m:acc>
                      </m:e>
                      <m:sup>
                        <m:r>
                          <a:rPr lang="en-US"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rPr>
                      <m:t>=−0.077</m:t>
                    </m:r>
                  </m:oMath>
                </a14:m>
                <a:endParaRPr lang="en-US" dirty="0"/>
              </a:p>
              <a:p>
                <a:pPr marL="285750" indent="-285750">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i="1">
                            <a:latin typeface="Cambria Math" panose="02040503050406030204" pitchFamily="18" charset="0"/>
                          </a:rPr>
                          <m:t>2</m:t>
                        </m:r>
                      </m:sub>
                    </m:sSub>
                    <m:r>
                      <a:rPr lang="en-US" i="1">
                        <a:latin typeface="Cambria Math" panose="02040503050406030204" pitchFamily="18" charset="0"/>
                      </a:rPr>
                      <m:t>=0.48</m:t>
                    </m:r>
                    <m:r>
                      <a:rPr lang="en-US" b="0" i="1" smtClean="0">
                        <a:latin typeface="Cambria Math" panose="02040503050406030204" pitchFamily="18" charset="0"/>
                      </a:rPr>
                      <m:t>9</m:t>
                    </m:r>
                  </m:oMath>
                </a14:m>
                <a:endParaRPr lang="en-US" dirty="0"/>
              </a:p>
              <a:p>
                <a:pPr marL="285750" indent="-285750">
                  <a:buFont typeface="Arial" panose="020B0604020202020204" pitchFamily="34" charset="0"/>
                  <a:buChar char="•"/>
                </a:pPr>
                <a14:m>
                  <m:oMath xmlns:m="http://schemas.openxmlformats.org/officeDocument/2006/math">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𝑝</m:t>
                            </m:r>
                          </m:e>
                        </m:acc>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i="1">
                            <a:latin typeface="Cambria Math" panose="02040503050406030204" pitchFamily="18" charset="0"/>
                          </a:rPr>
                          <m:t>2</m:t>
                        </m:r>
                      </m:sub>
                    </m:sSub>
                    <m:r>
                      <a:rPr lang="en-US" b="0" i="1" smtClean="0">
                        <a:latin typeface="Cambria Math" panose="02040503050406030204" pitchFamily="18" charset="0"/>
                      </a:rPr>
                      <m:t>−</m:t>
                    </m:r>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p>
                        <m:r>
                          <a:rPr lang="en-US" i="1">
                            <a:latin typeface="Cambria Math" panose="02040503050406030204" pitchFamily="18" charset="0"/>
                            <a:ea typeface="Cambria Math" panose="02040503050406030204" pitchFamily="18" charset="0"/>
                          </a:rPr>
                          <m:t>∗</m:t>
                        </m:r>
                      </m:sup>
                    </m:sSup>
                    <m:r>
                      <a:rPr lang="en-US" i="1">
                        <a:latin typeface="Cambria Math" panose="02040503050406030204" pitchFamily="18" charset="0"/>
                      </a:rPr>
                      <m:t>=0.41</m:t>
                    </m:r>
                    <m:r>
                      <a:rPr lang="en-US" b="0" i="1" smtClean="0">
                        <a:latin typeface="Cambria Math" panose="02040503050406030204" pitchFamily="18" charset="0"/>
                      </a:rPr>
                      <m:t>1</m:t>
                    </m:r>
                  </m:oMath>
                </a14:m>
                <a:endParaRPr lang="en-US" b="0" dirty="0"/>
              </a:p>
              <a:p>
                <a:pPr marL="285750" indent="-285750">
                  <a:buFont typeface="Arial" panose="020B0604020202020204" pitchFamily="34" charset="0"/>
                  <a:buChar char="•"/>
                </a:pPr>
                <a14:m>
                  <m:oMath xmlns:m="http://schemas.openxmlformats.org/officeDocument/2006/math">
                    <m:r>
                      <a:rPr lang="en-US" i="1" smtClean="0">
                        <a:latin typeface="Cambria Math" panose="02040503050406030204" pitchFamily="18" charset="0"/>
                        <a:ea typeface="Cambria Math" panose="02040503050406030204" pitchFamily="18" charset="0"/>
                      </a:rPr>
                      <m:t>𝜌</m:t>
                    </m:r>
                    <m:r>
                      <a:rPr lang="en-US" b="0" i="1" smtClean="0">
                        <a:latin typeface="Cambria Math" panose="02040503050406030204" pitchFamily="18" charset="0"/>
                        <a:ea typeface="Cambria Math" panose="02040503050406030204" pitchFamily="18" charset="0"/>
                      </a:rPr>
                      <m:t>=0.121</m:t>
                    </m:r>
                  </m:oMath>
                </a14:m>
                <a:r>
                  <a:rPr lang="en-US" dirty="0"/>
                  <a:t>,</a:t>
                </a:r>
              </a:p>
              <a:p>
                <a:pPr marL="285750" indent="-285750">
                  <a:buFont typeface="Arial" panose="020B0604020202020204" pitchFamily="34" charset="0"/>
                  <a:buChar char="•"/>
                </a:pPr>
                <a:r>
                  <a:rPr lang="en-US" dirty="0"/>
                  <a:t>Wald test-statistic is</a:t>
                </a:r>
              </a:p>
              <a:p>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𝑍</m:t>
                          </m:r>
                        </m:e>
                        <m:sup>
                          <m:r>
                            <a:rPr lang="en-US" i="1">
                              <a:latin typeface="Cambria Math" panose="02040503050406030204" pitchFamily="18" charset="0"/>
                            </a:rPr>
                            <m:t>2</m:t>
                          </m:r>
                        </m:sup>
                      </m:sSup>
                      <m:r>
                        <a:rPr lang="en-US">
                          <a:latin typeface="Cambria Math" panose="02040503050406030204" pitchFamily="18" charset="0"/>
                        </a:rPr>
                        <m:t>=</m:t>
                      </m:r>
                      <m:r>
                        <a:rPr lang="en-US" b="0" i="0" smtClean="0">
                          <a:latin typeface="Cambria Math" panose="02040503050406030204" pitchFamily="18" charset="0"/>
                        </a:rPr>
                        <m:t>3.43 </m:t>
                      </m:r>
                    </m:oMath>
                  </m:oMathPara>
                </a14:m>
                <a:endParaRPr lang="en-US" dirty="0"/>
              </a:p>
              <a:p>
                <a:r>
                  <a:rPr lang="en-US" dirty="0"/>
                  <a:t>with P-value = 0.064</a:t>
                </a:r>
              </a:p>
              <a:p>
                <a:endParaRPr lang="en-US" dirty="0"/>
              </a:p>
              <a:p>
                <a:r>
                  <a:rPr lang="en-US" dirty="0"/>
                  <a:t>Note: this analysis does not need to use average </a:t>
                </a:r>
              </a:p>
              <a:p>
                <a:r>
                  <a:rPr lang="en-US" dirty="0"/>
                  <a:t>event rates as the cluster-level analysis with variable</a:t>
                </a:r>
              </a:p>
              <a:p>
                <a:r>
                  <a:rPr lang="en-US" dirty="0"/>
                  <a:t>cluster size does.</a:t>
                </a:r>
              </a:p>
              <a:p>
                <a:endParaRPr lang="en-US" b="0" dirty="0"/>
              </a:p>
              <a:p>
                <a:pPr marL="285750" indent="-285750">
                  <a:buFont typeface="Arial" panose="020B0604020202020204" pitchFamily="34" charset="0"/>
                  <a:buChar char="•"/>
                </a:pPr>
                <a:endParaRPr lang="en-US" dirty="0"/>
              </a:p>
            </p:txBody>
          </p:sp>
        </mc:Choice>
        <mc:Fallback xmlns="">
          <p:sp>
            <p:nvSpPr>
              <p:cNvPr id="7" name="TextBox 6">
                <a:extLst>
                  <a:ext uri="{FF2B5EF4-FFF2-40B4-BE49-F238E27FC236}">
                    <a16:creationId xmlns:a16="http://schemas.microsoft.com/office/drawing/2014/main" id="{3679ED9F-36DE-F0B3-78CE-2878D252513E}"/>
                  </a:ext>
                </a:extLst>
              </p:cNvPr>
              <p:cNvSpPr txBox="1">
                <a:spLocks noRot="1" noChangeAspect="1" noMove="1" noResize="1" noEditPoints="1" noAdjustHandles="1" noChangeArrowheads="1" noChangeShapeType="1" noTextEdit="1"/>
              </p:cNvSpPr>
              <p:nvPr/>
            </p:nvSpPr>
            <p:spPr>
              <a:xfrm>
                <a:off x="6975365" y="2233255"/>
                <a:ext cx="5091458" cy="4277325"/>
              </a:xfrm>
              <a:prstGeom prst="rect">
                <a:avLst/>
              </a:prstGeom>
              <a:blipFill>
                <a:blip r:embed="rId4"/>
                <a:stretch>
                  <a:fillRect l="-958" t="-997" r="-240"/>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02346D1E-3379-2572-7C0C-E78AB5BD5A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8D6C1B-137D-7439-7335-AA2617A4E062}"/>
              </a:ext>
            </a:extLst>
          </p:cNvPr>
          <p:cNvSpPr>
            <a:spLocks noGrp="1"/>
          </p:cNvSpPr>
          <p:nvPr>
            <p:ph type="sldNum" sz="quarter" idx="12"/>
          </p:nvPr>
        </p:nvSpPr>
        <p:spPr/>
        <p:txBody>
          <a:bodyPr/>
          <a:lstStyle/>
          <a:p>
            <a:fld id="{77C6A7FE-225D-49F1-B302-AA37EA92BB49}" type="slidenum">
              <a:rPr lang="en-US" smtClean="0"/>
              <a:t>106</a:t>
            </a:fld>
            <a:endParaRPr lang="en-US"/>
          </a:p>
        </p:txBody>
      </p:sp>
    </p:spTree>
    <p:extLst>
      <p:ext uri="{BB962C8B-B14F-4D97-AF65-F5344CB8AC3E}">
        <p14:creationId xmlns:p14="http://schemas.microsoft.com/office/powerpoint/2010/main" val="1401103816"/>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AA3EA51-FF36-B946-8E88-6F7E7A6E169D}"/>
              </a:ext>
            </a:extLst>
          </p:cNvPr>
          <p:cNvSpPr>
            <a:spLocks noGrp="1"/>
          </p:cNvSpPr>
          <p:nvPr>
            <p:ph type="ftr" sz="quarter" idx="11"/>
          </p:nvPr>
        </p:nvSpPr>
        <p:spPr/>
        <p:txBody>
          <a:bodyPr/>
          <a:lstStyle/>
          <a:p>
            <a:endParaRPr lang="en-US"/>
          </a:p>
        </p:txBody>
      </p:sp>
      <p:graphicFrame>
        <p:nvGraphicFramePr>
          <p:cNvPr id="5" name="Table 7">
            <a:extLst>
              <a:ext uri="{FF2B5EF4-FFF2-40B4-BE49-F238E27FC236}">
                <a16:creationId xmlns:a16="http://schemas.microsoft.com/office/drawing/2014/main" id="{D2718FE9-8E18-9944-BD89-CF78E1EDAE84}"/>
              </a:ext>
            </a:extLst>
          </p:cNvPr>
          <p:cNvGraphicFramePr>
            <a:graphicFrameLocks noGrp="1"/>
          </p:cNvGraphicFramePr>
          <p:nvPr>
            <p:extLst>
              <p:ext uri="{D42A27DB-BD31-4B8C-83A1-F6EECF244321}">
                <p14:modId xmlns:p14="http://schemas.microsoft.com/office/powerpoint/2010/main" val="1125197737"/>
              </p:ext>
            </p:extLst>
          </p:nvPr>
        </p:nvGraphicFramePr>
        <p:xfrm>
          <a:off x="398780" y="1572644"/>
          <a:ext cx="7279640" cy="5500568"/>
        </p:xfrm>
        <a:graphic>
          <a:graphicData uri="http://schemas.openxmlformats.org/drawingml/2006/table">
            <a:tbl>
              <a:tblPr firstRow="1" bandRow="1">
                <a:tableStyleId>{5C22544A-7EE6-4342-B048-85BDC9FD1C3A}</a:tableStyleId>
              </a:tblPr>
              <a:tblGrid>
                <a:gridCol w="2482788">
                  <a:extLst>
                    <a:ext uri="{9D8B030D-6E8A-4147-A177-3AD203B41FA5}">
                      <a16:colId xmlns:a16="http://schemas.microsoft.com/office/drawing/2014/main" val="2448394520"/>
                    </a:ext>
                  </a:extLst>
                </a:gridCol>
                <a:gridCol w="1514006">
                  <a:extLst>
                    <a:ext uri="{9D8B030D-6E8A-4147-A177-3AD203B41FA5}">
                      <a16:colId xmlns:a16="http://schemas.microsoft.com/office/drawing/2014/main" val="2347101912"/>
                    </a:ext>
                  </a:extLst>
                </a:gridCol>
                <a:gridCol w="1459875">
                  <a:extLst>
                    <a:ext uri="{9D8B030D-6E8A-4147-A177-3AD203B41FA5}">
                      <a16:colId xmlns:a16="http://schemas.microsoft.com/office/drawing/2014/main" val="3128940458"/>
                    </a:ext>
                  </a:extLst>
                </a:gridCol>
                <a:gridCol w="1822971">
                  <a:extLst>
                    <a:ext uri="{9D8B030D-6E8A-4147-A177-3AD203B41FA5}">
                      <a16:colId xmlns:a16="http://schemas.microsoft.com/office/drawing/2014/main" val="1569069121"/>
                    </a:ext>
                  </a:extLst>
                </a:gridCol>
              </a:tblGrid>
              <a:tr h="821854">
                <a:tc>
                  <a:txBody>
                    <a:bodyPr/>
                    <a:lstStyle/>
                    <a:p>
                      <a:endParaRPr lang="en-US" dirty="0"/>
                    </a:p>
                  </a:txBody>
                  <a:tcPr/>
                </a:tc>
                <a:tc>
                  <a:txBody>
                    <a:bodyPr/>
                    <a:lstStyle/>
                    <a:p>
                      <a:r>
                        <a:rPr lang="en-US" dirty="0"/>
                        <a:t>RR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RD</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P-value</a:t>
                      </a:r>
                    </a:p>
                    <a:p>
                      <a:endParaRPr lang="en-US" dirty="0"/>
                    </a:p>
                  </a:txBody>
                  <a:tcPr/>
                </a:tc>
                <a:extLst>
                  <a:ext uri="{0D108BD9-81ED-4DB2-BD59-A6C34878D82A}">
                    <a16:rowId xmlns:a16="http://schemas.microsoft.com/office/drawing/2014/main" val="4218929179"/>
                  </a:ext>
                </a:extLst>
              </a:tr>
              <a:tr h="826926">
                <a:tc>
                  <a:txBody>
                    <a:bodyPr/>
                    <a:lstStyle/>
                    <a:p>
                      <a:r>
                        <a:rPr lang="en-US" dirty="0"/>
                        <a:t>Cluster-level analysis, allowing for variable cluster size, assuming common variance by intervention group</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0.856</a:t>
                      </a:r>
                    </a:p>
                    <a:p>
                      <a:endParaRPr lang="en-US" dirty="0"/>
                    </a:p>
                  </a:txBody>
                  <a:tcPr/>
                </a:tc>
                <a:tc>
                  <a:txBody>
                    <a:bodyPr/>
                    <a:lstStyle/>
                    <a:p>
                      <a:r>
                        <a:rPr lang="en-US" dirty="0"/>
                        <a:t>-0.068</a:t>
                      </a:r>
                    </a:p>
                  </a:txBody>
                  <a:tcPr/>
                </a:tc>
                <a:tc>
                  <a:txBody>
                    <a:bodyPr/>
                    <a:lstStyle/>
                    <a:p>
                      <a:r>
                        <a:rPr lang="en-US" dirty="0"/>
                        <a:t>0.070</a:t>
                      </a:r>
                    </a:p>
                  </a:txBody>
                  <a:tcPr/>
                </a:tc>
                <a:extLst>
                  <a:ext uri="{0D108BD9-81ED-4DB2-BD59-A6C34878D82A}">
                    <a16:rowId xmlns:a16="http://schemas.microsoft.com/office/drawing/2014/main" val="4242059460"/>
                  </a:ext>
                </a:extLst>
              </a:tr>
              <a:tr h="826926">
                <a:tc>
                  <a:txBody>
                    <a:bodyPr/>
                    <a:lstStyle/>
                    <a:p>
                      <a:r>
                        <a:rPr lang="en-US" sz="1800" kern="1200" dirty="0">
                          <a:solidFill>
                            <a:schemeClr val="dk1"/>
                          </a:solidFill>
                          <a:effectLst/>
                          <a:latin typeface="+mn-lt"/>
                          <a:ea typeface="+mn-ea"/>
                          <a:cs typeface="+mn-cs"/>
                        </a:rPr>
                        <a:t>Cluster-level analysis fixed (average) cluster size</a:t>
                      </a:r>
                      <a:endParaRPr lang="en-US" dirty="0"/>
                    </a:p>
                  </a:txBody>
                  <a:tcPr/>
                </a:tc>
                <a:tc>
                  <a:txBody>
                    <a:bodyPr/>
                    <a:lstStyle/>
                    <a:p>
                      <a:r>
                        <a:rPr lang="en-US" dirty="0"/>
                        <a:t>0.840</a:t>
                      </a:r>
                    </a:p>
                  </a:txBody>
                  <a:tcPr/>
                </a:tc>
                <a:tc>
                  <a:txBody>
                    <a:bodyPr/>
                    <a:lstStyle/>
                    <a:p>
                      <a:r>
                        <a:rPr lang="en-US" dirty="0"/>
                        <a:t>-0.077</a:t>
                      </a:r>
                    </a:p>
                  </a:txBody>
                  <a:tcPr/>
                </a:tc>
                <a:tc>
                  <a:txBody>
                    <a:bodyPr/>
                    <a:lstStyle/>
                    <a:p>
                      <a:r>
                        <a:rPr lang="en-US" dirty="0"/>
                        <a:t>0.188</a:t>
                      </a:r>
                    </a:p>
                  </a:txBody>
                  <a:tcPr/>
                </a:tc>
                <a:extLst>
                  <a:ext uri="{0D108BD9-81ED-4DB2-BD59-A6C34878D82A}">
                    <a16:rowId xmlns:a16="http://schemas.microsoft.com/office/drawing/2014/main" val="2210122356"/>
                  </a:ext>
                </a:extLst>
              </a:tr>
              <a:tr h="838234">
                <a:tc>
                  <a:txBody>
                    <a:bodyPr/>
                    <a:lstStyle/>
                    <a:p>
                      <a:r>
                        <a:rPr lang="en-US" dirty="0" err="1"/>
                        <a:t>Unclustered</a:t>
                      </a:r>
                      <a:r>
                        <a:rPr lang="en-US" dirty="0"/>
                        <a:t> analysis</a:t>
                      </a:r>
                    </a:p>
                  </a:txBody>
                  <a:tcPr/>
                </a:tc>
                <a:tc>
                  <a:txBody>
                    <a:bodyPr/>
                    <a:lstStyle/>
                    <a:p>
                      <a:r>
                        <a:rPr lang="en-US" dirty="0"/>
                        <a:t> 0.843</a:t>
                      </a:r>
                    </a:p>
                  </a:txBody>
                  <a:tcPr/>
                </a:tc>
                <a:tc>
                  <a:txBody>
                    <a:bodyPr/>
                    <a:lstStyle/>
                    <a:p>
                      <a:r>
                        <a:rPr lang="en-US" dirty="0"/>
                        <a:t>-0.078</a:t>
                      </a:r>
                    </a:p>
                  </a:txBody>
                  <a:tcPr/>
                </a:tc>
                <a:tc>
                  <a:txBody>
                    <a:bodyPr/>
                    <a:lstStyle/>
                    <a:p>
                      <a:r>
                        <a:rPr lang="en-US" dirty="0"/>
                        <a:t>0.039</a:t>
                      </a:r>
                    </a:p>
                  </a:txBody>
                  <a:tcPr/>
                </a:tc>
                <a:extLst>
                  <a:ext uri="{0D108BD9-81ED-4DB2-BD59-A6C34878D82A}">
                    <a16:rowId xmlns:a16="http://schemas.microsoft.com/office/drawing/2014/main" val="4156244041"/>
                  </a:ext>
                </a:extLst>
              </a:tr>
              <a:tr h="12948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Individual-level analysis,  variable cluster size using GEE, no assumption of common variance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0.840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-0.077</a:t>
                      </a:r>
                    </a:p>
                  </a:txBody>
                  <a:tcPr/>
                </a:tc>
                <a:tc>
                  <a:txBody>
                    <a:bodyPr/>
                    <a:lstStyle/>
                    <a:p>
                      <a:r>
                        <a:rPr lang="en-US" dirty="0"/>
                        <a:t>0.064</a:t>
                      </a:r>
                    </a:p>
                  </a:txBody>
                  <a:tcPr/>
                </a:tc>
                <a:extLst>
                  <a:ext uri="{0D108BD9-81ED-4DB2-BD59-A6C34878D82A}">
                    <a16:rowId xmlns:a16="http://schemas.microsoft.com/office/drawing/2014/main" val="1317639007"/>
                  </a:ext>
                </a:extLst>
              </a:tr>
            </a:tbl>
          </a:graphicData>
        </a:graphic>
      </p:graphicFrame>
      <p:sp>
        <p:nvSpPr>
          <p:cNvPr id="6" name="Rectangle 5">
            <a:extLst>
              <a:ext uri="{FF2B5EF4-FFF2-40B4-BE49-F238E27FC236}">
                <a16:creationId xmlns:a16="http://schemas.microsoft.com/office/drawing/2014/main" id="{1717D2A1-7DDC-C344-B4BC-F8A604EFBD93}"/>
              </a:ext>
            </a:extLst>
          </p:cNvPr>
          <p:cNvSpPr/>
          <p:nvPr/>
        </p:nvSpPr>
        <p:spPr>
          <a:xfrm>
            <a:off x="0" y="-18030"/>
            <a:ext cx="12192000" cy="138691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Cluster-level analysis </a:t>
            </a:r>
            <a:r>
              <a:rPr lang="en-US" altLang="zh-CN" sz="2800" dirty="0">
                <a:solidFill>
                  <a:schemeClr val="bg1"/>
                </a:solidFill>
              </a:rPr>
              <a:t>example</a:t>
            </a:r>
            <a:r>
              <a:rPr lang="zh-CN" altLang="en-US" sz="2800" dirty="0">
                <a:solidFill>
                  <a:schemeClr val="bg1"/>
                </a:solidFill>
              </a:rPr>
              <a:t> </a:t>
            </a:r>
            <a:r>
              <a:rPr lang="en-US" sz="2800" dirty="0">
                <a:solidFill>
                  <a:schemeClr val="bg1"/>
                </a:solidFill>
              </a:rPr>
              <a:t>for HPTN data with a binary outcome</a:t>
            </a:r>
          </a:p>
        </p:txBody>
      </p:sp>
      <p:sp>
        <p:nvSpPr>
          <p:cNvPr id="7" name="TextBox 6">
            <a:extLst>
              <a:ext uri="{FF2B5EF4-FFF2-40B4-BE49-F238E27FC236}">
                <a16:creationId xmlns:a16="http://schemas.microsoft.com/office/drawing/2014/main" id="{A9011223-EB91-3F43-B5FC-8F2CCB012E53}"/>
              </a:ext>
            </a:extLst>
          </p:cNvPr>
          <p:cNvSpPr txBox="1"/>
          <p:nvPr/>
        </p:nvSpPr>
        <p:spPr>
          <a:xfrm>
            <a:off x="8417571" y="2125363"/>
            <a:ext cx="3238720" cy="1754326"/>
          </a:xfrm>
          <a:prstGeom prst="rect">
            <a:avLst/>
          </a:prstGeom>
          <a:noFill/>
        </p:spPr>
        <p:txBody>
          <a:bodyPr wrap="square" rtlCol="0">
            <a:spAutoFit/>
          </a:bodyPr>
          <a:lstStyle/>
          <a:p>
            <a:endParaRPr lang="en-US" dirty="0"/>
          </a:p>
          <a:p>
            <a:r>
              <a:rPr lang="en-US" dirty="0"/>
              <a:t>Implementation science: rigorous, rapid, relevant</a:t>
            </a:r>
          </a:p>
          <a:p>
            <a:endParaRPr lang="en-US" dirty="0"/>
          </a:p>
          <a:p>
            <a:r>
              <a:rPr lang="en-US" dirty="0"/>
              <a:t>Cluster level analysis can be very important in terms of ‘</a:t>
            </a:r>
            <a:r>
              <a:rPr lang="en-US" dirty="0">
                <a:solidFill>
                  <a:srgbClr val="00B050"/>
                </a:solidFill>
              </a:rPr>
              <a:t>rapid’</a:t>
            </a:r>
            <a:r>
              <a:rPr lang="en-US" dirty="0"/>
              <a:t>!</a:t>
            </a:r>
          </a:p>
        </p:txBody>
      </p:sp>
      <p:sp>
        <p:nvSpPr>
          <p:cNvPr id="2" name="Slide Number Placeholder 1">
            <a:extLst>
              <a:ext uri="{FF2B5EF4-FFF2-40B4-BE49-F238E27FC236}">
                <a16:creationId xmlns:a16="http://schemas.microsoft.com/office/drawing/2014/main" id="{E245D877-4C0D-3F69-7814-7D14FCFC062C}"/>
              </a:ext>
            </a:extLst>
          </p:cNvPr>
          <p:cNvSpPr>
            <a:spLocks noGrp="1"/>
          </p:cNvSpPr>
          <p:nvPr>
            <p:ph type="sldNum" sz="quarter" idx="12"/>
          </p:nvPr>
        </p:nvSpPr>
        <p:spPr/>
        <p:txBody>
          <a:bodyPr/>
          <a:lstStyle/>
          <a:p>
            <a:fld id="{77C6A7FE-225D-49F1-B302-AA37EA92BB49}" type="slidenum">
              <a:rPr lang="en-US" smtClean="0"/>
              <a:t>107</a:t>
            </a:fld>
            <a:endParaRPr lang="en-US"/>
          </a:p>
        </p:txBody>
      </p:sp>
    </p:spTree>
    <p:extLst>
      <p:ext uri="{BB962C8B-B14F-4D97-AF65-F5344CB8AC3E}">
        <p14:creationId xmlns:p14="http://schemas.microsoft.com/office/powerpoint/2010/main" val="270683624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Cluster Level Analyses and the Ecological Fallacy</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2" name="TextBox 1">
            <a:extLst>
              <a:ext uri="{FF2B5EF4-FFF2-40B4-BE49-F238E27FC236}">
                <a16:creationId xmlns:a16="http://schemas.microsoft.com/office/drawing/2014/main" id="{4E70B68F-29A0-406C-A761-B81F03883AEA}"/>
              </a:ext>
            </a:extLst>
          </p:cNvPr>
          <p:cNvSpPr txBox="1"/>
          <p:nvPr/>
        </p:nvSpPr>
        <p:spPr>
          <a:xfrm>
            <a:off x="0" y="1337187"/>
            <a:ext cx="12192000" cy="4862870"/>
          </a:xfrm>
          <a:prstGeom prst="rect">
            <a:avLst/>
          </a:prstGeom>
          <a:noFill/>
        </p:spPr>
        <p:txBody>
          <a:bodyPr wrap="square" rtlCol="0">
            <a:spAutoFit/>
          </a:bodyPr>
          <a:lstStyle/>
          <a:p>
            <a:pPr marL="457200" indent="-457200">
              <a:spcAft>
                <a:spcPts val="1800"/>
              </a:spcAft>
              <a:buBlip>
                <a:blip r:embed="rId4"/>
              </a:buBlip>
              <a:tabLst>
                <a:tab pos="576263" algn="l"/>
                <a:tab pos="1152525" algn="l"/>
              </a:tabLst>
            </a:pPr>
            <a:r>
              <a:rPr lang="en-US" altLang="en-US" sz="2500" dirty="0">
                <a:cs typeface="Arial" pitchFamily="34" charset="0"/>
              </a:rPr>
              <a:t>The ecological fallacy refers to the bias which may occur when an association observed between variables at the cluster level differs from the association at the individual level. </a:t>
            </a:r>
          </a:p>
          <a:p>
            <a:pPr marL="914400" lvl="1" indent="-457200">
              <a:spcAft>
                <a:spcPts val="1800"/>
              </a:spcAft>
              <a:buBlip>
                <a:blip r:embed="rId4"/>
              </a:buBlip>
              <a:tabLst>
                <a:tab pos="576263" algn="l"/>
                <a:tab pos="1152525" algn="l"/>
              </a:tabLst>
            </a:pPr>
            <a:r>
              <a:rPr lang="en-US" altLang="en-US" sz="2500" dirty="0">
                <a:cs typeface="Arial" pitchFamily="34" charset="0"/>
              </a:rPr>
              <a:t>Confounding cannot generally be sufficiently adjusted for at the group level when the </a:t>
            </a:r>
            <a:r>
              <a:rPr lang="en-US" altLang="en-US" sz="2500" b="1" dirty="0">
                <a:cs typeface="Arial" pitchFamily="34" charset="0"/>
              </a:rPr>
              <a:t>confounder-outcome association is non-linear</a:t>
            </a:r>
            <a:r>
              <a:rPr lang="en-US" altLang="en-US" sz="2500" dirty="0">
                <a:cs typeface="Arial" pitchFamily="34" charset="0"/>
              </a:rPr>
              <a:t>. </a:t>
            </a:r>
          </a:p>
          <a:p>
            <a:pPr marL="914400" lvl="1" indent="-457200">
              <a:spcAft>
                <a:spcPts val="1800"/>
              </a:spcAft>
              <a:buBlip>
                <a:blip r:embed="rId4"/>
              </a:buBlip>
              <a:tabLst>
                <a:tab pos="576263" algn="l"/>
                <a:tab pos="1152525" algn="l"/>
              </a:tabLst>
            </a:pPr>
            <a:r>
              <a:rPr lang="en-US" altLang="en-US" sz="2500" dirty="0">
                <a:cs typeface="Arial" pitchFamily="34" charset="0"/>
              </a:rPr>
              <a:t>If the confounder-outcome association is linear, there should be no ecologic bias when group-average confounders are adjusted for.</a:t>
            </a:r>
          </a:p>
          <a:p>
            <a:pPr marL="457200" indent="-457200">
              <a:spcAft>
                <a:spcPts val="1800"/>
              </a:spcAft>
              <a:buBlip>
                <a:blip r:embed="rId4"/>
              </a:buBlip>
              <a:tabLst>
                <a:tab pos="576263" algn="l"/>
                <a:tab pos="1152525" algn="l"/>
              </a:tabLst>
            </a:pPr>
            <a:r>
              <a:rPr lang="en-US" altLang="en-US" sz="2500" dirty="0">
                <a:cs typeface="Arial" pitchFamily="34" charset="0"/>
              </a:rPr>
              <a:t>The ecological fallacy will also occur when there is </a:t>
            </a:r>
            <a:r>
              <a:rPr lang="en-US" altLang="en-US" sz="2500" b="1" dirty="0">
                <a:cs typeface="Arial" pitchFamily="34" charset="0"/>
              </a:rPr>
              <a:t>effect modification</a:t>
            </a:r>
            <a:r>
              <a:rPr lang="en-US" altLang="en-US" sz="2500" dirty="0">
                <a:cs typeface="Arial" pitchFamily="34" charset="0"/>
              </a:rPr>
              <a:t>, as the weighting will be different under the different methods.</a:t>
            </a:r>
          </a:p>
          <a:p>
            <a:pPr marL="457200" indent="-457200">
              <a:spcAft>
                <a:spcPts val="1800"/>
              </a:spcAft>
              <a:buBlip>
                <a:blip r:embed="rId4"/>
              </a:buBlip>
              <a:tabLst>
                <a:tab pos="576263" algn="l"/>
                <a:tab pos="1152525" algn="l"/>
              </a:tabLst>
            </a:pPr>
            <a:r>
              <a:rPr lang="en-US" altLang="en-US" sz="2500" dirty="0">
                <a:cs typeface="Arial" pitchFamily="34" charset="0"/>
              </a:rPr>
              <a:t>Concern for the ecological fallacy has been raised as an argument against using cluster-level analyses (e.g., </a:t>
            </a:r>
            <a:r>
              <a:rPr lang="en-US" altLang="en-US" sz="2500" dirty="0" err="1">
                <a:cs typeface="Arial" pitchFamily="34" charset="0"/>
              </a:rPr>
              <a:t>Kreft</a:t>
            </a:r>
            <a:r>
              <a:rPr lang="en-US" altLang="en-US" sz="2500" dirty="0">
                <a:cs typeface="Arial" pitchFamily="34" charset="0"/>
              </a:rPr>
              <a:t>, 1998).</a:t>
            </a:r>
          </a:p>
        </p:txBody>
      </p:sp>
      <p:sp>
        <p:nvSpPr>
          <p:cNvPr id="5" name="Slide Number Placeholder 4">
            <a:extLst>
              <a:ext uri="{FF2B5EF4-FFF2-40B4-BE49-F238E27FC236}">
                <a16:creationId xmlns:a16="http://schemas.microsoft.com/office/drawing/2014/main" id="{8F511B1D-5C5B-EE7F-2169-0EA2C2AC143A}"/>
              </a:ext>
            </a:extLst>
          </p:cNvPr>
          <p:cNvSpPr>
            <a:spLocks noGrp="1"/>
          </p:cNvSpPr>
          <p:nvPr>
            <p:ph type="sldNum" sz="quarter" idx="12"/>
          </p:nvPr>
        </p:nvSpPr>
        <p:spPr/>
        <p:txBody>
          <a:bodyPr/>
          <a:lstStyle/>
          <a:p>
            <a:fld id="{77C6A7FE-225D-49F1-B302-AA37EA92BB49}" type="slidenum">
              <a:rPr lang="en-US" smtClean="0"/>
              <a:t>108</a:t>
            </a:fld>
            <a:endParaRPr lang="en-US"/>
          </a:p>
        </p:txBody>
      </p:sp>
    </p:spTree>
    <p:extLst>
      <p:ext uri="{BB962C8B-B14F-4D97-AF65-F5344CB8AC3E}">
        <p14:creationId xmlns:p14="http://schemas.microsoft.com/office/powerpoint/2010/main" val="1989106234"/>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887459"/>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000" dirty="0">
                <a:solidFill>
                  <a:schemeClr val="bg1"/>
                </a:solidFill>
                <a:latin typeface="Arial" panose="020B0604020202020204" pitchFamily="34" charset="0"/>
                <a:cs typeface="Arial" panose="020B0604020202020204" pitchFamily="34" charset="0"/>
              </a:rPr>
              <a:t>Cluster Level Analyses and the Ecological Fallacy</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2" name="TextBox 1">
            <a:extLst>
              <a:ext uri="{FF2B5EF4-FFF2-40B4-BE49-F238E27FC236}">
                <a16:creationId xmlns:a16="http://schemas.microsoft.com/office/drawing/2014/main" id="{4E70B68F-29A0-406C-A761-B81F03883AEA}"/>
              </a:ext>
            </a:extLst>
          </p:cNvPr>
          <p:cNvSpPr txBox="1"/>
          <p:nvPr/>
        </p:nvSpPr>
        <p:spPr>
          <a:xfrm>
            <a:off x="45720" y="769222"/>
            <a:ext cx="12100560" cy="4955203"/>
          </a:xfrm>
          <a:prstGeom prst="rect">
            <a:avLst/>
          </a:prstGeom>
          <a:noFill/>
        </p:spPr>
        <p:txBody>
          <a:bodyPr wrap="square" rtlCol="0">
            <a:spAutoFit/>
          </a:bodyPr>
          <a:lstStyle/>
          <a:p>
            <a:pPr marL="457200" indent="-457200">
              <a:spcAft>
                <a:spcPts val="1800"/>
              </a:spcAft>
              <a:buBlip>
                <a:blip r:embed="rId4"/>
              </a:buBlip>
              <a:tabLst>
                <a:tab pos="576263" algn="l"/>
                <a:tab pos="1152525" algn="l"/>
              </a:tabLst>
            </a:pPr>
            <a:r>
              <a:rPr lang="en-US" altLang="en-US" sz="1900" dirty="0">
                <a:cs typeface="Arial" pitchFamily="34" charset="0"/>
              </a:rPr>
              <a:t>For an intervention administered at the cluster-level, in the absence of effect modification by cluster- and individual-level variables, measured and unmeasured, the ITT analysis cannot, on average, be confounded.</a:t>
            </a:r>
          </a:p>
          <a:p>
            <a:pPr marL="914400" lvl="1" indent="-457200">
              <a:spcAft>
                <a:spcPts val="1800"/>
              </a:spcAft>
              <a:buBlip>
                <a:blip r:embed="rId4"/>
              </a:buBlip>
              <a:tabLst>
                <a:tab pos="576263" algn="l"/>
                <a:tab pos="1152525" algn="l"/>
              </a:tabLst>
            </a:pPr>
            <a:r>
              <a:rPr lang="en-US" altLang="en-US" sz="1900" dirty="0">
                <a:cs typeface="Arial" pitchFamily="34" charset="0"/>
              </a:rPr>
              <a:t> Confounding due to bad luck randomization at the cluster level can occur in a given study. Group-level averages may need to be adjusted for this, to avoid the ecological bias if any of the group-level confounders have a non-linear association with the outcome.</a:t>
            </a:r>
          </a:p>
          <a:p>
            <a:pPr marL="914400" lvl="1" indent="-457200">
              <a:spcAft>
                <a:spcPts val="1800"/>
              </a:spcAft>
              <a:buBlip>
                <a:blip r:embed="rId4"/>
              </a:buBlip>
              <a:tabLst>
                <a:tab pos="576263" algn="l"/>
                <a:tab pos="1152525" algn="l"/>
              </a:tabLst>
            </a:pPr>
            <a:r>
              <a:rPr lang="en-US" altLang="en-US" sz="1900" dirty="0">
                <a:cs typeface="Arial" pitchFamily="34" charset="0"/>
              </a:rPr>
              <a:t>(PP and AT analyses may be confounded at the individual level and may require individual level adjustment instead or in addition, for valid analysis)</a:t>
            </a:r>
          </a:p>
          <a:p>
            <a:pPr marL="457200" indent="-457200">
              <a:spcAft>
                <a:spcPts val="1800"/>
              </a:spcAft>
              <a:buBlip>
                <a:blip r:embed="rId4"/>
              </a:buBlip>
              <a:tabLst>
                <a:tab pos="576263" algn="l"/>
                <a:tab pos="1152525" algn="l"/>
              </a:tabLst>
            </a:pPr>
            <a:r>
              <a:rPr lang="en-US" altLang="en-US" sz="1900" dirty="0">
                <a:cs typeface="Arial" pitchFamily="34" charset="0"/>
              </a:rPr>
              <a:t>Effect modification by individual- or cluster- level covariates: If either exist, generalizability of findings will be limited to populations of clusters and individuals with similar distributions of the effect modifiers. In addition, individual- and cluster-level analyses will likely differ in the presence of effect modification (aka treatment heterogeneity, interactions, cross product terms). An interesting complexity in CRTs is that cluster-level effects can be assessed only between clusters.</a:t>
            </a:r>
          </a:p>
          <a:p>
            <a:pPr lvl="1">
              <a:spcAft>
                <a:spcPts val="1800"/>
              </a:spcAft>
              <a:tabLst>
                <a:tab pos="576263" algn="l"/>
                <a:tab pos="1152525" algn="l"/>
              </a:tabLst>
            </a:pPr>
            <a:endParaRPr lang="en-US" altLang="en-US" sz="2800" dirty="0">
              <a:cs typeface="Arial" pitchFamily="34" charset="0"/>
            </a:endParaRPr>
          </a:p>
        </p:txBody>
      </p:sp>
    </p:spTree>
    <p:extLst>
      <p:ext uri="{BB962C8B-B14F-4D97-AF65-F5344CB8AC3E}">
        <p14:creationId xmlns:p14="http://schemas.microsoft.com/office/powerpoint/2010/main" val="381679618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D264A-F1F8-258D-1326-543FA1D7FAA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1D0F5D2-3A6A-4FCE-F431-320C4CB9EAB7}"/>
              </a:ext>
            </a:extLst>
          </p:cNvPr>
          <p:cNvSpPr/>
          <p:nvPr/>
        </p:nvSpPr>
        <p:spPr>
          <a:xfrm>
            <a:off x="0" y="-18029"/>
            <a:ext cx="12192000" cy="887459"/>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000" dirty="0">
                <a:solidFill>
                  <a:schemeClr val="bg1"/>
                </a:solidFill>
                <a:latin typeface="Arial" panose="020B0604020202020204" pitchFamily="34" charset="0"/>
                <a:cs typeface="Arial" panose="020B0604020202020204" pitchFamily="34" charset="0"/>
              </a:rPr>
              <a:t>Cluster Level Analyses and the Ecological Fallacy</a:t>
            </a:r>
          </a:p>
        </p:txBody>
      </p:sp>
      <p:pic>
        <p:nvPicPr>
          <p:cNvPr id="6" name="Picture 5">
            <a:extLst>
              <a:ext uri="{FF2B5EF4-FFF2-40B4-BE49-F238E27FC236}">
                <a16:creationId xmlns:a16="http://schemas.microsoft.com/office/drawing/2014/main" id="{FA6653FD-B1EB-E9C2-B584-66BA982FDB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6A5F4B0-E10D-5604-3830-6E9EBB320B6E}"/>
                  </a:ext>
                </a:extLst>
              </p:cNvPr>
              <p:cNvSpPr txBox="1"/>
              <p:nvPr/>
            </p:nvSpPr>
            <p:spPr>
              <a:xfrm>
                <a:off x="45720" y="769222"/>
                <a:ext cx="12100560" cy="5225598"/>
              </a:xfrm>
              <a:prstGeom prst="rect">
                <a:avLst/>
              </a:prstGeom>
              <a:noFill/>
            </p:spPr>
            <p:txBody>
              <a:bodyPr wrap="square" rtlCol="0">
                <a:spAutoFit/>
              </a:bodyPr>
              <a:lstStyle/>
              <a:p>
                <a:pPr marL="914400" lvl="1" indent="-457200">
                  <a:spcAft>
                    <a:spcPts val="1800"/>
                  </a:spcAft>
                  <a:buBlip>
                    <a:blip r:embed="rId4"/>
                  </a:buBlip>
                  <a:tabLst>
                    <a:tab pos="576263" algn="l"/>
                    <a:tab pos="1152525" algn="l"/>
                  </a:tabLst>
                </a:pPr>
                <a:r>
                  <a:rPr lang="en-US" altLang="en-US" sz="1900" dirty="0">
                    <a:cs typeface="Arial" pitchFamily="34" charset="0"/>
                  </a:rPr>
                  <a:t>If there is effect modification, this type of ecological bias will occur. When there is effect (measure) modification, weights matter. Results depend on the weights. </a:t>
                </a:r>
              </a:p>
              <a:p>
                <a:pPr marL="1371600" lvl="2" indent="-457200">
                  <a:spcAft>
                    <a:spcPts val="1800"/>
                  </a:spcAft>
                  <a:buBlip>
                    <a:blip r:embed="rId4"/>
                  </a:buBlip>
                  <a:tabLst>
                    <a:tab pos="576263" algn="l"/>
                    <a:tab pos="1152525" algn="l"/>
                  </a:tabLst>
                </a:pPr>
                <a:r>
                  <a:rPr lang="en-US" altLang="en-US" sz="1900" dirty="0">
                    <a:cs typeface="Arial" pitchFamily="34" charset="0"/>
                  </a:rPr>
                  <a:t>When the effect is homogeneous across clusters, weights will not matter. </a:t>
                </a:r>
                <a14:m>
                  <m:oMath xmlns:m="http://schemas.openxmlformats.org/officeDocument/2006/math">
                    <m:r>
                      <a:rPr lang="en-US" altLang="en-US" sz="1900" b="0" i="1" smtClean="0">
                        <a:latin typeface="Cambria Math" panose="02040503050406030204" pitchFamily="18" charset="0"/>
                        <a:cs typeface="Arial" pitchFamily="34" charset="0"/>
                      </a:rPr>
                      <m:t>𝑙𝑜𝑔</m:t>
                    </m:r>
                    <m:acc>
                      <m:accPr>
                        <m:chr m:val="̂"/>
                        <m:ctrlPr>
                          <a:rPr lang="en-US" altLang="en-US" sz="1900" b="0" i="1" smtClean="0">
                            <a:latin typeface="Cambria Math" panose="02040503050406030204" pitchFamily="18" charset="0"/>
                            <a:cs typeface="Arial" pitchFamily="34" charset="0"/>
                          </a:rPr>
                        </m:ctrlPr>
                      </m:accPr>
                      <m:e>
                        <m:r>
                          <a:rPr lang="en-US" altLang="en-US" sz="1900" b="0" i="1" smtClean="0">
                            <a:latin typeface="Cambria Math" panose="02040503050406030204" pitchFamily="18" charset="0"/>
                            <a:cs typeface="Arial" pitchFamily="34" charset="0"/>
                          </a:rPr>
                          <m:t>𝑅𝑅</m:t>
                        </m:r>
                      </m:e>
                    </m:acc>
                    <m:r>
                      <a:rPr lang="en-US" altLang="en-US" sz="1900" b="0" i="1" smtClean="0">
                        <a:latin typeface="Cambria Math" panose="02040503050406030204" pitchFamily="18" charset="0"/>
                        <a:cs typeface="Arial" pitchFamily="34" charset="0"/>
                      </a:rPr>
                      <m:t>= </m:t>
                    </m:r>
                    <m:nary>
                      <m:naryPr>
                        <m:chr m:val="∑"/>
                        <m:ctrlPr>
                          <a:rPr lang="en-US" altLang="en-US" sz="1900" b="0" i="1" smtClean="0">
                            <a:latin typeface="Cambria Math" panose="02040503050406030204" pitchFamily="18" charset="0"/>
                            <a:cs typeface="Arial" pitchFamily="34" charset="0"/>
                          </a:rPr>
                        </m:ctrlPr>
                      </m:naryPr>
                      <m:sub>
                        <m:r>
                          <m:rPr>
                            <m:brk m:alnAt="23"/>
                          </m:rPr>
                          <a:rPr lang="en-US" altLang="en-US" sz="1900" b="0" i="1" smtClean="0">
                            <a:latin typeface="Cambria Math" panose="02040503050406030204" pitchFamily="18" charset="0"/>
                            <a:cs typeface="Arial" pitchFamily="34" charset="0"/>
                          </a:rPr>
                          <m:t>𝑘</m:t>
                        </m:r>
                        <m:r>
                          <a:rPr lang="en-US" altLang="en-US" sz="1900" b="0" i="1" smtClean="0">
                            <a:latin typeface="Cambria Math" panose="02040503050406030204" pitchFamily="18" charset="0"/>
                            <a:cs typeface="Arial" pitchFamily="34" charset="0"/>
                          </a:rPr>
                          <m:t>=1</m:t>
                        </m:r>
                      </m:sub>
                      <m:sup>
                        <m:r>
                          <a:rPr lang="en-US" altLang="en-US" sz="1900" b="0" i="1" smtClean="0">
                            <a:latin typeface="Cambria Math" panose="02040503050406030204" pitchFamily="18" charset="0"/>
                            <a:cs typeface="Arial" pitchFamily="34" charset="0"/>
                          </a:rPr>
                          <m:t>𝐾</m:t>
                        </m:r>
                      </m:sup>
                      <m:e>
                        <m:sSub>
                          <m:sSubPr>
                            <m:ctrlPr>
                              <a:rPr lang="en-US" altLang="en-US" sz="1900" b="0" i="1" smtClean="0">
                                <a:latin typeface="Cambria Math" panose="02040503050406030204" pitchFamily="18" charset="0"/>
                                <a:cs typeface="Arial" pitchFamily="34" charset="0"/>
                              </a:rPr>
                            </m:ctrlPr>
                          </m:sSubPr>
                          <m:e>
                            <m:r>
                              <a:rPr lang="en-US" altLang="en-US" sz="1900" b="0" i="1" smtClean="0">
                                <a:latin typeface="Cambria Math" panose="02040503050406030204" pitchFamily="18" charset="0"/>
                                <a:cs typeface="Arial" pitchFamily="34" charset="0"/>
                              </a:rPr>
                              <m:t>𝑤</m:t>
                            </m:r>
                          </m:e>
                          <m:sub>
                            <m:r>
                              <a:rPr lang="en-US" altLang="en-US" sz="1900" b="0" i="1" smtClean="0">
                                <a:latin typeface="Cambria Math" panose="02040503050406030204" pitchFamily="18" charset="0"/>
                                <a:cs typeface="Arial" pitchFamily="34" charset="0"/>
                              </a:rPr>
                              <m:t>𝑖𝑘</m:t>
                            </m:r>
                          </m:sub>
                        </m:sSub>
                        <m:r>
                          <a:rPr lang="en-US" altLang="en-US" sz="1900" b="0" i="1" smtClean="0">
                            <a:latin typeface="Cambria Math" panose="02040503050406030204" pitchFamily="18" charset="0"/>
                            <a:cs typeface="Arial" pitchFamily="34" charset="0"/>
                          </a:rPr>
                          <m:t> </m:t>
                        </m:r>
                        <m:r>
                          <a:rPr lang="en-US" altLang="en-US" sz="1900" b="0" i="1" smtClean="0">
                            <a:latin typeface="Cambria Math" panose="02040503050406030204" pitchFamily="18" charset="0"/>
                            <a:cs typeface="Arial" pitchFamily="34" charset="0"/>
                          </a:rPr>
                          <m:t>𝑙𝑜𝑔</m:t>
                        </m:r>
                        <m:sSub>
                          <m:sSubPr>
                            <m:ctrlPr>
                              <a:rPr lang="en-US" altLang="en-US" sz="1900" b="0" i="1" smtClean="0">
                                <a:latin typeface="Cambria Math" panose="02040503050406030204" pitchFamily="18" charset="0"/>
                                <a:cs typeface="Arial" pitchFamily="34" charset="0"/>
                              </a:rPr>
                            </m:ctrlPr>
                          </m:sSubPr>
                          <m:e>
                            <m:acc>
                              <m:accPr>
                                <m:chr m:val="̂"/>
                                <m:ctrlPr>
                                  <a:rPr lang="en-US" altLang="en-US" sz="1900" i="1">
                                    <a:latin typeface="Cambria Math" panose="02040503050406030204" pitchFamily="18" charset="0"/>
                                    <a:cs typeface="Arial" pitchFamily="34" charset="0"/>
                                  </a:rPr>
                                </m:ctrlPr>
                              </m:accPr>
                              <m:e>
                                <m:r>
                                  <a:rPr lang="en-US" altLang="en-US" sz="1900" i="1">
                                    <a:latin typeface="Cambria Math" panose="02040503050406030204" pitchFamily="18" charset="0"/>
                                    <a:cs typeface="Arial" pitchFamily="34" charset="0"/>
                                  </a:rPr>
                                  <m:t>𝑅𝑅</m:t>
                                </m:r>
                              </m:e>
                            </m:acc>
                          </m:e>
                          <m:sub>
                            <m:r>
                              <a:rPr lang="en-US" altLang="en-US" sz="1900" b="0" i="1" smtClean="0">
                                <a:latin typeface="Cambria Math" panose="02040503050406030204" pitchFamily="18" charset="0"/>
                                <a:cs typeface="Arial" pitchFamily="34" charset="0"/>
                              </a:rPr>
                              <m:t>𝑘</m:t>
                            </m:r>
                          </m:sub>
                        </m:sSub>
                        <m:r>
                          <a:rPr lang="en-US" altLang="en-US" sz="1900" b="0" i="1" smtClean="0">
                            <a:latin typeface="Cambria Math" panose="02040503050406030204" pitchFamily="18" charset="0"/>
                            <a:cs typeface="Arial" pitchFamily="34" charset="0"/>
                          </a:rPr>
                          <m:t>. </m:t>
                        </m:r>
                      </m:e>
                    </m:nary>
                  </m:oMath>
                </a14:m>
                <a:r>
                  <a:rPr lang="en-US" altLang="en-US" sz="1900" dirty="0">
                    <a:cs typeface="Arial" pitchFamily="34" charset="0"/>
                  </a:rPr>
                  <a:t>If </a:t>
                </a:r>
                <a14:m>
                  <m:oMath xmlns:m="http://schemas.openxmlformats.org/officeDocument/2006/math">
                    <m:sSub>
                      <m:sSubPr>
                        <m:ctrlPr>
                          <a:rPr lang="en-US" altLang="en-US" sz="1900" i="1">
                            <a:latin typeface="Cambria Math" panose="02040503050406030204" pitchFamily="18" charset="0"/>
                            <a:cs typeface="Arial" pitchFamily="34" charset="0"/>
                          </a:rPr>
                        </m:ctrlPr>
                      </m:sSubPr>
                      <m:e>
                        <m:acc>
                          <m:accPr>
                            <m:chr m:val="̂"/>
                            <m:ctrlPr>
                              <a:rPr lang="en-US" altLang="en-US" sz="1900" i="1">
                                <a:latin typeface="Cambria Math" panose="02040503050406030204" pitchFamily="18" charset="0"/>
                                <a:cs typeface="Arial" pitchFamily="34" charset="0"/>
                              </a:rPr>
                            </m:ctrlPr>
                          </m:accPr>
                          <m:e>
                            <m:r>
                              <a:rPr lang="en-US" altLang="en-US" sz="1900" i="1">
                                <a:latin typeface="Cambria Math" panose="02040503050406030204" pitchFamily="18" charset="0"/>
                                <a:cs typeface="Arial" pitchFamily="34" charset="0"/>
                              </a:rPr>
                              <m:t>𝑅𝑅</m:t>
                            </m:r>
                          </m:e>
                        </m:acc>
                      </m:e>
                      <m:sub>
                        <m:r>
                          <a:rPr lang="en-US" altLang="en-US" sz="1900" i="1">
                            <a:latin typeface="Cambria Math" panose="02040503050406030204" pitchFamily="18" charset="0"/>
                            <a:cs typeface="Arial" pitchFamily="34" charset="0"/>
                          </a:rPr>
                          <m:t>𝑘</m:t>
                        </m:r>
                      </m:sub>
                    </m:sSub>
                    <m:groupChr>
                      <m:groupChrPr>
                        <m:chr m:val="→"/>
                        <m:vertJc m:val="bot"/>
                        <m:ctrlPr>
                          <a:rPr lang="en-US" altLang="en-US" sz="1900" i="1" smtClean="0">
                            <a:latin typeface="Cambria Math" panose="02040503050406030204" pitchFamily="18" charset="0"/>
                            <a:cs typeface="Arial" pitchFamily="34" charset="0"/>
                          </a:rPr>
                        </m:ctrlPr>
                      </m:groupChrPr>
                      <m:e>
                        <m:r>
                          <m:rPr>
                            <m:brk m:alnAt="2"/>
                          </m:rPr>
                          <a:rPr lang="en-US" altLang="en-US" sz="1900" b="0" i="1" smtClean="0">
                            <a:latin typeface="Cambria Math" panose="02040503050406030204" pitchFamily="18" charset="0"/>
                            <a:cs typeface="Arial" pitchFamily="34" charset="0"/>
                          </a:rPr>
                          <m:t>𝑃</m:t>
                        </m:r>
                      </m:e>
                    </m:groupChr>
                  </m:oMath>
                </a14:m>
                <a:r>
                  <a:rPr lang="en-US" altLang="en-US" sz="1900" dirty="0">
                    <a:cs typeface="Arial" pitchFamily="34" charset="0"/>
                  </a:rPr>
                  <a:t> </a:t>
                </a:r>
                <a14:m>
                  <m:oMath xmlns:m="http://schemas.openxmlformats.org/officeDocument/2006/math">
                    <m:r>
                      <a:rPr lang="en-US" altLang="en-US" sz="1900" b="0" i="1" smtClean="0">
                        <a:latin typeface="Cambria Math" panose="02040503050406030204" pitchFamily="18" charset="0"/>
                        <a:cs typeface="Arial" pitchFamily="34" charset="0"/>
                      </a:rPr>
                      <m:t>𝑅𝑅</m:t>
                    </m:r>
                  </m:oMath>
                </a14:m>
                <a:r>
                  <a:rPr lang="en-US" altLang="en-US" sz="1900" dirty="0">
                    <a:cs typeface="Arial" pitchFamily="34" charset="0"/>
                  </a:rPr>
                  <a:t> </a:t>
                </a:r>
                <a14:m>
                  <m:oMath xmlns:m="http://schemas.openxmlformats.org/officeDocument/2006/math">
                    <m:r>
                      <a:rPr lang="en-US" altLang="en-US" sz="1900" i="1" dirty="0" smtClean="0">
                        <a:latin typeface="Cambria Math" panose="02040503050406030204" pitchFamily="18" charset="0"/>
                        <a:ea typeface="Cambria Math" panose="02040503050406030204" pitchFamily="18" charset="0"/>
                        <a:cs typeface="Arial" pitchFamily="34" charset="0"/>
                      </a:rPr>
                      <m:t>∀</m:t>
                    </m:r>
                    <m:r>
                      <a:rPr lang="en-US" altLang="en-US" sz="1900" b="0" i="1" dirty="0" smtClean="0">
                        <a:latin typeface="Cambria Math" panose="02040503050406030204" pitchFamily="18" charset="0"/>
                        <a:ea typeface="Cambria Math" panose="02040503050406030204" pitchFamily="18" charset="0"/>
                        <a:cs typeface="Arial" pitchFamily="34" charset="0"/>
                      </a:rPr>
                      <m:t> </m:t>
                    </m:r>
                    <m:r>
                      <a:rPr lang="en-US" altLang="en-US" sz="1900" b="0" i="1" dirty="0" smtClean="0">
                        <a:latin typeface="Cambria Math" panose="02040503050406030204" pitchFamily="18" charset="0"/>
                        <a:ea typeface="Cambria Math" panose="02040503050406030204" pitchFamily="18" charset="0"/>
                        <a:cs typeface="Arial" pitchFamily="34" charset="0"/>
                      </a:rPr>
                      <m:t>𝑘</m:t>
                    </m:r>
                    <m:r>
                      <a:rPr lang="en-US" altLang="en-US" sz="1900" b="0" i="1" dirty="0" smtClean="0">
                        <a:latin typeface="Cambria Math" panose="02040503050406030204" pitchFamily="18" charset="0"/>
                        <a:ea typeface="Cambria Math" panose="02040503050406030204" pitchFamily="18" charset="0"/>
                        <a:cs typeface="Arial" pitchFamily="34" charset="0"/>
                      </a:rPr>
                      <m:t>,   </m:t>
                    </m:r>
                    <m:nary>
                      <m:naryPr>
                        <m:chr m:val="∑"/>
                        <m:ctrlPr>
                          <a:rPr lang="en-US" altLang="en-US" sz="1900" i="1">
                            <a:latin typeface="Cambria Math" panose="02040503050406030204" pitchFamily="18" charset="0"/>
                            <a:cs typeface="Arial" pitchFamily="34" charset="0"/>
                          </a:rPr>
                        </m:ctrlPr>
                      </m:naryPr>
                      <m:sub>
                        <m:r>
                          <m:rPr>
                            <m:brk m:alnAt="23"/>
                          </m:rPr>
                          <a:rPr lang="en-US" altLang="en-US" sz="1900" i="1">
                            <a:latin typeface="Cambria Math" panose="02040503050406030204" pitchFamily="18" charset="0"/>
                            <a:cs typeface="Arial" pitchFamily="34" charset="0"/>
                          </a:rPr>
                          <m:t>𝑘</m:t>
                        </m:r>
                        <m:r>
                          <a:rPr lang="en-US" altLang="en-US" sz="1900" i="1">
                            <a:latin typeface="Cambria Math" panose="02040503050406030204" pitchFamily="18" charset="0"/>
                            <a:cs typeface="Arial" pitchFamily="34" charset="0"/>
                          </a:rPr>
                          <m:t>=1</m:t>
                        </m:r>
                      </m:sub>
                      <m:sup>
                        <m:r>
                          <a:rPr lang="en-US" altLang="en-US" sz="1900" i="1">
                            <a:latin typeface="Cambria Math" panose="02040503050406030204" pitchFamily="18" charset="0"/>
                            <a:cs typeface="Arial" pitchFamily="34" charset="0"/>
                          </a:rPr>
                          <m:t>𝐾</m:t>
                        </m:r>
                      </m:sup>
                      <m:e>
                        <m:sSub>
                          <m:sSubPr>
                            <m:ctrlPr>
                              <a:rPr lang="en-US" altLang="en-US" sz="1900" i="1">
                                <a:latin typeface="Cambria Math" panose="02040503050406030204" pitchFamily="18" charset="0"/>
                                <a:cs typeface="Arial" pitchFamily="34" charset="0"/>
                              </a:rPr>
                            </m:ctrlPr>
                          </m:sSubPr>
                          <m:e>
                            <m:r>
                              <a:rPr lang="en-US" altLang="en-US" sz="1900" i="1">
                                <a:latin typeface="Cambria Math" panose="02040503050406030204" pitchFamily="18" charset="0"/>
                                <a:cs typeface="Arial" pitchFamily="34" charset="0"/>
                              </a:rPr>
                              <m:t>𝑤</m:t>
                            </m:r>
                          </m:e>
                          <m:sub>
                            <m:r>
                              <a:rPr lang="en-US" altLang="en-US" sz="1900" i="1">
                                <a:latin typeface="Cambria Math" panose="02040503050406030204" pitchFamily="18" charset="0"/>
                                <a:cs typeface="Arial" pitchFamily="34" charset="0"/>
                              </a:rPr>
                              <m:t>𝑖𝑘</m:t>
                            </m:r>
                          </m:sub>
                        </m:sSub>
                        <m:r>
                          <a:rPr lang="en-US" altLang="en-US" sz="1900" i="1">
                            <a:latin typeface="Cambria Math" panose="02040503050406030204" pitchFamily="18" charset="0"/>
                            <a:cs typeface="Arial" pitchFamily="34" charset="0"/>
                          </a:rPr>
                          <m:t> </m:t>
                        </m:r>
                        <m:sSub>
                          <m:sSubPr>
                            <m:ctrlPr>
                              <a:rPr lang="en-US" altLang="en-US" sz="1900" i="1">
                                <a:latin typeface="Cambria Math" panose="02040503050406030204" pitchFamily="18" charset="0"/>
                                <a:cs typeface="Arial" pitchFamily="34" charset="0"/>
                              </a:rPr>
                            </m:ctrlPr>
                          </m:sSubPr>
                          <m:e>
                            <m:acc>
                              <m:accPr>
                                <m:chr m:val="̂"/>
                                <m:ctrlPr>
                                  <a:rPr lang="en-US" altLang="en-US" sz="1900" i="1">
                                    <a:latin typeface="Cambria Math" panose="02040503050406030204" pitchFamily="18" charset="0"/>
                                    <a:cs typeface="Arial" pitchFamily="34" charset="0"/>
                                  </a:rPr>
                                </m:ctrlPr>
                              </m:accPr>
                              <m:e>
                                <m:r>
                                  <a:rPr lang="en-US" altLang="en-US" sz="1900" i="1">
                                    <a:latin typeface="Cambria Math" panose="02040503050406030204" pitchFamily="18" charset="0"/>
                                    <a:cs typeface="Arial" pitchFamily="34" charset="0"/>
                                  </a:rPr>
                                  <m:t>𝑅𝑅</m:t>
                                </m:r>
                              </m:e>
                            </m:acc>
                          </m:e>
                          <m:sub>
                            <m:r>
                              <a:rPr lang="en-US" altLang="en-US" sz="1900" i="1">
                                <a:latin typeface="Cambria Math" panose="02040503050406030204" pitchFamily="18" charset="0"/>
                                <a:cs typeface="Arial" pitchFamily="34" charset="0"/>
                              </a:rPr>
                              <m:t>𝑘</m:t>
                            </m:r>
                          </m:sub>
                        </m:sSub>
                        <m:groupChr>
                          <m:groupChrPr>
                            <m:chr m:val="→"/>
                            <m:vertJc m:val="bot"/>
                            <m:ctrlPr>
                              <a:rPr lang="en-US" altLang="en-US" sz="1900" i="1">
                                <a:latin typeface="Cambria Math" panose="02040503050406030204" pitchFamily="18" charset="0"/>
                                <a:cs typeface="Arial" pitchFamily="34" charset="0"/>
                              </a:rPr>
                            </m:ctrlPr>
                          </m:groupChrPr>
                          <m:e>
                            <m:r>
                              <m:rPr>
                                <m:brk m:alnAt="2"/>
                              </m:rPr>
                              <a:rPr lang="en-US" altLang="en-US" sz="1900" i="1">
                                <a:latin typeface="Cambria Math" panose="02040503050406030204" pitchFamily="18" charset="0"/>
                                <a:cs typeface="Arial" pitchFamily="34" charset="0"/>
                              </a:rPr>
                              <m:t>𝑃</m:t>
                            </m:r>
                          </m:e>
                        </m:groupChr>
                        <m:r>
                          <a:rPr lang="en-US" altLang="en-US" sz="1900" b="0" i="1" smtClean="0">
                            <a:latin typeface="Cambria Math" panose="02040503050406030204" pitchFamily="18" charset="0"/>
                            <a:cs typeface="Arial" pitchFamily="34" charset="0"/>
                          </a:rPr>
                          <m:t> </m:t>
                        </m:r>
                      </m:e>
                    </m:nary>
                  </m:oMath>
                </a14:m>
                <a:r>
                  <a:rPr lang="en-US" altLang="en-US" sz="1900" dirty="0">
                    <a:cs typeface="Arial" pitchFamily="34" charset="0"/>
                  </a:rPr>
                  <a:t> </a:t>
                </a:r>
                <a14:m>
                  <m:oMath xmlns:m="http://schemas.openxmlformats.org/officeDocument/2006/math">
                    <m:r>
                      <a:rPr lang="en-US" altLang="en-US" sz="1900" i="1">
                        <a:latin typeface="Cambria Math" panose="02040503050406030204" pitchFamily="18" charset="0"/>
                        <a:cs typeface="Arial" pitchFamily="34" charset="0"/>
                      </a:rPr>
                      <m:t>𝑅𝑅</m:t>
                    </m:r>
                  </m:oMath>
                </a14:m>
                <a:r>
                  <a:rPr lang="en-US" altLang="en-US" sz="1900" dirty="0">
                    <a:cs typeface="Arial" pitchFamily="34" charset="0"/>
                  </a:rPr>
                  <a:t> </a:t>
                </a:r>
                <a14:m>
                  <m:oMath xmlns:m="http://schemas.openxmlformats.org/officeDocument/2006/math">
                    <m:nary>
                      <m:naryPr>
                        <m:chr m:val="∑"/>
                        <m:ctrlPr>
                          <a:rPr lang="en-US" altLang="en-US" sz="1900" i="1">
                            <a:latin typeface="Cambria Math" panose="02040503050406030204" pitchFamily="18" charset="0"/>
                            <a:cs typeface="Arial" pitchFamily="34" charset="0"/>
                          </a:rPr>
                        </m:ctrlPr>
                      </m:naryPr>
                      <m:sub>
                        <m:r>
                          <m:rPr>
                            <m:brk m:alnAt="23"/>
                          </m:rPr>
                          <a:rPr lang="en-US" altLang="en-US" sz="1900" i="1">
                            <a:latin typeface="Cambria Math" panose="02040503050406030204" pitchFamily="18" charset="0"/>
                            <a:cs typeface="Arial" pitchFamily="34" charset="0"/>
                          </a:rPr>
                          <m:t>𝑘</m:t>
                        </m:r>
                        <m:r>
                          <a:rPr lang="en-US" altLang="en-US" sz="1900" i="1">
                            <a:latin typeface="Cambria Math" panose="02040503050406030204" pitchFamily="18" charset="0"/>
                            <a:cs typeface="Arial" pitchFamily="34" charset="0"/>
                          </a:rPr>
                          <m:t>=1</m:t>
                        </m:r>
                      </m:sub>
                      <m:sup>
                        <m:r>
                          <a:rPr lang="en-US" altLang="en-US" sz="1900" i="1">
                            <a:latin typeface="Cambria Math" panose="02040503050406030204" pitchFamily="18" charset="0"/>
                            <a:cs typeface="Arial" pitchFamily="34" charset="0"/>
                          </a:rPr>
                          <m:t>𝐾</m:t>
                        </m:r>
                      </m:sup>
                      <m:e>
                        <m:sSub>
                          <m:sSubPr>
                            <m:ctrlPr>
                              <a:rPr lang="en-US" altLang="en-US" sz="1900" i="1">
                                <a:latin typeface="Cambria Math" panose="02040503050406030204" pitchFamily="18" charset="0"/>
                                <a:cs typeface="Arial" pitchFamily="34" charset="0"/>
                              </a:rPr>
                            </m:ctrlPr>
                          </m:sSubPr>
                          <m:e>
                            <m:r>
                              <a:rPr lang="en-US" altLang="en-US" sz="1900" i="1">
                                <a:latin typeface="Cambria Math" panose="02040503050406030204" pitchFamily="18" charset="0"/>
                                <a:cs typeface="Arial" pitchFamily="34" charset="0"/>
                              </a:rPr>
                              <m:t>𝑤</m:t>
                            </m:r>
                          </m:e>
                          <m:sub>
                            <m:r>
                              <a:rPr lang="en-US" altLang="en-US" sz="1900" i="1">
                                <a:latin typeface="Cambria Math" panose="02040503050406030204" pitchFamily="18" charset="0"/>
                                <a:cs typeface="Arial" pitchFamily="34" charset="0"/>
                              </a:rPr>
                              <m:t>𝑖𝑘</m:t>
                            </m:r>
                          </m:sub>
                        </m:sSub>
                        <m:r>
                          <a:rPr lang="en-US" altLang="en-US" sz="1900" b="0" i="1" smtClean="0">
                            <a:latin typeface="Cambria Math" panose="02040503050406030204" pitchFamily="18" charset="0"/>
                            <a:cs typeface="Arial" pitchFamily="34" charset="0"/>
                          </a:rPr>
                          <m:t>= </m:t>
                        </m:r>
                      </m:e>
                    </m:nary>
                  </m:oMath>
                </a14:m>
                <a:r>
                  <a:rPr lang="en-US" altLang="en-US" sz="1900" dirty="0">
                    <a:cs typeface="Arial" pitchFamily="34" charset="0"/>
                  </a:rPr>
                  <a:t> </a:t>
                </a:r>
                <a14:m>
                  <m:oMath xmlns:m="http://schemas.openxmlformats.org/officeDocument/2006/math">
                    <m:r>
                      <a:rPr lang="en-US" altLang="en-US" sz="1900" i="1">
                        <a:latin typeface="Cambria Math" panose="02040503050406030204" pitchFamily="18" charset="0"/>
                        <a:cs typeface="Arial" pitchFamily="34" charset="0"/>
                      </a:rPr>
                      <m:t>𝑅𝑅</m:t>
                    </m:r>
                  </m:oMath>
                </a14:m>
                <a:r>
                  <a:rPr lang="en-US" altLang="en-US" sz="1900" dirty="0">
                    <a:cs typeface="Arial" pitchFamily="34" charset="0"/>
                  </a:rPr>
                  <a:t> </a:t>
                </a:r>
              </a:p>
              <a:p>
                <a:pPr marL="1371600" lvl="2" indent="-457200">
                  <a:spcAft>
                    <a:spcPts val="1800"/>
                  </a:spcAft>
                  <a:buBlip>
                    <a:blip r:embed="rId4"/>
                  </a:buBlip>
                  <a:tabLst>
                    <a:tab pos="576263" algn="l"/>
                    <a:tab pos="1152525" algn="l"/>
                  </a:tabLst>
                </a:pPr>
                <a:r>
                  <a:rPr lang="en-US" altLang="en-US" sz="1900" dirty="0">
                    <a:cs typeface="Arial" pitchFamily="34" charset="0"/>
                  </a:rPr>
                  <a:t>Similarly, for continuous data, </a:t>
                </a:r>
                <a14:m>
                  <m:oMath xmlns:m="http://schemas.openxmlformats.org/officeDocument/2006/math">
                    <m:sSup>
                      <m:sSupPr>
                        <m:ctrlPr>
                          <a:rPr lang="en-US" altLang="en-US" sz="1900" i="1" smtClean="0">
                            <a:latin typeface="Cambria Math" panose="02040503050406030204" pitchFamily="18" charset="0"/>
                            <a:cs typeface="Arial" pitchFamily="34" charset="0"/>
                          </a:rPr>
                        </m:ctrlPr>
                      </m:sSupPr>
                      <m:e>
                        <m:acc>
                          <m:accPr>
                            <m:chr m:val="̂"/>
                            <m:ctrlPr>
                              <a:rPr lang="en-US" altLang="en-US" sz="1900" i="1" smtClean="0">
                                <a:latin typeface="Cambria Math" panose="02040503050406030204" pitchFamily="18" charset="0"/>
                                <a:cs typeface="Arial" pitchFamily="34" charset="0"/>
                              </a:rPr>
                            </m:ctrlPr>
                          </m:accPr>
                          <m:e>
                            <m:r>
                              <a:rPr lang="en-US" altLang="en-US" sz="1900" i="1">
                                <a:latin typeface="Cambria Math" panose="02040503050406030204" pitchFamily="18" charset="0"/>
                                <a:ea typeface="Cambria Math" panose="02040503050406030204" pitchFamily="18" charset="0"/>
                                <a:cs typeface="Arial" pitchFamily="34" charset="0"/>
                              </a:rPr>
                              <m:t>𝛽</m:t>
                            </m:r>
                          </m:e>
                        </m:acc>
                      </m:e>
                      <m:sup>
                        <m:r>
                          <a:rPr lang="en-US" altLang="en-US" sz="1900" b="0" i="1" smtClean="0">
                            <a:latin typeface="Cambria Math" panose="02040503050406030204" pitchFamily="18" charset="0"/>
                            <a:cs typeface="Arial" pitchFamily="34" charset="0"/>
                          </a:rPr>
                          <m:t>∗</m:t>
                        </m:r>
                      </m:sup>
                    </m:sSup>
                    <m:r>
                      <a:rPr lang="en-US" altLang="en-US" sz="1900" i="1">
                        <a:latin typeface="Cambria Math" panose="02040503050406030204" pitchFamily="18" charset="0"/>
                        <a:cs typeface="Arial" pitchFamily="34" charset="0"/>
                      </a:rPr>
                      <m:t>=</m:t>
                    </m:r>
                    <m:nary>
                      <m:naryPr>
                        <m:chr m:val="∑"/>
                        <m:ctrlPr>
                          <a:rPr lang="en-US" altLang="en-US" sz="1900" i="1" smtClean="0">
                            <a:latin typeface="Cambria Math" panose="02040503050406030204" pitchFamily="18" charset="0"/>
                            <a:cs typeface="Arial" pitchFamily="34" charset="0"/>
                          </a:rPr>
                        </m:ctrlPr>
                      </m:naryPr>
                      <m:sub>
                        <m:r>
                          <m:rPr>
                            <m:brk m:alnAt="23"/>
                          </m:rPr>
                          <a:rPr lang="en-US" altLang="en-US" sz="1900" i="1">
                            <a:latin typeface="Cambria Math" panose="02040503050406030204" pitchFamily="18" charset="0"/>
                            <a:cs typeface="Arial" pitchFamily="34" charset="0"/>
                          </a:rPr>
                          <m:t>𝑘</m:t>
                        </m:r>
                        <m:r>
                          <a:rPr lang="en-US" altLang="en-US" sz="1900" i="1">
                            <a:latin typeface="Cambria Math" panose="02040503050406030204" pitchFamily="18" charset="0"/>
                            <a:cs typeface="Arial" pitchFamily="34" charset="0"/>
                          </a:rPr>
                          <m:t>=1</m:t>
                        </m:r>
                      </m:sub>
                      <m:sup>
                        <m:r>
                          <a:rPr lang="en-US" altLang="en-US" sz="1900" i="1">
                            <a:latin typeface="Cambria Math" panose="02040503050406030204" pitchFamily="18" charset="0"/>
                            <a:cs typeface="Arial" pitchFamily="34" charset="0"/>
                          </a:rPr>
                          <m:t>𝐾</m:t>
                        </m:r>
                      </m:sup>
                      <m:e>
                        <m:sSub>
                          <m:sSubPr>
                            <m:ctrlPr>
                              <a:rPr lang="en-US" altLang="en-US" sz="1900" i="1">
                                <a:latin typeface="Cambria Math" panose="02040503050406030204" pitchFamily="18" charset="0"/>
                                <a:cs typeface="Arial" pitchFamily="34" charset="0"/>
                              </a:rPr>
                            </m:ctrlPr>
                          </m:sSubPr>
                          <m:e>
                            <m:r>
                              <a:rPr lang="en-US" altLang="en-US" sz="1900" i="1">
                                <a:latin typeface="Cambria Math" panose="02040503050406030204" pitchFamily="18" charset="0"/>
                                <a:cs typeface="Arial" pitchFamily="34" charset="0"/>
                              </a:rPr>
                              <m:t>𝑤</m:t>
                            </m:r>
                          </m:e>
                          <m:sub>
                            <m:r>
                              <a:rPr lang="en-US" altLang="en-US" sz="1900" i="1">
                                <a:latin typeface="Cambria Math" panose="02040503050406030204" pitchFamily="18" charset="0"/>
                                <a:cs typeface="Arial" pitchFamily="34" charset="0"/>
                              </a:rPr>
                              <m:t>𝑖𝑘</m:t>
                            </m:r>
                          </m:sub>
                        </m:sSub>
                        <m:d>
                          <m:dPr>
                            <m:ctrlPr>
                              <a:rPr lang="en-US" altLang="en-US" sz="1900" i="1">
                                <a:latin typeface="Cambria Math" panose="02040503050406030204" pitchFamily="18" charset="0"/>
                                <a:cs typeface="Arial" pitchFamily="34" charset="0"/>
                              </a:rPr>
                            </m:ctrlPr>
                          </m:dPr>
                          <m:e>
                            <m:sSub>
                              <m:sSubPr>
                                <m:ctrlPr>
                                  <a:rPr lang="en-US" altLang="en-US" sz="1900" i="1">
                                    <a:latin typeface="Cambria Math" panose="02040503050406030204" pitchFamily="18" charset="0"/>
                                    <a:cs typeface="Arial" pitchFamily="34" charset="0"/>
                                  </a:rPr>
                                </m:ctrlPr>
                              </m:sSubPr>
                              <m:e>
                                <m:acc>
                                  <m:accPr>
                                    <m:chr m:val="̅"/>
                                    <m:ctrlPr>
                                      <a:rPr lang="en-US" altLang="en-US" sz="1900" i="1">
                                        <a:latin typeface="Cambria Math" panose="02040503050406030204" pitchFamily="18" charset="0"/>
                                        <a:cs typeface="Arial" pitchFamily="34" charset="0"/>
                                      </a:rPr>
                                    </m:ctrlPr>
                                  </m:accPr>
                                  <m:e>
                                    <m:r>
                                      <a:rPr lang="en-US" altLang="en-US" sz="1900" i="1">
                                        <a:latin typeface="Cambria Math" panose="02040503050406030204" pitchFamily="18" charset="0"/>
                                        <a:cs typeface="Arial" pitchFamily="34" charset="0"/>
                                      </a:rPr>
                                      <m:t>𝑌</m:t>
                                    </m:r>
                                  </m:e>
                                </m:acc>
                              </m:e>
                              <m:sub>
                                <m:r>
                                  <a:rPr lang="en-US" altLang="en-US" sz="1900" i="1">
                                    <a:latin typeface="Cambria Math" panose="02040503050406030204" pitchFamily="18" charset="0"/>
                                    <a:cs typeface="Arial" pitchFamily="34" charset="0"/>
                                  </a:rPr>
                                  <m:t>2</m:t>
                                </m:r>
                                <m:r>
                                  <a:rPr lang="en-US" altLang="en-US" sz="1900" i="1">
                                    <a:latin typeface="Cambria Math" panose="02040503050406030204" pitchFamily="18" charset="0"/>
                                    <a:cs typeface="Arial" pitchFamily="34" charset="0"/>
                                  </a:rPr>
                                  <m:t>𝑘</m:t>
                                </m:r>
                              </m:sub>
                            </m:sSub>
                            <m:r>
                              <a:rPr lang="en-US" altLang="en-US" sz="1900" i="1">
                                <a:latin typeface="Cambria Math" panose="02040503050406030204" pitchFamily="18" charset="0"/>
                                <a:cs typeface="Arial" pitchFamily="34" charset="0"/>
                              </a:rPr>
                              <m:t>−</m:t>
                            </m:r>
                            <m:sSub>
                              <m:sSubPr>
                                <m:ctrlPr>
                                  <a:rPr lang="en-US" altLang="en-US" sz="1900" i="1">
                                    <a:latin typeface="Cambria Math" panose="02040503050406030204" pitchFamily="18" charset="0"/>
                                    <a:cs typeface="Arial" pitchFamily="34" charset="0"/>
                                  </a:rPr>
                                </m:ctrlPr>
                              </m:sSubPr>
                              <m:e>
                                <m:acc>
                                  <m:accPr>
                                    <m:chr m:val="̅"/>
                                    <m:ctrlPr>
                                      <a:rPr lang="en-US" altLang="en-US" sz="1900" i="1">
                                        <a:latin typeface="Cambria Math" panose="02040503050406030204" pitchFamily="18" charset="0"/>
                                        <a:cs typeface="Arial" pitchFamily="34" charset="0"/>
                                      </a:rPr>
                                    </m:ctrlPr>
                                  </m:accPr>
                                  <m:e>
                                    <m:r>
                                      <a:rPr lang="en-US" altLang="en-US" sz="1900" i="1">
                                        <a:latin typeface="Cambria Math" panose="02040503050406030204" pitchFamily="18" charset="0"/>
                                        <a:cs typeface="Arial" pitchFamily="34" charset="0"/>
                                      </a:rPr>
                                      <m:t>𝑌</m:t>
                                    </m:r>
                                  </m:e>
                                </m:acc>
                              </m:e>
                              <m:sub>
                                <m:r>
                                  <a:rPr lang="en-US" altLang="en-US" sz="1900" i="1">
                                    <a:latin typeface="Cambria Math" panose="02040503050406030204" pitchFamily="18" charset="0"/>
                                    <a:cs typeface="Arial" pitchFamily="34" charset="0"/>
                                  </a:rPr>
                                  <m:t>2</m:t>
                                </m:r>
                                <m:r>
                                  <a:rPr lang="en-US" altLang="en-US" sz="1900" i="1">
                                    <a:latin typeface="Cambria Math" panose="02040503050406030204" pitchFamily="18" charset="0"/>
                                    <a:cs typeface="Arial" pitchFamily="34" charset="0"/>
                                  </a:rPr>
                                  <m:t>𝑘</m:t>
                                </m:r>
                              </m:sub>
                            </m:sSub>
                          </m:e>
                        </m:d>
                        <m:r>
                          <a:rPr lang="en-US" altLang="en-US" sz="1900" i="1">
                            <a:latin typeface="Cambria Math" panose="02040503050406030204" pitchFamily="18" charset="0"/>
                            <a:cs typeface="Arial" pitchFamily="34" charset="0"/>
                          </a:rPr>
                          <m:t>=</m:t>
                        </m:r>
                        <m:nary>
                          <m:naryPr>
                            <m:chr m:val="∑"/>
                            <m:ctrlPr>
                              <a:rPr lang="en-US" altLang="en-US" sz="1900" i="1">
                                <a:latin typeface="Cambria Math" panose="02040503050406030204" pitchFamily="18" charset="0"/>
                                <a:cs typeface="Arial" pitchFamily="34" charset="0"/>
                              </a:rPr>
                            </m:ctrlPr>
                          </m:naryPr>
                          <m:sub>
                            <m:r>
                              <m:rPr>
                                <m:brk m:alnAt="23"/>
                              </m:rPr>
                              <a:rPr lang="en-US" altLang="en-US" sz="1900" i="1">
                                <a:latin typeface="Cambria Math" panose="02040503050406030204" pitchFamily="18" charset="0"/>
                                <a:cs typeface="Arial" pitchFamily="34" charset="0"/>
                              </a:rPr>
                              <m:t>𝑘</m:t>
                            </m:r>
                            <m:r>
                              <a:rPr lang="en-US" altLang="en-US" sz="1900" i="1">
                                <a:latin typeface="Cambria Math" panose="02040503050406030204" pitchFamily="18" charset="0"/>
                                <a:cs typeface="Arial" pitchFamily="34" charset="0"/>
                              </a:rPr>
                              <m:t>=1</m:t>
                            </m:r>
                          </m:sub>
                          <m:sup>
                            <m:r>
                              <a:rPr lang="en-US" altLang="en-US" sz="1900" i="1">
                                <a:latin typeface="Cambria Math" panose="02040503050406030204" pitchFamily="18" charset="0"/>
                                <a:cs typeface="Arial" pitchFamily="34" charset="0"/>
                              </a:rPr>
                              <m:t>𝐾</m:t>
                            </m:r>
                          </m:sup>
                          <m:e>
                            <m:sSub>
                              <m:sSubPr>
                                <m:ctrlPr>
                                  <a:rPr lang="en-US" altLang="en-US" sz="1900" i="1">
                                    <a:latin typeface="Cambria Math" panose="02040503050406030204" pitchFamily="18" charset="0"/>
                                    <a:cs typeface="Arial" pitchFamily="34" charset="0"/>
                                  </a:rPr>
                                </m:ctrlPr>
                              </m:sSubPr>
                              <m:e>
                                <m:r>
                                  <a:rPr lang="en-US" altLang="en-US" sz="1900" i="1">
                                    <a:latin typeface="Cambria Math" panose="02040503050406030204" pitchFamily="18" charset="0"/>
                                    <a:cs typeface="Arial" pitchFamily="34" charset="0"/>
                                  </a:rPr>
                                  <m:t>𝑤</m:t>
                                </m:r>
                              </m:e>
                              <m:sub>
                                <m:r>
                                  <a:rPr lang="en-US" altLang="en-US" sz="1900" i="1">
                                    <a:latin typeface="Cambria Math" panose="02040503050406030204" pitchFamily="18" charset="0"/>
                                    <a:cs typeface="Arial" pitchFamily="34" charset="0"/>
                                  </a:rPr>
                                  <m:t>𝑖𝑘</m:t>
                                </m:r>
                              </m:sub>
                            </m:sSub>
                            <m:r>
                              <a:rPr lang="en-US" altLang="en-US" sz="1900" b="0" i="1" smtClean="0">
                                <a:latin typeface="Cambria Math" panose="02040503050406030204" pitchFamily="18" charset="0"/>
                                <a:cs typeface="Arial" pitchFamily="34" charset="0"/>
                              </a:rPr>
                              <m:t> </m:t>
                            </m:r>
                            <m:sSubSup>
                              <m:sSubSupPr>
                                <m:ctrlPr>
                                  <a:rPr lang="en-US" altLang="en-US" sz="1900" b="0" i="1" smtClean="0">
                                    <a:latin typeface="Cambria Math" panose="02040503050406030204" pitchFamily="18" charset="0"/>
                                    <a:cs typeface="Arial" pitchFamily="34" charset="0"/>
                                  </a:rPr>
                                </m:ctrlPr>
                              </m:sSubSupPr>
                              <m:e>
                                <m:acc>
                                  <m:accPr>
                                    <m:chr m:val="̂"/>
                                    <m:ctrlPr>
                                      <a:rPr lang="en-US" altLang="en-US" sz="1900" b="0" i="1" smtClean="0">
                                        <a:latin typeface="Cambria Math" panose="02040503050406030204" pitchFamily="18" charset="0"/>
                                        <a:cs typeface="Arial" pitchFamily="34" charset="0"/>
                                      </a:rPr>
                                    </m:ctrlPr>
                                  </m:accPr>
                                  <m:e>
                                    <m:r>
                                      <a:rPr lang="en-US" altLang="en-US" sz="1900" b="0" i="1" smtClean="0">
                                        <a:latin typeface="Cambria Math" panose="02040503050406030204" pitchFamily="18" charset="0"/>
                                        <a:ea typeface="Cambria Math" panose="02040503050406030204" pitchFamily="18" charset="0"/>
                                        <a:cs typeface="Arial" pitchFamily="34" charset="0"/>
                                      </a:rPr>
                                      <m:t>𝛽</m:t>
                                    </m:r>
                                  </m:e>
                                </m:acc>
                              </m:e>
                              <m:sub>
                                <m:r>
                                  <a:rPr lang="en-US" altLang="en-US" sz="1900" b="0" i="1" smtClean="0">
                                    <a:latin typeface="Cambria Math" panose="02040503050406030204" pitchFamily="18" charset="0"/>
                                    <a:cs typeface="Arial" pitchFamily="34" charset="0"/>
                                  </a:rPr>
                                  <m:t>𝐾</m:t>
                                </m:r>
                              </m:sub>
                              <m:sup>
                                <m:r>
                                  <a:rPr lang="en-US" altLang="en-US" sz="1900" b="0" i="1" smtClean="0">
                                    <a:latin typeface="Cambria Math" panose="02040503050406030204" pitchFamily="18" charset="0"/>
                                    <a:cs typeface="Arial" pitchFamily="34" charset="0"/>
                                  </a:rPr>
                                  <m:t>∗</m:t>
                                </m:r>
                              </m:sup>
                            </m:sSubSup>
                            <m:r>
                              <a:rPr lang="en-US" altLang="en-US" sz="1900" i="1">
                                <a:latin typeface="Cambria Math" panose="02040503050406030204" pitchFamily="18" charset="0"/>
                                <a:cs typeface="Arial" pitchFamily="34" charset="0"/>
                              </a:rPr>
                              <m:t>=</m:t>
                            </m:r>
                            <m:sSup>
                              <m:sSupPr>
                                <m:ctrlPr>
                                  <a:rPr lang="en-US" altLang="en-US" sz="1900" i="1">
                                    <a:latin typeface="Cambria Math" panose="02040503050406030204" pitchFamily="18" charset="0"/>
                                    <a:cs typeface="Arial" pitchFamily="34" charset="0"/>
                                  </a:rPr>
                                </m:ctrlPr>
                              </m:sSupPr>
                              <m:e>
                                <m:acc>
                                  <m:accPr>
                                    <m:chr m:val="̂"/>
                                    <m:ctrlPr>
                                      <a:rPr lang="en-US" altLang="en-US" sz="1900" i="1">
                                        <a:latin typeface="Cambria Math" panose="02040503050406030204" pitchFamily="18" charset="0"/>
                                        <a:cs typeface="Arial" pitchFamily="34" charset="0"/>
                                      </a:rPr>
                                    </m:ctrlPr>
                                  </m:accPr>
                                  <m:e>
                                    <m:r>
                                      <a:rPr lang="en-US" altLang="en-US" sz="1900" i="1">
                                        <a:latin typeface="Cambria Math" panose="02040503050406030204" pitchFamily="18" charset="0"/>
                                        <a:ea typeface="Cambria Math" panose="02040503050406030204" pitchFamily="18" charset="0"/>
                                        <a:cs typeface="Arial" pitchFamily="34" charset="0"/>
                                      </a:rPr>
                                      <m:t>𝛽</m:t>
                                    </m:r>
                                  </m:e>
                                </m:acc>
                              </m:e>
                              <m:sup>
                                <m:r>
                                  <a:rPr lang="en-US" altLang="en-US" sz="1900" i="1">
                                    <a:latin typeface="Cambria Math" panose="02040503050406030204" pitchFamily="18" charset="0"/>
                                    <a:cs typeface="Arial" pitchFamily="34" charset="0"/>
                                  </a:rPr>
                                  <m:t>∗</m:t>
                                </m:r>
                              </m:sup>
                            </m:sSup>
                            <m:nary>
                              <m:naryPr>
                                <m:chr m:val="∑"/>
                                <m:ctrlPr>
                                  <a:rPr lang="en-US" altLang="en-US" sz="1900" i="1">
                                    <a:latin typeface="Cambria Math" panose="02040503050406030204" pitchFamily="18" charset="0"/>
                                    <a:cs typeface="Arial" pitchFamily="34" charset="0"/>
                                  </a:rPr>
                                </m:ctrlPr>
                              </m:naryPr>
                              <m:sub>
                                <m:r>
                                  <m:rPr>
                                    <m:brk m:alnAt="23"/>
                                  </m:rPr>
                                  <a:rPr lang="en-US" altLang="en-US" sz="1900" i="1">
                                    <a:latin typeface="Cambria Math" panose="02040503050406030204" pitchFamily="18" charset="0"/>
                                    <a:cs typeface="Arial" pitchFamily="34" charset="0"/>
                                  </a:rPr>
                                  <m:t>𝑘</m:t>
                                </m:r>
                                <m:r>
                                  <a:rPr lang="en-US" altLang="en-US" sz="1900" i="1">
                                    <a:latin typeface="Cambria Math" panose="02040503050406030204" pitchFamily="18" charset="0"/>
                                    <a:cs typeface="Arial" pitchFamily="34" charset="0"/>
                                  </a:rPr>
                                  <m:t>=1</m:t>
                                </m:r>
                              </m:sub>
                              <m:sup>
                                <m:r>
                                  <a:rPr lang="en-US" altLang="en-US" sz="1900" i="1">
                                    <a:latin typeface="Cambria Math" panose="02040503050406030204" pitchFamily="18" charset="0"/>
                                    <a:cs typeface="Arial" pitchFamily="34" charset="0"/>
                                  </a:rPr>
                                  <m:t>𝐾</m:t>
                                </m:r>
                              </m:sup>
                              <m:e>
                                <m:sSub>
                                  <m:sSubPr>
                                    <m:ctrlPr>
                                      <a:rPr lang="en-US" altLang="en-US" sz="1900" i="1">
                                        <a:latin typeface="Cambria Math" panose="02040503050406030204" pitchFamily="18" charset="0"/>
                                        <a:cs typeface="Arial" pitchFamily="34" charset="0"/>
                                      </a:rPr>
                                    </m:ctrlPr>
                                  </m:sSubPr>
                                  <m:e>
                                    <m:r>
                                      <a:rPr lang="en-US" altLang="en-US" sz="1900" i="1">
                                        <a:latin typeface="Cambria Math" panose="02040503050406030204" pitchFamily="18" charset="0"/>
                                        <a:cs typeface="Arial" pitchFamily="34" charset="0"/>
                                      </a:rPr>
                                      <m:t>𝑤</m:t>
                                    </m:r>
                                  </m:e>
                                  <m:sub>
                                    <m:r>
                                      <a:rPr lang="en-US" altLang="en-US" sz="1900" i="1">
                                        <a:latin typeface="Cambria Math" panose="02040503050406030204" pitchFamily="18" charset="0"/>
                                        <a:cs typeface="Arial" pitchFamily="34" charset="0"/>
                                      </a:rPr>
                                      <m:t>𝑖𝑘</m:t>
                                    </m:r>
                                  </m:sub>
                                </m:sSub>
                              </m:e>
                            </m:nary>
                            <m:r>
                              <a:rPr lang="en-US" altLang="en-US" sz="1900" b="0" i="1" smtClean="0">
                                <a:latin typeface="Cambria Math" panose="02040503050406030204" pitchFamily="18" charset="0"/>
                                <a:cs typeface="Arial" pitchFamily="34" charset="0"/>
                              </a:rPr>
                              <m:t>, </m:t>
                            </m:r>
                          </m:e>
                        </m:nary>
                        <m:r>
                          <a:rPr lang="en-US" altLang="en-US" sz="1900" i="1">
                            <a:latin typeface="Cambria Math" panose="02040503050406030204" pitchFamily="18" charset="0"/>
                            <a:cs typeface="Arial" pitchFamily="34" charset="0"/>
                          </a:rPr>
                          <m:t> </m:t>
                        </m:r>
                      </m:e>
                    </m:nary>
                  </m:oMath>
                </a14:m>
                <a:r>
                  <a:rPr lang="en-US" altLang="en-US" sz="1900" dirty="0">
                    <a:cs typeface="Arial" pitchFamily="34" charset="0"/>
                  </a:rPr>
                  <a:t>where the last step is due to homogeneity of the intervention effect across clusters.</a:t>
                </a:r>
              </a:p>
              <a:p>
                <a:pPr marL="914400" lvl="1" indent="-457200">
                  <a:spcAft>
                    <a:spcPts val="1800"/>
                  </a:spcAft>
                  <a:buBlip>
                    <a:blip r:embed="rId4"/>
                  </a:buBlip>
                  <a:tabLst>
                    <a:tab pos="576263" algn="l"/>
                    <a:tab pos="1152525" algn="l"/>
                  </a:tabLst>
                </a:pPr>
                <a:r>
                  <a:rPr lang="en-US" altLang="en-US" sz="1900" dirty="0">
                    <a:cs typeface="Arial" pitchFamily="34" charset="0"/>
                  </a:rPr>
                  <a:t>Note that in CRTs, </a:t>
                </a:r>
                <a14:m>
                  <m:oMath xmlns:m="http://schemas.openxmlformats.org/officeDocument/2006/math">
                    <m:sSub>
                      <m:sSubPr>
                        <m:ctrlPr>
                          <a:rPr lang="en-US" altLang="en-US" sz="1900" i="1">
                            <a:latin typeface="Cambria Math" panose="02040503050406030204" pitchFamily="18" charset="0"/>
                            <a:cs typeface="Arial" pitchFamily="34" charset="0"/>
                          </a:rPr>
                        </m:ctrlPr>
                      </m:sSubPr>
                      <m:e>
                        <m:acc>
                          <m:accPr>
                            <m:chr m:val="̂"/>
                            <m:ctrlPr>
                              <a:rPr lang="en-US" altLang="en-US" sz="1900" i="1">
                                <a:latin typeface="Cambria Math" panose="02040503050406030204" pitchFamily="18" charset="0"/>
                                <a:cs typeface="Arial" pitchFamily="34" charset="0"/>
                              </a:rPr>
                            </m:ctrlPr>
                          </m:accPr>
                          <m:e>
                            <m:r>
                              <a:rPr lang="en-US" altLang="en-US" sz="1900" i="1">
                                <a:latin typeface="Cambria Math" panose="02040503050406030204" pitchFamily="18" charset="0"/>
                                <a:cs typeface="Arial" pitchFamily="34" charset="0"/>
                              </a:rPr>
                              <m:t>𝑅𝑅</m:t>
                            </m:r>
                          </m:e>
                        </m:acc>
                      </m:e>
                      <m:sub>
                        <m:r>
                          <a:rPr lang="en-US" altLang="en-US" sz="1900" i="1">
                            <a:latin typeface="Cambria Math" panose="02040503050406030204" pitchFamily="18" charset="0"/>
                            <a:cs typeface="Arial" pitchFamily="34" charset="0"/>
                          </a:rPr>
                          <m:t>𝑘</m:t>
                        </m:r>
                      </m:sub>
                    </m:sSub>
                  </m:oMath>
                </a14:m>
                <a:r>
                  <a:rPr lang="en-US" altLang="en-US" sz="1900" dirty="0">
                    <a:cs typeface="Arial" pitchFamily="34" charset="0"/>
                  </a:rPr>
                  <a:t> for the intervention can be assessed only between clusters, so the results above do not apply</a:t>
                </a:r>
              </a:p>
              <a:p>
                <a:pPr marL="1371600" lvl="2" indent="-457200">
                  <a:spcAft>
                    <a:spcPts val="1800"/>
                  </a:spcAft>
                  <a:buBlip>
                    <a:blip r:embed="rId4"/>
                  </a:buBlip>
                  <a:tabLst>
                    <a:tab pos="576263" algn="l"/>
                    <a:tab pos="1152525" algn="l"/>
                  </a:tabLst>
                </a:pPr>
                <a:r>
                  <a:rPr lang="en-US" altLang="en-US" sz="1900" dirty="0">
                    <a:cs typeface="Arial" pitchFamily="34" charset="0"/>
                  </a:rPr>
                  <a:t>Then, </a:t>
                </a:r>
                <a14:m>
                  <m:oMath xmlns:m="http://schemas.openxmlformats.org/officeDocument/2006/math">
                    <m:sSub>
                      <m:sSubPr>
                        <m:ctrlPr>
                          <a:rPr lang="en-US" altLang="en-US" sz="1900" i="1">
                            <a:latin typeface="Cambria Math" panose="02040503050406030204" pitchFamily="18" charset="0"/>
                            <a:cs typeface="Arial" pitchFamily="34" charset="0"/>
                          </a:rPr>
                        </m:ctrlPr>
                      </m:sSubPr>
                      <m:e>
                        <m:acc>
                          <m:accPr>
                            <m:chr m:val="̂"/>
                            <m:ctrlPr>
                              <a:rPr lang="en-US" altLang="en-US" sz="1900" i="1">
                                <a:latin typeface="Cambria Math" panose="02040503050406030204" pitchFamily="18" charset="0"/>
                                <a:cs typeface="Arial" pitchFamily="34" charset="0"/>
                              </a:rPr>
                            </m:ctrlPr>
                          </m:accPr>
                          <m:e>
                            <m:r>
                              <a:rPr lang="en-US" altLang="en-US" sz="1900" i="1">
                                <a:latin typeface="Cambria Math" panose="02040503050406030204" pitchFamily="18" charset="0"/>
                                <a:cs typeface="Arial" pitchFamily="34" charset="0"/>
                              </a:rPr>
                              <m:t>𝑅𝑅</m:t>
                            </m:r>
                          </m:e>
                        </m:acc>
                      </m:e>
                      <m:sub>
                        <m:r>
                          <a:rPr lang="en-US" altLang="en-US" sz="1900" i="1">
                            <a:latin typeface="Cambria Math" panose="02040503050406030204" pitchFamily="18" charset="0"/>
                            <a:cs typeface="Arial" pitchFamily="34" charset="0"/>
                          </a:rPr>
                          <m:t>𝑘</m:t>
                        </m:r>
                      </m:sub>
                    </m:sSub>
                    <m:r>
                      <a:rPr lang="en-US" altLang="en-US" sz="1900" b="0" i="1" smtClean="0">
                        <a:latin typeface="Cambria Math" panose="02040503050406030204" pitchFamily="18" charset="0"/>
                        <a:cs typeface="Arial" pitchFamily="34" charset="0"/>
                      </a:rPr>
                      <m:t>= </m:t>
                    </m:r>
                    <m:f>
                      <m:fPr>
                        <m:ctrlPr>
                          <a:rPr lang="en-US" altLang="en-US" sz="1900" b="0" i="1" smtClean="0">
                            <a:latin typeface="Cambria Math" panose="02040503050406030204" pitchFamily="18" charset="0"/>
                            <a:cs typeface="Arial" pitchFamily="34" charset="0"/>
                          </a:rPr>
                        </m:ctrlPr>
                      </m:fPr>
                      <m:num>
                        <m:nary>
                          <m:naryPr>
                            <m:chr m:val="∑"/>
                            <m:ctrlPr>
                              <a:rPr lang="en-US" altLang="en-US" sz="1900" i="1">
                                <a:latin typeface="Cambria Math" panose="02040503050406030204" pitchFamily="18" charset="0"/>
                                <a:cs typeface="Arial" pitchFamily="34" charset="0"/>
                              </a:rPr>
                            </m:ctrlPr>
                          </m:naryPr>
                          <m:sub>
                            <m:r>
                              <m:rPr>
                                <m:brk m:alnAt="23"/>
                              </m:rPr>
                              <a:rPr lang="en-US" altLang="en-US" sz="1900" i="1">
                                <a:latin typeface="Cambria Math" panose="02040503050406030204" pitchFamily="18" charset="0"/>
                                <a:cs typeface="Arial" pitchFamily="34" charset="0"/>
                              </a:rPr>
                              <m:t>𝑘</m:t>
                            </m:r>
                            <m:r>
                              <a:rPr lang="en-US" altLang="en-US" sz="1900" i="1">
                                <a:latin typeface="Cambria Math" panose="02040503050406030204" pitchFamily="18" charset="0"/>
                                <a:cs typeface="Arial" pitchFamily="34" charset="0"/>
                              </a:rPr>
                              <m:t>=1</m:t>
                            </m:r>
                          </m:sub>
                          <m:sup>
                            <m:r>
                              <a:rPr lang="en-US" altLang="en-US" sz="1900" i="1">
                                <a:latin typeface="Cambria Math" panose="02040503050406030204" pitchFamily="18" charset="0"/>
                                <a:cs typeface="Arial" pitchFamily="34" charset="0"/>
                              </a:rPr>
                              <m:t>𝐾</m:t>
                            </m:r>
                          </m:sup>
                          <m:e>
                            <m:sSub>
                              <m:sSubPr>
                                <m:ctrlPr>
                                  <a:rPr lang="en-US" altLang="en-US" sz="1900" i="1">
                                    <a:latin typeface="Cambria Math" panose="02040503050406030204" pitchFamily="18" charset="0"/>
                                    <a:cs typeface="Arial" pitchFamily="34" charset="0"/>
                                  </a:rPr>
                                </m:ctrlPr>
                              </m:sSubPr>
                              <m:e>
                                <m:r>
                                  <a:rPr lang="en-US" altLang="en-US" sz="1900" i="1">
                                    <a:latin typeface="Cambria Math" panose="02040503050406030204" pitchFamily="18" charset="0"/>
                                    <a:cs typeface="Arial" pitchFamily="34" charset="0"/>
                                  </a:rPr>
                                  <m:t>𝑤</m:t>
                                </m:r>
                              </m:e>
                              <m:sub>
                                <m:r>
                                  <a:rPr lang="en-US" altLang="en-US" sz="1900" b="0" i="1" smtClean="0">
                                    <a:latin typeface="Cambria Math" panose="02040503050406030204" pitchFamily="18" charset="0"/>
                                    <a:cs typeface="Arial" pitchFamily="34" charset="0"/>
                                  </a:rPr>
                                  <m:t>2</m:t>
                                </m:r>
                                <m:r>
                                  <a:rPr lang="en-US" altLang="en-US" sz="1900" i="1">
                                    <a:latin typeface="Cambria Math" panose="02040503050406030204" pitchFamily="18" charset="0"/>
                                    <a:cs typeface="Arial" pitchFamily="34" charset="0"/>
                                  </a:rPr>
                                  <m:t>𝑘</m:t>
                                </m:r>
                              </m:sub>
                            </m:sSub>
                            <m:r>
                              <a:rPr lang="en-US" altLang="en-US" sz="1900" i="1">
                                <a:latin typeface="Cambria Math" panose="02040503050406030204" pitchFamily="18" charset="0"/>
                                <a:cs typeface="Arial" pitchFamily="34" charset="0"/>
                              </a:rPr>
                              <m:t> </m:t>
                            </m:r>
                            <m:sSub>
                              <m:sSubPr>
                                <m:ctrlPr>
                                  <a:rPr lang="en-US" altLang="en-US" sz="1900" i="1">
                                    <a:latin typeface="Cambria Math" panose="02040503050406030204" pitchFamily="18" charset="0"/>
                                    <a:cs typeface="Arial" pitchFamily="34" charset="0"/>
                                  </a:rPr>
                                </m:ctrlPr>
                              </m:sSubPr>
                              <m:e>
                                <m:acc>
                                  <m:accPr>
                                    <m:chr m:val="̂"/>
                                    <m:ctrlPr>
                                      <a:rPr lang="en-US" altLang="en-US" sz="1900" i="1">
                                        <a:latin typeface="Cambria Math" panose="02040503050406030204" pitchFamily="18" charset="0"/>
                                        <a:cs typeface="Arial" pitchFamily="34" charset="0"/>
                                      </a:rPr>
                                    </m:ctrlPr>
                                  </m:accPr>
                                  <m:e>
                                    <m:r>
                                      <a:rPr lang="en-US" altLang="en-US" sz="1900" b="0" i="1" smtClean="0">
                                        <a:latin typeface="Cambria Math" panose="02040503050406030204" pitchFamily="18" charset="0"/>
                                        <a:cs typeface="Arial" pitchFamily="34" charset="0"/>
                                      </a:rPr>
                                      <m:t>𝑝</m:t>
                                    </m:r>
                                  </m:e>
                                </m:acc>
                              </m:e>
                              <m:sub>
                                <m:r>
                                  <a:rPr lang="en-US" altLang="en-US" sz="1900" b="0" i="1" smtClean="0">
                                    <a:latin typeface="Cambria Math" panose="02040503050406030204" pitchFamily="18" charset="0"/>
                                    <a:cs typeface="Arial" pitchFamily="34" charset="0"/>
                                  </a:rPr>
                                  <m:t>2</m:t>
                                </m:r>
                                <m:r>
                                  <a:rPr lang="en-US" altLang="en-US" sz="1900" i="1">
                                    <a:latin typeface="Cambria Math" panose="02040503050406030204" pitchFamily="18" charset="0"/>
                                    <a:cs typeface="Arial" pitchFamily="34" charset="0"/>
                                  </a:rPr>
                                  <m:t>𝑘</m:t>
                                </m:r>
                              </m:sub>
                            </m:sSub>
                            <m:r>
                              <a:rPr lang="en-US" altLang="en-US" sz="1900" i="1">
                                <a:latin typeface="Cambria Math" panose="02040503050406030204" pitchFamily="18" charset="0"/>
                                <a:cs typeface="Arial" pitchFamily="34" charset="0"/>
                              </a:rPr>
                              <m:t> </m:t>
                            </m:r>
                          </m:e>
                        </m:nary>
                      </m:num>
                      <m:den>
                        <m:nary>
                          <m:naryPr>
                            <m:chr m:val="∑"/>
                            <m:ctrlPr>
                              <a:rPr lang="en-US" altLang="en-US" sz="1900" i="1">
                                <a:latin typeface="Cambria Math" panose="02040503050406030204" pitchFamily="18" charset="0"/>
                                <a:cs typeface="Arial" pitchFamily="34" charset="0"/>
                              </a:rPr>
                            </m:ctrlPr>
                          </m:naryPr>
                          <m:sub>
                            <m:r>
                              <m:rPr>
                                <m:brk m:alnAt="23"/>
                              </m:rPr>
                              <a:rPr lang="en-US" altLang="en-US" sz="1900" i="1">
                                <a:latin typeface="Cambria Math" panose="02040503050406030204" pitchFamily="18" charset="0"/>
                                <a:cs typeface="Arial" pitchFamily="34" charset="0"/>
                              </a:rPr>
                              <m:t>𝑘</m:t>
                            </m:r>
                            <m:r>
                              <a:rPr lang="en-US" altLang="en-US" sz="1900" i="1">
                                <a:latin typeface="Cambria Math" panose="02040503050406030204" pitchFamily="18" charset="0"/>
                                <a:cs typeface="Arial" pitchFamily="34" charset="0"/>
                              </a:rPr>
                              <m:t>=1</m:t>
                            </m:r>
                          </m:sub>
                          <m:sup>
                            <m:r>
                              <a:rPr lang="en-US" altLang="en-US" sz="1900" i="1">
                                <a:latin typeface="Cambria Math" panose="02040503050406030204" pitchFamily="18" charset="0"/>
                                <a:cs typeface="Arial" pitchFamily="34" charset="0"/>
                              </a:rPr>
                              <m:t>𝐾</m:t>
                            </m:r>
                          </m:sup>
                          <m:e>
                            <m:sSub>
                              <m:sSubPr>
                                <m:ctrlPr>
                                  <a:rPr lang="en-US" altLang="en-US" sz="1900" i="1">
                                    <a:latin typeface="Cambria Math" panose="02040503050406030204" pitchFamily="18" charset="0"/>
                                    <a:cs typeface="Arial" pitchFamily="34" charset="0"/>
                                  </a:rPr>
                                </m:ctrlPr>
                              </m:sSubPr>
                              <m:e>
                                <m:r>
                                  <a:rPr lang="en-US" altLang="en-US" sz="1900" i="1">
                                    <a:latin typeface="Cambria Math" panose="02040503050406030204" pitchFamily="18" charset="0"/>
                                    <a:cs typeface="Arial" pitchFamily="34" charset="0"/>
                                  </a:rPr>
                                  <m:t>𝑤</m:t>
                                </m:r>
                              </m:e>
                              <m:sub>
                                <m:r>
                                  <a:rPr lang="en-US" altLang="en-US" sz="1900" b="0" i="1" smtClean="0">
                                    <a:latin typeface="Cambria Math" panose="02040503050406030204" pitchFamily="18" charset="0"/>
                                    <a:cs typeface="Arial" pitchFamily="34" charset="0"/>
                                  </a:rPr>
                                  <m:t>1</m:t>
                                </m:r>
                                <m:r>
                                  <a:rPr lang="en-US" altLang="en-US" sz="1900" i="1">
                                    <a:latin typeface="Cambria Math" panose="02040503050406030204" pitchFamily="18" charset="0"/>
                                    <a:cs typeface="Arial" pitchFamily="34" charset="0"/>
                                  </a:rPr>
                                  <m:t>𝑘</m:t>
                                </m:r>
                              </m:sub>
                            </m:sSub>
                            <m:r>
                              <a:rPr lang="en-US" altLang="en-US" sz="1900" i="1">
                                <a:latin typeface="Cambria Math" panose="02040503050406030204" pitchFamily="18" charset="0"/>
                                <a:cs typeface="Arial" pitchFamily="34" charset="0"/>
                              </a:rPr>
                              <m:t> </m:t>
                            </m:r>
                            <m:sSub>
                              <m:sSubPr>
                                <m:ctrlPr>
                                  <a:rPr lang="en-US" altLang="en-US" sz="1900" i="1">
                                    <a:latin typeface="Cambria Math" panose="02040503050406030204" pitchFamily="18" charset="0"/>
                                    <a:cs typeface="Arial" pitchFamily="34" charset="0"/>
                                  </a:rPr>
                                </m:ctrlPr>
                              </m:sSubPr>
                              <m:e>
                                <m:acc>
                                  <m:accPr>
                                    <m:chr m:val="̂"/>
                                    <m:ctrlPr>
                                      <a:rPr lang="en-US" altLang="en-US" sz="1900" i="1">
                                        <a:latin typeface="Cambria Math" panose="02040503050406030204" pitchFamily="18" charset="0"/>
                                        <a:cs typeface="Arial" pitchFamily="34" charset="0"/>
                                      </a:rPr>
                                    </m:ctrlPr>
                                  </m:accPr>
                                  <m:e>
                                    <m:r>
                                      <a:rPr lang="en-US" altLang="en-US" sz="1900" i="1">
                                        <a:latin typeface="Cambria Math" panose="02040503050406030204" pitchFamily="18" charset="0"/>
                                        <a:cs typeface="Arial" pitchFamily="34" charset="0"/>
                                      </a:rPr>
                                      <m:t>𝑝</m:t>
                                    </m:r>
                                  </m:e>
                                </m:acc>
                              </m:e>
                              <m:sub>
                                <m:r>
                                  <a:rPr lang="en-US" altLang="en-US" sz="1900" i="1">
                                    <a:latin typeface="Cambria Math" panose="02040503050406030204" pitchFamily="18" charset="0"/>
                                    <a:cs typeface="Arial" pitchFamily="34" charset="0"/>
                                  </a:rPr>
                                  <m:t>2</m:t>
                                </m:r>
                                <m:r>
                                  <a:rPr lang="en-US" altLang="en-US" sz="1900" i="1">
                                    <a:latin typeface="Cambria Math" panose="02040503050406030204" pitchFamily="18" charset="0"/>
                                    <a:cs typeface="Arial" pitchFamily="34" charset="0"/>
                                  </a:rPr>
                                  <m:t>𝑘</m:t>
                                </m:r>
                              </m:sub>
                            </m:sSub>
                            <m:r>
                              <a:rPr lang="en-US" altLang="en-US" sz="1900" i="1">
                                <a:latin typeface="Cambria Math" panose="02040503050406030204" pitchFamily="18" charset="0"/>
                                <a:cs typeface="Arial" pitchFamily="34" charset="0"/>
                              </a:rPr>
                              <m:t> </m:t>
                            </m:r>
                          </m:e>
                        </m:nary>
                      </m:den>
                    </m:f>
                  </m:oMath>
                </a14:m>
                <a:r>
                  <a:rPr lang="en-US" altLang="en-US" sz="1900" dirty="0">
                    <a:cs typeface="Arial" pitchFamily="34" charset="0"/>
                  </a:rPr>
                  <a:t>. Under what conditions will this quantity converge to </a:t>
                </a:r>
                <a14:m>
                  <m:oMath xmlns:m="http://schemas.openxmlformats.org/officeDocument/2006/math">
                    <m:r>
                      <a:rPr lang="en-US" altLang="en-US" sz="1900" i="1">
                        <a:latin typeface="Cambria Math" panose="02040503050406030204" pitchFamily="18" charset="0"/>
                        <a:cs typeface="Arial" pitchFamily="34" charset="0"/>
                      </a:rPr>
                      <m:t>𝑅𝑅</m:t>
                    </m:r>
                  </m:oMath>
                </a14:m>
                <a:r>
                  <a:rPr lang="en-US" altLang="en-US" sz="1900" dirty="0">
                    <a:cs typeface="Arial" pitchFamily="34" charset="0"/>
                  </a:rPr>
                  <a:t>?</a:t>
                </a:r>
              </a:p>
              <a:p>
                <a:pPr marL="1371600" lvl="2" indent="-457200">
                  <a:spcAft>
                    <a:spcPts val="1800"/>
                  </a:spcAft>
                  <a:buBlip>
                    <a:blip r:embed="rId4"/>
                  </a:buBlip>
                  <a:tabLst>
                    <a:tab pos="576263" algn="l"/>
                    <a:tab pos="1152525" algn="l"/>
                  </a:tabLst>
                </a:pPr>
                <a:endParaRPr lang="en-US" altLang="en-US" sz="1900" dirty="0">
                  <a:cs typeface="Arial" pitchFamily="34" charset="0"/>
                </a:endParaRPr>
              </a:p>
              <a:p>
                <a:pPr marL="914400" lvl="1" indent="-457200">
                  <a:spcAft>
                    <a:spcPts val="1800"/>
                  </a:spcAft>
                  <a:buBlip>
                    <a:blip r:embed="rId4"/>
                  </a:buBlip>
                  <a:tabLst>
                    <a:tab pos="576263" algn="l"/>
                    <a:tab pos="1152525" algn="l"/>
                  </a:tabLst>
                </a:pPr>
                <a:endParaRPr lang="en-US" altLang="en-US" sz="2800" dirty="0">
                  <a:cs typeface="Arial" pitchFamily="34" charset="0"/>
                </a:endParaRPr>
              </a:p>
            </p:txBody>
          </p:sp>
        </mc:Choice>
        <mc:Fallback xmlns="">
          <p:sp>
            <p:nvSpPr>
              <p:cNvPr id="2" name="TextBox 1">
                <a:extLst>
                  <a:ext uri="{FF2B5EF4-FFF2-40B4-BE49-F238E27FC236}">
                    <a16:creationId xmlns:a16="http://schemas.microsoft.com/office/drawing/2014/main" id="{56A5F4B0-E10D-5604-3830-6E9EBB320B6E}"/>
                  </a:ext>
                </a:extLst>
              </p:cNvPr>
              <p:cNvSpPr txBox="1">
                <a:spLocks noRot="1" noChangeAspect="1" noMove="1" noResize="1" noEditPoints="1" noAdjustHandles="1" noChangeArrowheads="1" noChangeShapeType="1" noTextEdit="1"/>
              </p:cNvSpPr>
              <p:nvPr/>
            </p:nvSpPr>
            <p:spPr>
              <a:xfrm>
                <a:off x="45720" y="769222"/>
                <a:ext cx="12100560" cy="5225598"/>
              </a:xfrm>
              <a:prstGeom prst="rect">
                <a:avLst/>
              </a:prstGeom>
              <a:blipFill>
                <a:blip r:embed="rId5"/>
                <a:stretch>
                  <a:fillRect t="-583" r="-705"/>
                </a:stretch>
              </a:blipFill>
            </p:spPr>
            <p:txBody>
              <a:bodyPr/>
              <a:lstStyle/>
              <a:p>
                <a:r>
                  <a:rPr lang="en-US">
                    <a:noFill/>
                  </a:rPr>
                  <a:t> </a:t>
                </a:r>
              </a:p>
            </p:txBody>
          </p:sp>
        </mc:Fallback>
      </mc:AlternateContent>
    </p:spTree>
    <p:extLst>
      <p:ext uri="{BB962C8B-B14F-4D97-AF65-F5344CB8AC3E}">
        <p14:creationId xmlns:p14="http://schemas.microsoft.com/office/powerpoint/2010/main" val="370403862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Cluster Level Analyses and the Ecological Fallacy (cont.)</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2" name="TextBox 1">
            <a:extLst>
              <a:ext uri="{FF2B5EF4-FFF2-40B4-BE49-F238E27FC236}">
                <a16:creationId xmlns:a16="http://schemas.microsoft.com/office/drawing/2014/main" id="{4E70B68F-29A0-406C-A761-B81F03883AEA}"/>
              </a:ext>
            </a:extLst>
          </p:cNvPr>
          <p:cNvSpPr txBox="1"/>
          <p:nvPr/>
        </p:nvSpPr>
        <p:spPr>
          <a:xfrm>
            <a:off x="289367" y="1597306"/>
            <a:ext cx="11343190" cy="3600986"/>
          </a:xfrm>
          <a:prstGeom prst="rect">
            <a:avLst/>
          </a:prstGeom>
          <a:noFill/>
        </p:spPr>
        <p:txBody>
          <a:bodyPr wrap="square" rtlCol="0">
            <a:spAutoFit/>
          </a:bodyPr>
          <a:lstStyle/>
          <a:p>
            <a:pPr marL="285750" indent="-285750">
              <a:buFont typeface="Arial" panose="020B0604020202020204" pitchFamily="34" charset="0"/>
              <a:buChar char="•"/>
            </a:pPr>
            <a:endParaRPr lang="en-US" altLang="en-US" sz="2800" dirty="0">
              <a:cs typeface="Arial" pitchFamily="34" charset="0"/>
            </a:endParaRPr>
          </a:p>
          <a:p>
            <a:pPr marL="285750" indent="-285750">
              <a:buFont typeface="Arial" panose="020B0604020202020204" pitchFamily="34" charset="0"/>
              <a:buChar char="•"/>
            </a:pPr>
            <a:r>
              <a:rPr lang="en-US" altLang="en-US" sz="2800" dirty="0">
                <a:cs typeface="Arial" pitchFamily="34" charset="0"/>
              </a:rPr>
              <a:t>For in-depth discussion of these issues, particularly as they apply to observational studies, see </a:t>
            </a:r>
            <a:r>
              <a:rPr lang="en-US" altLang="en-US" sz="2000" dirty="0">
                <a:cs typeface="Arial" pitchFamily="34" charset="0"/>
              </a:rPr>
              <a:t>Greenland and Robins, Invited Commentary: Ecologic Studies—Biases, Misconceptions, and Counterexamples, American Journal of Epidemiology, Volume 139, Issue 8, 15 April 1994, Pages 747–760, https://doi.org/10.1093/oxfordjournals.aje.a117069, and citations within</a:t>
            </a:r>
          </a:p>
          <a:p>
            <a:pPr marL="285750" indent="-285750">
              <a:buFont typeface="Arial" panose="020B0604020202020204" pitchFamily="34" charset="0"/>
              <a:buChar char="•"/>
            </a:pPr>
            <a:endParaRPr lang="en-US" altLang="en-US" sz="2000" dirty="0">
              <a:cs typeface="Arial" pitchFamily="34" charset="0"/>
            </a:endParaRPr>
          </a:p>
          <a:p>
            <a:pPr marL="285750" indent="-285750">
              <a:buFont typeface="Arial" panose="020B0604020202020204" pitchFamily="34" charset="0"/>
              <a:buChar char="•"/>
            </a:pPr>
            <a:r>
              <a:rPr lang="en-US" altLang="en-US" sz="2800" dirty="0">
                <a:cs typeface="Arial" pitchFamily="34" charset="0"/>
              </a:rPr>
              <a:t>Further research is needed to untangle how the ecological fallacy does or does not play out in CRTs and in observational studies with cluster-level covariate confounding.</a:t>
            </a:r>
          </a:p>
        </p:txBody>
      </p:sp>
      <p:sp>
        <p:nvSpPr>
          <p:cNvPr id="5" name="Slide Number Placeholder 4">
            <a:extLst>
              <a:ext uri="{FF2B5EF4-FFF2-40B4-BE49-F238E27FC236}">
                <a16:creationId xmlns:a16="http://schemas.microsoft.com/office/drawing/2014/main" id="{5B9ED069-87B7-DED3-D51D-2F0D64C7C227}"/>
              </a:ext>
            </a:extLst>
          </p:cNvPr>
          <p:cNvSpPr>
            <a:spLocks noGrp="1"/>
          </p:cNvSpPr>
          <p:nvPr>
            <p:ph type="sldNum" sz="quarter" idx="12"/>
          </p:nvPr>
        </p:nvSpPr>
        <p:spPr/>
        <p:txBody>
          <a:bodyPr/>
          <a:lstStyle/>
          <a:p>
            <a:fld id="{77C6A7FE-225D-49F1-B302-AA37EA92BB49}" type="slidenum">
              <a:rPr lang="en-US" smtClean="0"/>
              <a:t>111</a:t>
            </a:fld>
            <a:endParaRPr lang="en-US"/>
          </a:p>
        </p:txBody>
      </p:sp>
    </p:spTree>
    <p:extLst>
      <p:ext uri="{BB962C8B-B14F-4D97-AF65-F5344CB8AC3E}">
        <p14:creationId xmlns:p14="http://schemas.microsoft.com/office/powerpoint/2010/main" val="64032320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Reporting of Cluster Randomized Trials</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2" name="TextBox 1">
            <a:extLst>
              <a:ext uri="{FF2B5EF4-FFF2-40B4-BE49-F238E27FC236}">
                <a16:creationId xmlns:a16="http://schemas.microsoft.com/office/drawing/2014/main" id="{4E70B68F-29A0-406C-A761-B81F03883AEA}"/>
              </a:ext>
            </a:extLst>
          </p:cNvPr>
          <p:cNvSpPr txBox="1"/>
          <p:nvPr/>
        </p:nvSpPr>
        <p:spPr>
          <a:xfrm>
            <a:off x="289367" y="1597306"/>
            <a:ext cx="11343190" cy="4462760"/>
          </a:xfrm>
          <a:prstGeom prst="rect">
            <a:avLst/>
          </a:prstGeom>
          <a:noFill/>
        </p:spPr>
        <p:txBody>
          <a:bodyPr wrap="square" rtlCol="0">
            <a:spAutoFit/>
          </a:bodyPr>
          <a:lstStyle/>
          <a:p>
            <a:pPr>
              <a:spcAft>
                <a:spcPts val="1800"/>
              </a:spcAft>
              <a:tabLst>
                <a:tab pos="465138" algn="l"/>
                <a:tab pos="908050" algn="l"/>
              </a:tabLst>
            </a:pPr>
            <a:r>
              <a:rPr lang="en-US" altLang="en-US" sz="3200" i="1" dirty="0">
                <a:latin typeface="Times New Roman" pitchFamily="18" charset="0"/>
              </a:rPr>
              <a:t>Reporting of Study Design</a:t>
            </a:r>
            <a:endParaRPr lang="en-US" altLang="en-US" sz="3200" dirty="0"/>
          </a:p>
          <a:p>
            <a:pPr marL="457200" indent="-457200">
              <a:spcAft>
                <a:spcPts val="1800"/>
              </a:spcAft>
              <a:buBlip>
                <a:blip r:embed="rId4"/>
              </a:buBlip>
              <a:tabLst>
                <a:tab pos="576263" algn="l"/>
                <a:tab pos="1152525" algn="l"/>
              </a:tabLst>
            </a:pPr>
            <a:r>
              <a:rPr lang="en-US" altLang="en-US" sz="3200" dirty="0">
                <a:cs typeface="Arial" pitchFamily="34" charset="0"/>
              </a:rPr>
              <a:t>State clearly the justification for employing cluster randomization.</a:t>
            </a:r>
          </a:p>
          <a:p>
            <a:pPr marL="457200" indent="-457200">
              <a:spcAft>
                <a:spcPts val="1800"/>
              </a:spcAft>
              <a:buBlip>
                <a:blip r:embed="rId4"/>
              </a:buBlip>
              <a:tabLst>
                <a:tab pos="576263" algn="l"/>
                <a:tab pos="1152525" algn="l"/>
              </a:tabLst>
            </a:pPr>
            <a:r>
              <a:rPr lang="en-US" altLang="en-US" sz="3200" dirty="0">
                <a:cs typeface="Arial" pitchFamily="34" charset="0"/>
              </a:rPr>
              <a:t>Provide clear rationale for the selection of any matching or stratification factors.</a:t>
            </a:r>
          </a:p>
          <a:p>
            <a:pPr indent="-457200">
              <a:spcAft>
                <a:spcPts val="1800"/>
              </a:spcAft>
              <a:buBlip>
                <a:blip r:embed="rId4"/>
              </a:buBlip>
              <a:tabLst>
                <a:tab pos="465138" algn="l"/>
                <a:tab pos="908050" algn="l"/>
              </a:tabLst>
            </a:pPr>
            <a:r>
              <a:rPr lang="en-US" altLang="en-US" sz="3200" dirty="0">
                <a:cs typeface="Arial" pitchFamily="34" charset="0"/>
              </a:rPr>
              <a:t>	Clarify the choice of inferential unit.</a:t>
            </a:r>
          </a:p>
          <a:p>
            <a:pPr indent="-457200">
              <a:spcAft>
                <a:spcPts val="1800"/>
              </a:spcAft>
              <a:buBlip>
                <a:blip r:embed="rId4"/>
              </a:buBlip>
              <a:tabLst>
                <a:tab pos="465138" algn="l"/>
                <a:tab pos="908050" algn="l"/>
              </a:tabLst>
            </a:pPr>
            <a:r>
              <a:rPr lang="en-US" altLang="en-US" sz="3200" dirty="0">
                <a:cs typeface="Arial" pitchFamily="34" charset="0"/>
              </a:rPr>
              <a:t>	Describe in detail the content of the interventions</a:t>
            </a:r>
          </a:p>
        </p:txBody>
      </p:sp>
      <p:sp>
        <p:nvSpPr>
          <p:cNvPr id="3" name="Footer Placeholder 2">
            <a:extLst>
              <a:ext uri="{FF2B5EF4-FFF2-40B4-BE49-F238E27FC236}">
                <a16:creationId xmlns:a16="http://schemas.microsoft.com/office/drawing/2014/main" id="{75266A71-A6C3-C607-5F18-74888DB29FF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9CCC16-40BC-C051-B252-CF99C8F6B563}"/>
              </a:ext>
            </a:extLst>
          </p:cNvPr>
          <p:cNvSpPr>
            <a:spLocks noGrp="1"/>
          </p:cNvSpPr>
          <p:nvPr>
            <p:ph type="sldNum" sz="quarter" idx="12"/>
          </p:nvPr>
        </p:nvSpPr>
        <p:spPr/>
        <p:txBody>
          <a:bodyPr/>
          <a:lstStyle/>
          <a:p>
            <a:fld id="{77C6A7FE-225D-49F1-B302-AA37EA92BB49}" type="slidenum">
              <a:rPr lang="en-US" smtClean="0"/>
              <a:t>112</a:t>
            </a:fld>
            <a:endParaRPr lang="en-US"/>
          </a:p>
        </p:txBody>
      </p:sp>
    </p:spTree>
    <p:extLst>
      <p:ext uri="{BB962C8B-B14F-4D97-AF65-F5344CB8AC3E}">
        <p14:creationId xmlns:p14="http://schemas.microsoft.com/office/powerpoint/2010/main" val="18490110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30"/>
            <a:ext cx="12192000" cy="1491151"/>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Reporting of Cluster Randomized Trials (cont.)</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2" name="TextBox 1">
            <a:extLst>
              <a:ext uri="{FF2B5EF4-FFF2-40B4-BE49-F238E27FC236}">
                <a16:creationId xmlns:a16="http://schemas.microsoft.com/office/drawing/2014/main" id="{4E70B68F-29A0-406C-A761-B81F03883AEA}"/>
              </a:ext>
            </a:extLst>
          </p:cNvPr>
          <p:cNvSpPr txBox="1"/>
          <p:nvPr/>
        </p:nvSpPr>
        <p:spPr>
          <a:xfrm>
            <a:off x="289367" y="1597306"/>
            <a:ext cx="11343190" cy="4955203"/>
          </a:xfrm>
          <a:prstGeom prst="rect">
            <a:avLst/>
          </a:prstGeom>
          <a:noFill/>
        </p:spPr>
        <p:txBody>
          <a:bodyPr wrap="square" rtlCol="0">
            <a:spAutoFit/>
          </a:bodyPr>
          <a:lstStyle/>
          <a:p>
            <a:pPr marL="457200" indent="-457200">
              <a:spcAft>
                <a:spcPts val="1800"/>
              </a:spcAft>
              <a:buBlip>
                <a:blip r:embed="rId4"/>
              </a:buBlip>
              <a:tabLst>
                <a:tab pos="576263" algn="l"/>
                <a:tab pos="1152525" algn="l"/>
              </a:tabLst>
            </a:pPr>
            <a:r>
              <a:rPr lang="en-US" altLang="en-US" sz="3200" dirty="0">
                <a:cs typeface="Arial" pitchFamily="34" charset="0"/>
              </a:rPr>
              <a:t>Describe the clusters that meet the eligibility criteria for the trial, but declined to participate.</a:t>
            </a:r>
          </a:p>
          <a:p>
            <a:pPr marL="457200" indent="-457200">
              <a:spcAft>
                <a:spcPts val="1800"/>
              </a:spcAft>
              <a:buBlip>
                <a:blip r:embed="rId4"/>
              </a:buBlip>
              <a:tabLst>
                <a:tab pos="576263" algn="l"/>
                <a:tab pos="1152525" algn="l"/>
              </a:tabLst>
            </a:pPr>
            <a:r>
              <a:rPr lang="en-US" altLang="en-US" sz="3200" dirty="0">
                <a:cs typeface="Arial" pitchFamily="34" charset="0"/>
              </a:rPr>
              <a:t>State the methods used to obtain informed consent, if needed.</a:t>
            </a:r>
          </a:p>
          <a:p>
            <a:pPr marL="457200" indent="-457200">
              <a:spcAft>
                <a:spcPts val="1800"/>
              </a:spcAft>
              <a:buBlip>
                <a:blip r:embed="rId4"/>
              </a:buBlip>
              <a:tabLst>
                <a:tab pos="576263" algn="l"/>
                <a:tab pos="1152525" algn="l"/>
              </a:tabLst>
            </a:pPr>
            <a:r>
              <a:rPr lang="en-US" altLang="en-US" sz="3200" dirty="0">
                <a:cs typeface="Arial" pitchFamily="34" charset="0"/>
              </a:rPr>
              <a:t>Describe clearly how the trial sample size was determined.</a:t>
            </a:r>
          </a:p>
          <a:p>
            <a:pPr marL="457200" indent="-457200">
              <a:spcAft>
                <a:spcPts val="1800"/>
              </a:spcAft>
              <a:buBlip>
                <a:blip r:embed="rId4"/>
              </a:buBlip>
              <a:tabLst>
                <a:tab pos="576263" algn="l"/>
                <a:tab pos="1152525" algn="l"/>
              </a:tabLst>
            </a:pPr>
            <a:r>
              <a:rPr lang="en-US" altLang="en-US" sz="3200" dirty="0">
                <a:cs typeface="Arial" pitchFamily="34" charset="0"/>
              </a:rPr>
              <a:t>Describe the method of randomization in context of	the selected design.</a:t>
            </a:r>
          </a:p>
          <a:p>
            <a:pPr marL="457200" indent="-457200">
              <a:spcAft>
                <a:spcPts val="1800"/>
              </a:spcAft>
              <a:buBlip>
                <a:blip r:embed="rId4"/>
              </a:buBlip>
              <a:tabLst>
                <a:tab pos="576263" algn="l"/>
                <a:tab pos="1152525" algn="l"/>
              </a:tabLst>
            </a:pPr>
            <a:r>
              <a:rPr lang="en-US" altLang="en-US" sz="3200" dirty="0">
                <a:cs typeface="Arial" pitchFamily="34" charset="0"/>
              </a:rPr>
              <a:t>Where relevant, discuss the steps taken to minimize 	the risk of contamination and loss of follow-up.</a:t>
            </a:r>
            <a:endParaRPr lang="en-CA" altLang="en-US" sz="3200" dirty="0">
              <a:cs typeface="Arial" pitchFamily="34" charset="0"/>
            </a:endParaRPr>
          </a:p>
        </p:txBody>
      </p:sp>
      <p:sp>
        <p:nvSpPr>
          <p:cNvPr id="3" name="Footer Placeholder 2">
            <a:extLst>
              <a:ext uri="{FF2B5EF4-FFF2-40B4-BE49-F238E27FC236}">
                <a16:creationId xmlns:a16="http://schemas.microsoft.com/office/drawing/2014/main" id="{952C8ECC-26C4-5173-5B6B-3CA2AFF4F1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BB3D27-479A-23AC-A536-8BF2373D69E9}"/>
              </a:ext>
            </a:extLst>
          </p:cNvPr>
          <p:cNvSpPr>
            <a:spLocks noGrp="1"/>
          </p:cNvSpPr>
          <p:nvPr>
            <p:ph type="sldNum" sz="quarter" idx="12"/>
          </p:nvPr>
        </p:nvSpPr>
        <p:spPr/>
        <p:txBody>
          <a:bodyPr/>
          <a:lstStyle/>
          <a:p>
            <a:fld id="{77C6A7FE-225D-49F1-B302-AA37EA92BB49}" type="slidenum">
              <a:rPr lang="en-US" smtClean="0"/>
              <a:t>113</a:t>
            </a:fld>
            <a:endParaRPr lang="en-US"/>
          </a:p>
        </p:txBody>
      </p:sp>
    </p:spTree>
    <p:extLst>
      <p:ext uri="{BB962C8B-B14F-4D97-AF65-F5344CB8AC3E}">
        <p14:creationId xmlns:p14="http://schemas.microsoft.com/office/powerpoint/2010/main" val="218431678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30"/>
            <a:ext cx="12192000" cy="1491151"/>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Reporting of Cluster Randomized Trials (cont.)</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2" name="TextBox 1">
            <a:extLst>
              <a:ext uri="{FF2B5EF4-FFF2-40B4-BE49-F238E27FC236}">
                <a16:creationId xmlns:a16="http://schemas.microsoft.com/office/drawing/2014/main" id="{4E70B68F-29A0-406C-A761-B81F03883AEA}"/>
              </a:ext>
            </a:extLst>
          </p:cNvPr>
          <p:cNvSpPr txBox="1"/>
          <p:nvPr/>
        </p:nvSpPr>
        <p:spPr>
          <a:xfrm>
            <a:off x="289367" y="1597306"/>
            <a:ext cx="11343190" cy="4724370"/>
          </a:xfrm>
          <a:prstGeom prst="rect">
            <a:avLst/>
          </a:prstGeom>
          <a:noFill/>
        </p:spPr>
        <p:txBody>
          <a:bodyPr wrap="square" rtlCol="0">
            <a:spAutoFit/>
          </a:bodyPr>
          <a:lstStyle/>
          <a:p>
            <a:pPr marL="457200" indent="-457200">
              <a:spcAft>
                <a:spcPts val="1800"/>
              </a:spcAft>
              <a:buBlip>
                <a:blip r:embed="rId4"/>
              </a:buBlip>
              <a:tabLst>
                <a:tab pos="576263" algn="l"/>
                <a:tab pos="1152525" algn="l"/>
              </a:tabLst>
            </a:pPr>
            <a:r>
              <a:rPr lang="en-US" altLang="en-US" sz="3200" dirty="0">
                <a:cs typeface="Arial" pitchFamily="34" charset="0"/>
              </a:rPr>
              <a:t>Include a table showing baseline characteristics by intervention group, separately for individual-level and cluster-level characteristics.</a:t>
            </a:r>
          </a:p>
          <a:p>
            <a:pPr marL="457200" indent="-457200">
              <a:spcAft>
                <a:spcPts val="1800"/>
              </a:spcAft>
              <a:buBlip>
                <a:blip r:embed="rId4"/>
              </a:buBlip>
              <a:tabLst>
                <a:tab pos="576263" algn="l"/>
                <a:tab pos="1152525" algn="l"/>
              </a:tabLst>
            </a:pPr>
            <a:r>
              <a:rPr lang="en-US" altLang="en-US" sz="3200" b="1" dirty="0">
                <a:cs typeface="Arial" pitchFamily="34" charset="0"/>
              </a:rPr>
              <a:t>Avoid the use of significance tests in comparing baseline characteristics</a:t>
            </a:r>
            <a:r>
              <a:rPr lang="en-US" altLang="en-US" sz="3200" dirty="0">
                <a:cs typeface="Arial" pitchFamily="34" charset="0"/>
              </a:rPr>
              <a:t>.</a:t>
            </a:r>
          </a:p>
          <a:p>
            <a:pPr marL="457200" indent="-457200">
              <a:spcAft>
                <a:spcPts val="1800"/>
              </a:spcAft>
              <a:buBlip>
                <a:blip r:embed="rId4"/>
              </a:buBlip>
              <a:tabLst>
                <a:tab pos="576263" algn="l"/>
                <a:tab pos="1152525" algn="l"/>
              </a:tabLst>
            </a:pPr>
            <a:r>
              <a:rPr lang="en-US" altLang="en-US" sz="3200" dirty="0">
                <a:cs typeface="Arial" pitchFamily="34" charset="0"/>
              </a:rPr>
              <a:t>Report the observed distribution of cluster sizes (</a:t>
            </a:r>
            <a:r>
              <a:rPr lang="en-US" altLang="en-US" sz="3200" dirty="0" err="1">
                <a:cs typeface="Arial" pitchFamily="34" charset="0"/>
              </a:rPr>
              <a:t>median,range</a:t>
            </a:r>
            <a:r>
              <a:rPr lang="en-US" altLang="en-US" sz="3200" dirty="0">
                <a:cs typeface="Arial" pitchFamily="34" charset="0"/>
              </a:rPr>
              <a:t>) </a:t>
            </a:r>
          </a:p>
          <a:p>
            <a:pPr marL="457200" indent="-457200">
              <a:spcAft>
                <a:spcPts val="1800"/>
              </a:spcAft>
              <a:buBlip>
                <a:blip r:embed="rId4"/>
              </a:buBlip>
              <a:tabLst>
                <a:tab pos="576263" algn="l"/>
                <a:tab pos="1152525" algn="l"/>
              </a:tabLst>
            </a:pPr>
            <a:r>
              <a:rPr lang="en-US" altLang="en-US" sz="3200" dirty="0">
                <a:cs typeface="Arial" pitchFamily="34" charset="0"/>
              </a:rPr>
              <a:t>Report on loss to follow-up at both the individual level and the cluster level</a:t>
            </a:r>
          </a:p>
        </p:txBody>
      </p:sp>
      <p:sp>
        <p:nvSpPr>
          <p:cNvPr id="3" name="Footer Placeholder 2">
            <a:extLst>
              <a:ext uri="{FF2B5EF4-FFF2-40B4-BE49-F238E27FC236}">
                <a16:creationId xmlns:a16="http://schemas.microsoft.com/office/drawing/2014/main" id="{002E284E-F7B0-7D01-D217-D5B684927AD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9D62CBD-1457-4D66-A92B-925637D80E2B}"/>
              </a:ext>
            </a:extLst>
          </p:cNvPr>
          <p:cNvSpPr>
            <a:spLocks noGrp="1"/>
          </p:cNvSpPr>
          <p:nvPr>
            <p:ph type="sldNum" sz="quarter" idx="12"/>
          </p:nvPr>
        </p:nvSpPr>
        <p:spPr/>
        <p:txBody>
          <a:bodyPr/>
          <a:lstStyle/>
          <a:p>
            <a:fld id="{77C6A7FE-225D-49F1-B302-AA37EA92BB49}" type="slidenum">
              <a:rPr lang="en-US" smtClean="0"/>
              <a:t>114</a:t>
            </a:fld>
            <a:endParaRPr lang="en-US"/>
          </a:p>
        </p:txBody>
      </p:sp>
    </p:spTree>
    <p:extLst>
      <p:ext uri="{BB962C8B-B14F-4D97-AF65-F5344CB8AC3E}">
        <p14:creationId xmlns:p14="http://schemas.microsoft.com/office/powerpoint/2010/main" val="253953201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30"/>
            <a:ext cx="12192000" cy="1491151"/>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Reporting of Cluster Randomized Trials (cont.)</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2" name="TextBox 1">
            <a:extLst>
              <a:ext uri="{FF2B5EF4-FFF2-40B4-BE49-F238E27FC236}">
                <a16:creationId xmlns:a16="http://schemas.microsoft.com/office/drawing/2014/main" id="{4E70B68F-29A0-406C-A761-B81F03883AEA}"/>
              </a:ext>
            </a:extLst>
          </p:cNvPr>
          <p:cNvSpPr txBox="1"/>
          <p:nvPr/>
        </p:nvSpPr>
        <p:spPr>
          <a:xfrm>
            <a:off x="329708" y="2014165"/>
            <a:ext cx="11343190" cy="2292935"/>
          </a:xfrm>
          <a:prstGeom prst="rect">
            <a:avLst/>
          </a:prstGeom>
          <a:noFill/>
        </p:spPr>
        <p:txBody>
          <a:bodyPr wrap="square" rtlCol="0">
            <a:spAutoFit/>
          </a:bodyPr>
          <a:lstStyle/>
          <a:p>
            <a:pPr marL="457200" indent="-457200">
              <a:spcAft>
                <a:spcPts val="1800"/>
              </a:spcAft>
              <a:buBlip>
                <a:blip r:embed="rId4"/>
              </a:buBlip>
              <a:tabLst>
                <a:tab pos="576263" algn="l"/>
                <a:tab pos="1152525" algn="l"/>
              </a:tabLst>
            </a:pPr>
            <a:r>
              <a:rPr lang="en-US" altLang="en-US" sz="3200" dirty="0">
                <a:cs typeface="Arial" pitchFamily="34" charset="0"/>
              </a:rPr>
              <a:t>Provide a clear and explicit description of the method used to account for between-cluster variation and for the influence of baseline prognostic factors.</a:t>
            </a:r>
          </a:p>
          <a:p>
            <a:pPr marL="457200" indent="-457200">
              <a:spcAft>
                <a:spcPts val="1800"/>
              </a:spcAft>
              <a:buBlip>
                <a:blip r:embed="rId4"/>
              </a:buBlip>
              <a:tabLst>
                <a:tab pos="576263" algn="l"/>
                <a:tab pos="1152525" algn="l"/>
              </a:tabLst>
            </a:pPr>
            <a:r>
              <a:rPr lang="en-US" altLang="en-US" sz="3200" dirty="0">
                <a:cs typeface="Arial" pitchFamily="34" charset="0"/>
              </a:rPr>
              <a:t>Report empirical estimates of 𝜌 </a:t>
            </a:r>
          </a:p>
        </p:txBody>
      </p:sp>
      <p:sp>
        <p:nvSpPr>
          <p:cNvPr id="3" name="Footer Placeholder 2">
            <a:extLst>
              <a:ext uri="{FF2B5EF4-FFF2-40B4-BE49-F238E27FC236}">
                <a16:creationId xmlns:a16="http://schemas.microsoft.com/office/drawing/2014/main" id="{38D998C1-CC2B-8296-2EFE-A3D99BF5D57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DF93038-CB7F-0A94-5447-2D29C35C97C2}"/>
              </a:ext>
            </a:extLst>
          </p:cNvPr>
          <p:cNvSpPr>
            <a:spLocks noGrp="1"/>
          </p:cNvSpPr>
          <p:nvPr>
            <p:ph type="sldNum" sz="quarter" idx="12"/>
          </p:nvPr>
        </p:nvSpPr>
        <p:spPr/>
        <p:txBody>
          <a:bodyPr/>
          <a:lstStyle/>
          <a:p>
            <a:fld id="{77C6A7FE-225D-49F1-B302-AA37EA92BB49}" type="slidenum">
              <a:rPr lang="en-US" smtClean="0"/>
              <a:t>115</a:t>
            </a:fld>
            <a:endParaRPr lang="en-US"/>
          </a:p>
        </p:txBody>
      </p:sp>
    </p:spTree>
    <p:extLst>
      <p:ext uri="{BB962C8B-B14F-4D97-AF65-F5344CB8AC3E}">
        <p14:creationId xmlns:p14="http://schemas.microsoft.com/office/powerpoint/2010/main" val="113159158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30"/>
            <a:ext cx="12192000" cy="184683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600" dirty="0">
                <a:solidFill>
                  <a:schemeClr val="bg1"/>
                </a:solidFill>
                <a:latin typeface="Arial" panose="020B0604020202020204" pitchFamily="34" charset="0"/>
                <a:cs typeface="Arial" panose="020B0604020202020204" pitchFamily="34" charset="0"/>
              </a:rPr>
              <a:t>EXTENSION OF CONSORT STATEMENT TO CLUSTER RANDOMIZED TRIALS </a:t>
            </a:r>
          </a:p>
          <a:p>
            <a:pPr algn="ctr"/>
            <a:r>
              <a:rPr lang="en-US" altLang="en-US" sz="3600" dirty="0">
                <a:solidFill>
                  <a:schemeClr val="bg1"/>
                </a:solidFill>
                <a:latin typeface="Arial" panose="020B0604020202020204" pitchFamily="34" charset="0"/>
                <a:cs typeface="Arial" panose="020B0604020202020204" pitchFamily="34" charset="0"/>
              </a:rPr>
              <a:t>(CAMPBELL ET AL, BMJ, 2004)</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2" name="TextBox 1">
            <a:extLst>
              <a:ext uri="{FF2B5EF4-FFF2-40B4-BE49-F238E27FC236}">
                <a16:creationId xmlns:a16="http://schemas.microsoft.com/office/drawing/2014/main" id="{4E70B68F-29A0-406C-A761-B81F03883AEA}"/>
              </a:ext>
            </a:extLst>
          </p:cNvPr>
          <p:cNvSpPr txBox="1"/>
          <p:nvPr/>
        </p:nvSpPr>
        <p:spPr>
          <a:xfrm>
            <a:off x="329708" y="2014165"/>
            <a:ext cx="11343190" cy="4247317"/>
          </a:xfrm>
          <a:prstGeom prst="rect">
            <a:avLst/>
          </a:prstGeom>
          <a:noFill/>
        </p:spPr>
        <p:txBody>
          <a:bodyPr wrap="square" rtlCol="0">
            <a:spAutoFit/>
          </a:bodyPr>
          <a:lstStyle/>
          <a:p>
            <a:pPr marL="457200" indent="-457200">
              <a:buBlip>
                <a:blip r:embed="rId4"/>
              </a:buBlip>
              <a:tabLst>
                <a:tab pos="576263" algn="l"/>
                <a:tab pos="1152525" algn="l"/>
              </a:tabLst>
            </a:pPr>
            <a:r>
              <a:rPr lang="en-US" altLang="en-US" sz="3000" dirty="0">
                <a:cs typeface="Arial" pitchFamily="34" charset="0"/>
              </a:rPr>
              <a:t>Includes a checklist of items that should be included in a trial report</a:t>
            </a:r>
          </a:p>
          <a:p>
            <a:pPr marL="457200" indent="-457200">
              <a:buBlip>
                <a:blip r:embed="rId4"/>
              </a:buBlip>
              <a:tabLst>
                <a:tab pos="576263" algn="l"/>
                <a:tab pos="1152525" algn="l"/>
              </a:tabLst>
            </a:pPr>
            <a:r>
              <a:rPr lang="en-US" altLang="en-US" sz="3000" dirty="0">
                <a:cs typeface="Arial" pitchFamily="34" charset="0"/>
              </a:rPr>
              <a:t>Extends CONSORT statement for reporting of individually randomized trials (</a:t>
            </a:r>
            <a:r>
              <a:rPr lang="en-US" altLang="en-US" sz="3000" dirty="0" err="1">
                <a:cs typeface="Arial" pitchFamily="34" charset="0"/>
              </a:rPr>
              <a:t>Begg</a:t>
            </a:r>
            <a:r>
              <a:rPr lang="en-US" altLang="en-US" sz="3000" dirty="0">
                <a:cs typeface="Arial" pitchFamily="34" charset="0"/>
              </a:rPr>
              <a:t> et al, JAMA, 1996)</a:t>
            </a:r>
          </a:p>
          <a:p>
            <a:pPr marL="457200" indent="-457200">
              <a:buBlip>
                <a:blip r:embed="rId4"/>
              </a:buBlip>
              <a:tabLst>
                <a:tab pos="576263" algn="l"/>
                <a:tab pos="1152525" algn="l"/>
              </a:tabLst>
            </a:pPr>
            <a:r>
              <a:rPr lang="en-US" altLang="en-US" sz="3000" dirty="0">
                <a:cs typeface="Arial" pitchFamily="34" charset="0"/>
              </a:rPr>
              <a:t>Key Points</a:t>
            </a:r>
          </a:p>
          <a:p>
            <a:pPr marL="914400" lvl="1" indent="-457200">
              <a:buBlip>
                <a:blip r:embed="rId4"/>
              </a:buBlip>
              <a:tabLst>
                <a:tab pos="576263" algn="l"/>
                <a:tab pos="1152525" algn="l"/>
              </a:tabLst>
            </a:pPr>
            <a:r>
              <a:rPr lang="en-US" altLang="en-US" sz="3000" dirty="0">
                <a:cs typeface="Arial" pitchFamily="34" charset="0"/>
              </a:rPr>
              <a:t>Rationale for adopting cluster design</a:t>
            </a:r>
          </a:p>
          <a:p>
            <a:pPr marL="914400" lvl="1" indent="-457200">
              <a:buBlip>
                <a:blip r:embed="rId4"/>
              </a:buBlip>
              <a:tabLst>
                <a:tab pos="576263" algn="l"/>
                <a:tab pos="1152525" algn="l"/>
              </a:tabLst>
            </a:pPr>
            <a:r>
              <a:rPr lang="en-US" altLang="en-US" sz="3000" dirty="0">
                <a:cs typeface="Arial" pitchFamily="34" charset="0"/>
              </a:rPr>
              <a:t>Incorporation of clustering into sample size estimation and analysis</a:t>
            </a:r>
          </a:p>
          <a:p>
            <a:pPr marL="914400" lvl="1" indent="-457200">
              <a:buBlip>
                <a:blip r:embed="rId4"/>
              </a:buBlip>
              <a:tabLst>
                <a:tab pos="576263" algn="l"/>
                <a:tab pos="1152525" algn="l"/>
              </a:tabLst>
            </a:pPr>
            <a:r>
              <a:rPr lang="en-US" altLang="en-US" sz="3000" dirty="0">
                <a:cs typeface="Arial" pitchFamily="34" charset="0"/>
              </a:rPr>
              <a:t>Chart showing flow of clusters through the trial, from assignment to analysis</a:t>
            </a:r>
          </a:p>
        </p:txBody>
      </p:sp>
      <p:sp>
        <p:nvSpPr>
          <p:cNvPr id="3" name="Footer Placeholder 2">
            <a:extLst>
              <a:ext uri="{FF2B5EF4-FFF2-40B4-BE49-F238E27FC236}">
                <a16:creationId xmlns:a16="http://schemas.microsoft.com/office/drawing/2014/main" id="{09D0227C-8E38-D344-81EE-6D1B61EAAB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912EAD7-6BDD-D3F1-43E0-5EEAE11E4E49}"/>
              </a:ext>
            </a:extLst>
          </p:cNvPr>
          <p:cNvSpPr>
            <a:spLocks noGrp="1"/>
          </p:cNvSpPr>
          <p:nvPr>
            <p:ph type="sldNum" sz="quarter" idx="12"/>
          </p:nvPr>
        </p:nvSpPr>
        <p:spPr/>
        <p:txBody>
          <a:bodyPr/>
          <a:lstStyle/>
          <a:p>
            <a:fld id="{77C6A7FE-225D-49F1-B302-AA37EA92BB49}" type="slidenum">
              <a:rPr lang="en-US" smtClean="0"/>
              <a:t>116</a:t>
            </a:fld>
            <a:endParaRPr lang="en-US"/>
          </a:p>
        </p:txBody>
      </p:sp>
    </p:spTree>
    <p:extLst>
      <p:ext uri="{BB962C8B-B14F-4D97-AF65-F5344CB8AC3E}">
        <p14:creationId xmlns:p14="http://schemas.microsoft.com/office/powerpoint/2010/main" val="3445254654"/>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30"/>
            <a:ext cx="12192000" cy="1429971"/>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400" dirty="0">
                <a:solidFill>
                  <a:schemeClr val="bg1"/>
                </a:solidFill>
                <a:latin typeface="Arial" panose="020B0604020202020204" pitchFamily="34" charset="0"/>
                <a:cs typeface="Arial" panose="020B0604020202020204" pitchFamily="34" charset="0"/>
              </a:rPr>
              <a:t>Checklist of items to include when reporting a cluster randomized trial</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graphicFrame>
        <p:nvGraphicFramePr>
          <p:cNvPr id="5" name="Table 4">
            <a:extLst>
              <a:ext uri="{FF2B5EF4-FFF2-40B4-BE49-F238E27FC236}">
                <a16:creationId xmlns:a16="http://schemas.microsoft.com/office/drawing/2014/main" id="{9A5EF1E5-6A0E-486C-B748-24E04C8B3D9B}"/>
              </a:ext>
            </a:extLst>
          </p:cNvPr>
          <p:cNvGraphicFramePr>
            <a:graphicFrameLocks noGrp="1"/>
          </p:cNvGraphicFramePr>
          <p:nvPr>
            <p:extLst>
              <p:ext uri="{D42A27DB-BD31-4B8C-83A1-F6EECF244321}">
                <p14:modId xmlns:p14="http://schemas.microsoft.com/office/powerpoint/2010/main" val="886481010"/>
              </p:ext>
            </p:extLst>
          </p:nvPr>
        </p:nvGraphicFramePr>
        <p:xfrm>
          <a:off x="0" y="1584182"/>
          <a:ext cx="12192000" cy="4718311"/>
        </p:xfrm>
        <a:graphic>
          <a:graphicData uri="http://schemas.openxmlformats.org/drawingml/2006/table">
            <a:tbl>
              <a:tblPr firstRow="1" firstCol="1" bandRow="1">
                <a:tableStyleId>{5C22544A-7EE6-4342-B048-85BDC9FD1C3A}</a:tableStyleId>
              </a:tblPr>
              <a:tblGrid>
                <a:gridCol w="2166232">
                  <a:extLst>
                    <a:ext uri="{9D8B030D-6E8A-4147-A177-3AD203B41FA5}">
                      <a16:colId xmlns:a16="http://schemas.microsoft.com/office/drawing/2014/main" val="590805830"/>
                    </a:ext>
                  </a:extLst>
                </a:gridCol>
                <a:gridCol w="916483">
                  <a:extLst>
                    <a:ext uri="{9D8B030D-6E8A-4147-A177-3AD203B41FA5}">
                      <a16:colId xmlns:a16="http://schemas.microsoft.com/office/drawing/2014/main" val="236145591"/>
                    </a:ext>
                  </a:extLst>
                </a:gridCol>
                <a:gridCol w="9109285">
                  <a:extLst>
                    <a:ext uri="{9D8B030D-6E8A-4147-A177-3AD203B41FA5}">
                      <a16:colId xmlns:a16="http://schemas.microsoft.com/office/drawing/2014/main" val="3225342107"/>
                    </a:ext>
                  </a:extLst>
                </a:gridCol>
              </a:tblGrid>
              <a:tr h="159611">
                <a:tc>
                  <a:txBody>
                    <a:bodyPr/>
                    <a:lstStyle/>
                    <a:p>
                      <a:pPr marL="0" marR="0">
                        <a:lnSpc>
                          <a:spcPct val="107000"/>
                        </a:lnSpc>
                        <a:spcBef>
                          <a:spcPts val="0"/>
                        </a:spcBef>
                        <a:spcAft>
                          <a:spcPts val="0"/>
                        </a:spcAft>
                      </a:pPr>
                      <a:r>
                        <a:rPr lang="en-US" sz="1400" dirty="0">
                          <a:effectLst/>
                        </a:rPr>
                        <a:t>Paper section and topic</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410" marR="7410" marT="7410" marB="7410" anchor="ctr"/>
                </a:tc>
                <a:tc>
                  <a:txBody>
                    <a:bodyPr/>
                    <a:lstStyle/>
                    <a:p>
                      <a:pPr marL="0" marR="0" algn="ctr">
                        <a:lnSpc>
                          <a:spcPct val="107000"/>
                        </a:lnSpc>
                        <a:spcBef>
                          <a:spcPts val="0"/>
                        </a:spcBef>
                        <a:spcAft>
                          <a:spcPts val="0"/>
                        </a:spcAft>
                      </a:pPr>
                      <a:r>
                        <a:rPr lang="en-US" sz="1400">
                          <a:effectLst/>
                        </a:rPr>
                        <a:t>Item</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410" marR="7410" marT="7410" marB="7410" anchor="ctr"/>
                </a:tc>
                <a:tc>
                  <a:txBody>
                    <a:bodyPr/>
                    <a:lstStyle/>
                    <a:p>
                      <a:pPr marL="0" marR="0" algn="ctr">
                        <a:lnSpc>
                          <a:spcPct val="107000"/>
                        </a:lnSpc>
                        <a:spcBef>
                          <a:spcPts val="0"/>
                        </a:spcBef>
                        <a:spcAft>
                          <a:spcPts val="0"/>
                        </a:spcAft>
                      </a:pPr>
                      <a:r>
                        <a:rPr lang="en-US" sz="1400">
                          <a:effectLst/>
                        </a:rPr>
                        <a:t>Descriptor</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410" marR="7410" marT="7410" marB="7410" anchor="ctr"/>
                </a:tc>
                <a:extLst>
                  <a:ext uri="{0D108BD9-81ED-4DB2-BD59-A6C34878D82A}">
                    <a16:rowId xmlns:a16="http://schemas.microsoft.com/office/drawing/2014/main" val="2731799086"/>
                  </a:ext>
                </a:extLst>
              </a:tr>
              <a:tr h="226214">
                <a:tc>
                  <a:txBody>
                    <a:bodyPr/>
                    <a:lstStyle/>
                    <a:p>
                      <a:pPr marL="0" marR="0">
                        <a:lnSpc>
                          <a:spcPct val="107000"/>
                        </a:lnSpc>
                        <a:spcBef>
                          <a:spcPts val="0"/>
                        </a:spcBef>
                        <a:spcAft>
                          <a:spcPts val="0"/>
                        </a:spcAft>
                      </a:pPr>
                      <a:r>
                        <a:rPr lang="en-US" sz="1400">
                          <a:effectLst/>
                        </a:rPr>
                        <a:t>Title and abstract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410" marR="7410" marT="7410" marB="7410" anchor="ctr"/>
                </a:tc>
                <a:tc>
                  <a:txBody>
                    <a:bodyPr/>
                    <a:lstStyle/>
                    <a:p>
                      <a:pPr algn="ctr">
                        <a:lnSpc>
                          <a:spcPct val="107000"/>
                        </a:lnSpc>
                      </a:pPr>
                      <a:endParaRPr lang="en-US" sz="1400">
                        <a:effectLst/>
                        <a:latin typeface="Calibri" panose="020F0502020204030204" pitchFamily="34" charset="0"/>
                        <a:cs typeface="Times New Roman" panose="02020603050405020304" pitchFamily="18" charset="0"/>
                      </a:endParaRPr>
                    </a:p>
                  </a:txBody>
                  <a:tcPr marL="7410" marR="7410" marT="7410" marB="7410" anchor="ctr"/>
                </a:tc>
                <a:tc>
                  <a:txBody>
                    <a:bodyPr/>
                    <a:lstStyle/>
                    <a:p>
                      <a:pPr>
                        <a:lnSpc>
                          <a:spcPct val="107000"/>
                        </a:lnSpc>
                      </a:pPr>
                      <a:endParaRPr lang="en-US" sz="1400">
                        <a:effectLst/>
                        <a:latin typeface="Calibri" panose="020F0502020204030204" pitchFamily="34" charset="0"/>
                        <a:cs typeface="Times New Roman" panose="02020603050405020304" pitchFamily="18" charset="0"/>
                      </a:endParaRPr>
                    </a:p>
                  </a:txBody>
                  <a:tcPr marL="7410" marR="7410" marT="7410" marB="7410" anchor="ctr"/>
                </a:tc>
                <a:extLst>
                  <a:ext uri="{0D108BD9-81ED-4DB2-BD59-A6C34878D82A}">
                    <a16:rowId xmlns:a16="http://schemas.microsoft.com/office/drawing/2014/main" val="759093269"/>
                  </a:ext>
                </a:extLst>
              </a:tr>
              <a:tr h="464112">
                <a:tc>
                  <a:txBody>
                    <a:bodyPr/>
                    <a:lstStyle/>
                    <a:p>
                      <a:pPr marL="0" marR="0">
                        <a:lnSpc>
                          <a:spcPct val="107000"/>
                        </a:lnSpc>
                        <a:spcBef>
                          <a:spcPts val="0"/>
                        </a:spcBef>
                        <a:spcAft>
                          <a:spcPts val="0"/>
                        </a:spcAft>
                      </a:pPr>
                      <a:r>
                        <a:rPr lang="en-US" sz="1400">
                          <a:effectLst/>
                        </a:rPr>
                        <a:t>Design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410" marR="7410" marT="7410" marB="7410" anchor="ctr"/>
                </a:tc>
                <a:tc>
                  <a:txBody>
                    <a:bodyPr/>
                    <a:lstStyle/>
                    <a:p>
                      <a:pPr marL="0" marR="0" algn="ctr">
                        <a:lnSpc>
                          <a:spcPct val="107000"/>
                        </a:lnSpc>
                        <a:spcBef>
                          <a:spcPts val="0"/>
                        </a:spcBef>
                        <a:spcAft>
                          <a:spcPts val="0"/>
                        </a:spcAft>
                      </a:pPr>
                      <a:r>
                        <a:rPr lang="en-US" sz="1400">
                          <a:effectLst/>
                        </a:rPr>
                        <a:t>1</a:t>
                      </a:r>
                      <a:r>
                        <a:rPr lang="en-US" sz="1400" u="sng" baseline="30000">
                          <a:effectLst/>
                          <a:hlinkClick r:id="rId4"/>
                        </a:rPr>
                        <a: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410" marR="7410" marT="7410" marB="7410" anchor="b"/>
                </a:tc>
                <a:tc>
                  <a:txBody>
                    <a:bodyPr/>
                    <a:lstStyle/>
                    <a:p>
                      <a:pPr marL="0" marR="0" algn="l">
                        <a:lnSpc>
                          <a:spcPct val="107000"/>
                        </a:lnSpc>
                        <a:spcBef>
                          <a:spcPts val="0"/>
                        </a:spcBef>
                        <a:spcAft>
                          <a:spcPts val="0"/>
                        </a:spcAft>
                      </a:pPr>
                      <a:r>
                        <a:rPr lang="en-US" sz="1400" dirty="0">
                          <a:effectLst/>
                        </a:rPr>
                        <a:t>How participants were allocated to interventions (</a:t>
                      </a:r>
                      <a:r>
                        <a:rPr lang="en-US" sz="1400" dirty="0" err="1">
                          <a:effectLst/>
                        </a:rPr>
                        <a:t>eg</a:t>
                      </a:r>
                      <a:r>
                        <a:rPr lang="en-US" sz="1400" dirty="0">
                          <a:effectLst/>
                        </a:rPr>
                        <a:t> random allocation, </a:t>
                      </a:r>
                      <a:r>
                        <a:rPr lang="en-US" sz="1400" dirty="0" err="1">
                          <a:effectLst/>
                        </a:rPr>
                        <a:t>randomised</a:t>
                      </a:r>
                      <a:r>
                        <a:rPr lang="en-US" sz="1400" dirty="0">
                          <a:effectLst/>
                        </a:rPr>
                        <a:t>, or randomly assigned), specifying that allocation was based on clusters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410" marR="7410" marT="7410" marB="7410" anchor="b"/>
                </a:tc>
                <a:extLst>
                  <a:ext uri="{0D108BD9-81ED-4DB2-BD59-A6C34878D82A}">
                    <a16:rowId xmlns:a16="http://schemas.microsoft.com/office/drawing/2014/main" val="2353907740"/>
                  </a:ext>
                </a:extLst>
              </a:tr>
              <a:tr h="159611">
                <a:tc>
                  <a:txBody>
                    <a:bodyPr/>
                    <a:lstStyle/>
                    <a:p>
                      <a:pPr marL="0" marR="0">
                        <a:lnSpc>
                          <a:spcPct val="107000"/>
                        </a:lnSpc>
                        <a:spcBef>
                          <a:spcPts val="0"/>
                        </a:spcBef>
                        <a:spcAft>
                          <a:spcPts val="0"/>
                        </a:spcAft>
                      </a:pPr>
                      <a:r>
                        <a:rPr lang="en-US" sz="1400">
                          <a:effectLst/>
                        </a:rPr>
                        <a:t>Introduction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410" marR="7410" marT="7410" marB="7410" anchor="ctr"/>
                </a:tc>
                <a:tc>
                  <a:txBody>
                    <a:bodyPr/>
                    <a:lstStyle/>
                    <a:p>
                      <a:pPr algn="ctr">
                        <a:lnSpc>
                          <a:spcPct val="107000"/>
                        </a:lnSpc>
                      </a:pPr>
                      <a:endParaRPr lang="en-US" sz="1400">
                        <a:effectLst/>
                        <a:latin typeface="Calibri" panose="020F0502020204030204" pitchFamily="34" charset="0"/>
                        <a:cs typeface="Times New Roman" panose="02020603050405020304" pitchFamily="18" charset="0"/>
                      </a:endParaRPr>
                    </a:p>
                  </a:txBody>
                  <a:tcPr marL="7410" marR="7410" marT="7410" marB="7410" anchor="ctr"/>
                </a:tc>
                <a:tc>
                  <a:txBody>
                    <a:bodyPr/>
                    <a:lstStyle/>
                    <a:p>
                      <a:pPr>
                        <a:lnSpc>
                          <a:spcPct val="107000"/>
                        </a:lnSpc>
                      </a:pPr>
                      <a:endParaRPr lang="en-US" sz="1400">
                        <a:effectLst/>
                        <a:latin typeface="Calibri" panose="020F0502020204030204" pitchFamily="34" charset="0"/>
                        <a:cs typeface="Times New Roman" panose="02020603050405020304" pitchFamily="18" charset="0"/>
                      </a:endParaRPr>
                    </a:p>
                  </a:txBody>
                  <a:tcPr marL="7410" marR="7410" marT="7410" marB="7410" anchor="ctr"/>
                </a:tc>
                <a:extLst>
                  <a:ext uri="{0D108BD9-81ED-4DB2-BD59-A6C34878D82A}">
                    <a16:rowId xmlns:a16="http://schemas.microsoft.com/office/drawing/2014/main" val="2834632063"/>
                  </a:ext>
                </a:extLst>
              </a:tr>
              <a:tr h="311861">
                <a:tc>
                  <a:txBody>
                    <a:bodyPr/>
                    <a:lstStyle/>
                    <a:p>
                      <a:pPr marL="0" marR="0">
                        <a:lnSpc>
                          <a:spcPct val="107000"/>
                        </a:lnSpc>
                        <a:spcBef>
                          <a:spcPts val="0"/>
                        </a:spcBef>
                        <a:spcAft>
                          <a:spcPts val="0"/>
                        </a:spcAft>
                      </a:pPr>
                      <a:r>
                        <a:rPr lang="en-US" sz="1400">
                          <a:effectLst/>
                        </a:rPr>
                        <a:t>Background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410" marR="7410" marT="7410" marB="7410" anchor="ctr"/>
                </a:tc>
                <a:tc>
                  <a:txBody>
                    <a:bodyPr/>
                    <a:lstStyle/>
                    <a:p>
                      <a:pPr marL="0" marR="0" algn="ctr">
                        <a:lnSpc>
                          <a:spcPct val="107000"/>
                        </a:lnSpc>
                        <a:spcBef>
                          <a:spcPts val="0"/>
                        </a:spcBef>
                        <a:spcAft>
                          <a:spcPts val="0"/>
                        </a:spcAft>
                      </a:pPr>
                      <a:r>
                        <a:rPr lang="en-US" sz="1400">
                          <a:effectLst/>
                        </a:rPr>
                        <a:t>2</a:t>
                      </a:r>
                      <a:r>
                        <a:rPr lang="en-US" sz="1400" u="sng" baseline="30000">
                          <a:effectLst/>
                          <a:hlinkClick r:id="rId4"/>
                        </a:rPr>
                        <a: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410" marR="7410" marT="7410" marB="7410" anchor="b"/>
                </a:tc>
                <a:tc>
                  <a:txBody>
                    <a:bodyPr/>
                    <a:lstStyle/>
                    <a:p>
                      <a:pPr marL="0" marR="0">
                        <a:lnSpc>
                          <a:spcPct val="107000"/>
                        </a:lnSpc>
                        <a:spcBef>
                          <a:spcPts val="0"/>
                        </a:spcBef>
                        <a:spcAft>
                          <a:spcPts val="0"/>
                        </a:spcAft>
                      </a:pPr>
                      <a:r>
                        <a:rPr lang="en-US" sz="1400" dirty="0">
                          <a:effectLst/>
                        </a:rPr>
                        <a:t>Scientific background and explanation of rationale, including the rationale for using a cluster design</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410" marR="7410" marT="7410" marB="7410" anchor="ctr"/>
                </a:tc>
                <a:extLst>
                  <a:ext uri="{0D108BD9-81ED-4DB2-BD59-A6C34878D82A}">
                    <a16:rowId xmlns:a16="http://schemas.microsoft.com/office/drawing/2014/main" val="1666204782"/>
                  </a:ext>
                </a:extLst>
              </a:tr>
              <a:tr h="159611">
                <a:tc>
                  <a:txBody>
                    <a:bodyPr/>
                    <a:lstStyle/>
                    <a:p>
                      <a:pPr marL="0" marR="0">
                        <a:lnSpc>
                          <a:spcPct val="107000"/>
                        </a:lnSpc>
                        <a:spcBef>
                          <a:spcPts val="0"/>
                        </a:spcBef>
                        <a:spcAft>
                          <a:spcPts val="0"/>
                        </a:spcAft>
                      </a:pPr>
                      <a:r>
                        <a:rPr lang="en-US" sz="1400">
                          <a:effectLst/>
                        </a:rPr>
                        <a:t>Methods</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410" marR="7410" marT="7410" marB="7410" anchor="ctr"/>
                </a:tc>
                <a:tc>
                  <a:txBody>
                    <a:bodyPr/>
                    <a:lstStyle/>
                    <a:p>
                      <a:pPr algn="ctr">
                        <a:lnSpc>
                          <a:spcPct val="107000"/>
                        </a:lnSpc>
                      </a:pPr>
                      <a:endParaRPr lang="en-US" sz="1400">
                        <a:effectLst/>
                        <a:latin typeface="Calibri" panose="020F0502020204030204" pitchFamily="34" charset="0"/>
                        <a:cs typeface="Times New Roman" panose="02020603050405020304" pitchFamily="18" charset="0"/>
                      </a:endParaRPr>
                    </a:p>
                  </a:txBody>
                  <a:tcPr marL="7410" marR="7410" marT="7410" marB="7410" anchor="ctr"/>
                </a:tc>
                <a:tc>
                  <a:txBody>
                    <a:bodyPr/>
                    <a:lstStyle/>
                    <a:p>
                      <a:pPr>
                        <a:lnSpc>
                          <a:spcPct val="107000"/>
                        </a:lnSpc>
                      </a:pPr>
                      <a:endParaRPr lang="en-US" sz="1400">
                        <a:effectLst/>
                        <a:latin typeface="Calibri" panose="020F0502020204030204" pitchFamily="34" charset="0"/>
                        <a:cs typeface="Times New Roman" panose="02020603050405020304" pitchFamily="18" charset="0"/>
                      </a:endParaRPr>
                    </a:p>
                  </a:txBody>
                  <a:tcPr marL="7410" marR="7410" marT="7410" marB="7410" anchor="ctr"/>
                </a:tc>
                <a:extLst>
                  <a:ext uri="{0D108BD9-81ED-4DB2-BD59-A6C34878D82A}">
                    <a16:rowId xmlns:a16="http://schemas.microsoft.com/office/drawing/2014/main" val="4045331767"/>
                  </a:ext>
                </a:extLst>
              </a:tr>
              <a:tr h="311861">
                <a:tc>
                  <a:txBody>
                    <a:bodyPr/>
                    <a:lstStyle/>
                    <a:p>
                      <a:pPr marL="0" marR="0">
                        <a:lnSpc>
                          <a:spcPct val="107000"/>
                        </a:lnSpc>
                        <a:spcBef>
                          <a:spcPts val="0"/>
                        </a:spcBef>
                        <a:spcAft>
                          <a:spcPts val="0"/>
                        </a:spcAft>
                      </a:pPr>
                      <a:r>
                        <a:rPr lang="en-US" sz="1400">
                          <a:effectLst/>
                        </a:rPr>
                        <a:t>Participants</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410" marR="7410" marT="7410" marB="7410" anchor="ctr"/>
                </a:tc>
                <a:tc>
                  <a:txBody>
                    <a:bodyPr/>
                    <a:lstStyle/>
                    <a:p>
                      <a:pPr marL="0" marR="0" algn="ctr">
                        <a:lnSpc>
                          <a:spcPct val="107000"/>
                        </a:lnSpc>
                        <a:spcBef>
                          <a:spcPts val="0"/>
                        </a:spcBef>
                        <a:spcAft>
                          <a:spcPts val="0"/>
                        </a:spcAft>
                      </a:pPr>
                      <a:r>
                        <a:rPr lang="en-US" sz="1400">
                          <a:effectLst/>
                        </a:rPr>
                        <a:t>3</a:t>
                      </a:r>
                      <a:r>
                        <a:rPr lang="en-US" sz="1400" u="sng" baseline="30000">
                          <a:effectLst/>
                          <a:hlinkClick r:id="rId4"/>
                        </a:rPr>
                        <a: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410" marR="7410" marT="7410" marB="7410" anchor="b"/>
                </a:tc>
                <a:tc>
                  <a:txBody>
                    <a:bodyPr/>
                    <a:lstStyle/>
                    <a:p>
                      <a:pPr marL="0" marR="0">
                        <a:lnSpc>
                          <a:spcPct val="107000"/>
                        </a:lnSpc>
                        <a:spcBef>
                          <a:spcPts val="0"/>
                        </a:spcBef>
                        <a:spcAft>
                          <a:spcPts val="0"/>
                        </a:spcAft>
                      </a:pPr>
                      <a:r>
                        <a:rPr lang="en-US" sz="1400" dirty="0">
                          <a:effectLst/>
                        </a:rPr>
                        <a:t>Eligibility criteria for participants and clusters and the settings and locations where the data were collected</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410" marR="7410" marT="7410" marB="7410" anchor="ctr"/>
                </a:tc>
                <a:extLst>
                  <a:ext uri="{0D108BD9-81ED-4DB2-BD59-A6C34878D82A}">
                    <a16:rowId xmlns:a16="http://schemas.microsoft.com/office/drawing/2014/main" val="1623063842"/>
                  </a:ext>
                </a:extLst>
              </a:tr>
              <a:tr h="616362">
                <a:tc>
                  <a:txBody>
                    <a:bodyPr/>
                    <a:lstStyle/>
                    <a:p>
                      <a:pPr marL="0" marR="0">
                        <a:lnSpc>
                          <a:spcPct val="107000"/>
                        </a:lnSpc>
                        <a:spcBef>
                          <a:spcPts val="0"/>
                        </a:spcBef>
                        <a:spcAft>
                          <a:spcPts val="0"/>
                        </a:spcAft>
                      </a:pPr>
                      <a:r>
                        <a:rPr lang="en-US" sz="1400">
                          <a:effectLst/>
                        </a:rPr>
                        <a:t>Interventions</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410" marR="7410" marT="7410" marB="7410" anchor="ctr"/>
                </a:tc>
                <a:tc>
                  <a:txBody>
                    <a:bodyPr/>
                    <a:lstStyle/>
                    <a:p>
                      <a:pPr marL="0" marR="0" algn="ctr">
                        <a:lnSpc>
                          <a:spcPct val="107000"/>
                        </a:lnSpc>
                        <a:spcBef>
                          <a:spcPts val="0"/>
                        </a:spcBef>
                        <a:spcAft>
                          <a:spcPts val="0"/>
                        </a:spcAft>
                      </a:pPr>
                      <a:r>
                        <a:rPr lang="en-US" sz="1400">
                          <a:effectLst/>
                        </a:rPr>
                        <a:t>4</a:t>
                      </a:r>
                      <a:r>
                        <a:rPr lang="en-US" sz="1400" u="sng" baseline="30000">
                          <a:effectLst/>
                          <a:hlinkClick r:id="rId4"/>
                        </a:rPr>
                        <a: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410" marR="7410" marT="7410" marB="7410" anchor="b"/>
                </a:tc>
                <a:tc>
                  <a:txBody>
                    <a:bodyPr/>
                    <a:lstStyle/>
                    <a:p>
                      <a:pPr marL="0" marR="0">
                        <a:lnSpc>
                          <a:spcPct val="107000"/>
                        </a:lnSpc>
                        <a:spcBef>
                          <a:spcPts val="0"/>
                        </a:spcBef>
                        <a:spcAft>
                          <a:spcPts val="0"/>
                        </a:spcAft>
                      </a:pPr>
                      <a:r>
                        <a:rPr lang="en-US" sz="1400">
                          <a:effectLst/>
                        </a:rPr>
                        <a:t>Precise details of the interventions intended for each group, whether they pertain to the individual level, the cluster level, or both, and how and when they were actually administered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410" marR="7410" marT="7410" marB="7410" anchor="ctr"/>
                </a:tc>
                <a:extLst>
                  <a:ext uri="{0D108BD9-81ED-4DB2-BD59-A6C34878D82A}">
                    <a16:rowId xmlns:a16="http://schemas.microsoft.com/office/drawing/2014/main" val="3035901099"/>
                  </a:ext>
                </a:extLst>
              </a:tr>
              <a:tr h="311861">
                <a:tc>
                  <a:txBody>
                    <a:bodyPr/>
                    <a:lstStyle/>
                    <a:p>
                      <a:pPr marL="0" marR="0">
                        <a:lnSpc>
                          <a:spcPct val="107000"/>
                        </a:lnSpc>
                        <a:spcBef>
                          <a:spcPts val="0"/>
                        </a:spcBef>
                        <a:spcAft>
                          <a:spcPts val="0"/>
                        </a:spcAft>
                      </a:pPr>
                      <a:r>
                        <a:rPr lang="en-US" sz="1400">
                          <a:effectLst/>
                        </a:rPr>
                        <a:t>Objectives</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410" marR="7410" marT="7410" marB="7410" anchor="ctr"/>
                </a:tc>
                <a:tc>
                  <a:txBody>
                    <a:bodyPr/>
                    <a:lstStyle/>
                    <a:p>
                      <a:pPr marL="0" marR="0" algn="ctr">
                        <a:lnSpc>
                          <a:spcPct val="107000"/>
                        </a:lnSpc>
                        <a:spcBef>
                          <a:spcPts val="0"/>
                        </a:spcBef>
                        <a:spcAft>
                          <a:spcPts val="0"/>
                        </a:spcAft>
                      </a:pPr>
                      <a:r>
                        <a:rPr lang="en-US" sz="1400">
                          <a:effectLst/>
                        </a:rPr>
                        <a:t>5</a:t>
                      </a:r>
                      <a:r>
                        <a:rPr lang="en-US" sz="1400" u="sng" baseline="30000">
                          <a:effectLst/>
                          <a:hlinkClick r:id="rId4"/>
                        </a:rPr>
                        <a: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410" marR="7410" marT="7410" marB="7410" anchor="b"/>
                </a:tc>
                <a:tc>
                  <a:txBody>
                    <a:bodyPr/>
                    <a:lstStyle/>
                    <a:p>
                      <a:pPr marL="0" marR="0">
                        <a:lnSpc>
                          <a:spcPct val="107000"/>
                        </a:lnSpc>
                        <a:spcBef>
                          <a:spcPts val="0"/>
                        </a:spcBef>
                        <a:spcAft>
                          <a:spcPts val="0"/>
                        </a:spcAft>
                      </a:pPr>
                      <a:r>
                        <a:rPr lang="en-US" sz="1400" dirty="0">
                          <a:effectLst/>
                        </a:rPr>
                        <a:t>Specific objectives and hypotheses and whether they pertain to the individual level, the cluster level, or both</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410" marR="7410" marT="7410" marB="7410" anchor="ctr"/>
                </a:tc>
                <a:extLst>
                  <a:ext uri="{0D108BD9-81ED-4DB2-BD59-A6C34878D82A}">
                    <a16:rowId xmlns:a16="http://schemas.microsoft.com/office/drawing/2014/main" val="3312818943"/>
                  </a:ext>
                </a:extLst>
              </a:tr>
              <a:tr h="768612">
                <a:tc>
                  <a:txBody>
                    <a:bodyPr/>
                    <a:lstStyle/>
                    <a:p>
                      <a:pPr marL="0" marR="0">
                        <a:lnSpc>
                          <a:spcPct val="107000"/>
                        </a:lnSpc>
                        <a:spcBef>
                          <a:spcPts val="0"/>
                        </a:spcBef>
                        <a:spcAft>
                          <a:spcPts val="0"/>
                        </a:spcAft>
                      </a:pPr>
                      <a:r>
                        <a:rPr lang="en-US" sz="1400" dirty="0">
                          <a:effectLst/>
                        </a:rPr>
                        <a:t>Outcomes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410" marR="7410" marT="7410" marB="7410" anchor="ctr"/>
                </a:tc>
                <a:tc>
                  <a:txBody>
                    <a:bodyPr/>
                    <a:lstStyle/>
                    <a:p>
                      <a:pPr marL="0" marR="0" algn="ctr">
                        <a:lnSpc>
                          <a:spcPct val="107000"/>
                        </a:lnSpc>
                        <a:spcBef>
                          <a:spcPts val="0"/>
                        </a:spcBef>
                        <a:spcAft>
                          <a:spcPts val="0"/>
                        </a:spcAft>
                      </a:pPr>
                      <a:r>
                        <a:rPr lang="en-US" sz="1400">
                          <a:effectLst/>
                        </a:rPr>
                        <a:t>6</a:t>
                      </a:r>
                      <a:r>
                        <a:rPr lang="en-US" sz="1400" u="sng" baseline="30000">
                          <a:effectLst/>
                          <a:hlinkClick r:id="rId4"/>
                        </a:rPr>
                        <a: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410" marR="7410" marT="7410" marB="7410" anchor="b"/>
                </a:tc>
                <a:tc>
                  <a:txBody>
                    <a:bodyPr/>
                    <a:lstStyle/>
                    <a:p>
                      <a:pPr marL="0" marR="0">
                        <a:lnSpc>
                          <a:spcPct val="107000"/>
                        </a:lnSpc>
                        <a:spcBef>
                          <a:spcPts val="0"/>
                        </a:spcBef>
                        <a:spcAft>
                          <a:spcPts val="0"/>
                        </a:spcAft>
                      </a:pPr>
                      <a:r>
                        <a:rPr lang="en-US" sz="1400" dirty="0">
                          <a:effectLst/>
                        </a:rPr>
                        <a:t>Report clearly defined primary and secondary outcome measures, whether they pertain to the individual level, the cluster level, or both, and, when applicable, any methods used to enhance the quality of measurements (</a:t>
                      </a:r>
                      <a:r>
                        <a:rPr lang="en-US" sz="1400" dirty="0" err="1">
                          <a:effectLst/>
                        </a:rPr>
                        <a:t>eg</a:t>
                      </a:r>
                      <a:r>
                        <a:rPr lang="en-US" sz="1400" dirty="0">
                          <a:effectLst/>
                        </a:rPr>
                        <a:t> multiple observations, training of assessors)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410" marR="7410" marT="7410" marB="7410" anchor="ctr"/>
                </a:tc>
                <a:extLst>
                  <a:ext uri="{0D108BD9-81ED-4DB2-BD59-A6C34878D82A}">
                    <a16:rowId xmlns:a16="http://schemas.microsoft.com/office/drawing/2014/main" val="4195656069"/>
                  </a:ext>
                </a:extLst>
              </a:tr>
              <a:tr h="768612">
                <a:tc>
                  <a:txBody>
                    <a:bodyPr/>
                    <a:lstStyle/>
                    <a:p>
                      <a:pPr marL="0" marR="0">
                        <a:lnSpc>
                          <a:spcPct val="107000"/>
                        </a:lnSpc>
                        <a:spcBef>
                          <a:spcPts val="0"/>
                        </a:spcBef>
                        <a:spcAft>
                          <a:spcPts val="0"/>
                        </a:spcAft>
                      </a:pPr>
                      <a:r>
                        <a:rPr lang="en-US" sz="1400">
                          <a:effectLst/>
                        </a:rPr>
                        <a:t>Sample size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410" marR="7410" marT="7410" marB="7410" anchor="ctr"/>
                </a:tc>
                <a:tc>
                  <a:txBody>
                    <a:bodyPr/>
                    <a:lstStyle/>
                    <a:p>
                      <a:pPr marL="0" marR="0" algn="ctr">
                        <a:lnSpc>
                          <a:spcPct val="107000"/>
                        </a:lnSpc>
                        <a:spcBef>
                          <a:spcPts val="0"/>
                        </a:spcBef>
                        <a:spcAft>
                          <a:spcPts val="0"/>
                        </a:spcAft>
                      </a:pPr>
                      <a:r>
                        <a:rPr lang="en-US" sz="1400">
                          <a:effectLst/>
                        </a:rPr>
                        <a:t>7</a:t>
                      </a:r>
                      <a:r>
                        <a:rPr lang="en-US" sz="1400" u="sng" baseline="30000">
                          <a:effectLst/>
                          <a:hlinkClick r:id="rId4"/>
                        </a:rPr>
                        <a: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410" marR="7410" marT="7410" marB="7410" anchor="b"/>
                </a:tc>
                <a:tc>
                  <a:txBody>
                    <a:bodyPr/>
                    <a:lstStyle/>
                    <a:p>
                      <a:pPr marL="0" marR="0">
                        <a:lnSpc>
                          <a:spcPct val="107000"/>
                        </a:lnSpc>
                        <a:spcBef>
                          <a:spcPts val="0"/>
                        </a:spcBef>
                        <a:spcAft>
                          <a:spcPts val="0"/>
                        </a:spcAft>
                      </a:pPr>
                      <a:r>
                        <a:rPr lang="en-US" sz="1400" dirty="0">
                          <a:effectLst/>
                        </a:rPr>
                        <a:t>How total sample size was determined (including method of calculation, number of clusters, cluster size, a coefficient of </a:t>
                      </a:r>
                      <a:r>
                        <a:rPr lang="en-US" sz="1400" dirty="0" err="1">
                          <a:effectLst/>
                        </a:rPr>
                        <a:t>intracluster</a:t>
                      </a:r>
                      <a:r>
                        <a:rPr lang="en-US" sz="1400" dirty="0">
                          <a:effectLst/>
                        </a:rPr>
                        <a:t> correlation (ICC or k), and an indication of its uncertainty) and, when applicable, explanation of any interim analyses and stopping rules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410" marR="7410" marT="7410" marB="7410" anchor="ctr"/>
                </a:tc>
                <a:extLst>
                  <a:ext uri="{0D108BD9-81ED-4DB2-BD59-A6C34878D82A}">
                    <a16:rowId xmlns:a16="http://schemas.microsoft.com/office/drawing/2014/main" val="3955921722"/>
                  </a:ext>
                </a:extLst>
              </a:tr>
              <a:tr h="159611">
                <a:tc>
                  <a:txBody>
                    <a:bodyPr/>
                    <a:lstStyle/>
                    <a:p>
                      <a:pPr marL="0" marR="0">
                        <a:lnSpc>
                          <a:spcPct val="107000"/>
                        </a:lnSpc>
                        <a:spcBef>
                          <a:spcPts val="0"/>
                        </a:spcBef>
                        <a:spcAft>
                          <a:spcPts val="0"/>
                        </a:spcAft>
                      </a:pPr>
                      <a:r>
                        <a:rPr lang="en-US" sz="1400">
                          <a:effectLst/>
                        </a:rPr>
                        <a:t>Randomisation: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410" marR="7410" marT="7410" marB="7410" anchor="ctr"/>
                </a:tc>
                <a:tc>
                  <a:txBody>
                    <a:bodyPr/>
                    <a:lstStyle/>
                    <a:p>
                      <a:pPr algn="ctr">
                        <a:lnSpc>
                          <a:spcPct val="107000"/>
                        </a:lnSpc>
                      </a:pPr>
                      <a:endParaRPr lang="en-US" sz="1400" dirty="0">
                        <a:effectLst/>
                        <a:latin typeface="Calibri" panose="020F0502020204030204" pitchFamily="34" charset="0"/>
                        <a:cs typeface="Times New Roman" panose="02020603050405020304" pitchFamily="18" charset="0"/>
                      </a:endParaRPr>
                    </a:p>
                  </a:txBody>
                  <a:tcPr marL="7410" marR="7410" marT="7410" marB="7410" anchor="ctr"/>
                </a:tc>
                <a:tc>
                  <a:txBody>
                    <a:bodyPr/>
                    <a:lstStyle/>
                    <a:p>
                      <a:pPr>
                        <a:lnSpc>
                          <a:spcPct val="107000"/>
                        </a:lnSpc>
                      </a:pPr>
                      <a:endParaRPr lang="en-US" sz="1400" dirty="0">
                        <a:effectLst/>
                        <a:latin typeface="Calibri" panose="020F0502020204030204" pitchFamily="34" charset="0"/>
                        <a:cs typeface="Times New Roman" panose="02020603050405020304" pitchFamily="18" charset="0"/>
                      </a:endParaRPr>
                    </a:p>
                  </a:txBody>
                  <a:tcPr marL="7410" marR="7410" marT="7410" marB="7410" anchor="ctr"/>
                </a:tc>
                <a:extLst>
                  <a:ext uri="{0D108BD9-81ED-4DB2-BD59-A6C34878D82A}">
                    <a16:rowId xmlns:a16="http://schemas.microsoft.com/office/drawing/2014/main" val="2793093316"/>
                  </a:ext>
                </a:extLst>
              </a:tr>
            </a:tbl>
          </a:graphicData>
        </a:graphic>
      </p:graphicFrame>
      <p:sp>
        <p:nvSpPr>
          <p:cNvPr id="2" name="Footer Placeholder 1">
            <a:extLst>
              <a:ext uri="{FF2B5EF4-FFF2-40B4-BE49-F238E27FC236}">
                <a16:creationId xmlns:a16="http://schemas.microsoft.com/office/drawing/2014/main" id="{A086B076-DA60-EC4A-AD51-5AAC31D736EE}"/>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8429C522-F36A-AA09-B6E1-B067D90C50E7}"/>
              </a:ext>
            </a:extLst>
          </p:cNvPr>
          <p:cNvSpPr>
            <a:spLocks noGrp="1"/>
          </p:cNvSpPr>
          <p:nvPr>
            <p:ph type="sldNum" sz="quarter" idx="12"/>
          </p:nvPr>
        </p:nvSpPr>
        <p:spPr/>
        <p:txBody>
          <a:bodyPr/>
          <a:lstStyle/>
          <a:p>
            <a:fld id="{77C6A7FE-225D-49F1-B302-AA37EA92BB49}" type="slidenum">
              <a:rPr lang="en-US" smtClean="0"/>
              <a:t>117</a:t>
            </a:fld>
            <a:endParaRPr lang="en-US"/>
          </a:p>
        </p:txBody>
      </p:sp>
    </p:spTree>
    <p:extLst>
      <p:ext uri="{BB962C8B-B14F-4D97-AF65-F5344CB8AC3E}">
        <p14:creationId xmlns:p14="http://schemas.microsoft.com/office/powerpoint/2010/main" val="275804420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30"/>
            <a:ext cx="12192000" cy="1429971"/>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400" dirty="0">
                <a:solidFill>
                  <a:schemeClr val="bg1"/>
                </a:solidFill>
                <a:latin typeface="Arial" panose="020B0604020202020204" pitchFamily="34" charset="0"/>
                <a:cs typeface="Arial" panose="020B0604020202020204" pitchFamily="34" charset="0"/>
              </a:rPr>
              <a:t>Checklist of items to include when reporting a cluster randomized trial (adaptations from standard guidelines in italic)</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graphicFrame>
        <p:nvGraphicFramePr>
          <p:cNvPr id="2" name="Table 1">
            <a:extLst>
              <a:ext uri="{FF2B5EF4-FFF2-40B4-BE49-F238E27FC236}">
                <a16:creationId xmlns:a16="http://schemas.microsoft.com/office/drawing/2014/main" id="{A9F4206D-D79C-4370-B247-6A31336BBDBE}"/>
              </a:ext>
            </a:extLst>
          </p:cNvPr>
          <p:cNvGraphicFramePr>
            <a:graphicFrameLocks noGrp="1"/>
          </p:cNvGraphicFramePr>
          <p:nvPr>
            <p:extLst>
              <p:ext uri="{D42A27DB-BD31-4B8C-83A1-F6EECF244321}">
                <p14:modId xmlns:p14="http://schemas.microsoft.com/office/powerpoint/2010/main" val="2340666839"/>
              </p:ext>
            </p:extLst>
          </p:nvPr>
        </p:nvGraphicFramePr>
        <p:xfrm>
          <a:off x="1" y="1619725"/>
          <a:ext cx="12191999" cy="4525434"/>
        </p:xfrm>
        <a:graphic>
          <a:graphicData uri="http://schemas.openxmlformats.org/drawingml/2006/table">
            <a:tbl>
              <a:tblPr firstRow="1" firstCol="1" bandRow="1">
                <a:tableStyleId>{5C22544A-7EE6-4342-B048-85BDC9FD1C3A}</a:tableStyleId>
              </a:tblPr>
              <a:tblGrid>
                <a:gridCol w="2090056">
                  <a:extLst>
                    <a:ext uri="{9D8B030D-6E8A-4147-A177-3AD203B41FA5}">
                      <a16:colId xmlns:a16="http://schemas.microsoft.com/office/drawing/2014/main" val="3174415843"/>
                    </a:ext>
                  </a:extLst>
                </a:gridCol>
                <a:gridCol w="718457">
                  <a:extLst>
                    <a:ext uri="{9D8B030D-6E8A-4147-A177-3AD203B41FA5}">
                      <a16:colId xmlns:a16="http://schemas.microsoft.com/office/drawing/2014/main" val="1780278293"/>
                    </a:ext>
                  </a:extLst>
                </a:gridCol>
                <a:gridCol w="9383486">
                  <a:extLst>
                    <a:ext uri="{9D8B030D-6E8A-4147-A177-3AD203B41FA5}">
                      <a16:colId xmlns:a16="http://schemas.microsoft.com/office/drawing/2014/main" val="1948370035"/>
                    </a:ext>
                  </a:extLst>
                </a:gridCol>
              </a:tblGrid>
              <a:tr h="259830">
                <a:tc>
                  <a:txBody>
                    <a:bodyPr/>
                    <a:lstStyle/>
                    <a:p>
                      <a:pPr marL="0" marR="0">
                        <a:lnSpc>
                          <a:spcPct val="107000"/>
                        </a:lnSpc>
                        <a:spcBef>
                          <a:spcPts val="0"/>
                        </a:spcBef>
                        <a:spcAft>
                          <a:spcPts val="0"/>
                        </a:spcAft>
                      </a:pPr>
                      <a:r>
                        <a:rPr lang="en-US" sz="1400">
                          <a:effectLst/>
                        </a:rPr>
                        <a:t>Paper section and topic</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947" marR="6947" marT="6947" marB="6947" anchor="ctr"/>
                </a:tc>
                <a:tc>
                  <a:txBody>
                    <a:bodyPr/>
                    <a:lstStyle/>
                    <a:p>
                      <a:pPr marL="0" marR="0" algn="ctr">
                        <a:lnSpc>
                          <a:spcPct val="107000"/>
                        </a:lnSpc>
                        <a:spcBef>
                          <a:spcPts val="0"/>
                        </a:spcBef>
                        <a:spcAft>
                          <a:spcPts val="0"/>
                        </a:spcAft>
                      </a:pPr>
                      <a:r>
                        <a:rPr lang="en-US" sz="1400">
                          <a:effectLst/>
                        </a:rPr>
                        <a:t>Item</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947" marR="6947" marT="6947" marB="6947" anchor="ctr"/>
                </a:tc>
                <a:tc>
                  <a:txBody>
                    <a:bodyPr/>
                    <a:lstStyle/>
                    <a:p>
                      <a:pPr marL="0" marR="0" algn="ctr">
                        <a:lnSpc>
                          <a:spcPct val="107000"/>
                        </a:lnSpc>
                        <a:spcBef>
                          <a:spcPts val="0"/>
                        </a:spcBef>
                        <a:spcAft>
                          <a:spcPts val="0"/>
                        </a:spcAft>
                      </a:pPr>
                      <a:r>
                        <a:rPr lang="en-US" sz="1400">
                          <a:effectLst/>
                        </a:rPr>
                        <a:t>Descriptor</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947" marR="6947" marT="6947" marB="6947" anchor="ctr"/>
                </a:tc>
                <a:extLst>
                  <a:ext uri="{0D108BD9-81ED-4DB2-BD59-A6C34878D82A}">
                    <a16:rowId xmlns:a16="http://schemas.microsoft.com/office/drawing/2014/main" val="3731284547"/>
                  </a:ext>
                </a:extLst>
              </a:tr>
              <a:tr h="259830">
                <a:tc>
                  <a:txBody>
                    <a:bodyPr/>
                    <a:lstStyle/>
                    <a:p>
                      <a:pPr marL="0" marR="0">
                        <a:lnSpc>
                          <a:spcPct val="107000"/>
                        </a:lnSpc>
                        <a:spcBef>
                          <a:spcPts val="0"/>
                        </a:spcBef>
                        <a:spcAft>
                          <a:spcPts val="0"/>
                        </a:spcAft>
                      </a:pPr>
                      <a:r>
                        <a:rPr lang="en-US" sz="1400">
                          <a:effectLst/>
                        </a:rPr>
                        <a:t>Title and abstract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947" marR="6947" marT="6947" marB="6947" anchor="ctr"/>
                </a:tc>
                <a:tc>
                  <a:txBody>
                    <a:bodyPr/>
                    <a:lstStyle/>
                    <a:p>
                      <a:pPr>
                        <a:lnSpc>
                          <a:spcPct val="107000"/>
                        </a:lnSpc>
                      </a:pPr>
                      <a:endParaRPr lang="en-US" sz="1400">
                        <a:effectLst/>
                        <a:latin typeface="Calibri" panose="020F0502020204030204" pitchFamily="34" charset="0"/>
                        <a:cs typeface="Times New Roman" panose="02020603050405020304" pitchFamily="18" charset="0"/>
                      </a:endParaRPr>
                    </a:p>
                  </a:txBody>
                  <a:tcPr marL="6947" marR="6947" marT="6947" marB="6947" anchor="ctr"/>
                </a:tc>
                <a:tc>
                  <a:txBody>
                    <a:bodyPr/>
                    <a:lstStyle/>
                    <a:p>
                      <a:pPr>
                        <a:lnSpc>
                          <a:spcPct val="107000"/>
                        </a:lnSpc>
                      </a:pPr>
                      <a:endParaRPr lang="en-US" sz="1400">
                        <a:effectLst/>
                        <a:latin typeface="Calibri" panose="020F0502020204030204" pitchFamily="34" charset="0"/>
                        <a:cs typeface="Times New Roman" panose="02020603050405020304" pitchFamily="18" charset="0"/>
                      </a:endParaRPr>
                    </a:p>
                  </a:txBody>
                  <a:tcPr marL="6947" marR="6947" marT="6947" marB="6947" anchor="ctr"/>
                </a:tc>
                <a:extLst>
                  <a:ext uri="{0D108BD9-81ED-4DB2-BD59-A6C34878D82A}">
                    <a16:rowId xmlns:a16="http://schemas.microsoft.com/office/drawing/2014/main" val="3309270207"/>
                  </a:ext>
                </a:extLst>
              </a:tr>
              <a:tr h="515410">
                <a:tc>
                  <a:txBody>
                    <a:bodyPr/>
                    <a:lstStyle/>
                    <a:p>
                      <a:pPr marL="0" marR="0">
                        <a:lnSpc>
                          <a:spcPct val="107000"/>
                        </a:lnSpc>
                        <a:spcBef>
                          <a:spcPts val="0"/>
                        </a:spcBef>
                        <a:spcAft>
                          <a:spcPts val="0"/>
                        </a:spcAft>
                      </a:pPr>
                      <a:r>
                        <a:rPr lang="en-US" sz="1400">
                          <a:effectLst/>
                        </a:rPr>
                        <a:t>Sequence generation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947" marR="6947" marT="6947" marB="6947" anchor="ctr"/>
                </a:tc>
                <a:tc>
                  <a:txBody>
                    <a:bodyPr/>
                    <a:lstStyle/>
                    <a:p>
                      <a:pPr marL="0" marR="0" algn="r">
                        <a:lnSpc>
                          <a:spcPct val="107000"/>
                        </a:lnSpc>
                        <a:spcBef>
                          <a:spcPts val="0"/>
                        </a:spcBef>
                        <a:spcAft>
                          <a:spcPts val="0"/>
                        </a:spcAft>
                      </a:pPr>
                      <a:r>
                        <a:rPr lang="en-US" sz="1400">
                          <a:effectLst/>
                        </a:rPr>
                        <a:t>8</a:t>
                      </a:r>
                      <a:r>
                        <a:rPr lang="en-US" sz="1400" u="sng" baseline="30000">
                          <a:effectLst/>
                          <a:hlinkClick r:id="rId4"/>
                        </a:rPr>
                        <a: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947" marR="6947" marT="6947" marB="6947" anchor="b"/>
                </a:tc>
                <a:tc>
                  <a:txBody>
                    <a:bodyPr/>
                    <a:lstStyle/>
                    <a:p>
                      <a:pPr marL="0" marR="0">
                        <a:lnSpc>
                          <a:spcPct val="107000"/>
                        </a:lnSpc>
                        <a:spcBef>
                          <a:spcPts val="0"/>
                        </a:spcBef>
                        <a:spcAft>
                          <a:spcPts val="0"/>
                        </a:spcAft>
                      </a:pPr>
                      <a:r>
                        <a:rPr lang="en-US" sz="1400">
                          <a:effectLst/>
                        </a:rPr>
                        <a:t>Method used to generate the random allocation sequence, including details of any restriction (eg blocking, stratification, matching)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947" marR="6947" marT="6947" marB="6947" anchor="ctr"/>
                </a:tc>
                <a:extLst>
                  <a:ext uri="{0D108BD9-81ED-4DB2-BD59-A6C34878D82A}">
                    <a16:rowId xmlns:a16="http://schemas.microsoft.com/office/drawing/2014/main" val="2199074599"/>
                  </a:ext>
                </a:extLst>
              </a:tr>
              <a:tr h="660475">
                <a:tc>
                  <a:txBody>
                    <a:bodyPr/>
                    <a:lstStyle/>
                    <a:p>
                      <a:pPr marL="0" marR="0">
                        <a:lnSpc>
                          <a:spcPct val="107000"/>
                        </a:lnSpc>
                        <a:spcBef>
                          <a:spcPts val="0"/>
                        </a:spcBef>
                        <a:spcAft>
                          <a:spcPts val="0"/>
                        </a:spcAft>
                      </a:pPr>
                      <a:r>
                        <a:rPr lang="en-US" sz="1400">
                          <a:effectLst/>
                        </a:rPr>
                        <a:t>Allocation concealment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947" marR="6947" marT="6947" marB="6947" anchor="ctr"/>
                </a:tc>
                <a:tc>
                  <a:txBody>
                    <a:bodyPr/>
                    <a:lstStyle/>
                    <a:p>
                      <a:pPr marL="0" marR="0" algn="r">
                        <a:lnSpc>
                          <a:spcPct val="107000"/>
                        </a:lnSpc>
                        <a:spcBef>
                          <a:spcPts val="0"/>
                        </a:spcBef>
                        <a:spcAft>
                          <a:spcPts val="0"/>
                        </a:spcAft>
                      </a:pPr>
                      <a:r>
                        <a:rPr lang="en-US" sz="1400">
                          <a:effectLst/>
                        </a:rPr>
                        <a:t>9</a:t>
                      </a:r>
                      <a:r>
                        <a:rPr lang="en-US" sz="1400" u="sng" baseline="30000">
                          <a:effectLst/>
                          <a:hlinkClick r:id="rId4"/>
                        </a:rPr>
                        <a: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947" marR="6947" marT="6947" marB="6947" anchor="b"/>
                </a:tc>
                <a:tc>
                  <a:txBody>
                    <a:bodyPr/>
                    <a:lstStyle/>
                    <a:p>
                      <a:pPr marL="0" marR="0">
                        <a:lnSpc>
                          <a:spcPct val="107000"/>
                        </a:lnSpc>
                        <a:spcBef>
                          <a:spcPts val="0"/>
                        </a:spcBef>
                        <a:spcAft>
                          <a:spcPts val="0"/>
                        </a:spcAft>
                      </a:pPr>
                      <a:r>
                        <a:rPr lang="en-US" sz="1400">
                          <a:effectLst/>
                        </a:rPr>
                        <a:t>Method used to implement the random allocation sequence, specifying that allocation was based on clusters rather than individuals and clarifying whether the sequence was concealed until interventions were assigned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947" marR="6947" marT="6947" marB="6947" anchor="ctr"/>
                </a:tc>
                <a:extLst>
                  <a:ext uri="{0D108BD9-81ED-4DB2-BD59-A6C34878D82A}">
                    <a16:rowId xmlns:a16="http://schemas.microsoft.com/office/drawing/2014/main" val="3192260332"/>
                  </a:ext>
                </a:extLst>
              </a:tr>
              <a:tr h="319230">
                <a:tc>
                  <a:txBody>
                    <a:bodyPr/>
                    <a:lstStyle/>
                    <a:p>
                      <a:pPr marL="0" marR="0">
                        <a:lnSpc>
                          <a:spcPct val="107000"/>
                        </a:lnSpc>
                        <a:spcBef>
                          <a:spcPts val="0"/>
                        </a:spcBef>
                        <a:spcAft>
                          <a:spcPts val="0"/>
                        </a:spcAft>
                      </a:pPr>
                      <a:r>
                        <a:rPr lang="en-US" sz="1400">
                          <a:effectLst/>
                        </a:rPr>
                        <a:t>Implementation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947" marR="6947" marT="6947" marB="6947" anchor="ctr"/>
                </a:tc>
                <a:tc>
                  <a:txBody>
                    <a:bodyPr/>
                    <a:lstStyle/>
                    <a:p>
                      <a:pPr marL="0" marR="0" algn="r">
                        <a:lnSpc>
                          <a:spcPct val="107000"/>
                        </a:lnSpc>
                        <a:spcBef>
                          <a:spcPts val="0"/>
                        </a:spcBef>
                        <a:spcAft>
                          <a:spcPts val="0"/>
                        </a:spcAft>
                      </a:pPr>
                      <a:r>
                        <a:rPr lang="en-US" sz="1400">
                          <a:effectLst/>
                        </a:rPr>
                        <a:t>10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947" marR="6947" marT="6947" marB="6947" anchor="b"/>
                </a:tc>
                <a:tc>
                  <a:txBody>
                    <a:bodyPr/>
                    <a:lstStyle/>
                    <a:p>
                      <a:pPr marL="0" marR="0">
                        <a:lnSpc>
                          <a:spcPct val="107000"/>
                        </a:lnSpc>
                        <a:spcBef>
                          <a:spcPts val="0"/>
                        </a:spcBef>
                        <a:spcAft>
                          <a:spcPts val="0"/>
                        </a:spcAft>
                      </a:pPr>
                      <a:r>
                        <a:rPr lang="en-US" sz="1400">
                          <a:effectLst/>
                        </a:rPr>
                        <a:t>Who generated the allocation sequence, who enrolled participants, and who assigned participants to their groups</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947" marR="6947" marT="6947" marB="6947" anchor="ctr"/>
                </a:tc>
                <a:extLst>
                  <a:ext uri="{0D108BD9-81ED-4DB2-BD59-A6C34878D82A}">
                    <a16:rowId xmlns:a16="http://schemas.microsoft.com/office/drawing/2014/main" val="4134874624"/>
                  </a:ext>
                </a:extLst>
              </a:tr>
              <a:tr h="605436">
                <a:tc>
                  <a:txBody>
                    <a:bodyPr/>
                    <a:lstStyle/>
                    <a:p>
                      <a:pPr marL="0" marR="0">
                        <a:lnSpc>
                          <a:spcPct val="107000"/>
                        </a:lnSpc>
                        <a:spcBef>
                          <a:spcPts val="0"/>
                        </a:spcBef>
                        <a:spcAft>
                          <a:spcPts val="0"/>
                        </a:spcAft>
                      </a:pPr>
                      <a:r>
                        <a:rPr lang="en-US" sz="1400">
                          <a:effectLst/>
                        </a:rPr>
                        <a:t>Blinding (masking)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947" marR="6947" marT="6947" marB="6947" anchor="ctr"/>
                </a:tc>
                <a:tc>
                  <a:txBody>
                    <a:bodyPr/>
                    <a:lstStyle/>
                    <a:p>
                      <a:pPr marL="0" marR="0" algn="r">
                        <a:lnSpc>
                          <a:spcPct val="107000"/>
                        </a:lnSpc>
                        <a:spcBef>
                          <a:spcPts val="0"/>
                        </a:spcBef>
                        <a:spcAft>
                          <a:spcPts val="0"/>
                        </a:spcAft>
                      </a:pPr>
                      <a:r>
                        <a:rPr lang="en-US" sz="1400">
                          <a:effectLst/>
                        </a:rPr>
                        <a:t>11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947" marR="6947" marT="6947" marB="6947" anchor="b"/>
                </a:tc>
                <a:tc>
                  <a:txBody>
                    <a:bodyPr/>
                    <a:lstStyle/>
                    <a:p>
                      <a:pPr marL="0" marR="0">
                        <a:lnSpc>
                          <a:spcPct val="107000"/>
                        </a:lnSpc>
                        <a:spcBef>
                          <a:spcPts val="0"/>
                        </a:spcBef>
                        <a:spcAft>
                          <a:spcPts val="0"/>
                        </a:spcAft>
                      </a:pPr>
                      <a:r>
                        <a:rPr lang="en-US" sz="1400">
                          <a:effectLst/>
                        </a:rPr>
                        <a:t>Whether participants, those administering the interventions, and those assessing the outcomes were blinded to group assignment. If done, how the success of blinding was evaluated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947" marR="6947" marT="6947" marB="6947" anchor="ctr"/>
                </a:tc>
                <a:extLst>
                  <a:ext uri="{0D108BD9-81ED-4DB2-BD59-A6C34878D82A}">
                    <a16:rowId xmlns:a16="http://schemas.microsoft.com/office/drawing/2014/main" val="687552621"/>
                  </a:ext>
                </a:extLst>
              </a:tr>
              <a:tr h="561404">
                <a:tc>
                  <a:txBody>
                    <a:bodyPr/>
                    <a:lstStyle/>
                    <a:p>
                      <a:pPr marL="0" marR="0">
                        <a:lnSpc>
                          <a:spcPct val="107000"/>
                        </a:lnSpc>
                        <a:spcBef>
                          <a:spcPts val="0"/>
                        </a:spcBef>
                        <a:spcAft>
                          <a:spcPts val="0"/>
                        </a:spcAft>
                      </a:pPr>
                      <a:r>
                        <a:rPr lang="en-US" sz="1400">
                          <a:effectLst/>
                        </a:rPr>
                        <a:t>Statistical methods</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947" marR="6947" marT="6947" marB="6947" anchor="ctr"/>
                </a:tc>
                <a:tc>
                  <a:txBody>
                    <a:bodyPr/>
                    <a:lstStyle/>
                    <a:p>
                      <a:pPr marL="0" marR="0" algn="r">
                        <a:lnSpc>
                          <a:spcPct val="107000"/>
                        </a:lnSpc>
                        <a:spcBef>
                          <a:spcPts val="0"/>
                        </a:spcBef>
                        <a:spcAft>
                          <a:spcPts val="0"/>
                        </a:spcAft>
                      </a:pPr>
                      <a:r>
                        <a:rPr lang="en-US" sz="1400">
                          <a:effectLst/>
                        </a:rPr>
                        <a:t>12</a:t>
                      </a:r>
                      <a:r>
                        <a:rPr lang="en-US" sz="1400" u="sng" baseline="30000">
                          <a:effectLst/>
                          <a:hlinkClick r:id="rId4"/>
                        </a:rPr>
                        <a: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947" marR="6947" marT="6947" marB="6947" anchor="b"/>
                </a:tc>
                <a:tc>
                  <a:txBody>
                    <a:bodyPr/>
                    <a:lstStyle/>
                    <a:p>
                      <a:pPr marL="0" marR="0">
                        <a:lnSpc>
                          <a:spcPct val="107000"/>
                        </a:lnSpc>
                        <a:spcBef>
                          <a:spcPts val="0"/>
                        </a:spcBef>
                        <a:spcAft>
                          <a:spcPts val="0"/>
                        </a:spcAft>
                      </a:pPr>
                      <a:r>
                        <a:rPr lang="en-US" sz="1400" dirty="0">
                          <a:effectLst/>
                        </a:rPr>
                        <a:t>Statistical methods used to compare groups for primary outcome(s) indicating how clustering was taken into account, methods for additional analyses, such as subgroup analyses and adjusted analyses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947" marR="6947" marT="6947" marB="6947" anchor="ctr"/>
                </a:tc>
                <a:extLst>
                  <a:ext uri="{0D108BD9-81ED-4DB2-BD59-A6C34878D82A}">
                    <a16:rowId xmlns:a16="http://schemas.microsoft.com/office/drawing/2014/main" val="407177473"/>
                  </a:ext>
                </a:extLst>
              </a:tr>
              <a:tr h="259830">
                <a:tc>
                  <a:txBody>
                    <a:bodyPr/>
                    <a:lstStyle/>
                    <a:p>
                      <a:pPr marL="0" marR="0">
                        <a:lnSpc>
                          <a:spcPct val="107000"/>
                        </a:lnSpc>
                        <a:spcBef>
                          <a:spcPts val="0"/>
                        </a:spcBef>
                        <a:spcAft>
                          <a:spcPts val="0"/>
                        </a:spcAft>
                      </a:pPr>
                      <a:r>
                        <a:rPr lang="en-US" sz="1400">
                          <a:effectLst/>
                        </a:rPr>
                        <a:t>Results</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947" marR="6947" marT="6947" marB="6947" anchor="ctr"/>
                </a:tc>
                <a:tc>
                  <a:txBody>
                    <a:bodyPr/>
                    <a:lstStyle/>
                    <a:p>
                      <a:pPr>
                        <a:lnSpc>
                          <a:spcPct val="107000"/>
                        </a:lnSpc>
                      </a:pPr>
                      <a:endParaRPr lang="en-US" sz="1400">
                        <a:effectLst/>
                        <a:latin typeface="Calibri" panose="020F0502020204030204" pitchFamily="34" charset="0"/>
                        <a:cs typeface="Times New Roman" panose="02020603050405020304" pitchFamily="18" charset="0"/>
                      </a:endParaRPr>
                    </a:p>
                  </a:txBody>
                  <a:tcPr marL="6947" marR="6947" marT="6947" marB="6947" anchor="ctr"/>
                </a:tc>
                <a:tc>
                  <a:txBody>
                    <a:bodyPr/>
                    <a:lstStyle/>
                    <a:p>
                      <a:pPr>
                        <a:lnSpc>
                          <a:spcPct val="107000"/>
                        </a:lnSpc>
                      </a:pPr>
                      <a:endParaRPr lang="en-US" sz="1400">
                        <a:effectLst/>
                        <a:latin typeface="Calibri" panose="020F0502020204030204" pitchFamily="34" charset="0"/>
                        <a:cs typeface="Times New Roman" panose="02020603050405020304" pitchFamily="18" charset="0"/>
                      </a:endParaRPr>
                    </a:p>
                  </a:txBody>
                  <a:tcPr marL="6947" marR="6947" marT="6947" marB="6947" anchor="ctr"/>
                </a:tc>
                <a:extLst>
                  <a:ext uri="{0D108BD9-81ED-4DB2-BD59-A6C34878D82A}">
                    <a16:rowId xmlns:a16="http://schemas.microsoft.com/office/drawing/2014/main" val="828109226"/>
                  </a:ext>
                </a:extLst>
              </a:tr>
              <a:tr h="824159">
                <a:tc>
                  <a:txBody>
                    <a:bodyPr/>
                    <a:lstStyle/>
                    <a:p>
                      <a:pPr marL="0" marR="0">
                        <a:lnSpc>
                          <a:spcPct val="107000"/>
                        </a:lnSpc>
                        <a:spcBef>
                          <a:spcPts val="0"/>
                        </a:spcBef>
                        <a:spcAft>
                          <a:spcPts val="0"/>
                        </a:spcAft>
                      </a:pPr>
                      <a:r>
                        <a:rPr lang="en-US" sz="1400">
                          <a:effectLst/>
                        </a:rPr>
                        <a:t>Participant flow</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947" marR="6947" marT="6947" marB="6947" anchor="ctr"/>
                </a:tc>
                <a:tc>
                  <a:txBody>
                    <a:bodyPr/>
                    <a:lstStyle/>
                    <a:p>
                      <a:pPr marL="0" marR="0" algn="r">
                        <a:lnSpc>
                          <a:spcPct val="107000"/>
                        </a:lnSpc>
                        <a:spcBef>
                          <a:spcPts val="0"/>
                        </a:spcBef>
                        <a:spcAft>
                          <a:spcPts val="0"/>
                        </a:spcAft>
                      </a:pPr>
                      <a:r>
                        <a:rPr lang="en-US" sz="1400">
                          <a:effectLst/>
                        </a:rPr>
                        <a:t>13</a:t>
                      </a:r>
                      <a:r>
                        <a:rPr lang="en-US" sz="1400" u="sng" baseline="30000">
                          <a:effectLst/>
                          <a:hlinkClick r:id="rId4"/>
                        </a:rPr>
                        <a: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947" marR="6947" marT="6947" marB="6947" anchor="b"/>
                </a:tc>
                <a:tc>
                  <a:txBody>
                    <a:bodyPr/>
                    <a:lstStyle/>
                    <a:p>
                      <a:pPr marL="0" marR="0">
                        <a:lnSpc>
                          <a:spcPct val="107000"/>
                        </a:lnSpc>
                        <a:spcBef>
                          <a:spcPts val="0"/>
                        </a:spcBef>
                        <a:spcAft>
                          <a:spcPts val="0"/>
                        </a:spcAft>
                      </a:pPr>
                      <a:r>
                        <a:rPr lang="en-US" sz="1400" dirty="0">
                          <a:effectLst/>
                        </a:rPr>
                        <a:t>Flow of clusters and individual participants through each stage (a diagram is strongly recommended). Specifically, for each group report the numbers of clusters and participants randomly assigned, receiving intended treatment, completing the study protocol, and </a:t>
                      </a:r>
                      <a:r>
                        <a:rPr lang="en-US" sz="1400" dirty="0" err="1">
                          <a:effectLst/>
                        </a:rPr>
                        <a:t>analysed</a:t>
                      </a:r>
                      <a:r>
                        <a:rPr lang="en-US" sz="1400" dirty="0">
                          <a:effectLst/>
                        </a:rPr>
                        <a:t> for the primary outcome. Describe protocol deviations from study as planned, together with reasons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947" marR="6947" marT="6947" marB="6947" anchor="ctr"/>
                </a:tc>
                <a:extLst>
                  <a:ext uri="{0D108BD9-81ED-4DB2-BD59-A6C34878D82A}">
                    <a16:rowId xmlns:a16="http://schemas.microsoft.com/office/drawing/2014/main" val="3627981422"/>
                  </a:ext>
                </a:extLst>
              </a:tr>
              <a:tr h="259830">
                <a:tc>
                  <a:txBody>
                    <a:bodyPr/>
                    <a:lstStyle/>
                    <a:p>
                      <a:pPr marL="0" marR="0">
                        <a:lnSpc>
                          <a:spcPct val="107000"/>
                        </a:lnSpc>
                        <a:spcBef>
                          <a:spcPts val="0"/>
                        </a:spcBef>
                        <a:spcAft>
                          <a:spcPts val="0"/>
                        </a:spcAft>
                      </a:pPr>
                      <a:r>
                        <a:rPr lang="en-US" sz="1400">
                          <a:effectLst/>
                        </a:rPr>
                        <a:t>Recruitment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947" marR="6947" marT="6947" marB="6947" anchor="ctr"/>
                </a:tc>
                <a:tc>
                  <a:txBody>
                    <a:bodyPr/>
                    <a:lstStyle/>
                    <a:p>
                      <a:pPr marL="0" marR="0" algn="r">
                        <a:lnSpc>
                          <a:spcPct val="107000"/>
                        </a:lnSpc>
                        <a:spcBef>
                          <a:spcPts val="0"/>
                        </a:spcBef>
                        <a:spcAft>
                          <a:spcPts val="0"/>
                        </a:spcAft>
                      </a:pPr>
                      <a:r>
                        <a:rPr lang="en-US" sz="1400">
                          <a:effectLst/>
                        </a:rPr>
                        <a:t>14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947" marR="6947" marT="6947" marB="6947" anchor="b"/>
                </a:tc>
                <a:tc>
                  <a:txBody>
                    <a:bodyPr/>
                    <a:lstStyle/>
                    <a:p>
                      <a:pPr marL="0" marR="0">
                        <a:lnSpc>
                          <a:spcPct val="107000"/>
                        </a:lnSpc>
                        <a:spcBef>
                          <a:spcPts val="0"/>
                        </a:spcBef>
                        <a:spcAft>
                          <a:spcPts val="0"/>
                        </a:spcAft>
                      </a:pPr>
                      <a:r>
                        <a:rPr lang="en-US" sz="1400" dirty="0">
                          <a:effectLst/>
                        </a:rPr>
                        <a:t>Dates defining the periods of recruitment and follow up</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947" marR="6947" marT="6947" marB="6947" anchor="ctr"/>
                </a:tc>
                <a:extLst>
                  <a:ext uri="{0D108BD9-81ED-4DB2-BD59-A6C34878D82A}">
                    <a16:rowId xmlns:a16="http://schemas.microsoft.com/office/drawing/2014/main" val="1754796208"/>
                  </a:ext>
                </a:extLst>
              </a:tr>
            </a:tbl>
          </a:graphicData>
        </a:graphic>
      </p:graphicFrame>
      <p:sp>
        <p:nvSpPr>
          <p:cNvPr id="3" name="Footer Placeholder 2">
            <a:extLst>
              <a:ext uri="{FF2B5EF4-FFF2-40B4-BE49-F238E27FC236}">
                <a16:creationId xmlns:a16="http://schemas.microsoft.com/office/drawing/2014/main" id="{215FD1E2-F6CF-6647-B3C8-1985C290B1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6925AD7-7BB1-390C-F707-94D9BFAAF9C5}"/>
              </a:ext>
            </a:extLst>
          </p:cNvPr>
          <p:cNvSpPr>
            <a:spLocks noGrp="1"/>
          </p:cNvSpPr>
          <p:nvPr>
            <p:ph type="sldNum" sz="quarter" idx="12"/>
          </p:nvPr>
        </p:nvSpPr>
        <p:spPr/>
        <p:txBody>
          <a:bodyPr/>
          <a:lstStyle/>
          <a:p>
            <a:fld id="{77C6A7FE-225D-49F1-B302-AA37EA92BB49}" type="slidenum">
              <a:rPr lang="en-US" smtClean="0"/>
              <a:t>118</a:t>
            </a:fld>
            <a:endParaRPr lang="en-US"/>
          </a:p>
        </p:txBody>
      </p:sp>
    </p:spTree>
    <p:extLst>
      <p:ext uri="{BB962C8B-B14F-4D97-AF65-F5344CB8AC3E}">
        <p14:creationId xmlns:p14="http://schemas.microsoft.com/office/powerpoint/2010/main" val="143538772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30"/>
            <a:ext cx="12192000" cy="1429971"/>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400" dirty="0">
                <a:solidFill>
                  <a:schemeClr val="bg1"/>
                </a:solidFill>
                <a:latin typeface="Arial" panose="020B0604020202020204" pitchFamily="34" charset="0"/>
                <a:cs typeface="Arial" panose="020B0604020202020204" pitchFamily="34" charset="0"/>
              </a:rPr>
              <a:t>Checklist of items to include when reporting a cluster randomized trial (adaptations from standard guidelines in italic)</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graphicFrame>
        <p:nvGraphicFramePr>
          <p:cNvPr id="3" name="Table 2">
            <a:extLst>
              <a:ext uri="{FF2B5EF4-FFF2-40B4-BE49-F238E27FC236}">
                <a16:creationId xmlns:a16="http://schemas.microsoft.com/office/drawing/2014/main" id="{A401DB76-65DA-4D46-BE3C-5139318150F7}"/>
              </a:ext>
            </a:extLst>
          </p:cNvPr>
          <p:cNvGraphicFramePr>
            <a:graphicFrameLocks noGrp="1"/>
          </p:cNvGraphicFramePr>
          <p:nvPr>
            <p:extLst>
              <p:ext uri="{D42A27DB-BD31-4B8C-83A1-F6EECF244321}">
                <p14:modId xmlns:p14="http://schemas.microsoft.com/office/powerpoint/2010/main" val="1427282399"/>
              </p:ext>
            </p:extLst>
          </p:nvPr>
        </p:nvGraphicFramePr>
        <p:xfrm>
          <a:off x="-1" y="1622323"/>
          <a:ext cx="12192000" cy="4562166"/>
        </p:xfrm>
        <a:graphic>
          <a:graphicData uri="http://schemas.openxmlformats.org/drawingml/2006/table">
            <a:tbl>
              <a:tblPr firstRow="1" firstCol="1" bandRow="1">
                <a:tableStyleId>{5C22544A-7EE6-4342-B048-85BDC9FD1C3A}</a:tableStyleId>
              </a:tblPr>
              <a:tblGrid>
                <a:gridCol w="1917291">
                  <a:extLst>
                    <a:ext uri="{9D8B030D-6E8A-4147-A177-3AD203B41FA5}">
                      <a16:colId xmlns:a16="http://schemas.microsoft.com/office/drawing/2014/main" val="4087947013"/>
                    </a:ext>
                  </a:extLst>
                </a:gridCol>
                <a:gridCol w="963562">
                  <a:extLst>
                    <a:ext uri="{9D8B030D-6E8A-4147-A177-3AD203B41FA5}">
                      <a16:colId xmlns:a16="http://schemas.microsoft.com/office/drawing/2014/main" val="755288604"/>
                    </a:ext>
                  </a:extLst>
                </a:gridCol>
                <a:gridCol w="9311147">
                  <a:extLst>
                    <a:ext uri="{9D8B030D-6E8A-4147-A177-3AD203B41FA5}">
                      <a16:colId xmlns:a16="http://schemas.microsoft.com/office/drawing/2014/main" val="1392820666"/>
                    </a:ext>
                  </a:extLst>
                </a:gridCol>
              </a:tblGrid>
              <a:tr h="265808">
                <a:tc>
                  <a:txBody>
                    <a:bodyPr/>
                    <a:lstStyle/>
                    <a:p>
                      <a:pPr marL="0" marR="0">
                        <a:lnSpc>
                          <a:spcPct val="107000"/>
                        </a:lnSpc>
                        <a:spcBef>
                          <a:spcPts val="0"/>
                        </a:spcBef>
                        <a:spcAft>
                          <a:spcPts val="0"/>
                        </a:spcAft>
                      </a:pPr>
                      <a:r>
                        <a:rPr lang="en-US" sz="1400" dirty="0">
                          <a:effectLst/>
                        </a:rPr>
                        <a:t>Paper section and topic</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171" marR="7171" marT="7171" marB="7171" anchor="ctr"/>
                </a:tc>
                <a:tc>
                  <a:txBody>
                    <a:bodyPr/>
                    <a:lstStyle/>
                    <a:p>
                      <a:pPr marL="0" marR="0" algn="ctr">
                        <a:lnSpc>
                          <a:spcPct val="107000"/>
                        </a:lnSpc>
                        <a:spcBef>
                          <a:spcPts val="0"/>
                        </a:spcBef>
                        <a:spcAft>
                          <a:spcPts val="0"/>
                        </a:spcAft>
                      </a:pPr>
                      <a:r>
                        <a:rPr lang="en-US" sz="1400">
                          <a:effectLst/>
                        </a:rPr>
                        <a:t>Item</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171" marR="7171" marT="7171" marB="7171" anchor="ctr"/>
                </a:tc>
                <a:tc>
                  <a:txBody>
                    <a:bodyPr/>
                    <a:lstStyle/>
                    <a:p>
                      <a:pPr marL="0" marR="0" algn="ctr">
                        <a:lnSpc>
                          <a:spcPct val="107000"/>
                        </a:lnSpc>
                        <a:spcBef>
                          <a:spcPts val="0"/>
                        </a:spcBef>
                        <a:spcAft>
                          <a:spcPts val="0"/>
                        </a:spcAft>
                      </a:pPr>
                      <a:r>
                        <a:rPr lang="en-US" sz="1400">
                          <a:effectLst/>
                        </a:rPr>
                        <a:t>Descriptor</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171" marR="7171" marT="7171" marB="7171" anchor="ctr"/>
                </a:tc>
                <a:extLst>
                  <a:ext uri="{0D108BD9-81ED-4DB2-BD59-A6C34878D82A}">
                    <a16:rowId xmlns:a16="http://schemas.microsoft.com/office/drawing/2014/main" val="1908463288"/>
                  </a:ext>
                </a:extLst>
              </a:tr>
              <a:tr h="265808">
                <a:tc>
                  <a:txBody>
                    <a:bodyPr/>
                    <a:lstStyle/>
                    <a:p>
                      <a:pPr marL="0" marR="0">
                        <a:lnSpc>
                          <a:spcPct val="107000"/>
                        </a:lnSpc>
                        <a:spcBef>
                          <a:spcPts val="0"/>
                        </a:spcBef>
                        <a:spcAft>
                          <a:spcPts val="0"/>
                        </a:spcAft>
                      </a:pPr>
                      <a:r>
                        <a:rPr lang="en-US" sz="1400">
                          <a:effectLst/>
                        </a:rPr>
                        <a:t>Title and abstract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171" marR="7171" marT="7171" marB="7171" anchor="ctr"/>
                </a:tc>
                <a:tc>
                  <a:txBody>
                    <a:bodyPr/>
                    <a:lstStyle/>
                    <a:p>
                      <a:pPr>
                        <a:lnSpc>
                          <a:spcPct val="107000"/>
                        </a:lnSpc>
                      </a:pPr>
                      <a:endParaRPr lang="en-US" sz="1400">
                        <a:effectLst/>
                        <a:latin typeface="Calibri" panose="020F0502020204030204" pitchFamily="34" charset="0"/>
                        <a:cs typeface="Times New Roman" panose="02020603050405020304" pitchFamily="18" charset="0"/>
                      </a:endParaRPr>
                    </a:p>
                  </a:txBody>
                  <a:tcPr marL="7171" marR="7171" marT="7171" marB="7171" anchor="ctr"/>
                </a:tc>
                <a:tc>
                  <a:txBody>
                    <a:bodyPr/>
                    <a:lstStyle/>
                    <a:p>
                      <a:pPr>
                        <a:lnSpc>
                          <a:spcPct val="107000"/>
                        </a:lnSpc>
                      </a:pPr>
                      <a:endParaRPr lang="en-US" sz="1400">
                        <a:effectLst/>
                        <a:latin typeface="Calibri" panose="020F0502020204030204" pitchFamily="34" charset="0"/>
                        <a:cs typeface="Times New Roman" panose="02020603050405020304" pitchFamily="18" charset="0"/>
                      </a:endParaRPr>
                    </a:p>
                  </a:txBody>
                  <a:tcPr marL="7171" marR="7171" marT="7171" marB="7171" anchor="ctr"/>
                </a:tc>
                <a:extLst>
                  <a:ext uri="{0D108BD9-81ED-4DB2-BD59-A6C34878D82A}">
                    <a16:rowId xmlns:a16="http://schemas.microsoft.com/office/drawing/2014/main" val="4221586738"/>
                  </a:ext>
                </a:extLst>
              </a:tr>
              <a:tr h="302034">
                <a:tc>
                  <a:txBody>
                    <a:bodyPr/>
                    <a:lstStyle/>
                    <a:p>
                      <a:pPr marL="0" marR="0">
                        <a:lnSpc>
                          <a:spcPct val="107000"/>
                        </a:lnSpc>
                        <a:spcBef>
                          <a:spcPts val="0"/>
                        </a:spcBef>
                        <a:spcAft>
                          <a:spcPts val="0"/>
                        </a:spcAft>
                      </a:pPr>
                      <a:r>
                        <a:rPr lang="en-US" sz="1400">
                          <a:effectLst/>
                        </a:rPr>
                        <a:t>Baseline data</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171" marR="7171" marT="7171" marB="7171" anchor="ctr"/>
                </a:tc>
                <a:tc>
                  <a:txBody>
                    <a:bodyPr/>
                    <a:lstStyle/>
                    <a:p>
                      <a:pPr marL="0" marR="0" algn="r">
                        <a:lnSpc>
                          <a:spcPct val="107000"/>
                        </a:lnSpc>
                        <a:spcBef>
                          <a:spcPts val="0"/>
                        </a:spcBef>
                        <a:spcAft>
                          <a:spcPts val="0"/>
                        </a:spcAft>
                      </a:pPr>
                      <a:r>
                        <a:rPr lang="en-US" sz="1400">
                          <a:effectLst/>
                        </a:rPr>
                        <a:t>15</a:t>
                      </a:r>
                      <a:r>
                        <a:rPr lang="en-US" sz="1400" u="sng" baseline="30000">
                          <a:effectLst/>
                          <a:hlinkClick r:id="rId4"/>
                        </a:rPr>
                        <a: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171" marR="7171" marT="7171" marB="7171" anchor="b"/>
                </a:tc>
                <a:tc>
                  <a:txBody>
                    <a:bodyPr/>
                    <a:lstStyle/>
                    <a:p>
                      <a:pPr marL="0" marR="0">
                        <a:lnSpc>
                          <a:spcPct val="107000"/>
                        </a:lnSpc>
                        <a:spcBef>
                          <a:spcPts val="0"/>
                        </a:spcBef>
                        <a:spcAft>
                          <a:spcPts val="0"/>
                        </a:spcAft>
                      </a:pPr>
                      <a:r>
                        <a:rPr lang="en-US" sz="1400">
                          <a:effectLst/>
                        </a:rPr>
                        <a:t>Baseline information for each group for the individual and cluster levels as applicable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171" marR="7171" marT="7171" marB="7171" anchor="ctr"/>
                </a:tc>
                <a:extLst>
                  <a:ext uri="{0D108BD9-81ED-4DB2-BD59-A6C34878D82A}">
                    <a16:rowId xmlns:a16="http://schemas.microsoft.com/office/drawing/2014/main" val="1482604759"/>
                  </a:ext>
                </a:extLst>
              </a:tr>
              <a:tr h="586437">
                <a:tc>
                  <a:txBody>
                    <a:bodyPr/>
                    <a:lstStyle/>
                    <a:p>
                      <a:pPr marL="0" marR="0">
                        <a:lnSpc>
                          <a:spcPct val="107000"/>
                        </a:lnSpc>
                        <a:spcBef>
                          <a:spcPts val="0"/>
                        </a:spcBef>
                        <a:spcAft>
                          <a:spcPts val="0"/>
                        </a:spcAft>
                      </a:pPr>
                      <a:r>
                        <a:rPr lang="en-US" sz="1400">
                          <a:effectLst/>
                        </a:rPr>
                        <a:t>Numbers analysed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171" marR="7171" marT="7171" marB="7171" anchor="ctr"/>
                </a:tc>
                <a:tc>
                  <a:txBody>
                    <a:bodyPr/>
                    <a:lstStyle/>
                    <a:p>
                      <a:pPr marL="0" marR="0" algn="r">
                        <a:lnSpc>
                          <a:spcPct val="107000"/>
                        </a:lnSpc>
                        <a:spcBef>
                          <a:spcPts val="0"/>
                        </a:spcBef>
                        <a:spcAft>
                          <a:spcPts val="0"/>
                        </a:spcAft>
                      </a:pPr>
                      <a:r>
                        <a:rPr lang="en-US" sz="1400">
                          <a:effectLst/>
                        </a:rPr>
                        <a:t>16</a:t>
                      </a:r>
                      <a:r>
                        <a:rPr lang="en-US" sz="1400" u="sng" baseline="30000">
                          <a:effectLst/>
                          <a:hlinkClick r:id="rId4"/>
                        </a:rPr>
                        <a: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171" marR="7171" marT="7171" marB="7171" anchor="b"/>
                </a:tc>
                <a:tc>
                  <a:txBody>
                    <a:bodyPr/>
                    <a:lstStyle/>
                    <a:p>
                      <a:pPr marL="0" marR="0">
                        <a:lnSpc>
                          <a:spcPct val="107000"/>
                        </a:lnSpc>
                        <a:spcBef>
                          <a:spcPts val="0"/>
                        </a:spcBef>
                        <a:spcAft>
                          <a:spcPts val="0"/>
                        </a:spcAft>
                      </a:pPr>
                      <a:r>
                        <a:rPr lang="en-US" sz="1400">
                          <a:effectLst/>
                        </a:rPr>
                        <a:t>Number of clusters and participants (denominator) in each group included in each analysis and whether the analysis was by intention to treat. State the results in absolute numbers when feasible (eg 10/20 not 50%)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171" marR="7171" marT="7171" marB="7171" anchor="ctr"/>
                </a:tc>
                <a:extLst>
                  <a:ext uri="{0D108BD9-81ED-4DB2-BD59-A6C34878D82A}">
                    <a16:rowId xmlns:a16="http://schemas.microsoft.com/office/drawing/2014/main" val="1640839767"/>
                  </a:ext>
                </a:extLst>
              </a:tr>
              <a:tr h="787719">
                <a:tc>
                  <a:txBody>
                    <a:bodyPr/>
                    <a:lstStyle/>
                    <a:p>
                      <a:pPr marL="0" marR="0">
                        <a:lnSpc>
                          <a:spcPct val="107000"/>
                        </a:lnSpc>
                        <a:spcBef>
                          <a:spcPts val="0"/>
                        </a:spcBef>
                        <a:spcAft>
                          <a:spcPts val="0"/>
                        </a:spcAft>
                      </a:pPr>
                      <a:r>
                        <a:rPr lang="en-US" sz="1400">
                          <a:effectLst/>
                        </a:rPr>
                        <a:t>Outcomes and estimation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171" marR="7171" marT="7171" marB="7171" anchor="ctr"/>
                </a:tc>
                <a:tc>
                  <a:txBody>
                    <a:bodyPr/>
                    <a:lstStyle/>
                    <a:p>
                      <a:pPr marL="0" marR="0" algn="r">
                        <a:lnSpc>
                          <a:spcPct val="107000"/>
                        </a:lnSpc>
                        <a:spcBef>
                          <a:spcPts val="0"/>
                        </a:spcBef>
                        <a:spcAft>
                          <a:spcPts val="0"/>
                        </a:spcAft>
                      </a:pPr>
                      <a:r>
                        <a:rPr lang="en-US" sz="1400">
                          <a:effectLst/>
                        </a:rPr>
                        <a:t>17</a:t>
                      </a:r>
                      <a:r>
                        <a:rPr lang="en-US" sz="1400" u="sng" baseline="30000">
                          <a:effectLst/>
                          <a:hlinkClick r:id="rId4"/>
                        </a:rPr>
                        <a: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171" marR="7171" marT="7171" marB="7171" anchor="b"/>
                </a:tc>
                <a:tc>
                  <a:txBody>
                    <a:bodyPr/>
                    <a:lstStyle/>
                    <a:p>
                      <a:pPr marL="0" marR="0">
                        <a:lnSpc>
                          <a:spcPct val="107000"/>
                        </a:lnSpc>
                        <a:spcBef>
                          <a:spcPts val="0"/>
                        </a:spcBef>
                        <a:spcAft>
                          <a:spcPts val="0"/>
                        </a:spcAft>
                      </a:pPr>
                      <a:r>
                        <a:rPr lang="en-US" sz="1400" dirty="0">
                          <a:effectLst/>
                        </a:rPr>
                        <a:t>For each primary and secondary outcome, a summary of results for each group for the individual or cluster level as applicable, and the estimated effect size and its precision (</a:t>
                      </a:r>
                      <a:r>
                        <a:rPr lang="en-US" sz="1400" dirty="0" err="1">
                          <a:effectLst/>
                        </a:rPr>
                        <a:t>eg</a:t>
                      </a:r>
                      <a:r>
                        <a:rPr lang="en-US" sz="1400" dirty="0">
                          <a:effectLst/>
                        </a:rPr>
                        <a:t> 95% confidence interval) and a coefficient of </a:t>
                      </a:r>
                      <a:r>
                        <a:rPr lang="en-US" sz="1400" dirty="0" err="1">
                          <a:effectLst/>
                        </a:rPr>
                        <a:t>intracluster</a:t>
                      </a:r>
                      <a:r>
                        <a:rPr lang="en-US" sz="1400" dirty="0">
                          <a:effectLst/>
                        </a:rPr>
                        <a:t> correlation (ICC or k) for each primary outcome.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171" marR="7171" marT="7171" marB="7171" anchor="ctr"/>
                </a:tc>
                <a:extLst>
                  <a:ext uri="{0D108BD9-81ED-4DB2-BD59-A6C34878D82A}">
                    <a16:rowId xmlns:a16="http://schemas.microsoft.com/office/drawing/2014/main" val="1753476867"/>
                  </a:ext>
                </a:extLst>
              </a:tr>
              <a:tr h="526764">
                <a:tc>
                  <a:txBody>
                    <a:bodyPr/>
                    <a:lstStyle/>
                    <a:p>
                      <a:pPr marL="0" marR="0">
                        <a:lnSpc>
                          <a:spcPct val="107000"/>
                        </a:lnSpc>
                        <a:spcBef>
                          <a:spcPts val="0"/>
                        </a:spcBef>
                        <a:spcAft>
                          <a:spcPts val="0"/>
                        </a:spcAft>
                      </a:pPr>
                      <a:r>
                        <a:rPr lang="en-US" sz="1400">
                          <a:effectLst/>
                        </a:rPr>
                        <a:t>Ancillary analyses</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171" marR="7171" marT="7171" marB="7171" anchor="ctr"/>
                </a:tc>
                <a:tc>
                  <a:txBody>
                    <a:bodyPr/>
                    <a:lstStyle/>
                    <a:p>
                      <a:pPr marL="0" marR="0" algn="r">
                        <a:lnSpc>
                          <a:spcPct val="107000"/>
                        </a:lnSpc>
                        <a:spcBef>
                          <a:spcPts val="0"/>
                        </a:spcBef>
                        <a:spcAft>
                          <a:spcPts val="0"/>
                        </a:spcAft>
                      </a:pPr>
                      <a:r>
                        <a:rPr lang="en-US" sz="1400">
                          <a:effectLst/>
                        </a:rPr>
                        <a:t>18</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171" marR="7171" marT="7171" marB="7171" anchor="b"/>
                </a:tc>
                <a:tc>
                  <a:txBody>
                    <a:bodyPr/>
                    <a:lstStyle/>
                    <a:p>
                      <a:pPr marL="0" marR="0">
                        <a:lnSpc>
                          <a:spcPct val="107000"/>
                        </a:lnSpc>
                        <a:spcBef>
                          <a:spcPts val="0"/>
                        </a:spcBef>
                        <a:spcAft>
                          <a:spcPts val="0"/>
                        </a:spcAft>
                      </a:pPr>
                      <a:r>
                        <a:rPr lang="en-US" sz="1400">
                          <a:effectLst/>
                        </a:rPr>
                        <a:t>Address multiplicity by reporting any other analyses performed, including subgroup analyses and adjusted analyses, indicating those prespecified and those exploratory</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171" marR="7171" marT="7171" marB="7171" anchor="ctr"/>
                </a:tc>
                <a:extLst>
                  <a:ext uri="{0D108BD9-81ED-4DB2-BD59-A6C34878D82A}">
                    <a16:rowId xmlns:a16="http://schemas.microsoft.com/office/drawing/2014/main" val="286597172"/>
                  </a:ext>
                </a:extLst>
              </a:tr>
              <a:tr h="345008">
                <a:tc>
                  <a:txBody>
                    <a:bodyPr/>
                    <a:lstStyle/>
                    <a:p>
                      <a:pPr marL="0" marR="0">
                        <a:lnSpc>
                          <a:spcPct val="107000"/>
                        </a:lnSpc>
                        <a:spcBef>
                          <a:spcPts val="0"/>
                        </a:spcBef>
                        <a:spcAft>
                          <a:spcPts val="0"/>
                        </a:spcAft>
                      </a:pPr>
                      <a:r>
                        <a:rPr lang="en-US" sz="1400">
                          <a:effectLst/>
                        </a:rPr>
                        <a:t>Adverse events</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171" marR="7171" marT="7171" marB="7171" anchor="ctr"/>
                </a:tc>
                <a:tc>
                  <a:txBody>
                    <a:bodyPr/>
                    <a:lstStyle/>
                    <a:p>
                      <a:pPr marL="0" marR="0" algn="r">
                        <a:lnSpc>
                          <a:spcPct val="107000"/>
                        </a:lnSpc>
                        <a:spcBef>
                          <a:spcPts val="0"/>
                        </a:spcBef>
                        <a:spcAft>
                          <a:spcPts val="0"/>
                        </a:spcAft>
                      </a:pPr>
                      <a:r>
                        <a:rPr lang="en-US" sz="1400">
                          <a:effectLst/>
                        </a:rPr>
                        <a:t>19</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171" marR="7171" marT="7171" marB="7171" anchor="b"/>
                </a:tc>
                <a:tc>
                  <a:txBody>
                    <a:bodyPr/>
                    <a:lstStyle/>
                    <a:p>
                      <a:pPr marL="0" marR="0">
                        <a:lnSpc>
                          <a:spcPct val="107000"/>
                        </a:lnSpc>
                        <a:spcBef>
                          <a:spcPts val="0"/>
                        </a:spcBef>
                        <a:spcAft>
                          <a:spcPts val="0"/>
                        </a:spcAft>
                      </a:pPr>
                      <a:r>
                        <a:rPr lang="en-US" sz="1400">
                          <a:effectLst/>
                        </a:rPr>
                        <a:t>All important adverse events or side effects in each intervention group</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171" marR="7171" marT="7171" marB="7171" anchor="ctr"/>
                </a:tc>
                <a:extLst>
                  <a:ext uri="{0D108BD9-81ED-4DB2-BD59-A6C34878D82A}">
                    <a16:rowId xmlns:a16="http://schemas.microsoft.com/office/drawing/2014/main" val="3647165142"/>
                  </a:ext>
                </a:extLst>
              </a:tr>
              <a:tr h="265808">
                <a:tc>
                  <a:txBody>
                    <a:bodyPr/>
                    <a:lstStyle/>
                    <a:p>
                      <a:pPr marL="0" marR="0">
                        <a:lnSpc>
                          <a:spcPct val="107000"/>
                        </a:lnSpc>
                        <a:spcBef>
                          <a:spcPts val="0"/>
                        </a:spcBef>
                        <a:spcAft>
                          <a:spcPts val="0"/>
                        </a:spcAft>
                      </a:pPr>
                      <a:r>
                        <a:rPr lang="en-US" sz="1400">
                          <a:effectLst/>
                        </a:rPr>
                        <a:t>Discussion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171" marR="7171" marT="7171" marB="7171" anchor="ctr"/>
                </a:tc>
                <a:tc>
                  <a:txBody>
                    <a:bodyPr/>
                    <a:lstStyle/>
                    <a:p>
                      <a:pPr>
                        <a:lnSpc>
                          <a:spcPct val="107000"/>
                        </a:lnSpc>
                      </a:pPr>
                      <a:endParaRPr lang="en-US" sz="1400">
                        <a:effectLst/>
                        <a:latin typeface="Calibri" panose="020F0502020204030204" pitchFamily="34" charset="0"/>
                        <a:cs typeface="Times New Roman" panose="02020603050405020304" pitchFamily="18" charset="0"/>
                      </a:endParaRPr>
                    </a:p>
                  </a:txBody>
                  <a:tcPr marL="7171" marR="7171" marT="7171" marB="7171" anchor="ctr"/>
                </a:tc>
                <a:tc>
                  <a:txBody>
                    <a:bodyPr/>
                    <a:lstStyle/>
                    <a:p>
                      <a:pPr>
                        <a:lnSpc>
                          <a:spcPct val="107000"/>
                        </a:lnSpc>
                      </a:pPr>
                      <a:endParaRPr lang="en-US" sz="1400">
                        <a:effectLst/>
                        <a:latin typeface="Calibri" panose="020F0502020204030204" pitchFamily="34" charset="0"/>
                        <a:cs typeface="Times New Roman" panose="02020603050405020304" pitchFamily="18" charset="0"/>
                      </a:endParaRPr>
                    </a:p>
                  </a:txBody>
                  <a:tcPr marL="7171" marR="7171" marT="7171" marB="7171" anchor="ctr"/>
                </a:tc>
                <a:extLst>
                  <a:ext uri="{0D108BD9-81ED-4DB2-BD59-A6C34878D82A}">
                    <a16:rowId xmlns:a16="http://schemas.microsoft.com/office/drawing/2014/main" val="3060371258"/>
                  </a:ext>
                </a:extLst>
              </a:tr>
              <a:tr h="526764">
                <a:tc>
                  <a:txBody>
                    <a:bodyPr/>
                    <a:lstStyle/>
                    <a:p>
                      <a:pPr marL="0" marR="0">
                        <a:lnSpc>
                          <a:spcPct val="107000"/>
                        </a:lnSpc>
                        <a:spcBef>
                          <a:spcPts val="0"/>
                        </a:spcBef>
                        <a:spcAft>
                          <a:spcPts val="0"/>
                        </a:spcAft>
                      </a:pPr>
                      <a:r>
                        <a:rPr lang="en-US" sz="1400">
                          <a:effectLst/>
                        </a:rPr>
                        <a:t>Interpretation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171" marR="7171" marT="7171" marB="7171" anchor="ctr"/>
                </a:tc>
                <a:tc>
                  <a:txBody>
                    <a:bodyPr/>
                    <a:lstStyle/>
                    <a:p>
                      <a:pPr marL="0" marR="0" algn="r">
                        <a:lnSpc>
                          <a:spcPct val="107000"/>
                        </a:lnSpc>
                        <a:spcBef>
                          <a:spcPts val="0"/>
                        </a:spcBef>
                        <a:spcAft>
                          <a:spcPts val="0"/>
                        </a:spcAft>
                      </a:pPr>
                      <a:r>
                        <a:rPr lang="en-US" sz="1400">
                          <a:effectLst/>
                        </a:rPr>
                        <a:t>20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171" marR="7171" marT="7171" marB="7171" anchor="b"/>
                </a:tc>
                <a:tc>
                  <a:txBody>
                    <a:bodyPr/>
                    <a:lstStyle/>
                    <a:p>
                      <a:pPr marL="0" marR="0">
                        <a:lnSpc>
                          <a:spcPct val="107000"/>
                        </a:lnSpc>
                        <a:spcBef>
                          <a:spcPts val="0"/>
                        </a:spcBef>
                        <a:spcAft>
                          <a:spcPts val="0"/>
                        </a:spcAft>
                      </a:pPr>
                      <a:r>
                        <a:rPr lang="en-US" sz="1400">
                          <a:effectLst/>
                        </a:rPr>
                        <a:t>Interpretation of the results, taking into account study hypotheses, sources of potential bias or imprecision and the dangers associated with multiplicity of analyses and outcomes.</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171" marR="7171" marT="7171" marB="7171" anchor="ctr"/>
                </a:tc>
                <a:extLst>
                  <a:ext uri="{0D108BD9-81ED-4DB2-BD59-A6C34878D82A}">
                    <a16:rowId xmlns:a16="http://schemas.microsoft.com/office/drawing/2014/main" val="4281264945"/>
                  </a:ext>
                </a:extLst>
              </a:tr>
              <a:tr h="345008">
                <a:tc>
                  <a:txBody>
                    <a:bodyPr/>
                    <a:lstStyle/>
                    <a:p>
                      <a:pPr marL="0" marR="0">
                        <a:lnSpc>
                          <a:spcPct val="107000"/>
                        </a:lnSpc>
                        <a:spcBef>
                          <a:spcPts val="0"/>
                        </a:spcBef>
                        <a:spcAft>
                          <a:spcPts val="0"/>
                        </a:spcAft>
                      </a:pPr>
                      <a:r>
                        <a:rPr lang="en-US" sz="1400">
                          <a:effectLst/>
                        </a:rPr>
                        <a:t>Generalisability</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171" marR="7171" marT="7171" marB="7171" anchor="ctr"/>
                </a:tc>
                <a:tc>
                  <a:txBody>
                    <a:bodyPr/>
                    <a:lstStyle/>
                    <a:p>
                      <a:pPr marL="0" marR="0" algn="r">
                        <a:lnSpc>
                          <a:spcPct val="107000"/>
                        </a:lnSpc>
                        <a:spcBef>
                          <a:spcPts val="0"/>
                        </a:spcBef>
                        <a:spcAft>
                          <a:spcPts val="0"/>
                        </a:spcAft>
                      </a:pPr>
                      <a:r>
                        <a:rPr lang="en-US" sz="1400">
                          <a:effectLst/>
                        </a:rPr>
                        <a:t>21</a:t>
                      </a:r>
                      <a:r>
                        <a:rPr lang="en-US" sz="1400" u="sng" baseline="30000">
                          <a:effectLst/>
                          <a:hlinkClick r:id="rId4"/>
                        </a:rPr>
                        <a: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171" marR="7171" marT="7171" marB="7171" anchor="b"/>
                </a:tc>
                <a:tc>
                  <a:txBody>
                    <a:bodyPr/>
                    <a:lstStyle/>
                    <a:p>
                      <a:pPr marL="0" marR="0">
                        <a:lnSpc>
                          <a:spcPct val="107000"/>
                        </a:lnSpc>
                        <a:spcBef>
                          <a:spcPts val="0"/>
                        </a:spcBef>
                        <a:spcAft>
                          <a:spcPts val="0"/>
                        </a:spcAft>
                      </a:pPr>
                      <a:r>
                        <a:rPr lang="en-US" sz="1400" dirty="0" err="1">
                          <a:effectLst/>
                        </a:rPr>
                        <a:t>Generalisability</a:t>
                      </a:r>
                      <a:r>
                        <a:rPr lang="en-US" sz="1400" dirty="0">
                          <a:effectLst/>
                        </a:rPr>
                        <a:t> (external validity) to individuals and/or clusters (as relevant) of the trial findings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171" marR="7171" marT="7171" marB="7171" anchor="ctr"/>
                </a:tc>
                <a:extLst>
                  <a:ext uri="{0D108BD9-81ED-4DB2-BD59-A6C34878D82A}">
                    <a16:rowId xmlns:a16="http://schemas.microsoft.com/office/drawing/2014/main" val="932992969"/>
                  </a:ext>
                </a:extLst>
              </a:tr>
              <a:tr h="345008">
                <a:tc>
                  <a:txBody>
                    <a:bodyPr/>
                    <a:lstStyle/>
                    <a:p>
                      <a:pPr marL="0" marR="0">
                        <a:lnSpc>
                          <a:spcPct val="107000"/>
                        </a:lnSpc>
                        <a:spcBef>
                          <a:spcPts val="0"/>
                        </a:spcBef>
                        <a:spcAft>
                          <a:spcPts val="0"/>
                        </a:spcAft>
                      </a:pPr>
                      <a:r>
                        <a:rPr lang="en-US" sz="1400">
                          <a:effectLst/>
                        </a:rPr>
                        <a:t>Overall evidence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171" marR="7171" marT="7171" marB="7171" anchor="ctr"/>
                </a:tc>
                <a:tc>
                  <a:txBody>
                    <a:bodyPr/>
                    <a:lstStyle/>
                    <a:p>
                      <a:pPr marL="0" marR="0" algn="r">
                        <a:lnSpc>
                          <a:spcPct val="107000"/>
                        </a:lnSpc>
                        <a:spcBef>
                          <a:spcPts val="0"/>
                        </a:spcBef>
                        <a:spcAft>
                          <a:spcPts val="0"/>
                        </a:spcAft>
                      </a:pPr>
                      <a:r>
                        <a:rPr lang="en-US" sz="1400">
                          <a:effectLst/>
                        </a:rPr>
                        <a:t>22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7171" marR="7171" marT="7171" marB="7171" anchor="b"/>
                </a:tc>
                <a:tc>
                  <a:txBody>
                    <a:bodyPr/>
                    <a:lstStyle/>
                    <a:p>
                      <a:pPr marL="0" marR="0">
                        <a:lnSpc>
                          <a:spcPct val="107000"/>
                        </a:lnSpc>
                        <a:spcBef>
                          <a:spcPts val="0"/>
                        </a:spcBef>
                        <a:spcAft>
                          <a:spcPts val="0"/>
                        </a:spcAft>
                      </a:pPr>
                      <a:r>
                        <a:rPr lang="en-US" sz="1400" dirty="0">
                          <a:effectLst/>
                        </a:rPr>
                        <a:t>General interpretation of the results in the context of current evidence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171" marR="7171" marT="7171" marB="7171" anchor="ctr"/>
                </a:tc>
                <a:extLst>
                  <a:ext uri="{0D108BD9-81ED-4DB2-BD59-A6C34878D82A}">
                    <a16:rowId xmlns:a16="http://schemas.microsoft.com/office/drawing/2014/main" val="777602844"/>
                  </a:ext>
                </a:extLst>
              </a:tr>
            </a:tbl>
          </a:graphicData>
        </a:graphic>
      </p:graphicFrame>
      <p:sp>
        <p:nvSpPr>
          <p:cNvPr id="2" name="Footer Placeholder 1">
            <a:extLst>
              <a:ext uri="{FF2B5EF4-FFF2-40B4-BE49-F238E27FC236}">
                <a16:creationId xmlns:a16="http://schemas.microsoft.com/office/drawing/2014/main" id="{80C97F14-2B3F-7F44-ABA4-12D83B1FAFC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CAC9F99-8689-5E4A-C32B-C33ACAF8113A}"/>
              </a:ext>
            </a:extLst>
          </p:cNvPr>
          <p:cNvSpPr>
            <a:spLocks noGrp="1"/>
          </p:cNvSpPr>
          <p:nvPr>
            <p:ph type="sldNum" sz="quarter" idx="12"/>
          </p:nvPr>
        </p:nvSpPr>
        <p:spPr/>
        <p:txBody>
          <a:bodyPr/>
          <a:lstStyle/>
          <a:p>
            <a:fld id="{77C6A7FE-225D-49F1-B302-AA37EA92BB49}" type="slidenum">
              <a:rPr lang="en-US" smtClean="0"/>
              <a:t>119</a:t>
            </a:fld>
            <a:endParaRPr lang="en-US"/>
          </a:p>
        </p:txBody>
      </p:sp>
    </p:spTree>
    <p:extLst>
      <p:ext uri="{BB962C8B-B14F-4D97-AF65-F5344CB8AC3E}">
        <p14:creationId xmlns:p14="http://schemas.microsoft.com/office/powerpoint/2010/main" val="16307823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30"/>
            <a:ext cx="12192000" cy="1429971"/>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400" dirty="0">
                <a:solidFill>
                  <a:schemeClr val="bg1"/>
                </a:solidFill>
                <a:latin typeface="Arial" panose="020B0604020202020204" pitchFamily="34" charset="0"/>
                <a:cs typeface="Arial" panose="020B0604020202020204" pitchFamily="34" charset="0"/>
              </a:rPr>
              <a:t>Checklist of items for reporting pragmatic trials</a:t>
            </a:r>
          </a:p>
          <a:p>
            <a:pPr algn="ctr"/>
            <a:r>
              <a:rPr lang="en-US" sz="2000" dirty="0" err="1"/>
              <a:t>Zwarenstein</a:t>
            </a:r>
            <a:r>
              <a:rPr lang="en-US" sz="2000" dirty="0"/>
              <a:t> M, Treweek S, Gagnier JJ, Altman DG, Tunis S, Haynes B, Oxman AD, Moher D; CONSORT group; Pragmatic Trials in Healthcare (</a:t>
            </a:r>
            <a:r>
              <a:rPr lang="en-US" sz="2000" dirty="0" err="1"/>
              <a:t>Practihc</a:t>
            </a:r>
            <a:r>
              <a:rPr lang="en-US" sz="2000" dirty="0"/>
              <a:t>) group. </a:t>
            </a:r>
            <a:r>
              <a:rPr lang="en-US" sz="2000" i="1" dirty="0"/>
              <a:t>Improving the reporting of pragmatic trials: an extension of the CONSORT statement.</a:t>
            </a:r>
            <a:r>
              <a:rPr lang="en-US" sz="2000" dirty="0"/>
              <a:t> </a:t>
            </a:r>
            <a:r>
              <a:rPr lang="en-US" sz="2000" b="1" dirty="0"/>
              <a:t>BMJ.</a:t>
            </a:r>
            <a:r>
              <a:rPr lang="en-US" sz="2000" dirty="0"/>
              <a:t> 2008;337:a2390. doi:10.1136/bmj.a2390</a:t>
            </a:r>
            <a:endParaRPr lang="en-US" altLang="en-US" sz="2000" dirty="0">
              <a:solidFill>
                <a:schemeClr val="bg1"/>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graphicFrame>
        <p:nvGraphicFramePr>
          <p:cNvPr id="2" name="Table 1">
            <a:extLst>
              <a:ext uri="{FF2B5EF4-FFF2-40B4-BE49-F238E27FC236}">
                <a16:creationId xmlns:a16="http://schemas.microsoft.com/office/drawing/2014/main" id="{16B79150-73B2-46A9-B854-1CF840F45E37}"/>
              </a:ext>
            </a:extLst>
          </p:cNvPr>
          <p:cNvGraphicFramePr>
            <a:graphicFrameLocks noGrp="1"/>
          </p:cNvGraphicFramePr>
          <p:nvPr>
            <p:extLst>
              <p:ext uri="{D42A27DB-BD31-4B8C-83A1-F6EECF244321}">
                <p14:modId xmlns:p14="http://schemas.microsoft.com/office/powerpoint/2010/main" val="51339523"/>
              </p:ext>
            </p:extLst>
          </p:nvPr>
        </p:nvGraphicFramePr>
        <p:xfrm>
          <a:off x="0" y="1664849"/>
          <a:ext cx="12191999" cy="4156260"/>
        </p:xfrm>
        <a:graphic>
          <a:graphicData uri="http://schemas.openxmlformats.org/drawingml/2006/table">
            <a:tbl>
              <a:tblPr firstRow="1" firstCol="1" bandRow="1">
                <a:tableStyleId>{5C22544A-7EE6-4342-B048-85BDC9FD1C3A}</a:tableStyleId>
              </a:tblPr>
              <a:tblGrid>
                <a:gridCol w="1718491">
                  <a:extLst>
                    <a:ext uri="{9D8B030D-6E8A-4147-A177-3AD203B41FA5}">
                      <a16:colId xmlns:a16="http://schemas.microsoft.com/office/drawing/2014/main" val="1697425077"/>
                    </a:ext>
                  </a:extLst>
                </a:gridCol>
                <a:gridCol w="824412">
                  <a:extLst>
                    <a:ext uri="{9D8B030D-6E8A-4147-A177-3AD203B41FA5}">
                      <a16:colId xmlns:a16="http://schemas.microsoft.com/office/drawing/2014/main" val="3778318626"/>
                    </a:ext>
                  </a:extLst>
                </a:gridCol>
                <a:gridCol w="3762102">
                  <a:extLst>
                    <a:ext uri="{9D8B030D-6E8A-4147-A177-3AD203B41FA5}">
                      <a16:colId xmlns:a16="http://schemas.microsoft.com/office/drawing/2014/main" val="3564820473"/>
                    </a:ext>
                  </a:extLst>
                </a:gridCol>
                <a:gridCol w="5886994">
                  <a:extLst>
                    <a:ext uri="{9D8B030D-6E8A-4147-A177-3AD203B41FA5}">
                      <a16:colId xmlns:a16="http://schemas.microsoft.com/office/drawing/2014/main" val="249381857"/>
                    </a:ext>
                  </a:extLst>
                </a:gridCol>
              </a:tblGrid>
              <a:tr h="63522">
                <a:tc>
                  <a:txBody>
                    <a:bodyPr/>
                    <a:lstStyle/>
                    <a:p>
                      <a:pPr marL="0" marR="0">
                        <a:lnSpc>
                          <a:spcPct val="115000"/>
                        </a:lnSpc>
                        <a:spcBef>
                          <a:spcPts val="0"/>
                        </a:spcBef>
                        <a:spcAft>
                          <a:spcPts val="0"/>
                        </a:spcAft>
                      </a:pPr>
                      <a:r>
                        <a:rPr lang="en-US" sz="1100" dirty="0">
                          <a:effectLst/>
                        </a:rPr>
                        <a:t>Section</a:t>
                      </a:r>
                      <a:endParaRPr lang="en-US" sz="1100" dirty="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gn="ctr">
                        <a:lnSpc>
                          <a:spcPct val="115000"/>
                        </a:lnSpc>
                        <a:spcBef>
                          <a:spcPts val="0"/>
                        </a:spcBef>
                        <a:spcAft>
                          <a:spcPts val="0"/>
                        </a:spcAft>
                      </a:pPr>
                      <a:r>
                        <a:rPr lang="en-US" sz="1100">
                          <a:effectLst/>
                        </a:rPr>
                        <a:t>Item</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gn="ctr">
                        <a:lnSpc>
                          <a:spcPct val="115000"/>
                        </a:lnSpc>
                        <a:spcBef>
                          <a:spcPts val="0"/>
                        </a:spcBef>
                        <a:spcAft>
                          <a:spcPts val="0"/>
                        </a:spcAft>
                      </a:pPr>
                      <a:r>
                        <a:rPr lang="en-US" sz="1100">
                          <a:effectLst/>
                        </a:rPr>
                        <a:t>Standard CONSORT description</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gn="ctr">
                        <a:lnSpc>
                          <a:spcPct val="115000"/>
                        </a:lnSpc>
                        <a:spcBef>
                          <a:spcPts val="0"/>
                        </a:spcBef>
                        <a:spcAft>
                          <a:spcPts val="0"/>
                        </a:spcAft>
                      </a:pPr>
                      <a:r>
                        <a:rPr lang="en-US" sz="1100">
                          <a:effectLst/>
                        </a:rPr>
                        <a:t>Extension for pragmatic trials</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extLst>
                  <a:ext uri="{0D108BD9-81ED-4DB2-BD59-A6C34878D82A}">
                    <a16:rowId xmlns:a16="http://schemas.microsoft.com/office/drawing/2014/main" val="2369075024"/>
                  </a:ext>
                </a:extLst>
              </a:tr>
              <a:tr h="162482">
                <a:tc>
                  <a:txBody>
                    <a:bodyPr/>
                    <a:lstStyle/>
                    <a:p>
                      <a:pPr marL="0" marR="0">
                        <a:lnSpc>
                          <a:spcPct val="115000"/>
                        </a:lnSpc>
                        <a:spcBef>
                          <a:spcPts val="0"/>
                        </a:spcBef>
                        <a:spcAft>
                          <a:spcPts val="0"/>
                        </a:spcAft>
                      </a:pPr>
                      <a:r>
                        <a:rPr lang="en-US" sz="1100">
                          <a:effectLst/>
                        </a:rPr>
                        <a:t>Title and abstract</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gn="ctr">
                        <a:lnSpc>
                          <a:spcPct val="115000"/>
                        </a:lnSpc>
                        <a:spcBef>
                          <a:spcPts val="0"/>
                        </a:spcBef>
                        <a:spcAft>
                          <a:spcPts val="0"/>
                        </a:spcAft>
                      </a:pPr>
                      <a:r>
                        <a:rPr lang="en-US" sz="1100">
                          <a:effectLst/>
                        </a:rPr>
                        <a:t>1</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nSpc>
                          <a:spcPct val="115000"/>
                        </a:lnSpc>
                        <a:spcBef>
                          <a:spcPts val="0"/>
                        </a:spcBef>
                        <a:spcAft>
                          <a:spcPts val="0"/>
                        </a:spcAft>
                      </a:pPr>
                      <a:r>
                        <a:rPr lang="en-US" sz="1100" dirty="0">
                          <a:effectLst/>
                        </a:rPr>
                        <a:t>How participants were allocated to interventions (</a:t>
                      </a:r>
                      <a:r>
                        <a:rPr lang="en-US" sz="1100" dirty="0" err="1">
                          <a:effectLst/>
                        </a:rPr>
                        <a:t>eg</a:t>
                      </a:r>
                      <a:r>
                        <a:rPr lang="en-US" sz="1100" dirty="0">
                          <a:effectLst/>
                        </a:rPr>
                        <a:t>, “random allocation,” “</a:t>
                      </a:r>
                      <a:r>
                        <a:rPr lang="en-US" sz="1100" dirty="0" err="1">
                          <a:effectLst/>
                        </a:rPr>
                        <a:t>randomised</a:t>
                      </a:r>
                      <a:r>
                        <a:rPr lang="en-US" sz="1100" dirty="0">
                          <a:effectLst/>
                        </a:rPr>
                        <a:t>,” or “randomly assigned”) </a:t>
                      </a:r>
                      <a:endParaRPr lang="en-US" sz="1100" dirty="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a:lnSpc>
                          <a:spcPct val="115000"/>
                        </a:lnSpc>
                      </a:pPr>
                      <a:endParaRPr lang="en-US" sz="1100">
                        <a:effectLst/>
                        <a:latin typeface="Arial" panose="020B0604020202020204" pitchFamily="34" charset="0"/>
                      </a:endParaRPr>
                    </a:p>
                  </a:txBody>
                  <a:tcPr marL="2553" marR="2553" marT="2553" marB="2553" anchor="ctr"/>
                </a:tc>
                <a:extLst>
                  <a:ext uri="{0D108BD9-81ED-4DB2-BD59-A6C34878D82A}">
                    <a16:rowId xmlns:a16="http://schemas.microsoft.com/office/drawing/2014/main" val="401977111"/>
                  </a:ext>
                </a:extLst>
              </a:tr>
              <a:tr h="34272">
                <a:tc>
                  <a:txBody>
                    <a:bodyPr/>
                    <a:lstStyle/>
                    <a:p>
                      <a:pPr marL="0" marR="0">
                        <a:lnSpc>
                          <a:spcPct val="115000"/>
                        </a:lnSpc>
                        <a:spcBef>
                          <a:spcPts val="0"/>
                        </a:spcBef>
                        <a:spcAft>
                          <a:spcPts val="0"/>
                        </a:spcAft>
                      </a:pPr>
                      <a:r>
                        <a:rPr lang="en-US" sz="1100">
                          <a:effectLst/>
                        </a:rPr>
                        <a:t>Introduction</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algn="ctr">
                        <a:lnSpc>
                          <a:spcPct val="115000"/>
                        </a:lnSpc>
                      </a:pPr>
                      <a:endParaRPr lang="en-US" sz="1100" dirty="0">
                        <a:effectLst/>
                        <a:latin typeface="Arial" panose="020B0604020202020204" pitchFamily="34" charset="0"/>
                      </a:endParaRPr>
                    </a:p>
                  </a:txBody>
                  <a:tcPr marL="2553" marR="2553" marT="2553" marB="2553" anchor="ctr"/>
                </a:tc>
                <a:tc>
                  <a:txBody>
                    <a:bodyPr/>
                    <a:lstStyle/>
                    <a:p>
                      <a:pPr>
                        <a:lnSpc>
                          <a:spcPct val="115000"/>
                        </a:lnSpc>
                      </a:pPr>
                      <a:endParaRPr lang="en-US" sz="1100">
                        <a:effectLst/>
                        <a:latin typeface="Arial" panose="020B0604020202020204" pitchFamily="34" charset="0"/>
                      </a:endParaRPr>
                    </a:p>
                  </a:txBody>
                  <a:tcPr marL="2553" marR="2553" marT="2553" marB="2553" anchor="ctr"/>
                </a:tc>
                <a:tc>
                  <a:txBody>
                    <a:bodyPr/>
                    <a:lstStyle/>
                    <a:p>
                      <a:pPr>
                        <a:lnSpc>
                          <a:spcPct val="115000"/>
                        </a:lnSpc>
                      </a:pPr>
                      <a:endParaRPr lang="en-US" sz="1100">
                        <a:effectLst/>
                        <a:latin typeface="Arial" panose="020B0604020202020204" pitchFamily="34" charset="0"/>
                      </a:endParaRPr>
                    </a:p>
                  </a:txBody>
                  <a:tcPr marL="2553" marR="2553" marT="2553" marB="2553" anchor="ctr"/>
                </a:tc>
                <a:extLst>
                  <a:ext uri="{0D108BD9-81ED-4DB2-BD59-A6C34878D82A}">
                    <a16:rowId xmlns:a16="http://schemas.microsoft.com/office/drawing/2014/main" val="3431672034"/>
                  </a:ext>
                </a:extLst>
              </a:tr>
              <a:tr h="202066">
                <a:tc>
                  <a:txBody>
                    <a:bodyPr/>
                    <a:lstStyle/>
                    <a:p>
                      <a:pPr marL="0" marR="0">
                        <a:lnSpc>
                          <a:spcPct val="115000"/>
                        </a:lnSpc>
                        <a:spcBef>
                          <a:spcPts val="0"/>
                        </a:spcBef>
                        <a:spcAft>
                          <a:spcPts val="0"/>
                        </a:spcAft>
                      </a:pPr>
                      <a:r>
                        <a:rPr lang="en-US" sz="1100">
                          <a:effectLst/>
                        </a:rPr>
                        <a:t>Background</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gn="ctr">
                        <a:lnSpc>
                          <a:spcPct val="115000"/>
                        </a:lnSpc>
                        <a:spcBef>
                          <a:spcPts val="0"/>
                        </a:spcBef>
                        <a:spcAft>
                          <a:spcPts val="0"/>
                        </a:spcAft>
                      </a:pPr>
                      <a:r>
                        <a:rPr lang="en-US" sz="1100">
                          <a:effectLst/>
                        </a:rPr>
                        <a:t>2</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nSpc>
                          <a:spcPct val="115000"/>
                        </a:lnSpc>
                        <a:spcBef>
                          <a:spcPts val="0"/>
                        </a:spcBef>
                        <a:spcAft>
                          <a:spcPts val="0"/>
                        </a:spcAft>
                      </a:pPr>
                      <a:r>
                        <a:rPr lang="en-US" sz="1100">
                          <a:effectLst/>
                        </a:rPr>
                        <a:t>Scientific background and explanation of rationale </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nSpc>
                          <a:spcPct val="115000"/>
                        </a:lnSpc>
                        <a:spcBef>
                          <a:spcPts val="0"/>
                        </a:spcBef>
                        <a:spcAft>
                          <a:spcPts val="0"/>
                        </a:spcAft>
                      </a:pPr>
                      <a:r>
                        <a:rPr lang="en-US" sz="1100">
                          <a:effectLst/>
                        </a:rPr>
                        <a:t>Describe the health or health service problem that the intervention is intended to address and other interventions that may commonly be aimed at this problem </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extLst>
                  <a:ext uri="{0D108BD9-81ED-4DB2-BD59-A6C34878D82A}">
                    <a16:rowId xmlns:a16="http://schemas.microsoft.com/office/drawing/2014/main" val="1328713639"/>
                  </a:ext>
                </a:extLst>
              </a:tr>
              <a:tr h="34272">
                <a:tc>
                  <a:txBody>
                    <a:bodyPr/>
                    <a:lstStyle/>
                    <a:p>
                      <a:pPr marL="0" marR="0">
                        <a:lnSpc>
                          <a:spcPct val="115000"/>
                        </a:lnSpc>
                        <a:spcBef>
                          <a:spcPts val="0"/>
                        </a:spcBef>
                        <a:spcAft>
                          <a:spcPts val="0"/>
                        </a:spcAft>
                      </a:pPr>
                      <a:r>
                        <a:rPr lang="en-US" sz="1100">
                          <a:effectLst/>
                        </a:rPr>
                        <a:t>Methods</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algn="ctr">
                        <a:lnSpc>
                          <a:spcPct val="115000"/>
                        </a:lnSpc>
                      </a:pPr>
                      <a:endParaRPr lang="en-US" sz="1100">
                        <a:effectLst/>
                        <a:latin typeface="Arial" panose="020B0604020202020204" pitchFamily="34" charset="0"/>
                      </a:endParaRPr>
                    </a:p>
                  </a:txBody>
                  <a:tcPr marL="2553" marR="2553" marT="2553" marB="2553" anchor="ctr"/>
                </a:tc>
                <a:tc>
                  <a:txBody>
                    <a:bodyPr/>
                    <a:lstStyle/>
                    <a:p>
                      <a:pPr>
                        <a:lnSpc>
                          <a:spcPct val="115000"/>
                        </a:lnSpc>
                      </a:pPr>
                      <a:endParaRPr lang="en-US" sz="1100" dirty="0">
                        <a:effectLst/>
                        <a:latin typeface="Arial" panose="020B0604020202020204" pitchFamily="34" charset="0"/>
                      </a:endParaRPr>
                    </a:p>
                  </a:txBody>
                  <a:tcPr marL="2553" marR="2553" marT="2553" marB="2553" anchor="ctr"/>
                </a:tc>
                <a:tc>
                  <a:txBody>
                    <a:bodyPr/>
                    <a:lstStyle/>
                    <a:p>
                      <a:pPr>
                        <a:lnSpc>
                          <a:spcPct val="115000"/>
                        </a:lnSpc>
                      </a:pPr>
                      <a:endParaRPr lang="en-US" sz="1100">
                        <a:effectLst/>
                        <a:latin typeface="Arial" panose="020B0604020202020204" pitchFamily="34" charset="0"/>
                      </a:endParaRPr>
                    </a:p>
                  </a:txBody>
                  <a:tcPr marL="2553" marR="2553" marT="2553" marB="2553" anchor="ctr"/>
                </a:tc>
                <a:extLst>
                  <a:ext uri="{0D108BD9-81ED-4DB2-BD59-A6C34878D82A}">
                    <a16:rowId xmlns:a16="http://schemas.microsoft.com/office/drawing/2014/main" val="1445648746"/>
                  </a:ext>
                </a:extLst>
              </a:tr>
              <a:tr h="340608">
                <a:tc>
                  <a:txBody>
                    <a:bodyPr/>
                    <a:lstStyle/>
                    <a:p>
                      <a:pPr marL="0" marR="0">
                        <a:lnSpc>
                          <a:spcPct val="115000"/>
                        </a:lnSpc>
                        <a:spcBef>
                          <a:spcPts val="0"/>
                        </a:spcBef>
                        <a:spcAft>
                          <a:spcPts val="0"/>
                        </a:spcAft>
                      </a:pPr>
                      <a:r>
                        <a:rPr lang="en-US" sz="1100">
                          <a:effectLst/>
                        </a:rPr>
                        <a:t>Participants</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gn="ctr">
                        <a:lnSpc>
                          <a:spcPct val="115000"/>
                        </a:lnSpc>
                        <a:spcBef>
                          <a:spcPts val="0"/>
                        </a:spcBef>
                        <a:spcAft>
                          <a:spcPts val="0"/>
                        </a:spcAft>
                      </a:pPr>
                      <a:r>
                        <a:rPr lang="en-US" sz="1100">
                          <a:effectLst/>
                        </a:rPr>
                        <a:t>3</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nSpc>
                          <a:spcPct val="115000"/>
                        </a:lnSpc>
                        <a:spcBef>
                          <a:spcPts val="0"/>
                        </a:spcBef>
                        <a:spcAft>
                          <a:spcPts val="0"/>
                        </a:spcAft>
                      </a:pPr>
                      <a:r>
                        <a:rPr lang="en-US" sz="1100" dirty="0">
                          <a:effectLst/>
                        </a:rPr>
                        <a:t>Eligibility criteria for participants; settings and locations where the data were collected </a:t>
                      </a:r>
                      <a:endParaRPr lang="en-US" sz="1100" dirty="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nSpc>
                          <a:spcPct val="115000"/>
                        </a:lnSpc>
                        <a:spcBef>
                          <a:spcPts val="0"/>
                        </a:spcBef>
                        <a:spcAft>
                          <a:spcPts val="0"/>
                        </a:spcAft>
                      </a:pPr>
                      <a:r>
                        <a:rPr lang="en-US" sz="1100">
                          <a:effectLst/>
                        </a:rPr>
                        <a:t>Eligibility criteria should be explicitly framed to show the degree to which they include typical participants and/or, where applicable, typical providers (eg, nurses), institutions (eg, hospitals), communities (or localities eg, towns) and settings of care (eg, different healthcare financing systems) </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extLst>
                  <a:ext uri="{0D108BD9-81ED-4DB2-BD59-A6C34878D82A}">
                    <a16:rowId xmlns:a16="http://schemas.microsoft.com/office/drawing/2014/main" val="4028890686"/>
                  </a:ext>
                </a:extLst>
              </a:tr>
              <a:tr h="360400">
                <a:tc rowSpan="2">
                  <a:txBody>
                    <a:bodyPr/>
                    <a:lstStyle/>
                    <a:p>
                      <a:pPr marL="0" marR="0">
                        <a:lnSpc>
                          <a:spcPct val="115000"/>
                        </a:lnSpc>
                        <a:spcBef>
                          <a:spcPts val="0"/>
                        </a:spcBef>
                        <a:spcAft>
                          <a:spcPts val="0"/>
                        </a:spcAft>
                      </a:pPr>
                      <a:r>
                        <a:rPr lang="en-US" sz="1100" dirty="0">
                          <a:effectLst/>
                        </a:rPr>
                        <a:t>Interventions</a:t>
                      </a:r>
                      <a:endParaRPr lang="en-US" sz="1100" dirty="0">
                        <a:effectLst/>
                        <a:latin typeface="Times New Roman" panose="02020603050405020304" pitchFamily="18" charset="0"/>
                        <a:ea typeface="Times New Roman" panose="02020603050405020304" pitchFamily="18" charset="0"/>
                      </a:endParaRPr>
                    </a:p>
                  </a:txBody>
                  <a:tcPr marL="2553" marR="2553" marT="2553" marB="2553" anchor="ctr"/>
                </a:tc>
                <a:tc rowSpan="2">
                  <a:txBody>
                    <a:bodyPr/>
                    <a:lstStyle/>
                    <a:p>
                      <a:pPr marL="0" marR="0" algn="ctr">
                        <a:lnSpc>
                          <a:spcPct val="115000"/>
                        </a:lnSpc>
                        <a:spcBef>
                          <a:spcPts val="0"/>
                        </a:spcBef>
                        <a:spcAft>
                          <a:spcPts val="0"/>
                        </a:spcAft>
                      </a:pPr>
                      <a:r>
                        <a:rPr lang="en-US" sz="1100">
                          <a:effectLst/>
                        </a:rPr>
                        <a:t>4</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rowSpan="2">
                  <a:txBody>
                    <a:bodyPr/>
                    <a:lstStyle/>
                    <a:p>
                      <a:pPr marL="0" marR="0">
                        <a:lnSpc>
                          <a:spcPct val="115000"/>
                        </a:lnSpc>
                        <a:spcBef>
                          <a:spcPts val="0"/>
                        </a:spcBef>
                        <a:spcAft>
                          <a:spcPts val="0"/>
                        </a:spcAft>
                      </a:pPr>
                      <a:r>
                        <a:rPr lang="en-US" sz="1100" dirty="0">
                          <a:effectLst/>
                        </a:rPr>
                        <a:t>Precise details of the interventions intended for each group and how and when they were actually administered </a:t>
                      </a:r>
                      <a:endParaRPr lang="en-US" sz="1100" dirty="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nSpc>
                          <a:spcPct val="115000"/>
                        </a:lnSpc>
                        <a:spcBef>
                          <a:spcPts val="0"/>
                        </a:spcBef>
                        <a:spcAft>
                          <a:spcPts val="0"/>
                        </a:spcAft>
                      </a:pPr>
                      <a:r>
                        <a:rPr lang="en-US" sz="1100">
                          <a:effectLst/>
                        </a:rPr>
                        <a:t>Describe extra resources added to (or resources removed from) usual settings in order to implement intervention. Indicate if efforts were made to standardise the intervention or if the intervention and its delivery were allowed to vary between participants, practitioners, or study sites </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extLst>
                  <a:ext uri="{0D108BD9-81ED-4DB2-BD59-A6C34878D82A}">
                    <a16:rowId xmlns:a16="http://schemas.microsoft.com/office/drawing/2014/main" val="2317986813"/>
                  </a:ext>
                </a:extLst>
              </a:tr>
              <a:tr h="17653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nSpc>
                          <a:spcPct val="115000"/>
                        </a:lnSpc>
                        <a:spcBef>
                          <a:spcPts val="0"/>
                        </a:spcBef>
                        <a:spcAft>
                          <a:spcPts val="0"/>
                        </a:spcAft>
                      </a:pPr>
                      <a:r>
                        <a:rPr lang="en-US" sz="1100">
                          <a:effectLst/>
                        </a:rPr>
                        <a:t>Describe the comparator in similar detail to the intervention </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extLst>
                  <a:ext uri="{0D108BD9-81ED-4DB2-BD59-A6C34878D82A}">
                    <a16:rowId xmlns:a16="http://schemas.microsoft.com/office/drawing/2014/main" val="2570416121"/>
                  </a:ext>
                </a:extLst>
              </a:tr>
              <a:tr h="97369">
                <a:tc>
                  <a:txBody>
                    <a:bodyPr/>
                    <a:lstStyle/>
                    <a:p>
                      <a:pPr marL="0" marR="0">
                        <a:lnSpc>
                          <a:spcPct val="115000"/>
                        </a:lnSpc>
                        <a:spcBef>
                          <a:spcPts val="0"/>
                        </a:spcBef>
                        <a:spcAft>
                          <a:spcPts val="0"/>
                        </a:spcAft>
                      </a:pPr>
                      <a:r>
                        <a:rPr lang="en-US" sz="1100">
                          <a:effectLst/>
                        </a:rPr>
                        <a:t>Objectives</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gn="ctr">
                        <a:lnSpc>
                          <a:spcPct val="115000"/>
                        </a:lnSpc>
                        <a:spcBef>
                          <a:spcPts val="0"/>
                        </a:spcBef>
                        <a:spcAft>
                          <a:spcPts val="0"/>
                        </a:spcAft>
                      </a:pPr>
                      <a:r>
                        <a:rPr lang="en-US" sz="1100">
                          <a:effectLst/>
                        </a:rPr>
                        <a:t>5</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nSpc>
                          <a:spcPct val="115000"/>
                        </a:lnSpc>
                        <a:spcBef>
                          <a:spcPts val="0"/>
                        </a:spcBef>
                        <a:spcAft>
                          <a:spcPts val="0"/>
                        </a:spcAft>
                      </a:pPr>
                      <a:r>
                        <a:rPr lang="en-US" sz="1100">
                          <a:effectLst/>
                        </a:rPr>
                        <a:t>Specific objectives and hypotheses </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a:lnSpc>
                          <a:spcPct val="115000"/>
                        </a:lnSpc>
                      </a:pPr>
                      <a:endParaRPr lang="en-US" sz="1100">
                        <a:effectLst/>
                        <a:latin typeface="Arial" panose="020B0604020202020204" pitchFamily="34" charset="0"/>
                      </a:endParaRPr>
                    </a:p>
                  </a:txBody>
                  <a:tcPr marL="2553" marR="2553" marT="2553" marB="2553" anchor="ctr"/>
                </a:tc>
                <a:extLst>
                  <a:ext uri="{0D108BD9-81ED-4DB2-BD59-A6C34878D82A}">
                    <a16:rowId xmlns:a16="http://schemas.microsoft.com/office/drawing/2014/main" val="3991709906"/>
                  </a:ext>
                </a:extLst>
              </a:tr>
              <a:tr h="241650">
                <a:tc>
                  <a:txBody>
                    <a:bodyPr/>
                    <a:lstStyle/>
                    <a:p>
                      <a:pPr marL="0" marR="0">
                        <a:lnSpc>
                          <a:spcPct val="115000"/>
                        </a:lnSpc>
                        <a:spcBef>
                          <a:spcPts val="0"/>
                        </a:spcBef>
                        <a:spcAft>
                          <a:spcPts val="0"/>
                        </a:spcAft>
                      </a:pPr>
                      <a:r>
                        <a:rPr lang="en-US" sz="1100">
                          <a:effectLst/>
                        </a:rPr>
                        <a:t>Outcomes</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gn="ctr">
                        <a:lnSpc>
                          <a:spcPct val="115000"/>
                        </a:lnSpc>
                        <a:spcBef>
                          <a:spcPts val="0"/>
                        </a:spcBef>
                        <a:spcAft>
                          <a:spcPts val="0"/>
                        </a:spcAft>
                      </a:pPr>
                      <a:r>
                        <a:rPr lang="en-US" sz="1100">
                          <a:effectLst/>
                        </a:rPr>
                        <a:t>6</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nSpc>
                          <a:spcPct val="115000"/>
                        </a:lnSpc>
                        <a:spcBef>
                          <a:spcPts val="0"/>
                        </a:spcBef>
                        <a:spcAft>
                          <a:spcPts val="0"/>
                        </a:spcAft>
                      </a:pPr>
                      <a:r>
                        <a:rPr lang="en-US" sz="1100" dirty="0">
                          <a:effectLst/>
                        </a:rPr>
                        <a:t>Clearly defined primary and secondary outcome measures and, when applicable, any methods used to enhance the quality of measurements (</a:t>
                      </a:r>
                      <a:r>
                        <a:rPr lang="en-US" sz="1100" dirty="0" err="1">
                          <a:effectLst/>
                        </a:rPr>
                        <a:t>eg</a:t>
                      </a:r>
                      <a:r>
                        <a:rPr lang="en-US" sz="1100" dirty="0">
                          <a:effectLst/>
                        </a:rPr>
                        <a:t>, multiple observations, training of assessors) </a:t>
                      </a:r>
                      <a:endParaRPr lang="en-US" sz="1100" dirty="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nSpc>
                          <a:spcPct val="115000"/>
                        </a:lnSpc>
                        <a:spcBef>
                          <a:spcPts val="0"/>
                        </a:spcBef>
                        <a:spcAft>
                          <a:spcPts val="0"/>
                        </a:spcAft>
                      </a:pPr>
                      <a:r>
                        <a:rPr lang="en-US" sz="1100">
                          <a:effectLst/>
                        </a:rPr>
                        <a:t>Explain why the chosen outcomes and, when relevant, the length of follow-up are considered important to those who will use the results of the trial </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extLst>
                  <a:ext uri="{0D108BD9-81ED-4DB2-BD59-A6C34878D82A}">
                    <a16:rowId xmlns:a16="http://schemas.microsoft.com/office/drawing/2014/main" val="452668256"/>
                  </a:ext>
                </a:extLst>
              </a:tr>
              <a:tr h="261440">
                <a:tc>
                  <a:txBody>
                    <a:bodyPr/>
                    <a:lstStyle/>
                    <a:p>
                      <a:pPr marL="0" marR="0">
                        <a:lnSpc>
                          <a:spcPct val="115000"/>
                        </a:lnSpc>
                        <a:spcBef>
                          <a:spcPts val="0"/>
                        </a:spcBef>
                        <a:spcAft>
                          <a:spcPts val="0"/>
                        </a:spcAft>
                      </a:pPr>
                      <a:r>
                        <a:rPr lang="en-US" sz="1100">
                          <a:effectLst/>
                        </a:rPr>
                        <a:t>Sample size</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gn="ctr">
                        <a:lnSpc>
                          <a:spcPct val="115000"/>
                        </a:lnSpc>
                        <a:spcBef>
                          <a:spcPts val="0"/>
                        </a:spcBef>
                        <a:spcAft>
                          <a:spcPts val="0"/>
                        </a:spcAft>
                      </a:pPr>
                      <a:r>
                        <a:rPr lang="en-US" sz="1100">
                          <a:effectLst/>
                        </a:rPr>
                        <a:t>7</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nSpc>
                          <a:spcPct val="115000"/>
                        </a:lnSpc>
                        <a:spcBef>
                          <a:spcPts val="0"/>
                        </a:spcBef>
                        <a:spcAft>
                          <a:spcPts val="0"/>
                        </a:spcAft>
                      </a:pPr>
                      <a:r>
                        <a:rPr lang="en-US" sz="1100">
                          <a:effectLst/>
                        </a:rPr>
                        <a:t>How sample size was determined; explanation of any interim analyses and stopping rules when applicable </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nSpc>
                          <a:spcPct val="115000"/>
                        </a:lnSpc>
                        <a:spcBef>
                          <a:spcPts val="0"/>
                        </a:spcBef>
                        <a:spcAft>
                          <a:spcPts val="0"/>
                        </a:spcAft>
                      </a:pPr>
                      <a:r>
                        <a:rPr lang="en-US" sz="1100">
                          <a:effectLst/>
                        </a:rPr>
                        <a:t>If calculated using the smallest difference considered important by the target decision maker audience (the minimally important difference) then report where this difference was obtained </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extLst>
                  <a:ext uri="{0D108BD9-81ED-4DB2-BD59-A6C34878D82A}">
                    <a16:rowId xmlns:a16="http://schemas.microsoft.com/office/drawing/2014/main" val="2669054398"/>
                  </a:ext>
                </a:extLst>
              </a:tr>
              <a:tr h="162482">
                <a:tc>
                  <a:txBody>
                    <a:bodyPr/>
                    <a:lstStyle/>
                    <a:p>
                      <a:pPr marL="0" marR="0">
                        <a:lnSpc>
                          <a:spcPct val="115000"/>
                        </a:lnSpc>
                        <a:spcBef>
                          <a:spcPts val="0"/>
                        </a:spcBef>
                        <a:spcAft>
                          <a:spcPts val="0"/>
                        </a:spcAft>
                      </a:pPr>
                      <a:r>
                        <a:rPr lang="en-US" sz="1100" dirty="0" err="1">
                          <a:effectLst/>
                        </a:rPr>
                        <a:t>Randomisation</a:t>
                      </a:r>
                      <a:r>
                        <a:rPr lang="en-US" sz="1100" dirty="0">
                          <a:effectLst/>
                        </a:rPr>
                        <a:t>—sequence generation</a:t>
                      </a:r>
                      <a:endParaRPr lang="en-US" sz="1100" dirty="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gn="ctr">
                        <a:lnSpc>
                          <a:spcPct val="115000"/>
                        </a:lnSpc>
                        <a:spcBef>
                          <a:spcPts val="0"/>
                        </a:spcBef>
                        <a:spcAft>
                          <a:spcPts val="0"/>
                        </a:spcAft>
                      </a:pPr>
                      <a:r>
                        <a:rPr lang="en-US" sz="1100" dirty="0">
                          <a:effectLst/>
                        </a:rPr>
                        <a:t>8</a:t>
                      </a:r>
                      <a:endParaRPr lang="en-US" sz="1100" dirty="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nSpc>
                          <a:spcPct val="115000"/>
                        </a:lnSpc>
                        <a:spcBef>
                          <a:spcPts val="0"/>
                        </a:spcBef>
                        <a:spcAft>
                          <a:spcPts val="0"/>
                        </a:spcAft>
                      </a:pPr>
                      <a:r>
                        <a:rPr lang="en-US" sz="1100">
                          <a:effectLst/>
                        </a:rPr>
                        <a:t>Method used to generate the random allocation sequence, including details of any restriction (eg, blocking, stratification) </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a:lnSpc>
                          <a:spcPct val="115000"/>
                        </a:lnSpc>
                      </a:pPr>
                      <a:endParaRPr lang="en-US" sz="1100" dirty="0">
                        <a:effectLst/>
                        <a:latin typeface="Arial" panose="020B0604020202020204" pitchFamily="34" charset="0"/>
                      </a:endParaRPr>
                    </a:p>
                  </a:txBody>
                  <a:tcPr marL="2553" marR="2553" marT="2553" marB="2553" anchor="ctr"/>
                </a:tc>
                <a:extLst>
                  <a:ext uri="{0D108BD9-81ED-4DB2-BD59-A6C34878D82A}">
                    <a16:rowId xmlns:a16="http://schemas.microsoft.com/office/drawing/2014/main" val="901987820"/>
                  </a:ext>
                </a:extLst>
              </a:tr>
            </a:tbl>
          </a:graphicData>
        </a:graphic>
      </p:graphicFrame>
      <p:sp>
        <p:nvSpPr>
          <p:cNvPr id="5" name="Slide Number Placeholder 4">
            <a:extLst>
              <a:ext uri="{FF2B5EF4-FFF2-40B4-BE49-F238E27FC236}">
                <a16:creationId xmlns:a16="http://schemas.microsoft.com/office/drawing/2014/main" id="{F7928C00-595E-4035-641F-F56578658CF6}"/>
              </a:ext>
            </a:extLst>
          </p:cNvPr>
          <p:cNvSpPr>
            <a:spLocks noGrp="1"/>
          </p:cNvSpPr>
          <p:nvPr>
            <p:ph type="sldNum" sz="quarter" idx="12"/>
          </p:nvPr>
        </p:nvSpPr>
        <p:spPr/>
        <p:txBody>
          <a:bodyPr/>
          <a:lstStyle/>
          <a:p>
            <a:fld id="{77C6A7FE-225D-49F1-B302-AA37EA92BB49}" type="slidenum">
              <a:rPr lang="en-US" smtClean="0"/>
              <a:t>120</a:t>
            </a:fld>
            <a:endParaRPr lang="en-US"/>
          </a:p>
        </p:txBody>
      </p:sp>
    </p:spTree>
    <p:extLst>
      <p:ext uri="{BB962C8B-B14F-4D97-AF65-F5344CB8AC3E}">
        <p14:creationId xmlns:p14="http://schemas.microsoft.com/office/powerpoint/2010/main" val="385199784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30"/>
            <a:ext cx="12192000" cy="1429971"/>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400" dirty="0">
                <a:solidFill>
                  <a:schemeClr val="bg1"/>
                </a:solidFill>
                <a:latin typeface="Arial" panose="020B0604020202020204" pitchFamily="34" charset="0"/>
                <a:cs typeface="Arial" panose="020B0604020202020204" pitchFamily="34" charset="0"/>
              </a:rPr>
              <a:t>Checklist of items for reporting pragmatic trials (cont.)</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graphicFrame>
        <p:nvGraphicFramePr>
          <p:cNvPr id="2" name="Table 1">
            <a:extLst>
              <a:ext uri="{FF2B5EF4-FFF2-40B4-BE49-F238E27FC236}">
                <a16:creationId xmlns:a16="http://schemas.microsoft.com/office/drawing/2014/main" id="{16B79150-73B2-46A9-B854-1CF840F45E37}"/>
              </a:ext>
            </a:extLst>
          </p:cNvPr>
          <p:cNvGraphicFramePr>
            <a:graphicFrameLocks noGrp="1"/>
          </p:cNvGraphicFramePr>
          <p:nvPr>
            <p:extLst>
              <p:ext uri="{D42A27DB-BD31-4B8C-83A1-F6EECF244321}">
                <p14:modId xmlns:p14="http://schemas.microsoft.com/office/powerpoint/2010/main" val="833097923"/>
              </p:ext>
            </p:extLst>
          </p:nvPr>
        </p:nvGraphicFramePr>
        <p:xfrm>
          <a:off x="0" y="1622957"/>
          <a:ext cx="12192000" cy="4335719"/>
        </p:xfrm>
        <a:graphic>
          <a:graphicData uri="http://schemas.openxmlformats.org/drawingml/2006/table">
            <a:tbl>
              <a:tblPr firstRow="1" firstCol="1" bandRow="1">
                <a:tableStyleId>{5C22544A-7EE6-4342-B048-85BDC9FD1C3A}</a:tableStyleId>
              </a:tblPr>
              <a:tblGrid>
                <a:gridCol w="1768511">
                  <a:extLst>
                    <a:ext uri="{9D8B030D-6E8A-4147-A177-3AD203B41FA5}">
                      <a16:colId xmlns:a16="http://schemas.microsoft.com/office/drawing/2014/main" val="1697425077"/>
                    </a:ext>
                  </a:extLst>
                </a:gridCol>
                <a:gridCol w="823965">
                  <a:extLst>
                    <a:ext uri="{9D8B030D-6E8A-4147-A177-3AD203B41FA5}">
                      <a16:colId xmlns:a16="http://schemas.microsoft.com/office/drawing/2014/main" val="3778318626"/>
                    </a:ext>
                  </a:extLst>
                </a:gridCol>
                <a:gridCol w="5777802">
                  <a:extLst>
                    <a:ext uri="{9D8B030D-6E8A-4147-A177-3AD203B41FA5}">
                      <a16:colId xmlns:a16="http://schemas.microsoft.com/office/drawing/2014/main" val="3564820473"/>
                    </a:ext>
                  </a:extLst>
                </a:gridCol>
                <a:gridCol w="3821722">
                  <a:extLst>
                    <a:ext uri="{9D8B030D-6E8A-4147-A177-3AD203B41FA5}">
                      <a16:colId xmlns:a16="http://schemas.microsoft.com/office/drawing/2014/main" val="249381857"/>
                    </a:ext>
                  </a:extLst>
                </a:gridCol>
              </a:tblGrid>
              <a:tr h="252361">
                <a:tc>
                  <a:txBody>
                    <a:bodyPr/>
                    <a:lstStyle/>
                    <a:p>
                      <a:pPr marL="0" marR="0">
                        <a:lnSpc>
                          <a:spcPct val="115000"/>
                        </a:lnSpc>
                        <a:spcBef>
                          <a:spcPts val="0"/>
                        </a:spcBef>
                        <a:spcAft>
                          <a:spcPts val="0"/>
                        </a:spcAft>
                      </a:pPr>
                      <a:r>
                        <a:rPr lang="en-US" sz="1100" dirty="0">
                          <a:effectLst/>
                        </a:rPr>
                        <a:t>Section</a:t>
                      </a:r>
                      <a:endParaRPr lang="en-US" sz="1100" dirty="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gn="ctr">
                        <a:lnSpc>
                          <a:spcPct val="115000"/>
                        </a:lnSpc>
                        <a:spcBef>
                          <a:spcPts val="0"/>
                        </a:spcBef>
                        <a:spcAft>
                          <a:spcPts val="0"/>
                        </a:spcAft>
                      </a:pPr>
                      <a:r>
                        <a:rPr lang="en-US" sz="1100">
                          <a:effectLst/>
                        </a:rPr>
                        <a:t>Item</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gn="ctr">
                        <a:lnSpc>
                          <a:spcPct val="115000"/>
                        </a:lnSpc>
                        <a:spcBef>
                          <a:spcPts val="0"/>
                        </a:spcBef>
                        <a:spcAft>
                          <a:spcPts val="0"/>
                        </a:spcAft>
                      </a:pPr>
                      <a:r>
                        <a:rPr lang="en-US" sz="1100">
                          <a:effectLst/>
                        </a:rPr>
                        <a:t>Standard CONSORT description</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gn="ctr">
                        <a:lnSpc>
                          <a:spcPct val="115000"/>
                        </a:lnSpc>
                        <a:spcBef>
                          <a:spcPts val="0"/>
                        </a:spcBef>
                        <a:spcAft>
                          <a:spcPts val="0"/>
                        </a:spcAft>
                      </a:pPr>
                      <a:r>
                        <a:rPr lang="en-US" sz="1100">
                          <a:effectLst/>
                        </a:rPr>
                        <a:t>Extension for pragmatic trials</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extLst>
                  <a:ext uri="{0D108BD9-81ED-4DB2-BD59-A6C34878D82A}">
                    <a16:rowId xmlns:a16="http://schemas.microsoft.com/office/drawing/2014/main" val="2369075024"/>
                  </a:ext>
                </a:extLst>
              </a:tr>
              <a:tr h="511600">
                <a:tc>
                  <a:txBody>
                    <a:bodyPr/>
                    <a:lstStyle/>
                    <a:p>
                      <a:pPr marL="0" marR="0">
                        <a:lnSpc>
                          <a:spcPct val="115000"/>
                        </a:lnSpc>
                        <a:spcBef>
                          <a:spcPts val="0"/>
                        </a:spcBef>
                        <a:spcAft>
                          <a:spcPts val="0"/>
                        </a:spcAft>
                      </a:pPr>
                      <a:r>
                        <a:rPr lang="en-US" sz="1100" dirty="0" err="1">
                          <a:effectLst/>
                        </a:rPr>
                        <a:t>Randomisation</a:t>
                      </a:r>
                      <a:r>
                        <a:rPr lang="en-US" sz="1100" dirty="0">
                          <a:effectLst/>
                        </a:rPr>
                        <a:t>—allocation concealment</a:t>
                      </a:r>
                      <a:endParaRPr lang="en-US" sz="1100" dirty="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gn="ctr">
                        <a:lnSpc>
                          <a:spcPct val="115000"/>
                        </a:lnSpc>
                        <a:spcBef>
                          <a:spcPts val="0"/>
                        </a:spcBef>
                        <a:spcAft>
                          <a:spcPts val="0"/>
                        </a:spcAft>
                      </a:pPr>
                      <a:r>
                        <a:rPr lang="en-US" sz="1100">
                          <a:effectLst/>
                        </a:rPr>
                        <a:t>9</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nSpc>
                          <a:spcPct val="115000"/>
                        </a:lnSpc>
                        <a:spcBef>
                          <a:spcPts val="0"/>
                        </a:spcBef>
                        <a:spcAft>
                          <a:spcPts val="0"/>
                        </a:spcAft>
                      </a:pPr>
                      <a:r>
                        <a:rPr lang="en-US" sz="1100" dirty="0">
                          <a:effectLst/>
                        </a:rPr>
                        <a:t>Method used to implement the random allocation sequence (</a:t>
                      </a:r>
                      <a:r>
                        <a:rPr lang="en-US" sz="1100" dirty="0" err="1">
                          <a:effectLst/>
                        </a:rPr>
                        <a:t>eg</a:t>
                      </a:r>
                      <a:r>
                        <a:rPr lang="en-US" sz="1100" dirty="0">
                          <a:effectLst/>
                        </a:rPr>
                        <a:t>, numbered containers or central telephone), clarifying whether the sequence was concealed until interventions were assigned </a:t>
                      </a:r>
                      <a:endParaRPr lang="en-US" sz="1100" dirty="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a:lnSpc>
                          <a:spcPct val="115000"/>
                        </a:lnSpc>
                      </a:pPr>
                      <a:endParaRPr lang="en-US" sz="1100" dirty="0">
                        <a:effectLst/>
                        <a:latin typeface="Arial" panose="020B0604020202020204" pitchFamily="34" charset="0"/>
                      </a:endParaRPr>
                    </a:p>
                  </a:txBody>
                  <a:tcPr marL="2553" marR="2553" marT="2553" marB="2553" anchor="ctr"/>
                </a:tc>
                <a:extLst>
                  <a:ext uri="{0D108BD9-81ED-4DB2-BD59-A6C34878D82A}">
                    <a16:rowId xmlns:a16="http://schemas.microsoft.com/office/drawing/2014/main" val="2947193727"/>
                  </a:ext>
                </a:extLst>
              </a:tr>
              <a:tr h="761398">
                <a:tc>
                  <a:txBody>
                    <a:bodyPr/>
                    <a:lstStyle/>
                    <a:p>
                      <a:pPr marL="0" marR="0">
                        <a:lnSpc>
                          <a:spcPct val="115000"/>
                        </a:lnSpc>
                        <a:spcBef>
                          <a:spcPts val="0"/>
                        </a:spcBef>
                        <a:spcAft>
                          <a:spcPts val="0"/>
                        </a:spcAft>
                      </a:pPr>
                      <a:r>
                        <a:rPr lang="en-US" sz="1100">
                          <a:effectLst/>
                        </a:rPr>
                        <a:t>Randomisation—implementation</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gn="ctr">
                        <a:lnSpc>
                          <a:spcPct val="115000"/>
                        </a:lnSpc>
                        <a:spcBef>
                          <a:spcPts val="0"/>
                        </a:spcBef>
                        <a:spcAft>
                          <a:spcPts val="0"/>
                        </a:spcAft>
                      </a:pPr>
                      <a:r>
                        <a:rPr lang="en-US" sz="1100">
                          <a:effectLst/>
                        </a:rPr>
                        <a:t>10</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nSpc>
                          <a:spcPct val="115000"/>
                        </a:lnSpc>
                        <a:spcBef>
                          <a:spcPts val="0"/>
                        </a:spcBef>
                        <a:spcAft>
                          <a:spcPts val="0"/>
                        </a:spcAft>
                      </a:pPr>
                      <a:r>
                        <a:rPr lang="en-US" sz="1100" dirty="0">
                          <a:effectLst/>
                        </a:rPr>
                        <a:t>Who generated the allocation sequence, who enrolled participants, and who assigned participants to their groups </a:t>
                      </a:r>
                      <a:endParaRPr lang="en-US" sz="1100" dirty="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a:lnSpc>
                          <a:spcPct val="115000"/>
                        </a:lnSpc>
                      </a:pPr>
                      <a:endParaRPr lang="en-US" sz="1100">
                        <a:effectLst/>
                        <a:latin typeface="Arial" panose="020B0604020202020204" pitchFamily="34" charset="0"/>
                      </a:endParaRPr>
                    </a:p>
                  </a:txBody>
                  <a:tcPr marL="2553" marR="2553" marT="2553" marB="2553" anchor="ctr"/>
                </a:tc>
                <a:extLst>
                  <a:ext uri="{0D108BD9-81ED-4DB2-BD59-A6C34878D82A}">
                    <a16:rowId xmlns:a16="http://schemas.microsoft.com/office/drawing/2014/main" val="743434301"/>
                  </a:ext>
                </a:extLst>
              </a:tr>
              <a:tr h="511600">
                <a:tc>
                  <a:txBody>
                    <a:bodyPr/>
                    <a:lstStyle/>
                    <a:p>
                      <a:pPr marL="0" marR="0">
                        <a:lnSpc>
                          <a:spcPct val="115000"/>
                        </a:lnSpc>
                        <a:spcBef>
                          <a:spcPts val="0"/>
                        </a:spcBef>
                        <a:spcAft>
                          <a:spcPts val="0"/>
                        </a:spcAft>
                      </a:pPr>
                      <a:r>
                        <a:rPr lang="en-US" sz="1100">
                          <a:effectLst/>
                        </a:rPr>
                        <a:t>Blinding (masking)</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gn="ctr">
                        <a:lnSpc>
                          <a:spcPct val="115000"/>
                        </a:lnSpc>
                        <a:spcBef>
                          <a:spcPts val="0"/>
                        </a:spcBef>
                        <a:spcAft>
                          <a:spcPts val="0"/>
                        </a:spcAft>
                      </a:pPr>
                      <a:r>
                        <a:rPr lang="en-US" sz="1100">
                          <a:effectLst/>
                        </a:rPr>
                        <a:t>11</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nSpc>
                          <a:spcPct val="115000"/>
                        </a:lnSpc>
                        <a:spcBef>
                          <a:spcPts val="0"/>
                        </a:spcBef>
                        <a:spcAft>
                          <a:spcPts val="0"/>
                        </a:spcAft>
                      </a:pPr>
                      <a:r>
                        <a:rPr lang="en-US" sz="1100">
                          <a:effectLst/>
                        </a:rPr>
                        <a:t>Whether participants, those administering the interventions, and those assessing the outcomes were blinded to group assignment </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nSpc>
                          <a:spcPct val="115000"/>
                        </a:lnSpc>
                        <a:spcBef>
                          <a:spcPts val="0"/>
                        </a:spcBef>
                        <a:spcAft>
                          <a:spcPts val="0"/>
                        </a:spcAft>
                      </a:pPr>
                      <a:r>
                        <a:rPr lang="en-US" sz="1100" dirty="0">
                          <a:effectLst/>
                        </a:rPr>
                        <a:t>If blinding was not done, or was not possible, explain why </a:t>
                      </a:r>
                      <a:endParaRPr lang="en-US" sz="1100" dirty="0">
                        <a:effectLst/>
                        <a:latin typeface="Times New Roman" panose="02020603050405020304" pitchFamily="18" charset="0"/>
                        <a:ea typeface="Times New Roman" panose="02020603050405020304" pitchFamily="18" charset="0"/>
                      </a:endParaRPr>
                    </a:p>
                  </a:txBody>
                  <a:tcPr marL="2553" marR="2553" marT="2553" marB="2553" anchor="ctr"/>
                </a:tc>
                <a:extLst>
                  <a:ext uri="{0D108BD9-81ED-4DB2-BD59-A6C34878D82A}">
                    <a16:rowId xmlns:a16="http://schemas.microsoft.com/office/drawing/2014/main" val="2723881315"/>
                  </a:ext>
                </a:extLst>
              </a:tr>
              <a:tr h="511600">
                <a:tc>
                  <a:txBody>
                    <a:bodyPr/>
                    <a:lstStyle/>
                    <a:p>
                      <a:pPr marL="0" marR="0">
                        <a:lnSpc>
                          <a:spcPct val="115000"/>
                        </a:lnSpc>
                        <a:spcBef>
                          <a:spcPts val="0"/>
                        </a:spcBef>
                        <a:spcAft>
                          <a:spcPts val="0"/>
                        </a:spcAft>
                      </a:pPr>
                      <a:r>
                        <a:rPr lang="en-US" sz="1100">
                          <a:effectLst/>
                        </a:rPr>
                        <a:t>Statistical methods</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gn="ctr">
                        <a:lnSpc>
                          <a:spcPct val="115000"/>
                        </a:lnSpc>
                        <a:spcBef>
                          <a:spcPts val="0"/>
                        </a:spcBef>
                        <a:spcAft>
                          <a:spcPts val="0"/>
                        </a:spcAft>
                      </a:pPr>
                      <a:r>
                        <a:rPr lang="en-US" sz="1100">
                          <a:effectLst/>
                        </a:rPr>
                        <a:t>12</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nSpc>
                          <a:spcPct val="115000"/>
                        </a:lnSpc>
                        <a:spcBef>
                          <a:spcPts val="0"/>
                        </a:spcBef>
                        <a:spcAft>
                          <a:spcPts val="0"/>
                        </a:spcAft>
                      </a:pPr>
                      <a:r>
                        <a:rPr lang="en-US" sz="1100">
                          <a:effectLst/>
                        </a:rPr>
                        <a:t>Statistical methods used to compare groups for primary outcomes; methods for additional analyses, such as subgroup analyses and adjusted analyses </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a:lnSpc>
                          <a:spcPct val="115000"/>
                        </a:lnSpc>
                      </a:pPr>
                      <a:endParaRPr lang="en-US" sz="1100">
                        <a:effectLst/>
                        <a:latin typeface="Arial" panose="020B0604020202020204" pitchFamily="34" charset="0"/>
                      </a:endParaRPr>
                    </a:p>
                  </a:txBody>
                  <a:tcPr marL="2553" marR="2553" marT="2553" marB="2553" anchor="ctr"/>
                </a:tc>
                <a:extLst>
                  <a:ext uri="{0D108BD9-81ED-4DB2-BD59-A6C34878D82A}">
                    <a16:rowId xmlns:a16="http://schemas.microsoft.com/office/drawing/2014/main" val="4228625329"/>
                  </a:ext>
                </a:extLst>
              </a:tr>
              <a:tr h="252361">
                <a:tc>
                  <a:txBody>
                    <a:bodyPr/>
                    <a:lstStyle/>
                    <a:p>
                      <a:pPr marL="0" marR="0">
                        <a:lnSpc>
                          <a:spcPct val="115000"/>
                        </a:lnSpc>
                        <a:spcBef>
                          <a:spcPts val="0"/>
                        </a:spcBef>
                        <a:spcAft>
                          <a:spcPts val="0"/>
                        </a:spcAft>
                      </a:pPr>
                      <a:r>
                        <a:rPr lang="en-US" sz="1100">
                          <a:effectLst/>
                        </a:rPr>
                        <a:t>Results</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algn="ctr">
                        <a:lnSpc>
                          <a:spcPct val="115000"/>
                        </a:lnSpc>
                      </a:pPr>
                      <a:endParaRPr lang="en-US" sz="1100">
                        <a:effectLst/>
                        <a:latin typeface="Arial" panose="020B0604020202020204" pitchFamily="34" charset="0"/>
                      </a:endParaRPr>
                    </a:p>
                  </a:txBody>
                  <a:tcPr marL="2553" marR="2553" marT="2553" marB="2553" anchor="ctr"/>
                </a:tc>
                <a:tc>
                  <a:txBody>
                    <a:bodyPr/>
                    <a:lstStyle/>
                    <a:p>
                      <a:pPr>
                        <a:lnSpc>
                          <a:spcPct val="115000"/>
                        </a:lnSpc>
                      </a:pPr>
                      <a:endParaRPr lang="en-US" sz="1100">
                        <a:effectLst/>
                        <a:latin typeface="Arial" panose="020B0604020202020204" pitchFamily="34" charset="0"/>
                      </a:endParaRPr>
                    </a:p>
                  </a:txBody>
                  <a:tcPr marL="2553" marR="2553" marT="2553" marB="2553" anchor="ctr"/>
                </a:tc>
                <a:tc>
                  <a:txBody>
                    <a:bodyPr/>
                    <a:lstStyle/>
                    <a:p>
                      <a:pPr>
                        <a:lnSpc>
                          <a:spcPct val="115000"/>
                        </a:lnSpc>
                      </a:pPr>
                      <a:endParaRPr lang="en-US" sz="1100">
                        <a:effectLst/>
                        <a:latin typeface="Arial" panose="020B0604020202020204" pitchFamily="34" charset="0"/>
                      </a:endParaRPr>
                    </a:p>
                  </a:txBody>
                  <a:tcPr marL="2553" marR="2553" marT="2553" marB="2553" anchor="ctr"/>
                </a:tc>
                <a:extLst>
                  <a:ext uri="{0D108BD9-81ED-4DB2-BD59-A6C34878D82A}">
                    <a16:rowId xmlns:a16="http://schemas.microsoft.com/office/drawing/2014/main" val="3385289842"/>
                  </a:ext>
                </a:extLst>
              </a:tr>
              <a:tr h="1030077">
                <a:tc>
                  <a:txBody>
                    <a:bodyPr/>
                    <a:lstStyle/>
                    <a:p>
                      <a:pPr marL="0" marR="0">
                        <a:lnSpc>
                          <a:spcPct val="115000"/>
                        </a:lnSpc>
                        <a:spcBef>
                          <a:spcPts val="0"/>
                        </a:spcBef>
                        <a:spcAft>
                          <a:spcPts val="0"/>
                        </a:spcAft>
                      </a:pPr>
                      <a:r>
                        <a:rPr lang="en-US" sz="1100">
                          <a:effectLst/>
                        </a:rPr>
                        <a:t>Participant flow</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gn="ctr">
                        <a:lnSpc>
                          <a:spcPct val="115000"/>
                        </a:lnSpc>
                        <a:spcBef>
                          <a:spcPts val="0"/>
                        </a:spcBef>
                        <a:spcAft>
                          <a:spcPts val="0"/>
                        </a:spcAft>
                      </a:pPr>
                      <a:r>
                        <a:rPr lang="en-US" sz="1100" dirty="0">
                          <a:effectLst/>
                        </a:rPr>
                        <a:t>13</a:t>
                      </a:r>
                      <a:endParaRPr lang="en-US" sz="1100" dirty="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nSpc>
                          <a:spcPct val="115000"/>
                        </a:lnSpc>
                        <a:spcBef>
                          <a:spcPts val="0"/>
                        </a:spcBef>
                        <a:spcAft>
                          <a:spcPts val="0"/>
                        </a:spcAft>
                      </a:pPr>
                      <a:r>
                        <a:rPr lang="en-US" sz="1100">
                          <a:effectLst/>
                        </a:rPr>
                        <a:t>Flow of participants through each stage (a diagram is strongly recommended)—specifically, for each group, report the numbers of participants randomly assigned, receiving intended treatment, completing the study protocol, and analysed for the primary outcome; describe deviations from planned study protocol, together with reasons </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nSpc>
                          <a:spcPct val="115000"/>
                        </a:lnSpc>
                        <a:spcBef>
                          <a:spcPts val="0"/>
                        </a:spcBef>
                        <a:spcAft>
                          <a:spcPts val="0"/>
                        </a:spcAft>
                      </a:pPr>
                      <a:r>
                        <a:rPr lang="en-US" sz="1100" dirty="0">
                          <a:effectLst/>
                        </a:rPr>
                        <a:t>The number of participants or units approached to take part in the trial, the number which were eligible, and reasons for non-participation should be reported </a:t>
                      </a:r>
                      <a:endParaRPr lang="en-US" sz="1100" dirty="0">
                        <a:effectLst/>
                        <a:latin typeface="Times New Roman" panose="02020603050405020304" pitchFamily="18" charset="0"/>
                        <a:ea typeface="Times New Roman" panose="02020603050405020304" pitchFamily="18" charset="0"/>
                      </a:endParaRPr>
                    </a:p>
                  </a:txBody>
                  <a:tcPr marL="2553" marR="2553" marT="2553" marB="2553" anchor="ctr"/>
                </a:tc>
                <a:extLst>
                  <a:ext uri="{0D108BD9-81ED-4DB2-BD59-A6C34878D82A}">
                    <a16:rowId xmlns:a16="http://schemas.microsoft.com/office/drawing/2014/main" val="590132628"/>
                  </a:ext>
                </a:extLst>
              </a:tr>
              <a:tr h="252361">
                <a:tc>
                  <a:txBody>
                    <a:bodyPr/>
                    <a:lstStyle/>
                    <a:p>
                      <a:pPr marL="0" marR="0">
                        <a:lnSpc>
                          <a:spcPct val="115000"/>
                        </a:lnSpc>
                        <a:spcBef>
                          <a:spcPts val="0"/>
                        </a:spcBef>
                        <a:spcAft>
                          <a:spcPts val="0"/>
                        </a:spcAft>
                      </a:pPr>
                      <a:r>
                        <a:rPr lang="en-US" sz="1100">
                          <a:effectLst/>
                        </a:rPr>
                        <a:t>Recruitment</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gn="ctr">
                        <a:lnSpc>
                          <a:spcPct val="115000"/>
                        </a:lnSpc>
                        <a:spcBef>
                          <a:spcPts val="0"/>
                        </a:spcBef>
                        <a:spcAft>
                          <a:spcPts val="0"/>
                        </a:spcAft>
                      </a:pPr>
                      <a:r>
                        <a:rPr lang="en-US" sz="1100">
                          <a:effectLst/>
                        </a:rPr>
                        <a:t>14</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nSpc>
                          <a:spcPct val="115000"/>
                        </a:lnSpc>
                        <a:spcBef>
                          <a:spcPts val="0"/>
                        </a:spcBef>
                        <a:spcAft>
                          <a:spcPts val="0"/>
                        </a:spcAft>
                      </a:pPr>
                      <a:r>
                        <a:rPr lang="en-US" sz="1100" dirty="0">
                          <a:effectLst/>
                        </a:rPr>
                        <a:t>Dates defining the periods of recruitment and follow-up </a:t>
                      </a:r>
                      <a:endParaRPr lang="en-US" sz="1100" dirty="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a:lnSpc>
                          <a:spcPct val="115000"/>
                        </a:lnSpc>
                      </a:pPr>
                      <a:endParaRPr lang="en-US" sz="1100">
                        <a:effectLst/>
                        <a:latin typeface="Arial" panose="020B0604020202020204" pitchFamily="34" charset="0"/>
                      </a:endParaRPr>
                    </a:p>
                  </a:txBody>
                  <a:tcPr marL="2553" marR="2553" marT="2553" marB="2553" anchor="ctr"/>
                </a:tc>
                <a:extLst>
                  <a:ext uri="{0D108BD9-81ED-4DB2-BD59-A6C34878D82A}">
                    <a16:rowId xmlns:a16="http://schemas.microsoft.com/office/drawing/2014/main" val="3273639042"/>
                  </a:ext>
                </a:extLst>
              </a:tr>
              <a:tr h="252361">
                <a:tc>
                  <a:txBody>
                    <a:bodyPr/>
                    <a:lstStyle/>
                    <a:p>
                      <a:pPr marL="0" marR="0">
                        <a:lnSpc>
                          <a:spcPct val="115000"/>
                        </a:lnSpc>
                        <a:spcBef>
                          <a:spcPts val="0"/>
                        </a:spcBef>
                        <a:spcAft>
                          <a:spcPts val="0"/>
                        </a:spcAft>
                      </a:pPr>
                      <a:r>
                        <a:rPr lang="en-US" sz="1100">
                          <a:effectLst/>
                        </a:rPr>
                        <a:t>Baseline data</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gn="ctr">
                        <a:lnSpc>
                          <a:spcPct val="115000"/>
                        </a:lnSpc>
                        <a:spcBef>
                          <a:spcPts val="0"/>
                        </a:spcBef>
                        <a:spcAft>
                          <a:spcPts val="0"/>
                        </a:spcAft>
                      </a:pPr>
                      <a:r>
                        <a:rPr lang="en-US" sz="1100" dirty="0">
                          <a:effectLst/>
                        </a:rPr>
                        <a:t>15</a:t>
                      </a:r>
                      <a:endParaRPr lang="en-US" sz="1100" dirty="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nSpc>
                          <a:spcPct val="115000"/>
                        </a:lnSpc>
                        <a:spcBef>
                          <a:spcPts val="0"/>
                        </a:spcBef>
                        <a:spcAft>
                          <a:spcPts val="0"/>
                        </a:spcAft>
                      </a:pPr>
                      <a:r>
                        <a:rPr lang="en-US" sz="1100">
                          <a:effectLst/>
                        </a:rPr>
                        <a:t>Baseline demographic and clinical characteristics of each group </a:t>
                      </a:r>
                      <a:endParaRPr lang="en-US" sz="11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a:lnSpc>
                          <a:spcPct val="115000"/>
                        </a:lnSpc>
                      </a:pPr>
                      <a:endParaRPr lang="en-US" sz="1100" dirty="0">
                        <a:effectLst/>
                        <a:latin typeface="Arial" panose="020B0604020202020204" pitchFamily="34" charset="0"/>
                      </a:endParaRPr>
                    </a:p>
                  </a:txBody>
                  <a:tcPr marL="2553" marR="2553" marT="2553" marB="2553" anchor="ctr"/>
                </a:tc>
                <a:extLst>
                  <a:ext uri="{0D108BD9-81ED-4DB2-BD59-A6C34878D82A}">
                    <a16:rowId xmlns:a16="http://schemas.microsoft.com/office/drawing/2014/main" val="1156296864"/>
                  </a:ext>
                </a:extLst>
              </a:tr>
            </a:tbl>
          </a:graphicData>
        </a:graphic>
      </p:graphicFrame>
      <p:sp>
        <p:nvSpPr>
          <p:cNvPr id="3" name="Footer Placeholder 2">
            <a:extLst>
              <a:ext uri="{FF2B5EF4-FFF2-40B4-BE49-F238E27FC236}">
                <a16:creationId xmlns:a16="http://schemas.microsoft.com/office/drawing/2014/main" id="{534B13E2-E330-F044-AC04-2564C84FCDA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85E5E2-B21E-7AB2-1D0F-8FFF2B678045}"/>
              </a:ext>
            </a:extLst>
          </p:cNvPr>
          <p:cNvSpPr>
            <a:spLocks noGrp="1"/>
          </p:cNvSpPr>
          <p:nvPr>
            <p:ph type="sldNum" sz="quarter" idx="12"/>
          </p:nvPr>
        </p:nvSpPr>
        <p:spPr/>
        <p:txBody>
          <a:bodyPr/>
          <a:lstStyle/>
          <a:p>
            <a:fld id="{77C6A7FE-225D-49F1-B302-AA37EA92BB49}" type="slidenum">
              <a:rPr lang="en-US" smtClean="0"/>
              <a:t>121</a:t>
            </a:fld>
            <a:endParaRPr lang="en-US"/>
          </a:p>
        </p:txBody>
      </p:sp>
    </p:spTree>
    <p:extLst>
      <p:ext uri="{BB962C8B-B14F-4D97-AF65-F5344CB8AC3E}">
        <p14:creationId xmlns:p14="http://schemas.microsoft.com/office/powerpoint/2010/main" val="1535507907"/>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30"/>
            <a:ext cx="12192000" cy="1429971"/>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400" dirty="0">
                <a:solidFill>
                  <a:schemeClr val="bg1"/>
                </a:solidFill>
                <a:latin typeface="Arial" panose="020B0604020202020204" pitchFamily="34" charset="0"/>
                <a:cs typeface="Arial" panose="020B0604020202020204" pitchFamily="34" charset="0"/>
              </a:rPr>
              <a:t>Checklist of items for reporting pragmatic trials</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graphicFrame>
        <p:nvGraphicFramePr>
          <p:cNvPr id="2" name="Table 1">
            <a:extLst>
              <a:ext uri="{FF2B5EF4-FFF2-40B4-BE49-F238E27FC236}">
                <a16:creationId xmlns:a16="http://schemas.microsoft.com/office/drawing/2014/main" id="{16B79150-73B2-46A9-B854-1CF840F45E37}"/>
              </a:ext>
            </a:extLst>
          </p:cNvPr>
          <p:cNvGraphicFramePr>
            <a:graphicFrameLocks noGrp="1"/>
          </p:cNvGraphicFramePr>
          <p:nvPr>
            <p:extLst>
              <p:ext uri="{D42A27DB-BD31-4B8C-83A1-F6EECF244321}">
                <p14:modId xmlns:p14="http://schemas.microsoft.com/office/powerpoint/2010/main" val="3179423451"/>
              </p:ext>
            </p:extLst>
          </p:nvPr>
        </p:nvGraphicFramePr>
        <p:xfrm>
          <a:off x="0" y="1697077"/>
          <a:ext cx="12192000" cy="4285264"/>
        </p:xfrm>
        <a:graphic>
          <a:graphicData uri="http://schemas.openxmlformats.org/drawingml/2006/table">
            <a:tbl>
              <a:tblPr firstRow="1" firstCol="1" bandRow="1">
                <a:tableStyleId>{5C22544A-7EE6-4342-B048-85BDC9FD1C3A}</a:tableStyleId>
              </a:tblPr>
              <a:tblGrid>
                <a:gridCol w="1769806">
                  <a:extLst>
                    <a:ext uri="{9D8B030D-6E8A-4147-A177-3AD203B41FA5}">
                      <a16:colId xmlns:a16="http://schemas.microsoft.com/office/drawing/2014/main" val="1697425077"/>
                    </a:ext>
                  </a:extLst>
                </a:gridCol>
                <a:gridCol w="835742">
                  <a:extLst>
                    <a:ext uri="{9D8B030D-6E8A-4147-A177-3AD203B41FA5}">
                      <a16:colId xmlns:a16="http://schemas.microsoft.com/office/drawing/2014/main" val="3778318626"/>
                    </a:ext>
                  </a:extLst>
                </a:gridCol>
                <a:gridCol w="6017342">
                  <a:extLst>
                    <a:ext uri="{9D8B030D-6E8A-4147-A177-3AD203B41FA5}">
                      <a16:colId xmlns:a16="http://schemas.microsoft.com/office/drawing/2014/main" val="3564820473"/>
                    </a:ext>
                  </a:extLst>
                </a:gridCol>
                <a:gridCol w="3569110">
                  <a:extLst>
                    <a:ext uri="{9D8B030D-6E8A-4147-A177-3AD203B41FA5}">
                      <a16:colId xmlns:a16="http://schemas.microsoft.com/office/drawing/2014/main" val="249381857"/>
                    </a:ext>
                  </a:extLst>
                </a:gridCol>
              </a:tblGrid>
              <a:tr h="157478">
                <a:tc>
                  <a:txBody>
                    <a:bodyPr/>
                    <a:lstStyle/>
                    <a:p>
                      <a:pPr marL="0" marR="0">
                        <a:lnSpc>
                          <a:spcPct val="115000"/>
                        </a:lnSpc>
                        <a:spcBef>
                          <a:spcPts val="0"/>
                        </a:spcBef>
                        <a:spcAft>
                          <a:spcPts val="0"/>
                        </a:spcAft>
                      </a:pPr>
                      <a:r>
                        <a:rPr lang="en-US" sz="1200" dirty="0">
                          <a:effectLst/>
                        </a:rPr>
                        <a:t>Section</a:t>
                      </a:r>
                      <a:endParaRPr lang="en-US" sz="1200" dirty="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gn="ctr">
                        <a:lnSpc>
                          <a:spcPct val="115000"/>
                        </a:lnSpc>
                        <a:spcBef>
                          <a:spcPts val="0"/>
                        </a:spcBef>
                        <a:spcAft>
                          <a:spcPts val="0"/>
                        </a:spcAft>
                      </a:pPr>
                      <a:r>
                        <a:rPr lang="en-US" sz="1200" dirty="0">
                          <a:effectLst/>
                        </a:rPr>
                        <a:t>Item</a:t>
                      </a:r>
                      <a:endParaRPr lang="en-US" sz="1200" dirty="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gn="ctr">
                        <a:lnSpc>
                          <a:spcPct val="115000"/>
                        </a:lnSpc>
                        <a:spcBef>
                          <a:spcPts val="0"/>
                        </a:spcBef>
                        <a:spcAft>
                          <a:spcPts val="0"/>
                        </a:spcAft>
                      </a:pPr>
                      <a:r>
                        <a:rPr lang="en-US" sz="1200">
                          <a:effectLst/>
                        </a:rPr>
                        <a:t>Standard CONSORT description</a:t>
                      </a:r>
                      <a:endParaRPr lang="en-US" sz="12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gn="ctr">
                        <a:lnSpc>
                          <a:spcPct val="115000"/>
                        </a:lnSpc>
                        <a:spcBef>
                          <a:spcPts val="0"/>
                        </a:spcBef>
                        <a:spcAft>
                          <a:spcPts val="0"/>
                        </a:spcAft>
                      </a:pPr>
                      <a:r>
                        <a:rPr lang="en-US" sz="1200">
                          <a:effectLst/>
                        </a:rPr>
                        <a:t>Extension for pragmatic trials</a:t>
                      </a:r>
                      <a:endParaRPr lang="en-US" sz="1200">
                        <a:effectLst/>
                        <a:latin typeface="Times New Roman" panose="02020603050405020304" pitchFamily="18" charset="0"/>
                        <a:ea typeface="Times New Roman" panose="02020603050405020304" pitchFamily="18" charset="0"/>
                      </a:endParaRPr>
                    </a:p>
                  </a:txBody>
                  <a:tcPr marL="2553" marR="2553" marT="2553" marB="2553" anchor="ctr"/>
                </a:tc>
                <a:extLst>
                  <a:ext uri="{0D108BD9-81ED-4DB2-BD59-A6C34878D82A}">
                    <a16:rowId xmlns:a16="http://schemas.microsoft.com/office/drawing/2014/main" val="2369075024"/>
                  </a:ext>
                </a:extLst>
              </a:tr>
              <a:tr h="642790">
                <a:tc>
                  <a:txBody>
                    <a:bodyPr/>
                    <a:lstStyle/>
                    <a:p>
                      <a:pPr marL="0" marR="0">
                        <a:lnSpc>
                          <a:spcPct val="115000"/>
                        </a:lnSpc>
                        <a:spcBef>
                          <a:spcPts val="0"/>
                        </a:spcBef>
                        <a:spcAft>
                          <a:spcPts val="0"/>
                        </a:spcAft>
                      </a:pPr>
                      <a:r>
                        <a:rPr lang="en-US" sz="1200" dirty="0">
                          <a:effectLst/>
                        </a:rPr>
                        <a:t>Numbers </a:t>
                      </a:r>
                      <a:r>
                        <a:rPr lang="en-US" sz="1200" dirty="0" err="1">
                          <a:effectLst/>
                        </a:rPr>
                        <a:t>analysed</a:t>
                      </a:r>
                      <a:endParaRPr lang="en-US" sz="1200" dirty="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gn="ctr">
                        <a:lnSpc>
                          <a:spcPct val="115000"/>
                        </a:lnSpc>
                        <a:spcBef>
                          <a:spcPts val="0"/>
                        </a:spcBef>
                        <a:spcAft>
                          <a:spcPts val="0"/>
                        </a:spcAft>
                      </a:pPr>
                      <a:r>
                        <a:rPr lang="en-US" sz="1200">
                          <a:effectLst/>
                        </a:rPr>
                        <a:t>16</a:t>
                      </a:r>
                      <a:endParaRPr lang="en-US" sz="12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nSpc>
                          <a:spcPct val="115000"/>
                        </a:lnSpc>
                        <a:spcBef>
                          <a:spcPts val="0"/>
                        </a:spcBef>
                        <a:spcAft>
                          <a:spcPts val="0"/>
                        </a:spcAft>
                      </a:pPr>
                      <a:r>
                        <a:rPr lang="en-US" sz="1200" dirty="0">
                          <a:effectLst/>
                        </a:rPr>
                        <a:t>Number of participants (denominator) in each group included in each analysis and whether analysis was by “intention-to-treat”; state the results in absolute numbers when feasible (</a:t>
                      </a:r>
                      <a:r>
                        <a:rPr lang="en-US" sz="1200" dirty="0" err="1">
                          <a:effectLst/>
                        </a:rPr>
                        <a:t>eg</a:t>
                      </a:r>
                      <a:r>
                        <a:rPr lang="en-US" sz="1200" dirty="0">
                          <a:effectLst/>
                        </a:rPr>
                        <a:t>, 10/20, not 50%) </a:t>
                      </a:r>
                      <a:endParaRPr lang="en-US" sz="1200" dirty="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a:lnSpc>
                          <a:spcPct val="115000"/>
                        </a:lnSpc>
                      </a:pPr>
                      <a:endParaRPr lang="en-US" sz="1200">
                        <a:effectLst/>
                        <a:latin typeface="Arial" panose="020B0604020202020204" pitchFamily="34" charset="0"/>
                      </a:endParaRPr>
                    </a:p>
                  </a:txBody>
                  <a:tcPr marL="2553" marR="2553" marT="2553" marB="2553" anchor="ctr"/>
                </a:tc>
                <a:extLst>
                  <a:ext uri="{0D108BD9-81ED-4DB2-BD59-A6C34878D82A}">
                    <a16:rowId xmlns:a16="http://schemas.microsoft.com/office/drawing/2014/main" val="3921792355"/>
                  </a:ext>
                </a:extLst>
              </a:tr>
              <a:tr h="481019">
                <a:tc>
                  <a:txBody>
                    <a:bodyPr/>
                    <a:lstStyle/>
                    <a:p>
                      <a:pPr marL="0" marR="0">
                        <a:lnSpc>
                          <a:spcPct val="115000"/>
                        </a:lnSpc>
                        <a:spcBef>
                          <a:spcPts val="0"/>
                        </a:spcBef>
                        <a:spcAft>
                          <a:spcPts val="0"/>
                        </a:spcAft>
                      </a:pPr>
                      <a:r>
                        <a:rPr lang="en-US" sz="1200">
                          <a:effectLst/>
                        </a:rPr>
                        <a:t>Outcomes and estimation</a:t>
                      </a:r>
                      <a:endParaRPr lang="en-US" sz="12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gn="ctr">
                        <a:lnSpc>
                          <a:spcPct val="115000"/>
                        </a:lnSpc>
                        <a:spcBef>
                          <a:spcPts val="0"/>
                        </a:spcBef>
                        <a:spcAft>
                          <a:spcPts val="0"/>
                        </a:spcAft>
                      </a:pPr>
                      <a:r>
                        <a:rPr lang="en-US" sz="1200" dirty="0">
                          <a:effectLst/>
                        </a:rPr>
                        <a:t>17</a:t>
                      </a:r>
                      <a:endParaRPr lang="en-US" sz="1200" dirty="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nSpc>
                          <a:spcPct val="115000"/>
                        </a:lnSpc>
                        <a:spcBef>
                          <a:spcPts val="0"/>
                        </a:spcBef>
                        <a:spcAft>
                          <a:spcPts val="0"/>
                        </a:spcAft>
                      </a:pPr>
                      <a:r>
                        <a:rPr lang="en-US" sz="1200" dirty="0">
                          <a:effectLst/>
                        </a:rPr>
                        <a:t>For each primary and secondary outcome, a summary of results for each group and the estimated effect size and its precision (</a:t>
                      </a:r>
                      <a:r>
                        <a:rPr lang="en-US" sz="1200" dirty="0" err="1">
                          <a:effectLst/>
                        </a:rPr>
                        <a:t>eg</a:t>
                      </a:r>
                      <a:r>
                        <a:rPr lang="en-US" sz="1200" dirty="0">
                          <a:effectLst/>
                        </a:rPr>
                        <a:t>, 95% CI) </a:t>
                      </a:r>
                      <a:endParaRPr lang="en-US" sz="1200" dirty="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a:lnSpc>
                          <a:spcPct val="115000"/>
                        </a:lnSpc>
                      </a:pPr>
                      <a:endParaRPr lang="en-US" sz="1200">
                        <a:effectLst/>
                        <a:latin typeface="Arial" panose="020B0604020202020204" pitchFamily="34" charset="0"/>
                      </a:endParaRPr>
                    </a:p>
                  </a:txBody>
                  <a:tcPr marL="2553" marR="2553" marT="2553" marB="2553" anchor="ctr"/>
                </a:tc>
                <a:extLst>
                  <a:ext uri="{0D108BD9-81ED-4DB2-BD59-A6C34878D82A}">
                    <a16:rowId xmlns:a16="http://schemas.microsoft.com/office/drawing/2014/main" val="491529212"/>
                  </a:ext>
                </a:extLst>
              </a:tr>
              <a:tr h="642790">
                <a:tc>
                  <a:txBody>
                    <a:bodyPr/>
                    <a:lstStyle/>
                    <a:p>
                      <a:pPr marL="0" marR="0">
                        <a:lnSpc>
                          <a:spcPct val="115000"/>
                        </a:lnSpc>
                        <a:spcBef>
                          <a:spcPts val="0"/>
                        </a:spcBef>
                        <a:spcAft>
                          <a:spcPts val="0"/>
                        </a:spcAft>
                      </a:pPr>
                      <a:r>
                        <a:rPr lang="en-US" sz="1200" dirty="0">
                          <a:effectLst/>
                        </a:rPr>
                        <a:t>Ancillary analyses</a:t>
                      </a:r>
                      <a:endParaRPr lang="en-US" sz="1200" dirty="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gn="ctr">
                        <a:lnSpc>
                          <a:spcPct val="115000"/>
                        </a:lnSpc>
                        <a:spcBef>
                          <a:spcPts val="0"/>
                        </a:spcBef>
                        <a:spcAft>
                          <a:spcPts val="0"/>
                        </a:spcAft>
                      </a:pPr>
                      <a:r>
                        <a:rPr lang="en-US" sz="1200">
                          <a:effectLst/>
                        </a:rPr>
                        <a:t>18</a:t>
                      </a:r>
                      <a:endParaRPr lang="en-US" sz="12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nSpc>
                          <a:spcPct val="115000"/>
                        </a:lnSpc>
                        <a:spcBef>
                          <a:spcPts val="0"/>
                        </a:spcBef>
                        <a:spcAft>
                          <a:spcPts val="0"/>
                        </a:spcAft>
                      </a:pPr>
                      <a:r>
                        <a:rPr lang="en-US" sz="1200" dirty="0">
                          <a:effectLst/>
                        </a:rPr>
                        <a:t>Address multiplicity by reporting any other analyses performed, including subgroup analyses and adjusted analyses, indicating which are prespecified and which are exploratory </a:t>
                      </a:r>
                      <a:endParaRPr lang="en-US" sz="1200" dirty="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a:lnSpc>
                          <a:spcPct val="115000"/>
                        </a:lnSpc>
                      </a:pPr>
                      <a:endParaRPr lang="en-US" sz="1200">
                        <a:effectLst/>
                        <a:latin typeface="Arial" panose="020B0604020202020204" pitchFamily="34" charset="0"/>
                      </a:endParaRPr>
                    </a:p>
                  </a:txBody>
                  <a:tcPr marL="2553" marR="2553" marT="2553" marB="2553" anchor="ctr"/>
                </a:tc>
                <a:extLst>
                  <a:ext uri="{0D108BD9-81ED-4DB2-BD59-A6C34878D82A}">
                    <a16:rowId xmlns:a16="http://schemas.microsoft.com/office/drawing/2014/main" val="612660730"/>
                  </a:ext>
                </a:extLst>
              </a:tr>
              <a:tr h="319249">
                <a:tc>
                  <a:txBody>
                    <a:bodyPr/>
                    <a:lstStyle/>
                    <a:p>
                      <a:pPr marL="0" marR="0">
                        <a:lnSpc>
                          <a:spcPct val="115000"/>
                        </a:lnSpc>
                        <a:spcBef>
                          <a:spcPts val="0"/>
                        </a:spcBef>
                        <a:spcAft>
                          <a:spcPts val="0"/>
                        </a:spcAft>
                      </a:pPr>
                      <a:r>
                        <a:rPr lang="en-US" sz="1200">
                          <a:effectLst/>
                        </a:rPr>
                        <a:t>Adverse events</a:t>
                      </a:r>
                      <a:endParaRPr lang="en-US" sz="12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gn="ctr">
                        <a:lnSpc>
                          <a:spcPct val="115000"/>
                        </a:lnSpc>
                        <a:spcBef>
                          <a:spcPts val="0"/>
                        </a:spcBef>
                        <a:spcAft>
                          <a:spcPts val="0"/>
                        </a:spcAft>
                      </a:pPr>
                      <a:r>
                        <a:rPr lang="en-US" sz="1200">
                          <a:effectLst/>
                        </a:rPr>
                        <a:t>19</a:t>
                      </a:r>
                      <a:endParaRPr lang="en-US" sz="12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nSpc>
                          <a:spcPct val="115000"/>
                        </a:lnSpc>
                        <a:spcBef>
                          <a:spcPts val="0"/>
                        </a:spcBef>
                        <a:spcAft>
                          <a:spcPts val="0"/>
                        </a:spcAft>
                      </a:pPr>
                      <a:r>
                        <a:rPr lang="en-US" sz="1200">
                          <a:effectLst/>
                        </a:rPr>
                        <a:t>All important adverse events or side effects in each intervention group </a:t>
                      </a:r>
                      <a:endParaRPr lang="en-US" sz="12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a:lnSpc>
                          <a:spcPct val="115000"/>
                        </a:lnSpc>
                      </a:pPr>
                      <a:endParaRPr lang="en-US" sz="1200">
                        <a:effectLst/>
                        <a:latin typeface="Arial" panose="020B0604020202020204" pitchFamily="34" charset="0"/>
                      </a:endParaRPr>
                    </a:p>
                  </a:txBody>
                  <a:tcPr marL="2553" marR="2553" marT="2553" marB="2553" anchor="ctr"/>
                </a:tc>
                <a:extLst>
                  <a:ext uri="{0D108BD9-81ED-4DB2-BD59-A6C34878D82A}">
                    <a16:rowId xmlns:a16="http://schemas.microsoft.com/office/drawing/2014/main" val="3972880124"/>
                  </a:ext>
                </a:extLst>
              </a:tr>
              <a:tr h="157478">
                <a:tc>
                  <a:txBody>
                    <a:bodyPr/>
                    <a:lstStyle/>
                    <a:p>
                      <a:pPr marL="0" marR="0">
                        <a:lnSpc>
                          <a:spcPct val="115000"/>
                        </a:lnSpc>
                        <a:spcBef>
                          <a:spcPts val="0"/>
                        </a:spcBef>
                        <a:spcAft>
                          <a:spcPts val="0"/>
                        </a:spcAft>
                      </a:pPr>
                      <a:r>
                        <a:rPr lang="en-US" sz="1200">
                          <a:effectLst/>
                        </a:rPr>
                        <a:t>Discussion</a:t>
                      </a:r>
                      <a:endParaRPr lang="en-US" sz="12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algn="ctr">
                        <a:lnSpc>
                          <a:spcPct val="115000"/>
                        </a:lnSpc>
                      </a:pPr>
                      <a:endParaRPr lang="en-US" sz="1200">
                        <a:effectLst/>
                        <a:latin typeface="Arial" panose="020B0604020202020204" pitchFamily="34" charset="0"/>
                      </a:endParaRPr>
                    </a:p>
                  </a:txBody>
                  <a:tcPr marL="2553" marR="2553" marT="2553" marB="2553" anchor="ctr"/>
                </a:tc>
                <a:tc>
                  <a:txBody>
                    <a:bodyPr/>
                    <a:lstStyle/>
                    <a:p>
                      <a:pPr>
                        <a:lnSpc>
                          <a:spcPct val="115000"/>
                        </a:lnSpc>
                      </a:pPr>
                      <a:endParaRPr lang="en-US" sz="1200">
                        <a:effectLst/>
                        <a:latin typeface="Arial" panose="020B0604020202020204" pitchFamily="34" charset="0"/>
                      </a:endParaRPr>
                    </a:p>
                  </a:txBody>
                  <a:tcPr marL="2553" marR="2553" marT="2553" marB="2553" anchor="ctr"/>
                </a:tc>
                <a:tc>
                  <a:txBody>
                    <a:bodyPr/>
                    <a:lstStyle/>
                    <a:p>
                      <a:pPr>
                        <a:lnSpc>
                          <a:spcPct val="115000"/>
                        </a:lnSpc>
                      </a:pPr>
                      <a:endParaRPr lang="en-US" sz="1200">
                        <a:effectLst/>
                        <a:latin typeface="Arial" panose="020B0604020202020204" pitchFamily="34" charset="0"/>
                      </a:endParaRPr>
                    </a:p>
                  </a:txBody>
                  <a:tcPr marL="2553" marR="2553" marT="2553" marB="2553" anchor="ctr"/>
                </a:tc>
                <a:extLst>
                  <a:ext uri="{0D108BD9-81ED-4DB2-BD59-A6C34878D82A}">
                    <a16:rowId xmlns:a16="http://schemas.microsoft.com/office/drawing/2014/main" val="2619544544"/>
                  </a:ext>
                </a:extLst>
              </a:tr>
              <a:tr h="642790">
                <a:tc>
                  <a:txBody>
                    <a:bodyPr/>
                    <a:lstStyle/>
                    <a:p>
                      <a:pPr marL="0" marR="0">
                        <a:lnSpc>
                          <a:spcPct val="115000"/>
                        </a:lnSpc>
                        <a:spcBef>
                          <a:spcPts val="0"/>
                        </a:spcBef>
                        <a:spcAft>
                          <a:spcPts val="0"/>
                        </a:spcAft>
                      </a:pPr>
                      <a:r>
                        <a:rPr lang="en-US" sz="1200">
                          <a:effectLst/>
                        </a:rPr>
                        <a:t>Interpretation</a:t>
                      </a:r>
                      <a:endParaRPr lang="en-US" sz="12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gn="ctr">
                        <a:lnSpc>
                          <a:spcPct val="115000"/>
                        </a:lnSpc>
                        <a:spcBef>
                          <a:spcPts val="0"/>
                        </a:spcBef>
                        <a:spcAft>
                          <a:spcPts val="0"/>
                        </a:spcAft>
                      </a:pPr>
                      <a:r>
                        <a:rPr lang="en-US" sz="1200">
                          <a:effectLst/>
                        </a:rPr>
                        <a:t>20</a:t>
                      </a:r>
                      <a:endParaRPr lang="en-US" sz="12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nSpc>
                          <a:spcPct val="115000"/>
                        </a:lnSpc>
                        <a:spcBef>
                          <a:spcPts val="0"/>
                        </a:spcBef>
                        <a:spcAft>
                          <a:spcPts val="0"/>
                        </a:spcAft>
                      </a:pPr>
                      <a:r>
                        <a:rPr lang="en-US" sz="1200">
                          <a:effectLst/>
                        </a:rPr>
                        <a:t>Interpretation of the results, taking into account study hypotheses, sources of potential bias or imprecision, and the dangers associated with multiplicity of analyses and outcomes </a:t>
                      </a:r>
                      <a:endParaRPr lang="en-US" sz="12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a:lnSpc>
                          <a:spcPct val="115000"/>
                        </a:lnSpc>
                      </a:pPr>
                      <a:endParaRPr lang="en-US" sz="1200">
                        <a:effectLst/>
                        <a:latin typeface="Arial" panose="020B0604020202020204" pitchFamily="34" charset="0"/>
                      </a:endParaRPr>
                    </a:p>
                  </a:txBody>
                  <a:tcPr marL="2553" marR="2553" marT="2553" marB="2553" anchor="ctr"/>
                </a:tc>
                <a:extLst>
                  <a:ext uri="{0D108BD9-81ED-4DB2-BD59-A6C34878D82A}">
                    <a16:rowId xmlns:a16="http://schemas.microsoft.com/office/drawing/2014/main" val="3258538695"/>
                  </a:ext>
                </a:extLst>
              </a:tr>
              <a:tr h="642790">
                <a:tc>
                  <a:txBody>
                    <a:bodyPr/>
                    <a:lstStyle/>
                    <a:p>
                      <a:pPr marL="0" marR="0">
                        <a:lnSpc>
                          <a:spcPct val="115000"/>
                        </a:lnSpc>
                        <a:spcBef>
                          <a:spcPts val="0"/>
                        </a:spcBef>
                        <a:spcAft>
                          <a:spcPts val="0"/>
                        </a:spcAft>
                      </a:pPr>
                      <a:r>
                        <a:rPr lang="en-US" sz="1200">
                          <a:effectLst/>
                        </a:rPr>
                        <a:t>Generalisability</a:t>
                      </a:r>
                      <a:endParaRPr lang="en-US" sz="12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gn="ctr">
                        <a:lnSpc>
                          <a:spcPct val="115000"/>
                        </a:lnSpc>
                        <a:spcBef>
                          <a:spcPts val="0"/>
                        </a:spcBef>
                        <a:spcAft>
                          <a:spcPts val="0"/>
                        </a:spcAft>
                      </a:pPr>
                      <a:r>
                        <a:rPr lang="en-US" sz="1200">
                          <a:effectLst/>
                        </a:rPr>
                        <a:t>21</a:t>
                      </a:r>
                      <a:endParaRPr lang="en-US" sz="12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nSpc>
                          <a:spcPct val="115000"/>
                        </a:lnSpc>
                        <a:spcBef>
                          <a:spcPts val="0"/>
                        </a:spcBef>
                        <a:spcAft>
                          <a:spcPts val="0"/>
                        </a:spcAft>
                      </a:pPr>
                      <a:r>
                        <a:rPr lang="en-US" sz="1200">
                          <a:effectLst/>
                        </a:rPr>
                        <a:t>Generalisability (external validity) of the trial findings </a:t>
                      </a:r>
                      <a:endParaRPr lang="en-US" sz="12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nSpc>
                          <a:spcPct val="115000"/>
                        </a:lnSpc>
                        <a:spcBef>
                          <a:spcPts val="0"/>
                        </a:spcBef>
                        <a:spcAft>
                          <a:spcPts val="0"/>
                        </a:spcAft>
                      </a:pPr>
                      <a:r>
                        <a:rPr lang="en-US" sz="1200" dirty="0">
                          <a:effectLst/>
                        </a:rPr>
                        <a:t>Describe key aspects of the setting which determined the trial results. Discuss possible differences in other settings where clinical traditions, health service </a:t>
                      </a:r>
                      <a:r>
                        <a:rPr lang="en-US" sz="1200" dirty="0" err="1">
                          <a:effectLst/>
                        </a:rPr>
                        <a:t>organisation</a:t>
                      </a:r>
                      <a:r>
                        <a:rPr lang="en-US" sz="1200" dirty="0">
                          <a:effectLst/>
                        </a:rPr>
                        <a:t>, staffing, or resources may vary from those of the trial </a:t>
                      </a:r>
                      <a:endParaRPr lang="en-US" sz="1200" dirty="0">
                        <a:effectLst/>
                        <a:latin typeface="Times New Roman" panose="02020603050405020304" pitchFamily="18" charset="0"/>
                        <a:ea typeface="Times New Roman" panose="02020603050405020304" pitchFamily="18" charset="0"/>
                      </a:endParaRPr>
                    </a:p>
                  </a:txBody>
                  <a:tcPr marL="2553" marR="2553" marT="2553" marB="2553" anchor="ctr"/>
                </a:tc>
                <a:extLst>
                  <a:ext uri="{0D108BD9-81ED-4DB2-BD59-A6C34878D82A}">
                    <a16:rowId xmlns:a16="http://schemas.microsoft.com/office/drawing/2014/main" val="2672123980"/>
                  </a:ext>
                </a:extLst>
              </a:tr>
              <a:tr h="319249">
                <a:tc>
                  <a:txBody>
                    <a:bodyPr/>
                    <a:lstStyle/>
                    <a:p>
                      <a:pPr marL="0" marR="0">
                        <a:lnSpc>
                          <a:spcPct val="115000"/>
                        </a:lnSpc>
                        <a:spcBef>
                          <a:spcPts val="0"/>
                        </a:spcBef>
                        <a:spcAft>
                          <a:spcPts val="0"/>
                        </a:spcAft>
                      </a:pPr>
                      <a:r>
                        <a:rPr lang="en-US" sz="1200">
                          <a:effectLst/>
                        </a:rPr>
                        <a:t>Overall evidence</a:t>
                      </a:r>
                      <a:endParaRPr lang="en-US" sz="120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gn="ctr">
                        <a:lnSpc>
                          <a:spcPct val="115000"/>
                        </a:lnSpc>
                        <a:spcBef>
                          <a:spcPts val="0"/>
                        </a:spcBef>
                        <a:spcAft>
                          <a:spcPts val="0"/>
                        </a:spcAft>
                      </a:pPr>
                      <a:r>
                        <a:rPr lang="en-US" sz="1200" dirty="0">
                          <a:effectLst/>
                        </a:rPr>
                        <a:t>22</a:t>
                      </a:r>
                      <a:endParaRPr lang="en-US" sz="1200" dirty="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marL="0" marR="0">
                        <a:lnSpc>
                          <a:spcPct val="115000"/>
                        </a:lnSpc>
                        <a:spcBef>
                          <a:spcPts val="0"/>
                        </a:spcBef>
                        <a:spcAft>
                          <a:spcPts val="0"/>
                        </a:spcAft>
                      </a:pPr>
                      <a:r>
                        <a:rPr lang="en-US" sz="1200" dirty="0">
                          <a:effectLst/>
                        </a:rPr>
                        <a:t>General interpretation of the results in the context of current evidence </a:t>
                      </a:r>
                      <a:endParaRPr lang="en-US" sz="1200" dirty="0">
                        <a:effectLst/>
                        <a:latin typeface="Times New Roman" panose="02020603050405020304" pitchFamily="18" charset="0"/>
                        <a:ea typeface="Times New Roman" panose="02020603050405020304" pitchFamily="18" charset="0"/>
                      </a:endParaRPr>
                    </a:p>
                  </a:txBody>
                  <a:tcPr marL="2553" marR="2553" marT="2553" marB="2553" anchor="ctr"/>
                </a:tc>
                <a:tc>
                  <a:txBody>
                    <a:bodyPr/>
                    <a:lstStyle/>
                    <a:p>
                      <a:pPr>
                        <a:lnSpc>
                          <a:spcPct val="115000"/>
                        </a:lnSpc>
                      </a:pPr>
                      <a:endParaRPr lang="en-US" sz="1200" dirty="0">
                        <a:effectLst/>
                        <a:latin typeface="Arial" panose="020B0604020202020204" pitchFamily="34" charset="0"/>
                      </a:endParaRPr>
                    </a:p>
                  </a:txBody>
                  <a:tcPr marL="2553" marR="2553" marT="2553" marB="2553" anchor="ctr"/>
                </a:tc>
                <a:extLst>
                  <a:ext uri="{0D108BD9-81ED-4DB2-BD59-A6C34878D82A}">
                    <a16:rowId xmlns:a16="http://schemas.microsoft.com/office/drawing/2014/main" val="63058356"/>
                  </a:ext>
                </a:extLst>
              </a:tr>
            </a:tbl>
          </a:graphicData>
        </a:graphic>
      </p:graphicFrame>
      <p:sp>
        <p:nvSpPr>
          <p:cNvPr id="3" name="Footer Placeholder 2">
            <a:extLst>
              <a:ext uri="{FF2B5EF4-FFF2-40B4-BE49-F238E27FC236}">
                <a16:creationId xmlns:a16="http://schemas.microsoft.com/office/drawing/2014/main" id="{60C26045-348F-FF46-A1B6-F89506FF01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1C75874-B885-5BCA-DBF4-500EC90513BA}"/>
              </a:ext>
            </a:extLst>
          </p:cNvPr>
          <p:cNvSpPr>
            <a:spLocks noGrp="1"/>
          </p:cNvSpPr>
          <p:nvPr>
            <p:ph type="sldNum" sz="quarter" idx="12"/>
          </p:nvPr>
        </p:nvSpPr>
        <p:spPr/>
        <p:txBody>
          <a:bodyPr/>
          <a:lstStyle/>
          <a:p>
            <a:fld id="{77C6A7FE-225D-49F1-B302-AA37EA92BB49}" type="slidenum">
              <a:rPr lang="en-US" smtClean="0"/>
              <a:t>122</a:t>
            </a:fld>
            <a:endParaRPr lang="en-US"/>
          </a:p>
        </p:txBody>
      </p:sp>
    </p:spTree>
    <p:extLst>
      <p:ext uri="{BB962C8B-B14F-4D97-AF65-F5344CB8AC3E}">
        <p14:creationId xmlns:p14="http://schemas.microsoft.com/office/powerpoint/2010/main" val="158176316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30"/>
            <a:ext cx="12192000" cy="2053307"/>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200" dirty="0">
                <a:solidFill>
                  <a:schemeClr val="bg1"/>
                </a:solidFill>
                <a:latin typeface="Arial" panose="020B0604020202020204" pitchFamily="34" charset="0"/>
                <a:cs typeface="Arial" panose="020B0604020202020204" pitchFamily="34" charset="0"/>
              </a:rPr>
              <a:t>Table 1  Key differences between trials with explanatory (efficacy) and pragmatic (effectiveness) perspectives (</a:t>
            </a:r>
            <a:r>
              <a:rPr lang="en-US" altLang="en-US" sz="3200" dirty="0" err="1">
                <a:solidFill>
                  <a:schemeClr val="bg1"/>
                </a:solidFill>
                <a:latin typeface="Arial" panose="020B0604020202020204" pitchFamily="34" charset="0"/>
                <a:cs typeface="Arial" panose="020B0604020202020204" pitchFamily="34" charset="0"/>
              </a:rPr>
              <a:t>Zwarenstein</a:t>
            </a:r>
            <a:r>
              <a:rPr lang="en-US" altLang="en-US" sz="3200" dirty="0">
                <a:solidFill>
                  <a:schemeClr val="bg1"/>
                </a:solidFill>
                <a:latin typeface="Arial" panose="020B0604020202020204" pitchFamily="34" charset="0"/>
                <a:cs typeface="Arial" panose="020B0604020202020204" pitchFamily="34" charset="0"/>
              </a:rPr>
              <a:t>, BMJ, 2008)</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8" name="TextBox 7">
            <a:extLst>
              <a:ext uri="{FF2B5EF4-FFF2-40B4-BE49-F238E27FC236}">
                <a16:creationId xmlns:a16="http://schemas.microsoft.com/office/drawing/2014/main" id="{DAB6CA0F-512F-43D5-B51E-4403FE463D02}"/>
              </a:ext>
            </a:extLst>
          </p:cNvPr>
          <p:cNvSpPr txBox="1"/>
          <p:nvPr/>
        </p:nvSpPr>
        <p:spPr>
          <a:xfrm>
            <a:off x="334296" y="1296612"/>
            <a:ext cx="11710219" cy="646331"/>
          </a:xfrm>
          <a:prstGeom prst="rect">
            <a:avLst/>
          </a:prstGeom>
          <a:noFill/>
        </p:spPr>
        <p:txBody>
          <a:bodyPr wrap="square">
            <a:spAutoFit/>
          </a:bodyPr>
          <a:lstStyle/>
          <a:p>
            <a:pPr algn="l" fontAlgn="base"/>
            <a:br>
              <a:rPr lang="en-US" b="1" i="0" dirty="0">
                <a:solidFill>
                  <a:srgbClr val="333333"/>
                </a:solidFill>
                <a:effectLst/>
                <a:latin typeface="interfaceregular"/>
              </a:rPr>
            </a:br>
            <a:endParaRPr lang="en-US" b="0" i="0" dirty="0">
              <a:solidFill>
                <a:srgbClr val="333333"/>
              </a:solidFill>
              <a:effectLst/>
              <a:latin typeface="interfaceregular"/>
            </a:endParaRPr>
          </a:p>
        </p:txBody>
      </p:sp>
      <p:graphicFrame>
        <p:nvGraphicFramePr>
          <p:cNvPr id="9" name="Table 8">
            <a:extLst>
              <a:ext uri="{FF2B5EF4-FFF2-40B4-BE49-F238E27FC236}">
                <a16:creationId xmlns:a16="http://schemas.microsoft.com/office/drawing/2014/main" id="{64BA7530-F383-4906-B737-02A18D55587C}"/>
              </a:ext>
            </a:extLst>
          </p:cNvPr>
          <p:cNvGraphicFramePr>
            <a:graphicFrameLocks noGrp="1"/>
          </p:cNvGraphicFramePr>
          <p:nvPr>
            <p:extLst>
              <p:ext uri="{D42A27DB-BD31-4B8C-83A1-F6EECF244321}">
                <p14:modId xmlns:p14="http://schemas.microsoft.com/office/powerpoint/2010/main" val="2951945518"/>
              </p:ext>
            </p:extLst>
          </p:nvPr>
        </p:nvGraphicFramePr>
        <p:xfrm>
          <a:off x="334297" y="2368828"/>
          <a:ext cx="11710218" cy="3957020"/>
        </p:xfrm>
        <a:graphic>
          <a:graphicData uri="http://schemas.openxmlformats.org/drawingml/2006/table">
            <a:tbl>
              <a:tblPr/>
              <a:tblGrid>
                <a:gridCol w="1199536">
                  <a:extLst>
                    <a:ext uri="{9D8B030D-6E8A-4147-A177-3AD203B41FA5}">
                      <a16:colId xmlns:a16="http://schemas.microsoft.com/office/drawing/2014/main" val="1160782628"/>
                    </a:ext>
                  </a:extLst>
                </a:gridCol>
                <a:gridCol w="6105833">
                  <a:extLst>
                    <a:ext uri="{9D8B030D-6E8A-4147-A177-3AD203B41FA5}">
                      <a16:colId xmlns:a16="http://schemas.microsoft.com/office/drawing/2014/main" val="3404611985"/>
                    </a:ext>
                  </a:extLst>
                </a:gridCol>
                <a:gridCol w="4404849">
                  <a:extLst>
                    <a:ext uri="{9D8B030D-6E8A-4147-A177-3AD203B41FA5}">
                      <a16:colId xmlns:a16="http://schemas.microsoft.com/office/drawing/2014/main" val="4292414686"/>
                    </a:ext>
                  </a:extLst>
                </a:gridCol>
              </a:tblGrid>
              <a:tr h="612396">
                <a:tc>
                  <a:txBody>
                    <a:bodyPr/>
                    <a:lstStyle/>
                    <a:p>
                      <a:pPr algn="l" fontAlgn="ctr"/>
                      <a:r>
                        <a:rPr lang="en-US" sz="1600" b="1" dirty="0">
                          <a:effectLst/>
                          <a:latin typeface="inherit"/>
                        </a:rPr>
                        <a:t>Question</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600" b="1">
                          <a:effectLst/>
                          <a:latin typeface="inherit"/>
                        </a:rPr>
                        <a:t>Efficacy—can the intervention work?</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600" b="1" dirty="0">
                          <a:effectLst/>
                          <a:latin typeface="inherit"/>
                        </a:rPr>
                        <a:t>Effectiveness—does the intervention work when used in normal practice?</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713872492"/>
                  </a:ext>
                </a:extLst>
              </a:tr>
              <a:tr h="329751">
                <a:tc>
                  <a:txBody>
                    <a:bodyPr/>
                    <a:lstStyle/>
                    <a:p>
                      <a:pPr algn="l" fontAlgn="ctr"/>
                      <a:r>
                        <a:rPr lang="en-US" sz="1600" b="0" dirty="0">
                          <a:effectLst/>
                          <a:latin typeface="inherit"/>
                        </a:rPr>
                        <a:t>Setting</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600" b="0">
                          <a:effectLst/>
                          <a:latin typeface="inherit"/>
                        </a:rPr>
                        <a:t>Well resourced, “ideal” setting</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600" b="0">
                          <a:effectLst/>
                          <a:latin typeface="inherit"/>
                        </a:rPr>
                        <a:t>Normal practice</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902920404"/>
                  </a:ext>
                </a:extLst>
              </a:tr>
              <a:tr h="895040">
                <a:tc>
                  <a:txBody>
                    <a:bodyPr/>
                    <a:lstStyle/>
                    <a:p>
                      <a:pPr algn="l" fontAlgn="ctr"/>
                      <a:r>
                        <a:rPr lang="en-US" sz="1600" b="0" dirty="0">
                          <a:effectLst/>
                          <a:latin typeface="inherit"/>
                        </a:rPr>
                        <a:t>Participants</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600" b="0" dirty="0">
                          <a:effectLst/>
                          <a:latin typeface="inherit"/>
                        </a:rPr>
                        <a:t>Highly selected. Poorly adherent participants and those with conditions which might dilute the effect are often excluded</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600" b="0">
                          <a:effectLst/>
                          <a:latin typeface="inherit"/>
                        </a:rPr>
                        <a:t>Little or no selection beyond the clinical indication of interest</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964832049"/>
                  </a:ext>
                </a:extLst>
              </a:tr>
              <a:tr h="471074">
                <a:tc>
                  <a:txBody>
                    <a:bodyPr/>
                    <a:lstStyle/>
                    <a:p>
                      <a:pPr algn="l" fontAlgn="ctr"/>
                      <a:r>
                        <a:rPr lang="en-US" sz="1600" b="0">
                          <a:effectLst/>
                          <a:latin typeface="inherit"/>
                        </a:rPr>
                        <a:t>Intervention</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600" b="0" dirty="0">
                          <a:effectLst/>
                          <a:latin typeface="inherit"/>
                        </a:rPr>
                        <a:t>Strictly enforced and adherence is monitored closely</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600" b="0">
                          <a:effectLst/>
                          <a:latin typeface="inherit"/>
                        </a:rPr>
                        <a:t>Applied flexibly as it would be in normal practice</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36572302"/>
                  </a:ext>
                </a:extLst>
              </a:tr>
              <a:tr h="612396">
                <a:tc>
                  <a:txBody>
                    <a:bodyPr/>
                    <a:lstStyle/>
                    <a:p>
                      <a:pPr algn="l" fontAlgn="ctr"/>
                      <a:r>
                        <a:rPr lang="en-US" sz="1600" b="0">
                          <a:effectLst/>
                          <a:latin typeface="inherit"/>
                        </a:rPr>
                        <a:t>Outcomes</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600" b="0">
                          <a:effectLst/>
                          <a:latin typeface="inherit"/>
                        </a:rPr>
                        <a:t>Often short term surrogates or process measures</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600" b="0">
                          <a:effectLst/>
                          <a:latin typeface="inherit"/>
                        </a:rPr>
                        <a:t>Directly relevant to participants, funders, communities, and healthcare practitioners</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96784169"/>
                  </a:ext>
                </a:extLst>
              </a:tr>
              <a:tr h="1036363">
                <a:tc>
                  <a:txBody>
                    <a:bodyPr/>
                    <a:lstStyle/>
                    <a:p>
                      <a:pPr algn="l" fontAlgn="ctr"/>
                      <a:r>
                        <a:rPr lang="en-US" sz="1600" b="0">
                          <a:effectLst/>
                          <a:latin typeface="inherit"/>
                        </a:rPr>
                        <a:t>Relevance to practice</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600" b="0" dirty="0">
                          <a:effectLst/>
                          <a:latin typeface="inherit"/>
                        </a:rPr>
                        <a:t>Indirect—little effort made to match design of trial to decision making needs of those in usual setting in which intervention will be implemented</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600" b="0" dirty="0">
                          <a:effectLst/>
                          <a:latin typeface="inherit"/>
                        </a:rPr>
                        <a:t>Direct—trial is designed to meet needs of those making decisions about treatment options in setting in which intervention will be implemented</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807892145"/>
                  </a:ext>
                </a:extLst>
              </a:tr>
            </a:tbl>
          </a:graphicData>
        </a:graphic>
      </p:graphicFrame>
      <p:sp>
        <p:nvSpPr>
          <p:cNvPr id="2" name="Footer Placeholder 1">
            <a:extLst>
              <a:ext uri="{FF2B5EF4-FFF2-40B4-BE49-F238E27FC236}">
                <a16:creationId xmlns:a16="http://schemas.microsoft.com/office/drawing/2014/main" id="{DA481E72-34DA-A346-B786-09FBFDA95B4A}"/>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350CAD76-26F8-898A-2ABC-D1B222971E30}"/>
              </a:ext>
            </a:extLst>
          </p:cNvPr>
          <p:cNvSpPr>
            <a:spLocks noGrp="1"/>
          </p:cNvSpPr>
          <p:nvPr>
            <p:ph type="sldNum" sz="quarter" idx="12"/>
          </p:nvPr>
        </p:nvSpPr>
        <p:spPr/>
        <p:txBody>
          <a:bodyPr/>
          <a:lstStyle/>
          <a:p>
            <a:fld id="{77C6A7FE-225D-49F1-B302-AA37EA92BB49}" type="slidenum">
              <a:rPr lang="en-US" smtClean="0"/>
              <a:t>123</a:t>
            </a:fld>
            <a:endParaRPr lang="en-US"/>
          </a:p>
        </p:txBody>
      </p:sp>
    </p:spTree>
    <p:extLst>
      <p:ext uri="{BB962C8B-B14F-4D97-AF65-F5344CB8AC3E}">
        <p14:creationId xmlns:p14="http://schemas.microsoft.com/office/powerpoint/2010/main" val="380058239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30"/>
            <a:ext cx="12192000" cy="1165755"/>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800" dirty="0">
                <a:solidFill>
                  <a:schemeClr val="bg1"/>
                </a:solidFill>
                <a:latin typeface="Arial" panose="020B0604020202020204" pitchFamily="34" charset="0"/>
                <a:cs typeface="Arial" panose="020B0604020202020204" pitchFamily="34" charset="0"/>
              </a:rPr>
              <a:t>Table 2  Comparison of a trial that was highly explanatory in perspective with a trial that was highly pragmatic (</a:t>
            </a:r>
            <a:r>
              <a:rPr lang="en-US" altLang="en-US" sz="2800" dirty="0" err="1">
                <a:solidFill>
                  <a:schemeClr val="bg1"/>
                </a:solidFill>
                <a:latin typeface="Arial" panose="020B0604020202020204" pitchFamily="34" charset="0"/>
                <a:cs typeface="Arial" panose="020B0604020202020204" pitchFamily="34" charset="0"/>
              </a:rPr>
              <a:t>Zwarenstein</a:t>
            </a:r>
            <a:r>
              <a:rPr lang="en-US" altLang="en-US" sz="2800" dirty="0">
                <a:solidFill>
                  <a:schemeClr val="bg1"/>
                </a:solidFill>
                <a:latin typeface="Arial" panose="020B0604020202020204" pitchFamily="34" charset="0"/>
                <a:cs typeface="Arial" panose="020B0604020202020204" pitchFamily="34" charset="0"/>
              </a:rPr>
              <a:t>, BMJ, 2008)</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8" name="TextBox 7">
            <a:extLst>
              <a:ext uri="{FF2B5EF4-FFF2-40B4-BE49-F238E27FC236}">
                <a16:creationId xmlns:a16="http://schemas.microsoft.com/office/drawing/2014/main" id="{DAB6CA0F-512F-43D5-B51E-4403FE463D02}"/>
              </a:ext>
            </a:extLst>
          </p:cNvPr>
          <p:cNvSpPr txBox="1"/>
          <p:nvPr/>
        </p:nvSpPr>
        <p:spPr>
          <a:xfrm>
            <a:off x="334296" y="1296612"/>
            <a:ext cx="11710219" cy="646331"/>
          </a:xfrm>
          <a:prstGeom prst="rect">
            <a:avLst/>
          </a:prstGeom>
          <a:noFill/>
        </p:spPr>
        <p:txBody>
          <a:bodyPr wrap="square">
            <a:spAutoFit/>
          </a:bodyPr>
          <a:lstStyle/>
          <a:p>
            <a:pPr algn="l" fontAlgn="base"/>
            <a:br>
              <a:rPr lang="en-US" b="1" i="0">
                <a:solidFill>
                  <a:srgbClr val="333333"/>
                </a:solidFill>
                <a:effectLst/>
                <a:latin typeface="interfaceregular"/>
              </a:rPr>
            </a:br>
            <a:endParaRPr lang="en-US" b="0" i="0" dirty="0">
              <a:solidFill>
                <a:srgbClr val="333333"/>
              </a:solidFill>
              <a:effectLst/>
              <a:latin typeface="interfaceregular"/>
            </a:endParaRPr>
          </a:p>
        </p:txBody>
      </p:sp>
      <p:graphicFrame>
        <p:nvGraphicFramePr>
          <p:cNvPr id="2" name="Table 1">
            <a:extLst>
              <a:ext uri="{FF2B5EF4-FFF2-40B4-BE49-F238E27FC236}">
                <a16:creationId xmlns:a16="http://schemas.microsoft.com/office/drawing/2014/main" id="{0A7F2F17-0ED0-4208-B384-9450E2BB5EB2}"/>
              </a:ext>
            </a:extLst>
          </p:cNvPr>
          <p:cNvGraphicFramePr>
            <a:graphicFrameLocks noGrp="1"/>
          </p:cNvGraphicFramePr>
          <p:nvPr>
            <p:extLst>
              <p:ext uri="{D42A27DB-BD31-4B8C-83A1-F6EECF244321}">
                <p14:modId xmlns:p14="http://schemas.microsoft.com/office/powerpoint/2010/main" val="3158491704"/>
              </p:ext>
            </p:extLst>
          </p:nvPr>
        </p:nvGraphicFramePr>
        <p:xfrm>
          <a:off x="0" y="1284131"/>
          <a:ext cx="12192000" cy="4783205"/>
        </p:xfrm>
        <a:graphic>
          <a:graphicData uri="http://schemas.openxmlformats.org/drawingml/2006/table">
            <a:tbl>
              <a:tblPr/>
              <a:tblGrid>
                <a:gridCol w="1622827">
                  <a:extLst>
                    <a:ext uri="{9D8B030D-6E8A-4147-A177-3AD203B41FA5}">
                      <a16:colId xmlns:a16="http://schemas.microsoft.com/office/drawing/2014/main" val="4005475301"/>
                    </a:ext>
                  </a:extLst>
                </a:gridCol>
                <a:gridCol w="6505173">
                  <a:extLst>
                    <a:ext uri="{9D8B030D-6E8A-4147-A177-3AD203B41FA5}">
                      <a16:colId xmlns:a16="http://schemas.microsoft.com/office/drawing/2014/main" val="1648621891"/>
                    </a:ext>
                  </a:extLst>
                </a:gridCol>
                <a:gridCol w="4064000">
                  <a:extLst>
                    <a:ext uri="{9D8B030D-6E8A-4147-A177-3AD203B41FA5}">
                      <a16:colId xmlns:a16="http://schemas.microsoft.com/office/drawing/2014/main" val="4197998082"/>
                    </a:ext>
                  </a:extLst>
                </a:gridCol>
              </a:tblGrid>
              <a:tr h="581747">
                <a:tc>
                  <a:txBody>
                    <a:bodyPr/>
                    <a:lstStyle/>
                    <a:p>
                      <a:pPr algn="ctr" fontAlgn="ctr"/>
                      <a:br>
                        <a:rPr lang="en-US" sz="1200" b="1">
                          <a:effectLst/>
                          <a:latin typeface="inherit"/>
                        </a:rPr>
                      </a:br>
                      <a:r>
                        <a:rPr lang="en-US" sz="1200" b="1">
                          <a:effectLst/>
                          <a:latin typeface="inherit"/>
                        </a:rPr>
                        <a:t>Highly explanatory attitude (NASCET</a:t>
                      </a:r>
                      <a:r>
                        <a:rPr lang="en-US" sz="1200" b="1" baseline="30000">
                          <a:effectLst/>
                          <a:latin typeface="inherit"/>
                        </a:rPr>
                        <a:t>7</a:t>
                      </a:r>
                      <a:r>
                        <a:rPr lang="en-US" sz="1200" b="1">
                          <a:effectLst/>
                          <a:latin typeface="inherit"/>
                        </a:rPr>
                        <a:t>)</a:t>
                      </a:r>
                    </a:p>
                  </a:txBody>
                  <a:tcPr marL="17199" marR="17199" marT="8599" marB="8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200" b="1" dirty="0">
                          <a:effectLst/>
                          <a:latin typeface="inherit"/>
                        </a:rPr>
                        <a:t>Explanatory/Efficacy</a:t>
                      </a:r>
                    </a:p>
                  </a:txBody>
                  <a:tcPr marL="17199" marR="17199" marT="8599" marB="8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effectLst/>
                          <a:latin typeface="inherit"/>
                        </a:rPr>
                        <a:t>Highly pragmatic attitude (Thomas et al</a:t>
                      </a:r>
                      <a:r>
                        <a:rPr lang="en-US" sz="1200" b="1" baseline="30000" dirty="0">
                          <a:effectLst/>
                          <a:latin typeface="inherit"/>
                        </a:rPr>
                        <a:t>8</a:t>
                      </a:r>
                      <a:r>
                        <a:rPr lang="en-US" sz="1200" b="1" dirty="0">
                          <a:effectLst/>
                          <a:latin typeface="inherit"/>
                        </a:rPr>
                        <a:t>)</a:t>
                      </a:r>
                    </a:p>
                    <a:p>
                      <a:endParaRPr lang="en-US" sz="1200" b="1" dirty="0"/>
                    </a:p>
                  </a:txBody>
                  <a:tcPr marL="17199" marR="17199" marT="8599" marB="85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4679957"/>
                  </a:ext>
                </a:extLst>
              </a:tr>
              <a:tr h="674298">
                <a:tc>
                  <a:txBody>
                    <a:bodyPr/>
                    <a:lstStyle/>
                    <a:p>
                      <a:pPr algn="l" fontAlgn="ctr"/>
                      <a:r>
                        <a:rPr lang="en-US" sz="1200" b="0">
                          <a:effectLst/>
                          <a:latin typeface="inherit"/>
                        </a:rPr>
                        <a:t>Question</a:t>
                      </a:r>
                    </a:p>
                  </a:txBody>
                  <a:tcPr marL="17199" marR="17199" marT="8599" marB="8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a:effectLst/>
                          <a:latin typeface="inherit"/>
                        </a:rPr>
                        <a:t>Among patients with symptomatic 70-99% stenosis of carotid artery can carotid endarterectomy plus best medical therapy reduce outcomes of major stroke or death over next two years compared with best medical therapy alone?</a:t>
                      </a:r>
                    </a:p>
                  </a:txBody>
                  <a:tcPr marL="17199" marR="17199" marT="8599" marB="8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dirty="0">
                          <a:effectLst/>
                          <a:latin typeface="inherit"/>
                        </a:rPr>
                        <a:t>Does a short course of acupuncture delivered by a qualified acupuncturist reduce pain in patients with persistent non-specific low-back pain?</a:t>
                      </a:r>
                    </a:p>
                  </a:txBody>
                  <a:tcPr marL="17199" marR="17199" marT="8599" marB="8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345717523"/>
                  </a:ext>
                </a:extLst>
              </a:tr>
              <a:tr h="495807">
                <a:tc>
                  <a:txBody>
                    <a:bodyPr/>
                    <a:lstStyle/>
                    <a:p>
                      <a:pPr algn="l" fontAlgn="ctr"/>
                      <a:r>
                        <a:rPr lang="en-US" sz="1200" b="0">
                          <a:effectLst/>
                          <a:latin typeface="inherit"/>
                        </a:rPr>
                        <a:t>Setting</a:t>
                      </a:r>
                    </a:p>
                  </a:txBody>
                  <a:tcPr marL="17199" marR="17199" marT="8599" marB="8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a:effectLst/>
                          <a:latin typeface="inherit"/>
                        </a:rPr>
                        <a:t>Volunteer academic and specialist hospitals with multidisciplinary neurological-neurosurgical teams and high procedure volumes with low mortality in US and Canada</a:t>
                      </a:r>
                    </a:p>
                  </a:txBody>
                  <a:tcPr marL="17199" marR="17199" marT="8599" marB="8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a:effectLst/>
                          <a:latin typeface="inherit"/>
                        </a:rPr>
                        <a:t>General practice and private acupuncture clinics in UK</a:t>
                      </a:r>
                    </a:p>
                  </a:txBody>
                  <a:tcPr marL="17199" marR="17199" marT="8599" marB="8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926864423"/>
                  </a:ext>
                </a:extLst>
              </a:tr>
              <a:tr h="984165">
                <a:tc>
                  <a:txBody>
                    <a:bodyPr/>
                    <a:lstStyle/>
                    <a:p>
                      <a:pPr algn="l" fontAlgn="ctr"/>
                      <a:r>
                        <a:rPr lang="en-US" sz="1200" b="0" dirty="0">
                          <a:effectLst/>
                          <a:latin typeface="inherit"/>
                        </a:rPr>
                        <a:t>Participants</a:t>
                      </a:r>
                    </a:p>
                  </a:txBody>
                  <a:tcPr marL="17199" marR="17199" marT="8599" marB="8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dirty="0">
                          <a:effectLst/>
                          <a:latin typeface="inherit"/>
                        </a:rPr>
                        <a:t>Symptomatic patients stratified for carotid stenosis severity, with primary interest in severe carotid stenosis (high risk) group, who were thought to be most likely to respond to endarterectomy. Exclusions included mental incompetence and another illness likely to cause death within 5 years. Patients also were temporarily ineligible if they had any of seven transient medical conditions (</a:t>
                      </a:r>
                      <a:r>
                        <a:rPr lang="en-US" sz="1200" b="0" dirty="0" err="1">
                          <a:effectLst/>
                          <a:latin typeface="inherit"/>
                        </a:rPr>
                        <a:t>eg</a:t>
                      </a:r>
                      <a:r>
                        <a:rPr lang="en-US" sz="1200" b="0" dirty="0">
                          <a:effectLst/>
                          <a:latin typeface="inherit"/>
                        </a:rPr>
                        <a:t>, uncontrolled hypertension or diabetes)</a:t>
                      </a:r>
                    </a:p>
                  </a:txBody>
                  <a:tcPr marL="17199" marR="17199" marT="8599" marB="8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a:effectLst/>
                          <a:latin typeface="inherit"/>
                        </a:rPr>
                        <a:t>Anyone aged 18-65 with non-specific low back pain of 4-52 weeks’ duration who were judged to be suitable by their general practitioner. There were some exclusion criteria, eg those with spinal disease</a:t>
                      </a:r>
                    </a:p>
                  </a:txBody>
                  <a:tcPr marL="17199" marR="17199" marT="8599" marB="8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893991871"/>
                  </a:ext>
                </a:extLst>
              </a:tr>
              <a:tr h="1071716">
                <a:tc>
                  <a:txBody>
                    <a:bodyPr/>
                    <a:lstStyle/>
                    <a:p>
                      <a:pPr algn="l" fontAlgn="ctr"/>
                      <a:r>
                        <a:rPr lang="en-US" sz="1200" b="0">
                          <a:effectLst/>
                          <a:latin typeface="inherit"/>
                        </a:rPr>
                        <a:t>Intervention</a:t>
                      </a:r>
                    </a:p>
                  </a:txBody>
                  <a:tcPr marL="17199" marR="17199" marT="8599" marB="8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a:effectLst/>
                          <a:latin typeface="inherit"/>
                        </a:rPr>
                        <a:t>Endarterectomy had to be carried out (rather than stenting or some other operation), but the surgeon was given leeway in how it was performed. Surgeons had to be approved by an expert panel, and were restricted to those who had performed at least 50 carotid endarterectomies in the past 24 months with a postoperative complication rate (stroke or death within 30 days) of less than 6%. Centre compliance with the study protocol was monitored, with the chief investigator visiting in the case of deficiencies</a:t>
                      </a:r>
                    </a:p>
                  </a:txBody>
                  <a:tcPr marL="17199" marR="17199" marT="8599" marB="8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a:effectLst/>
                          <a:latin typeface="inherit"/>
                        </a:rPr>
                        <a:t>Acupuncturists determined the content and number of treatments according to patients’ needs</a:t>
                      </a:r>
                    </a:p>
                  </a:txBody>
                  <a:tcPr marL="17199" marR="17199" marT="8599" marB="8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087021593"/>
                  </a:ext>
                </a:extLst>
              </a:tr>
              <a:tr h="581747">
                <a:tc>
                  <a:txBody>
                    <a:bodyPr/>
                    <a:lstStyle/>
                    <a:p>
                      <a:pPr algn="l" fontAlgn="ctr"/>
                      <a:r>
                        <a:rPr lang="en-US" sz="1200" b="0">
                          <a:effectLst/>
                          <a:latin typeface="inherit"/>
                        </a:rPr>
                        <a:t>Outcomes</a:t>
                      </a:r>
                    </a:p>
                  </a:txBody>
                  <a:tcPr marL="17199" marR="17199" marT="8599" marB="8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a:effectLst/>
                          <a:latin typeface="inherit"/>
                        </a:rPr>
                        <a:t>The primary outcome was time to ipsilateral stroke, the outcome most likely to be affected by carotid endarterectomy. Secondary outcomes: all strokes, major strokes, and mortality</a:t>
                      </a:r>
                    </a:p>
                  </a:txBody>
                  <a:tcPr marL="17199" marR="17199" marT="8599" marB="8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a:effectLst/>
                          <a:latin typeface="inherit"/>
                        </a:rPr>
                        <a:t>Primary outcome was bodily pain as measured by SF-36. Secondary outcomes included use of pain killers and patient satisfaction</a:t>
                      </a:r>
                    </a:p>
                  </a:txBody>
                  <a:tcPr marL="17199" marR="17199" marT="8599" marB="8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4041228"/>
                  </a:ext>
                </a:extLst>
              </a:tr>
              <a:tr h="393725">
                <a:tc>
                  <a:txBody>
                    <a:bodyPr/>
                    <a:lstStyle/>
                    <a:p>
                      <a:pPr algn="l" fontAlgn="ctr"/>
                      <a:r>
                        <a:rPr lang="en-US" sz="1200" b="0">
                          <a:effectLst/>
                          <a:latin typeface="inherit"/>
                        </a:rPr>
                        <a:t>Relevance to practice</a:t>
                      </a:r>
                    </a:p>
                  </a:txBody>
                  <a:tcPr marL="17199" marR="17199" marT="8599" marB="8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a:effectLst/>
                          <a:latin typeface="inherit"/>
                        </a:rPr>
                        <a:t>Indirect—patients and clinicians are highly selected and it isn’t clear how widely applicable the results are</a:t>
                      </a:r>
                    </a:p>
                  </a:txBody>
                  <a:tcPr marL="17199" marR="17199" marT="8599" marB="8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dirty="0">
                          <a:effectLst/>
                          <a:latin typeface="inherit"/>
                        </a:rPr>
                        <a:t>Direct—general practitioners and patients can immediately use the trial results in their decision making</a:t>
                      </a:r>
                    </a:p>
                  </a:txBody>
                  <a:tcPr marL="17199" marR="17199" marT="8599" marB="8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769860350"/>
                  </a:ext>
                </a:extLst>
              </a:tr>
            </a:tbl>
          </a:graphicData>
        </a:graphic>
      </p:graphicFrame>
      <p:sp>
        <p:nvSpPr>
          <p:cNvPr id="3" name="Footer Placeholder 2">
            <a:extLst>
              <a:ext uri="{FF2B5EF4-FFF2-40B4-BE49-F238E27FC236}">
                <a16:creationId xmlns:a16="http://schemas.microsoft.com/office/drawing/2014/main" id="{8064C717-FB61-FA4B-940E-1D1EA6A7B40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391F0A6-DF71-4D90-3221-B218268C05A1}"/>
              </a:ext>
            </a:extLst>
          </p:cNvPr>
          <p:cNvSpPr>
            <a:spLocks noGrp="1"/>
          </p:cNvSpPr>
          <p:nvPr>
            <p:ph type="sldNum" sz="quarter" idx="12"/>
          </p:nvPr>
        </p:nvSpPr>
        <p:spPr/>
        <p:txBody>
          <a:bodyPr/>
          <a:lstStyle/>
          <a:p>
            <a:fld id="{77C6A7FE-225D-49F1-B302-AA37EA92BB49}" type="slidenum">
              <a:rPr lang="en-US" smtClean="0"/>
              <a:t>124</a:t>
            </a:fld>
            <a:endParaRPr lang="en-US"/>
          </a:p>
        </p:txBody>
      </p:sp>
    </p:spTree>
    <p:extLst>
      <p:ext uri="{BB962C8B-B14F-4D97-AF65-F5344CB8AC3E}">
        <p14:creationId xmlns:p14="http://schemas.microsoft.com/office/powerpoint/2010/main" val="324084097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30"/>
            <a:ext cx="12192000" cy="1165755"/>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200" dirty="0">
                <a:solidFill>
                  <a:schemeClr val="bg1"/>
                </a:solidFill>
                <a:latin typeface="Arial" panose="020B0604020202020204" pitchFamily="34" charset="0"/>
                <a:cs typeface="Arial" panose="020B0604020202020204" pitchFamily="34" charset="0"/>
              </a:rPr>
              <a:t>Table 3  Checklist of items for reporting pragmatic trials (cont.)</a:t>
            </a:r>
          </a:p>
          <a:p>
            <a:pPr algn="ctr"/>
            <a:r>
              <a:rPr lang="en-US" altLang="en-US" sz="3200" dirty="0">
                <a:solidFill>
                  <a:schemeClr val="bg1"/>
                </a:solidFill>
                <a:latin typeface="Arial" panose="020B0604020202020204" pitchFamily="34" charset="0"/>
                <a:cs typeface="Arial" panose="020B0604020202020204" pitchFamily="34" charset="0"/>
              </a:rPr>
              <a:t>(</a:t>
            </a:r>
            <a:r>
              <a:rPr lang="en-US" altLang="en-US" sz="3200" dirty="0" err="1">
                <a:solidFill>
                  <a:schemeClr val="bg1"/>
                </a:solidFill>
                <a:latin typeface="Arial" panose="020B0604020202020204" pitchFamily="34" charset="0"/>
                <a:cs typeface="Arial" panose="020B0604020202020204" pitchFamily="34" charset="0"/>
              </a:rPr>
              <a:t>Zwarenstein</a:t>
            </a:r>
            <a:r>
              <a:rPr lang="en-US" altLang="en-US" sz="3200" dirty="0">
                <a:solidFill>
                  <a:schemeClr val="bg1"/>
                </a:solidFill>
                <a:latin typeface="Arial" panose="020B0604020202020204" pitchFamily="34" charset="0"/>
                <a:cs typeface="Arial" panose="020B0604020202020204" pitchFamily="34" charset="0"/>
              </a:rPr>
              <a:t>, BMJ, 2008)</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8" name="TextBox 7">
            <a:extLst>
              <a:ext uri="{FF2B5EF4-FFF2-40B4-BE49-F238E27FC236}">
                <a16:creationId xmlns:a16="http://schemas.microsoft.com/office/drawing/2014/main" id="{DAB6CA0F-512F-43D5-B51E-4403FE463D02}"/>
              </a:ext>
            </a:extLst>
          </p:cNvPr>
          <p:cNvSpPr txBox="1"/>
          <p:nvPr/>
        </p:nvSpPr>
        <p:spPr>
          <a:xfrm>
            <a:off x="334296" y="1296612"/>
            <a:ext cx="11710219" cy="646331"/>
          </a:xfrm>
          <a:prstGeom prst="rect">
            <a:avLst/>
          </a:prstGeom>
          <a:noFill/>
        </p:spPr>
        <p:txBody>
          <a:bodyPr wrap="square">
            <a:spAutoFit/>
          </a:bodyPr>
          <a:lstStyle/>
          <a:p>
            <a:pPr algn="l" fontAlgn="base"/>
            <a:br>
              <a:rPr lang="en-US" b="1" i="0">
                <a:solidFill>
                  <a:srgbClr val="333333"/>
                </a:solidFill>
                <a:effectLst/>
                <a:latin typeface="interfaceregular"/>
              </a:rPr>
            </a:br>
            <a:endParaRPr lang="en-US" b="0" i="0" dirty="0">
              <a:solidFill>
                <a:srgbClr val="333333"/>
              </a:solidFill>
              <a:effectLst/>
              <a:latin typeface="interfaceregular"/>
            </a:endParaRPr>
          </a:p>
        </p:txBody>
      </p:sp>
      <p:graphicFrame>
        <p:nvGraphicFramePr>
          <p:cNvPr id="7" name="Table 6">
            <a:extLst>
              <a:ext uri="{FF2B5EF4-FFF2-40B4-BE49-F238E27FC236}">
                <a16:creationId xmlns:a16="http://schemas.microsoft.com/office/drawing/2014/main" id="{33A284ED-58AF-4BE4-94EF-1CD76FD9E267}"/>
              </a:ext>
            </a:extLst>
          </p:cNvPr>
          <p:cNvGraphicFramePr>
            <a:graphicFrameLocks noGrp="1"/>
          </p:cNvGraphicFramePr>
          <p:nvPr>
            <p:extLst>
              <p:ext uri="{D42A27DB-BD31-4B8C-83A1-F6EECF244321}">
                <p14:modId xmlns:p14="http://schemas.microsoft.com/office/powerpoint/2010/main" val="1421880314"/>
              </p:ext>
            </p:extLst>
          </p:nvPr>
        </p:nvGraphicFramePr>
        <p:xfrm>
          <a:off x="147485" y="1475473"/>
          <a:ext cx="11897030" cy="4758418"/>
        </p:xfrm>
        <a:graphic>
          <a:graphicData uri="http://schemas.openxmlformats.org/drawingml/2006/table">
            <a:tbl>
              <a:tblPr/>
              <a:tblGrid>
                <a:gridCol w="2274818">
                  <a:extLst>
                    <a:ext uri="{9D8B030D-6E8A-4147-A177-3AD203B41FA5}">
                      <a16:colId xmlns:a16="http://schemas.microsoft.com/office/drawing/2014/main" val="3107001043"/>
                    </a:ext>
                  </a:extLst>
                </a:gridCol>
                <a:gridCol w="1047616">
                  <a:extLst>
                    <a:ext uri="{9D8B030D-6E8A-4147-A177-3AD203B41FA5}">
                      <a16:colId xmlns:a16="http://schemas.microsoft.com/office/drawing/2014/main" val="1404489092"/>
                    </a:ext>
                  </a:extLst>
                </a:gridCol>
                <a:gridCol w="4158968">
                  <a:extLst>
                    <a:ext uri="{9D8B030D-6E8A-4147-A177-3AD203B41FA5}">
                      <a16:colId xmlns:a16="http://schemas.microsoft.com/office/drawing/2014/main" val="2024846520"/>
                    </a:ext>
                  </a:extLst>
                </a:gridCol>
                <a:gridCol w="4415628">
                  <a:extLst>
                    <a:ext uri="{9D8B030D-6E8A-4147-A177-3AD203B41FA5}">
                      <a16:colId xmlns:a16="http://schemas.microsoft.com/office/drawing/2014/main" val="2951481537"/>
                    </a:ext>
                  </a:extLst>
                </a:gridCol>
              </a:tblGrid>
              <a:tr h="181289">
                <a:tc>
                  <a:txBody>
                    <a:bodyPr/>
                    <a:lstStyle/>
                    <a:p>
                      <a:pPr algn="l" fontAlgn="ctr"/>
                      <a:r>
                        <a:rPr lang="en-US" sz="1400" b="1" dirty="0">
                          <a:effectLst/>
                          <a:latin typeface="inherit"/>
                        </a:rPr>
                        <a:t>Section</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400" b="1" dirty="0">
                          <a:effectLst/>
                          <a:latin typeface="inherit"/>
                        </a:rPr>
                        <a:t>Item</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400" b="1">
                          <a:effectLst/>
                          <a:latin typeface="inherit"/>
                        </a:rPr>
                        <a:t>Standard CONSORT description</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400" b="1" dirty="0">
                          <a:effectLst/>
                          <a:latin typeface="inherit"/>
                        </a:rPr>
                        <a:t>Extension for pragmatic trials</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497162468"/>
                  </a:ext>
                </a:extLst>
              </a:tr>
              <a:tr h="356798">
                <a:tc>
                  <a:txBody>
                    <a:bodyPr/>
                    <a:lstStyle/>
                    <a:p>
                      <a:pPr algn="l" fontAlgn="ctr"/>
                      <a:r>
                        <a:rPr lang="en-US" sz="1200" b="0" dirty="0">
                          <a:effectLst/>
                          <a:latin typeface="inherit"/>
                        </a:rPr>
                        <a:t>Title and abstract</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200" b="0">
                          <a:effectLst/>
                          <a:latin typeface="inherit"/>
                        </a:rPr>
                        <a:t>1</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a:effectLst/>
                          <a:latin typeface="inherit"/>
                        </a:rPr>
                        <a:t>How participants were allocated to interventions (eg, “random allocation,” “randomised,” or “randomly assigned”)</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endParaRPr lang="en-US" sz="1200" b="0" dirty="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330041803"/>
                  </a:ext>
                </a:extLst>
              </a:tr>
              <a:tr h="181289">
                <a:tc>
                  <a:txBody>
                    <a:bodyPr/>
                    <a:lstStyle/>
                    <a:p>
                      <a:pPr algn="l" fontAlgn="ctr"/>
                      <a:r>
                        <a:rPr lang="en-US" sz="1200" b="1">
                          <a:effectLst/>
                          <a:latin typeface="inherit"/>
                        </a:rPr>
                        <a:t>Introduction</a:t>
                      </a:r>
                      <a:endParaRPr lang="en-US" sz="1200" b="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endParaRPr lang="en-US" sz="1200" b="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endParaRPr lang="en-US" sz="1200" b="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endParaRPr lang="en-US" sz="1200" b="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287582036"/>
                  </a:ext>
                </a:extLst>
              </a:tr>
              <a:tr h="707814">
                <a:tc>
                  <a:txBody>
                    <a:bodyPr/>
                    <a:lstStyle/>
                    <a:p>
                      <a:pPr algn="l" fontAlgn="ctr"/>
                      <a:r>
                        <a:rPr lang="en-US" sz="1200" b="0" dirty="0">
                          <a:effectLst/>
                          <a:latin typeface="inherit"/>
                        </a:rPr>
                        <a:t>Background</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200" b="0">
                          <a:effectLst/>
                          <a:latin typeface="inherit"/>
                        </a:rPr>
                        <a:t>2</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a:effectLst/>
                          <a:latin typeface="inherit"/>
                        </a:rPr>
                        <a:t>Scientific background and explanation of rationale</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a:effectLst/>
                          <a:latin typeface="inherit"/>
                        </a:rPr>
                        <a:t>Describe the health or health service problem that the intervention is intended to address and other interventions that may commonly be aimed at this problem</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20100388"/>
                  </a:ext>
                </a:extLst>
              </a:tr>
              <a:tr h="181289">
                <a:tc>
                  <a:txBody>
                    <a:bodyPr/>
                    <a:lstStyle/>
                    <a:p>
                      <a:pPr algn="l" fontAlgn="ctr"/>
                      <a:r>
                        <a:rPr lang="en-US" sz="1200" b="1">
                          <a:effectLst/>
                          <a:latin typeface="inherit"/>
                        </a:rPr>
                        <a:t>Methods</a:t>
                      </a:r>
                      <a:endParaRPr lang="en-US" sz="1200" b="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endParaRPr lang="en-US" sz="1200" b="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endParaRPr lang="en-US" sz="1200" b="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endParaRPr lang="en-US" sz="1200" b="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626848038"/>
                  </a:ext>
                </a:extLst>
              </a:tr>
              <a:tr h="820591">
                <a:tc rowSpan="2">
                  <a:txBody>
                    <a:bodyPr/>
                    <a:lstStyle/>
                    <a:p>
                      <a:pPr algn="l" fontAlgn="ctr"/>
                      <a:r>
                        <a:rPr lang="en-US" sz="1200" b="0">
                          <a:effectLst/>
                          <a:latin typeface="inherit"/>
                        </a:rPr>
                        <a:t>Participants</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rowSpan="2">
                  <a:txBody>
                    <a:bodyPr/>
                    <a:lstStyle/>
                    <a:p>
                      <a:pPr algn="ctr" fontAlgn="ctr"/>
                      <a:r>
                        <a:rPr lang="en-US" sz="1200" b="0" dirty="0">
                          <a:effectLst/>
                          <a:latin typeface="inherit"/>
                        </a:rPr>
                        <a:t>3</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rowSpan="2">
                  <a:txBody>
                    <a:bodyPr/>
                    <a:lstStyle/>
                    <a:p>
                      <a:pPr algn="l" fontAlgn="ctr"/>
                      <a:r>
                        <a:rPr lang="en-US" sz="1200" b="0">
                          <a:effectLst/>
                          <a:latin typeface="inherit"/>
                        </a:rPr>
                        <a:t>Eligibility criteria for participants; settings and locations where the data were collected</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a:effectLst/>
                          <a:latin typeface="inherit"/>
                        </a:rPr>
                        <a:t>Eligibility criteria should be explicitly framed to show the degree to which they include typical participants and/or, where applicable, typical providers (eg, nurses), institutions (eg, hospitals), communities (or localities eg, towns) and settings of care (eg, different healthcare financing systems)</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983785158"/>
                  </a:ext>
                </a:extLst>
              </a:tr>
              <a:tr h="4311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fontAlgn="ctr"/>
                      <a:r>
                        <a:rPr lang="en-US" sz="1200" b="0">
                          <a:effectLst/>
                          <a:latin typeface="inherit"/>
                        </a:rPr>
                        <a:t>Interventions</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745363978"/>
                  </a:ext>
                </a:extLst>
              </a:tr>
              <a:tr h="356798">
                <a:tc>
                  <a:txBody>
                    <a:bodyPr/>
                    <a:lstStyle/>
                    <a:p>
                      <a:pPr algn="l" fontAlgn="ctr"/>
                      <a:r>
                        <a:rPr lang="en-US" sz="1200" b="1" dirty="0">
                          <a:effectLst/>
                          <a:latin typeface="inherit"/>
                        </a:rPr>
                        <a:t>Describe the comparator in similar detail to the intervention</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endParaRPr lang="en-US" sz="1200"/>
                    </a:p>
                  </a:txBody>
                  <a:tcPr marL="5522" marR="5522" marT="2761" marB="276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marL="5522" marR="5522" marT="2761" marB="276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marL="5522" marR="5522" marT="2761" marB="276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7719636"/>
                  </a:ext>
                </a:extLst>
              </a:tr>
              <a:tr h="181289">
                <a:tc>
                  <a:txBody>
                    <a:bodyPr/>
                    <a:lstStyle/>
                    <a:p>
                      <a:pPr algn="l" fontAlgn="ctr"/>
                      <a:r>
                        <a:rPr lang="en-US" sz="1200" b="0">
                          <a:effectLst/>
                          <a:latin typeface="inherit"/>
                        </a:rPr>
                        <a:t>Objectives</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200" b="0">
                          <a:effectLst/>
                          <a:latin typeface="inherit"/>
                        </a:rPr>
                        <a:t>5</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a:effectLst/>
                          <a:latin typeface="inherit"/>
                        </a:rPr>
                        <a:t>Specific objectives and hypotheses</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endParaRPr lang="en-US" sz="1200" b="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445541973"/>
                  </a:ext>
                </a:extLst>
              </a:tr>
              <a:tr h="707814">
                <a:tc>
                  <a:txBody>
                    <a:bodyPr/>
                    <a:lstStyle/>
                    <a:p>
                      <a:pPr algn="l" fontAlgn="ctr"/>
                      <a:r>
                        <a:rPr lang="en-US" sz="1200" b="0">
                          <a:effectLst/>
                          <a:latin typeface="inherit"/>
                        </a:rPr>
                        <a:t>Outcomes</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200" b="0">
                          <a:effectLst/>
                          <a:latin typeface="inherit"/>
                        </a:rPr>
                        <a:t>6</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dirty="0">
                          <a:effectLst/>
                          <a:latin typeface="inherit"/>
                        </a:rPr>
                        <a:t>Clearly defined primary and secondary outcome measures and, when applicable, any methods used to enhance the quality of measurements (</a:t>
                      </a:r>
                      <a:r>
                        <a:rPr lang="en-US" sz="1200" b="0" dirty="0" err="1">
                          <a:effectLst/>
                          <a:latin typeface="inherit"/>
                        </a:rPr>
                        <a:t>eg</a:t>
                      </a:r>
                      <a:r>
                        <a:rPr lang="en-US" sz="1200" b="0" dirty="0">
                          <a:effectLst/>
                          <a:latin typeface="inherit"/>
                        </a:rPr>
                        <a:t>, multiple observations, training of assessors)</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a:effectLst/>
                          <a:latin typeface="inherit"/>
                        </a:rPr>
                        <a:t>Explain why the chosen outcomes and, when relevant, the length of follow-up are considered important to those who will use the results of the trial</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529921719"/>
                  </a:ext>
                </a:extLst>
              </a:tr>
              <a:tr h="707814">
                <a:tc>
                  <a:txBody>
                    <a:bodyPr/>
                    <a:lstStyle/>
                    <a:p>
                      <a:pPr algn="l" fontAlgn="ctr"/>
                      <a:r>
                        <a:rPr lang="en-US" sz="1200" b="0">
                          <a:effectLst/>
                          <a:latin typeface="inherit"/>
                        </a:rPr>
                        <a:t>Sample size</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200" b="0" dirty="0">
                          <a:effectLst/>
                          <a:latin typeface="inherit"/>
                        </a:rPr>
                        <a:t>7</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a:effectLst/>
                          <a:latin typeface="inherit"/>
                        </a:rPr>
                        <a:t>How sample size was determined; explanation of any interim analyses and stopping rules when applicable</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dirty="0">
                          <a:effectLst/>
                          <a:latin typeface="inherit"/>
                        </a:rPr>
                        <a:t>If calculated using the smallest difference considered important by the target decision maker audience (the minimally important difference) then report where this difference was obtained</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21439592"/>
                  </a:ext>
                </a:extLst>
              </a:tr>
            </a:tbl>
          </a:graphicData>
        </a:graphic>
      </p:graphicFrame>
      <p:sp>
        <p:nvSpPr>
          <p:cNvPr id="9" name="Rectangle 2">
            <a:extLst>
              <a:ext uri="{FF2B5EF4-FFF2-40B4-BE49-F238E27FC236}">
                <a16:creationId xmlns:a16="http://schemas.microsoft.com/office/drawing/2014/main" id="{E4D9FCA4-FC7E-47B9-8358-8AFFB1E9C688}"/>
              </a:ext>
            </a:extLst>
          </p:cNvPr>
          <p:cNvSpPr>
            <a:spLocks noChangeArrowheads="1"/>
          </p:cNvSpPr>
          <p:nvPr/>
        </p:nvSpPr>
        <p:spPr bwMode="auto">
          <a:xfrm>
            <a:off x="5872163" y="1475473"/>
            <a:ext cx="15711126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Footer Placeholder 1">
            <a:extLst>
              <a:ext uri="{FF2B5EF4-FFF2-40B4-BE49-F238E27FC236}">
                <a16:creationId xmlns:a16="http://schemas.microsoft.com/office/drawing/2014/main" id="{2886FE64-3758-F544-B186-9C45F130C4A9}"/>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6FA2704D-5510-1839-B223-3CD627368628}"/>
              </a:ext>
            </a:extLst>
          </p:cNvPr>
          <p:cNvSpPr>
            <a:spLocks noGrp="1"/>
          </p:cNvSpPr>
          <p:nvPr>
            <p:ph type="sldNum" sz="quarter" idx="12"/>
          </p:nvPr>
        </p:nvSpPr>
        <p:spPr/>
        <p:txBody>
          <a:bodyPr/>
          <a:lstStyle/>
          <a:p>
            <a:fld id="{77C6A7FE-225D-49F1-B302-AA37EA92BB49}" type="slidenum">
              <a:rPr lang="en-US" smtClean="0"/>
              <a:t>125</a:t>
            </a:fld>
            <a:endParaRPr lang="en-US"/>
          </a:p>
        </p:txBody>
      </p:sp>
    </p:spTree>
    <p:extLst>
      <p:ext uri="{BB962C8B-B14F-4D97-AF65-F5344CB8AC3E}">
        <p14:creationId xmlns:p14="http://schemas.microsoft.com/office/powerpoint/2010/main" val="412068214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30"/>
            <a:ext cx="12192000" cy="1165755"/>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200" dirty="0">
                <a:solidFill>
                  <a:schemeClr val="bg1"/>
                </a:solidFill>
                <a:latin typeface="Arial" panose="020B0604020202020204" pitchFamily="34" charset="0"/>
                <a:cs typeface="Arial" panose="020B0604020202020204" pitchFamily="34" charset="0"/>
              </a:rPr>
              <a:t>Table 3  Checklist of items for reporting pragmatic trials (cont.)</a:t>
            </a:r>
          </a:p>
          <a:p>
            <a:pPr algn="ctr"/>
            <a:r>
              <a:rPr lang="en-US" altLang="en-US" sz="3200" dirty="0">
                <a:solidFill>
                  <a:schemeClr val="bg1"/>
                </a:solidFill>
                <a:latin typeface="Arial" panose="020B0604020202020204" pitchFamily="34" charset="0"/>
                <a:cs typeface="Arial" panose="020B0604020202020204" pitchFamily="34" charset="0"/>
              </a:rPr>
              <a:t>(</a:t>
            </a:r>
            <a:r>
              <a:rPr lang="en-US" altLang="en-US" sz="3200" dirty="0" err="1">
                <a:solidFill>
                  <a:schemeClr val="bg1"/>
                </a:solidFill>
                <a:latin typeface="Arial" panose="020B0604020202020204" pitchFamily="34" charset="0"/>
                <a:cs typeface="Arial" panose="020B0604020202020204" pitchFamily="34" charset="0"/>
              </a:rPr>
              <a:t>Zwarenstein</a:t>
            </a:r>
            <a:r>
              <a:rPr lang="en-US" altLang="en-US" sz="3200" dirty="0">
                <a:solidFill>
                  <a:schemeClr val="bg1"/>
                </a:solidFill>
                <a:latin typeface="Arial" panose="020B0604020202020204" pitchFamily="34" charset="0"/>
                <a:cs typeface="Arial" panose="020B0604020202020204" pitchFamily="34" charset="0"/>
              </a:rPr>
              <a:t>, BMJ, 2008)</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8" name="TextBox 7">
            <a:extLst>
              <a:ext uri="{FF2B5EF4-FFF2-40B4-BE49-F238E27FC236}">
                <a16:creationId xmlns:a16="http://schemas.microsoft.com/office/drawing/2014/main" id="{DAB6CA0F-512F-43D5-B51E-4403FE463D02}"/>
              </a:ext>
            </a:extLst>
          </p:cNvPr>
          <p:cNvSpPr txBox="1"/>
          <p:nvPr/>
        </p:nvSpPr>
        <p:spPr>
          <a:xfrm>
            <a:off x="334296" y="1296612"/>
            <a:ext cx="11710219" cy="646331"/>
          </a:xfrm>
          <a:prstGeom prst="rect">
            <a:avLst/>
          </a:prstGeom>
          <a:noFill/>
        </p:spPr>
        <p:txBody>
          <a:bodyPr wrap="square">
            <a:spAutoFit/>
          </a:bodyPr>
          <a:lstStyle/>
          <a:p>
            <a:pPr algn="l" fontAlgn="base"/>
            <a:br>
              <a:rPr lang="en-US" b="1" i="0">
                <a:solidFill>
                  <a:srgbClr val="333333"/>
                </a:solidFill>
                <a:effectLst/>
                <a:latin typeface="interfaceregular"/>
              </a:rPr>
            </a:br>
            <a:endParaRPr lang="en-US" b="0" i="0" dirty="0">
              <a:solidFill>
                <a:srgbClr val="333333"/>
              </a:solidFill>
              <a:effectLst/>
              <a:latin typeface="interfaceregular"/>
            </a:endParaRPr>
          </a:p>
        </p:txBody>
      </p:sp>
      <p:graphicFrame>
        <p:nvGraphicFramePr>
          <p:cNvPr id="7" name="Table 6">
            <a:extLst>
              <a:ext uri="{FF2B5EF4-FFF2-40B4-BE49-F238E27FC236}">
                <a16:creationId xmlns:a16="http://schemas.microsoft.com/office/drawing/2014/main" id="{33A284ED-58AF-4BE4-94EF-1CD76FD9E267}"/>
              </a:ext>
            </a:extLst>
          </p:cNvPr>
          <p:cNvGraphicFramePr>
            <a:graphicFrameLocks noGrp="1"/>
          </p:cNvGraphicFramePr>
          <p:nvPr>
            <p:extLst>
              <p:ext uri="{D42A27DB-BD31-4B8C-83A1-F6EECF244321}">
                <p14:modId xmlns:p14="http://schemas.microsoft.com/office/powerpoint/2010/main" val="2711539220"/>
              </p:ext>
            </p:extLst>
          </p:nvPr>
        </p:nvGraphicFramePr>
        <p:xfrm>
          <a:off x="226645" y="1387142"/>
          <a:ext cx="11817870" cy="4555719"/>
        </p:xfrm>
        <a:graphic>
          <a:graphicData uri="http://schemas.openxmlformats.org/drawingml/2006/table">
            <a:tbl>
              <a:tblPr/>
              <a:tblGrid>
                <a:gridCol w="2215104">
                  <a:extLst>
                    <a:ext uri="{9D8B030D-6E8A-4147-A177-3AD203B41FA5}">
                      <a16:colId xmlns:a16="http://schemas.microsoft.com/office/drawing/2014/main" val="3107001043"/>
                    </a:ext>
                  </a:extLst>
                </a:gridCol>
                <a:gridCol w="994787">
                  <a:extLst>
                    <a:ext uri="{9D8B030D-6E8A-4147-A177-3AD203B41FA5}">
                      <a16:colId xmlns:a16="http://schemas.microsoft.com/office/drawing/2014/main" val="1404489092"/>
                    </a:ext>
                  </a:extLst>
                </a:gridCol>
                <a:gridCol w="5653511">
                  <a:extLst>
                    <a:ext uri="{9D8B030D-6E8A-4147-A177-3AD203B41FA5}">
                      <a16:colId xmlns:a16="http://schemas.microsoft.com/office/drawing/2014/main" val="2024846520"/>
                    </a:ext>
                  </a:extLst>
                </a:gridCol>
                <a:gridCol w="2954468">
                  <a:extLst>
                    <a:ext uri="{9D8B030D-6E8A-4147-A177-3AD203B41FA5}">
                      <a16:colId xmlns:a16="http://schemas.microsoft.com/office/drawing/2014/main" val="2951481537"/>
                    </a:ext>
                  </a:extLst>
                </a:gridCol>
              </a:tblGrid>
              <a:tr h="226828">
                <a:tc>
                  <a:txBody>
                    <a:bodyPr/>
                    <a:lstStyle/>
                    <a:p>
                      <a:pPr algn="l" fontAlgn="ctr"/>
                      <a:r>
                        <a:rPr lang="en-US" sz="1400" b="1" dirty="0">
                          <a:effectLst/>
                          <a:latin typeface="inherit"/>
                        </a:rPr>
                        <a:t>Section</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400" b="1" dirty="0">
                          <a:effectLst/>
                          <a:latin typeface="inherit"/>
                        </a:rPr>
                        <a:t>Item</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400" b="1" dirty="0">
                          <a:effectLst/>
                          <a:latin typeface="inherit"/>
                        </a:rPr>
                        <a:t>Standard CONSORT description</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400" b="1" dirty="0">
                          <a:effectLst/>
                          <a:latin typeface="inherit"/>
                        </a:rPr>
                        <a:t>Extension for pragmatic trials</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497162468"/>
                  </a:ext>
                </a:extLst>
              </a:tr>
              <a:tr h="305820">
                <a:tc>
                  <a:txBody>
                    <a:bodyPr/>
                    <a:lstStyle/>
                    <a:p>
                      <a:pPr algn="l" fontAlgn="ctr"/>
                      <a:r>
                        <a:rPr lang="en-US" sz="1200" b="1" dirty="0">
                          <a:effectLst/>
                          <a:latin typeface="inherit"/>
                        </a:rPr>
                        <a:t>Methods (cont.)</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endParaRPr lang="en-US" sz="1200" b="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endParaRPr lang="en-US" sz="1200" b="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endParaRPr lang="en-US" sz="1200" b="0" dirty="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20753326"/>
                  </a:ext>
                </a:extLst>
              </a:tr>
              <a:tr h="447008">
                <a:tc>
                  <a:txBody>
                    <a:bodyPr/>
                    <a:lstStyle/>
                    <a:p>
                      <a:pPr algn="l" fontAlgn="ctr"/>
                      <a:r>
                        <a:rPr lang="en-US" sz="1200" b="0" dirty="0" err="1">
                          <a:effectLst/>
                          <a:latin typeface="inherit"/>
                        </a:rPr>
                        <a:t>Randomisation</a:t>
                      </a:r>
                      <a:r>
                        <a:rPr lang="en-US" sz="1200" b="0" dirty="0">
                          <a:effectLst/>
                          <a:latin typeface="inherit"/>
                        </a:rPr>
                        <a:t>—sequence generation</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200" b="0">
                          <a:effectLst/>
                          <a:latin typeface="inherit"/>
                        </a:rPr>
                        <a:t>8</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a:effectLst/>
                          <a:latin typeface="inherit"/>
                        </a:rPr>
                        <a:t>Method used to generate the random allocation sequence, including details of any restriction (eg, blocking, stratification)</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endParaRPr lang="en-US" sz="1200" b="0" dirty="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71107282"/>
                  </a:ext>
                </a:extLst>
              </a:tr>
              <a:tr h="667188">
                <a:tc>
                  <a:txBody>
                    <a:bodyPr/>
                    <a:lstStyle/>
                    <a:p>
                      <a:pPr algn="l" fontAlgn="ctr"/>
                      <a:r>
                        <a:rPr lang="en-US" sz="1200" b="0" dirty="0" err="1">
                          <a:effectLst/>
                          <a:latin typeface="inherit"/>
                        </a:rPr>
                        <a:t>Randomisation</a:t>
                      </a:r>
                      <a:r>
                        <a:rPr lang="en-US" sz="1200" b="0" dirty="0">
                          <a:effectLst/>
                          <a:latin typeface="inherit"/>
                        </a:rPr>
                        <a:t>—allocation concealment</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200" b="0">
                          <a:effectLst/>
                          <a:latin typeface="inherit"/>
                        </a:rPr>
                        <a:t>9</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a:effectLst/>
                          <a:latin typeface="inherit"/>
                        </a:rPr>
                        <a:t>Method used to implement the random allocation sequence (eg, numbered containers or central telephone), clarifying whether the sequence was concealed until interventions were assigned</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endParaRPr lang="en-US" sz="1200" b="0" dirty="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861157921"/>
                  </a:ext>
                </a:extLst>
              </a:tr>
              <a:tr h="447008">
                <a:tc>
                  <a:txBody>
                    <a:bodyPr/>
                    <a:lstStyle/>
                    <a:p>
                      <a:pPr algn="l" fontAlgn="ctr"/>
                      <a:r>
                        <a:rPr lang="en-US" sz="1200" b="0">
                          <a:effectLst/>
                          <a:latin typeface="inherit"/>
                        </a:rPr>
                        <a:t>Randomisation—implementation</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200" b="0">
                          <a:effectLst/>
                          <a:latin typeface="inherit"/>
                        </a:rPr>
                        <a:t>10</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a:effectLst/>
                          <a:latin typeface="inherit"/>
                        </a:rPr>
                        <a:t>Who generated the allocation sequence, who enrolled participants, and who assigned participants to their groups</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endParaRPr lang="en-US" sz="1200" b="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931793326"/>
                  </a:ext>
                </a:extLst>
              </a:tr>
              <a:tr h="447008">
                <a:tc>
                  <a:txBody>
                    <a:bodyPr/>
                    <a:lstStyle/>
                    <a:p>
                      <a:pPr algn="l" fontAlgn="ctr"/>
                      <a:r>
                        <a:rPr lang="en-US" sz="1200" b="0">
                          <a:effectLst/>
                          <a:latin typeface="inherit"/>
                        </a:rPr>
                        <a:t>Blinding (masking)</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200" b="0" dirty="0">
                          <a:effectLst/>
                          <a:latin typeface="inherit"/>
                        </a:rPr>
                        <a:t>11</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a:effectLst/>
                          <a:latin typeface="inherit"/>
                        </a:rPr>
                        <a:t>Whether participants, those administering the interventions, and those assessing the outcomes were blinded to group assignment</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a:effectLst/>
                          <a:latin typeface="inherit"/>
                        </a:rPr>
                        <a:t>If blinding was not done, or was not possible, explain why</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38315132"/>
                  </a:ext>
                </a:extLst>
              </a:tr>
              <a:tr h="447008">
                <a:tc>
                  <a:txBody>
                    <a:bodyPr/>
                    <a:lstStyle/>
                    <a:p>
                      <a:pPr algn="l" fontAlgn="ctr"/>
                      <a:r>
                        <a:rPr lang="en-US" sz="1200" b="0">
                          <a:effectLst/>
                          <a:latin typeface="inherit"/>
                        </a:rPr>
                        <a:t>Statistical methods</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200" b="0">
                          <a:effectLst/>
                          <a:latin typeface="inherit"/>
                        </a:rPr>
                        <a:t>12</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a:effectLst/>
                          <a:latin typeface="inherit"/>
                        </a:rPr>
                        <a:t>Statistical methods used to compare groups for primary outcomes; methods for additional analyses, such as subgroup analyses and adjusted analyses</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endParaRPr lang="en-US" sz="1200" b="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694593616"/>
                  </a:ext>
                </a:extLst>
              </a:tr>
              <a:tr h="226828">
                <a:tc>
                  <a:txBody>
                    <a:bodyPr/>
                    <a:lstStyle/>
                    <a:p>
                      <a:pPr algn="l" fontAlgn="ctr"/>
                      <a:r>
                        <a:rPr lang="en-US" sz="1200" b="1">
                          <a:effectLst/>
                          <a:latin typeface="inherit"/>
                        </a:rPr>
                        <a:t>Results</a:t>
                      </a:r>
                      <a:endParaRPr lang="en-US" sz="1200" b="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endParaRPr lang="en-US" sz="1200" b="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endParaRPr lang="en-US" sz="1200" b="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endParaRPr lang="en-US" sz="1200" b="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150146376"/>
                  </a:ext>
                </a:extLst>
              </a:tr>
              <a:tr h="887367">
                <a:tc>
                  <a:txBody>
                    <a:bodyPr/>
                    <a:lstStyle/>
                    <a:p>
                      <a:pPr algn="l" fontAlgn="ctr"/>
                      <a:r>
                        <a:rPr lang="en-US" sz="1200" b="0">
                          <a:effectLst/>
                          <a:latin typeface="inherit"/>
                        </a:rPr>
                        <a:t>Participant flow</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200" b="0">
                          <a:effectLst/>
                          <a:latin typeface="inherit"/>
                        </a:rPr>
                        <a:t>13</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a:effectLst/>
                          <a:latin typeface="inherit"/>
                        </a:rPr>
                        <a:t>Flow of participants through each stage (a diagram is strongly recommended)—specifically, for each group, report the numbers of participants randomly assigned, receiving intended treatment, completing the study protocol, and analysed for the primary outcome; describe deviations from planned study protocol, together with reasons</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a:effectLst/>
                          <a:latin typeface="inherit"/>
                        </a:rPr>
                        <a:t>The number of participants or units approached to take part in the trial, the number which were eligible, and reasons for non-participation should be reported</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66225091"/>
                  </a:ext>
                </a:extLst>
              </a:tr>
              <a:tr h="226828">
                <a:tc>
                  <a:txBody>
                    <a:bodyPr/>
                    <a:lstStyle/>
                    <a:p>
                      <a:pPr algn="l" fontAlgn="ctr"/>
                      <a:r>
                        <a:rPr lang="en-US" sz="1200" b="0">
                          <a:effectLst/>
                          <a:latin typeface="inherit"/>
                        </a:rPr>
                        <a:t>Recruitment</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200" b="0">
                          <a:effectLst/>
                          <a:latin typeface="inherit"/>
                        </a:rPr>
                        <a:t>14</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dirty="0">
                          <a:effectLst/>
                          <a:latin typeface="inherit"/>
                        </a:rPr>
                        <a:t>Dates defining the periods of recruitment and follow-up</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endParaRPr lang="en-US" sz="1200" b="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673298680"/>
                  </a:ext>
                </a:extLst>
              </a:tr>
              <a:tr h="226828">
                <a:tc>
                  <a:txBody>
                    <a:bodyPr/>
                    <a:lstStyle/>
                    <a:p>
                      <a:pPr algn="l" fontAlgn="ctr"/>
                      <a:r>
                        <a:rPr lang="en-US" sz="1200" b="0">
                          <a:effectLst/>
                          <a:latin typeface="inherit"/>
                        </a:rPr>
                        <a:t>Baseline data</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200" b="0" dirty="0">
                          <a:effectLst/>
                          <a:latin typeface="inherit"/>
                        </a:rPr>
                        <a:t>15</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a:effectLst/>
                          <a:latin typeface="inherit"/>
                        </a:rPr>
                        <a:t>Baseline demographic and clinical characteristics of each group</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endParaRPr lang="en-US" sz="1200" b="0" dirty="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576872263"/>
                  </a:ext>
                </a:extLst>
              </a:tr>
            </a:tbl>
          </a:graphicData>
        </a:graphic>
      </p:graphicFrame>
      <p:sp>
        <p:nvSpPr>
          <p:cNvPr id="9" name="Rectangle 2">
            <a:extLst>
              <a:ext uri="{FF2B5EF4-FFF2-40B4-BE49-F238E27FC236}">
                <a16:creationId xmlns:a16="http://schemas.microsoft.com/office/drawing/2014/main" id="{E4D9FCA4-FC7E-47B9-8358-8AFFB1E9C688}"/>
              </a:ext>
            </a:extLst>
          </p:cNvPr>
          <p:cNvSpPr>
            <a:spLocks noChangeArrowheads="1"/>
          </p:cNvSpPr>
          <p:nvPr/>
        </p:nvSpPr>
        <p:spPr bwMode="auto">
          <a:xfrm>
            <a:off x="5872163" y="1475473"/>
            <a:ext cx="15711126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Footer Placeholder 1">
            <a:extLst>
              <a:ext uri="{FF2B5EF4-FFF2-40B4-BE49-F238E27FC236}">
                <a16:creationId xmlns:a16="http://schemas.microsoft.com/office/drawing/2014/main" id="{6E0A41C1-412E-2E45-B02B-607448F65456}"/>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913918BF-5DAD-51CE-7791-D0F6ED64A439}"/>
              </a:ext>
            </a:extLst>
          </p:cNvPr>
          <p:cNvSpPr>
            <a:spLocks noGrp="1"/>
          </p:cNvSpPr>
          <p:nvPr>
            <p:ph type="sldNum" sz="quarter" idx="12"/>
          </p:nvPr>
        </p:nvSpPr>
        <p:spPr/>
        <p:txBody>
          <a:bodyPr/>
          <a:lstStyle/>
          <a:p>
            <a:fld id="{77C6A7FE-225D-49F1-B302-AA37EA92BB49}" type="slidenum">
              <a:rPr lang="en-US" smtClean="0"/>
              <a:t>126</a:t>
            </a:fld>
            <a:endParaRPr lang="en-US"/>
          </a:p>
        </p:txBody>
      </p:sp>
    </p:spTree>
    <p:extLst>
      <p:ext uri="{BB962C8B-B14F-4D97-AF65-F5344CB8AC3E}">
        <p14:creationId xmlns:p14="http://schemas.microsoft.com/office/powerpoint/2010/main" val="420126969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30"/>
            <a:ext cx="12192000" cy="1165755"/>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200" dirty="0">
                <a:solidFill>
                  <a:schemeClr val="bg1"/>
                </a:solidFill>
                <a:latin typeface="Arial" panose="020B0604020202020204" pitchFamily="34" charset="0"/>
                <a:cs typeface="Arial" panose="020B0604020202020204" pitchFamily="34" charset="0"/>
              </a:rPr>
              <a:t>Table 3  Checklist of items for reporting pragmatic trials (cont.)</a:t>
            </a:r>
          </a:p>
          <a:p>
            <a:pPr algn="ctr"/>
            <a:r>
              <a:rPr lang="en-US" altLang="en-US" sz="3200" dirty="0">
                <a:solidFill>
                  <a:schemeClr val="bg1"/>
                </a:solidFill>
                <a:latin typeface="Arial" panose="020B0604020202020204" pitchFamily="34" charset="0"/>
                <a:cs typeface="Arial" panose="020B0604020202020204" pitchFamily="34" charset="0"/>
              </a:rPr>
              <a:t>(</a:t>
            </a:r>
            <a:r>
              <a:rPr lang="en-US" altLang="en-US" sz="3200" dirty="0" err="1">
                <a:solidFill>
                  <a:schemeClr val="bg1"/>
                </a:solidFill>
                <a:latin typeface="Arial" panose="020B0604020202020204" pitchFamily="34" charset="0"/>
                <a:cs typeface="Arial" panose="020B0604020202020204" pitchFamily="34" charset="0"/>
              </a:rPr>
              <a:t>Zwarenstein</a:t>
            </a:r>
            <a:r>
              <a:rPr lang="en-US" altLang="en-US" sz="3200" dirty="0">
                <a:solidFill>
                  <a:schemeClr val="bg1"/>
                </a:solidFill>
                <a:latin typeface="Arial" panose="020B0604020202020204" pitchFamily="34" charset="0"/>
                <a:cs typeface="Arial" panose="020B0604020202020204" pitchFamily="34" charset="0"/>
              </a:rPr>
              <a:t>, BMJ, 2008)</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8" name="TextBox 7">
            <a:extLst>
              <a:ext uri="{FF2B5EF4-FFF2-40B4-BE49-F238E27FC236}">
                <a16:creationId xmlns:a16="http://schemas.microsoft.com/office/drawing/2014/main" id="{DAB6CA0F-512F-43D5-B51E-4403FE463D02}"/>
              </a:ext>
            </a:extLst>
          </p:cNvPr>
          <p:cNvSpPr txBox="1"/>
          <p:nvPr/>
        </p:nvSpPr>
        <p:spPr>
          <a:xfrm>
            <a:off x="334296" y="1296612"/>
            <a:ext cx="11710219" cy="646331"/>
          </a:xfrm>
          <a:prstGeom prst="rect">
            <a:avLst/>
          </a:prstGeom>
          <a:noFill/>
        </p:spPr>
        <p:txBody>
          <a:bodyPr wrap="square">
            <a:spAutoFit/>
          </a:bodyPr>
          <a:lstStyle/>
          <a:p>
            <a:pPr algn="l" fontAlgn="base"/>
            <a:br>
              <a:rPr lang="en-US" b="1" i="0">
                <a:solidFill>
                  <a:srgbClr val="333333"/>
                </a:solidFill>
                <a:effectLst/>
                <a:latin typeface="interfaceregular"/>
              </a:rPr>
            </a:br>
            <a:endParaRPr lang="en-US" b="0" i="0" dirty="0">
              <a:solidFill>
                <a:srgbClr val="333333"/>
              </a:solidFill>
              <a:effectLst/>
              <a:latin typeface="interfaceregular"/>
            </a:endParaRPr>
          </a:p>
        </p:txBody>
      </p:sp>
      <p:graphicFrame>
        <p:nvGraphicFramePr>
          <p:cNvPr id="7" name="Table 6">
            <a:extLst>
              <a:ext uri="{FF2B5EF4-FFF2-40B4-BE49-F238E27FC236}">
                <a16:creationId xmlns:a16="http://schemas.microsoft.com/office/drawing/2014/main" id="{33A284ED-58AF-4BE4-94EF-1CD76FD9E267}"/>
              </a:ext>
            </a:extLst>
          </p:cNvPr>
          <p:cNvGraphicFramePr>
            <a:graphicFrameLocks noGrp="1"/>
          </p:cNvGraphicFramePr>
          <p:nvPr>
            <p:extLst>
              <p:ext uri="{D42A27DB-BD31-4B8C-83A1-F6EECF244321}">
                <p14:modId xmlns:p14="http://schemas.microsoft.com/office/powerpoint/2010/main" val="3529556458"/>
              </p:ext>
            </p:extLst>
          </p:nvPr>
        </p:nvGraphicFramePr>
        <p:xfrm>
          <a:off x="226645" y="1387141"/>
          <a:ext cx="11631060" cy="4777910"/>
        </p:xfrm>
        <a:graphic>
          <a:graphicData uri="http://schemas.openxmlformats.org/drawingml/2006/table">
            <a:tbl>
              <a:tblPr/>
              <a:tblGrid>
                <a:gridCol w="2120752">
                  <a:extLst>
                    <a:ext uri="{9D8B030D-6E8A-4147-A177-3AD203B41FA5}">
                      <a16:colId xmlns:a16="http://schemas.microsoft.com/office/drawing/2014/main" val="3107001043"/>
                    </a:ext>
                  </a:extLst>
                </a:gridCol>
                <a:gridCol w="1068068">
                  <a:extLst>
                    <a:ext uri="{9D8B030D-6E8A-4147-A177-3AD203B41FA5}">
                      <a16:colId xmlns:a16="http://schemas.microsoft.com/office/drawing/2014/main" val="1404489092"/>
                    </a:ext>
                  </a:extLst>
                </a:gridCol>
                <a:gridCol w="5165827">
                  <a:extLst>
                    <a:ext uri="{9D8B030D-6E8A-4147-A177-3AD203B41FA5}">
                      <a16:colId xmlns:a16="http://schemas.microsoft.com/office/drawing/2014/main" val="2024846520"/>
                    </a:ext>
                  </a:extLst>
                </a:gridCol>
                <a:gridCol w="3276413">
                  <a:extLst>
                    <a:ext uri="{9D8B030D-6E8A-4147-A177-3AD203B41FA5}">
                      <a16:colId xmlns:a16="http://schemas.microsoft.com/office/drawing/2014/main" val="2951481537"/>
                    </a:ext>
                  </a:extLst>
                </a:gridCol>
              </a:tblGrid>
              <a:tr h="252372">
                <a:tc>
                  <a:txBody>
                    <a:bodyPr/>
                    <a:lstStyle/>
                    <a:p>
                      <a:pPr algn="l" fontAlgn="ctr"/>
                      <a:r>
                        <a:rPr lang="en-US" sz="1200" b="1" dirty="0">
                          <a:effectLst/>
                          <a:latin typeface="inherit"/>
                        </a:rPr>
                        <a:t>Section</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200" b="1">
                          <a:effectLst/>
                          <a:latin typeface="inherit"/>
                        </a:rPr>
                        <a:t>Item</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200" b="1">
                          <a:effectLst/>
                          <a:latin typeface="inherit"/>
                        </a:rPr>
                        <a:t>Standard CONSORT description</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200" b="1" dirty="0">
                          <a:effectLst/>
                          <a:latin typeface="inherit"/>
                        </a:rPr>
                        <a:t>Extension for pragmatic trials</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497162468"/>
                  </a:ext>
                </a:extLst>
              </a:tr>
              <a:tr h="742321">
                <a:tc>
                  <a:txBody>
                    <a:bodyPr/>
                    <a:lstStyle/>
                    <a:p>
                      <a:pPr algn="l" fontAlgn="ctr"/>
                      <a:r>
                        <a:rPr lang="en-US" sz="1200" b="0" dirty="0">
                          <a:effectLst/>
                          <a:latin typeface="inherit"/>
                        </a:rPr>
                        <a:t>Numbers </a:t>
                      </a:r>
                      <a:r>
                        <a:rPr lang="en-US" sz="1200" b="0" dirty="0" err="1">
                          <a:effectLst/>
                          <a:latin typeface="inherit"/>
                        </a:rPr>
                        <a:t>analysed</a:t>
                      </a:r>
                      <a:endParaRPr lang="en-US" sz="1200" b="0" dirty="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200" b="0">
                          <a:effectLst/>
                          <a:latin typeface="inherit"/>
                        </a:rPr>
                        <a:t>16</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dirty="0">
                          <a:effectLst/>
                          <a:latin typeface="inherit"/>
                        </a:rPr>
                        <a:t>Number of participants (denominator) in each group included in each analysis and whether analysis was by “intention-to-treat”; state the results in absolute numbers when feasible (</a:t>
                      </a:r>
                      <a:r>
                        <a:rPr lang="en-US" sz="1200" b="0" dirty="0" err="1">
                          <a:effectLst/>
                          <a:latin typeface="inherit"/>
                        </a:rPr>
                        <a:t>eg</a:t>
                      </a:r>
                      <a:r>
                        <a:rPr lang="en-US" sz="1200" b="0" dirty="0">
                          <a:effectLst/>
                          <a:latin typeface="inherit"/>
                        </a:rPr>
                        <a:t>, 10/20, not 50%)</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endParaRPr lang="en-US" sz="1200" b="0" dirty="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508247"/>
                  </a:ext>
                </a:extLst>
              </a:tr>
              <a:tr h="497347">
                <a:tc>
                  <a:txBody>
                    <a:bodyPr/>
                    <a:lstStyle/>
                    <a:p>
                      <a:pPr algn="l" fontAlgn="ctr"/>
                      <a:r>
                        <a:rPr lang="en-US" sz="1200" b="0">
                          <a:effectLst/>
                          <a:latin typeface="inherit"/>
                        </a:rPr>
                        <a:t>Outcomes and estimation</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200" b="0" dirty="0">
                          <a:effectLst/>
                          <a:latin typeface="inherit"/>
                        </a:rPr>
                        <a:t>17</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a:effectLst/>
                          <a:latin typeface="inherit"/>
                        </a:rPr>
                        <a:t>For each primary and secondary outcome, a summary of results for each group and the estimated effect size and its precision (eg, 95% CI)</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endParaRPr lang="en-US" sz="1200" b="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336730147"/>
                  </a:ext>
                </a:extLst>
              </a:tr>
              <a:tr h="742321">
                <a:tc>
                  <a:txBody>
                    <a:bodyPr/>
                    <a:lstStyle/>
                    <a:p>
                      <a:pPr algn="l" fontAlgn="ctr"/>
                      <a:r>
                        <a:rPr lang="en-US" sz="1200" b="0">
                          <a:effectLst/>
                          <a:latin typeface="inherit"/>
                        </a:rPr>
                        <a:t>Ancillary analyses</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200" b="0">
                          <a:effectLst/>
                          <a:latin typeface="inherit"/>
                        </a:rPr>
                        <a:t>18</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dirty="0">
                          <a:effectLst/>
                          <a:latin typeface="inherit"/>
                        </a:rPr>
                        <a:t>Address multiplicity by reporting any other analyses performed, including subgroup analyses and adjusted analyses, indicating which are prespecified and which are exploratory</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endParaRPr lang="en-US" sz="1200" b="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282601902"/>
                  </a:ext>
                </a:extLst>
              </a:tr>
              <a:tr h="252372">
                <a:tc>
                  <a:txBody>
                    <a:bodyPr/>
                    <a:lstStyle/>
                    <a:p>
                      <a:pPr algn="l" fontAlgn="ctr"/>
                      <a:r>
                        <a:rPr lang="en-US" sz="1200" b="0">
                          <a:effectLst/>
                          <a:latin typeface="inherit"/>
                        </a:rPr>
                        <a:t>Adverse events</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200" b="0">
                          <a:effectLst/>
                          <a:latin typeface="inherit"/>
                        </a:rPr>
                        <a:t>19</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a:effectLst/>
                          <a:latin typeface="inherit"/>
                        </a:rPr>
                        <a:t>All important adverse events or side effects in each intervention group</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endParaRPr lang="en-US" sz="1200" b="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357098032"/>
                  </a:ext>
                </a:extLst>
              </a:tr>
              <a:tr h="252372">
                <a:tc>
                  <a:txBody>
                    <a:bodyPr/>
                    <a:lstStyle/>
                    <a:p>
                      <a:pPr algn="l" fontAlgn="ctr"/>
                      <a:r>
                        <a:rPr lang="en-US" sz="1200" b="1">
                          <a:effectLst/>
                          <a:latin typeface="inherit"/>
                        </a:rPr>
                        <a:t>Discussion</a:t>
                      </a:r>
                      <a:endParaRPr lang="en-US" sz="1200" b="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endParaRPr lang="en-US" sz="1200" b="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endParaRPr lang="en-US" sz="1200" b="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endParaRPr lang="en-US" sz="1200" b="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176504751"/>
                  </a:ext>
                </a:extLst>
              </a:tr>
              <a:tr h="497347">
                <a:tc>
                  <a:txBody>
                    <a:bodyPr/>
                    <a:lstStyle/>
                    <a:p>
                      <a:pPr algn="l" fontAlgn="ctr"/>
                      <a:r>
                        <a:rPr lang="en-US" sz="1200" b="0">
                          <a:effectLst/>
                          <a:latin typeface="inherit"/>
                        </a:rPr>
                        <a:t>Interpretation</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200" b="0">
                          <a:effectLst/>
                          <a:latin typeface="inherit"/>
                        </a:rPr>
                        <a:t>20</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a:effectLst/>
                          <a:latin typeface="inherit"/>
                        </a:rPr>
                        <a:t>Interpretation of the results, taking into account study hypotheses, sources of potential bias or imprecision, and the dangers associated with multiplicity of analyses and outcomes</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endParaRPr lang="en-US" sz="1200" b="0">
                        <a:effectLst/>
                        <a:latin typeface="inherit"/>
                      </a:endParaRP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352939253"/>
                  </a:ext>
                </a:extLst>
              </a:tr>
              <a:tr h="1232271">
                <a:tc>
                  <a:txBody>
                    <a:bodyPr/>
                    <a:lstStyle/>
                    <a:p>
                      <a:pPr algn="l" fontAlgn="ctr"/>
                      <a:r>
                        <a:rPr lang="en-US" sz="1200" b="0">
                          <a:effectLst/>
                          <a:latin typeface="inherit"/>
                        </a:rPr>
                        <a:t>Generalisability</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200" b="0">
                          <a:effectLst/>
                          <a:latin typeface="inherit"/>
                        </a:rPr>
                        <a:t>21</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a:effectLst/>
                          <a:latin typeface="inherit"/>
                        </a:rPr>
                        <a:t>Generalisability (external validity) of the trial findings</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a:effectLst/>
                          <a:latin typeface="inherit"/>
                        </a:rPr>
                        <a:t>Describe key aspects of the setting which determined the trial results. Discuss possible differences in other settings where clinical traditions, health service organisation, staffing, or resources may vary from those of the trial</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177310769"/>
                  </a:ext>
                </a:extLst>
              </a:tr>
              <a:tr h="252372">
                <a:tc>
                  <a:txBody>
                    <a:bodyPr/>
                    <a:lstStyle/>
                    <a:p>
                      <a:pPr algn="l" fontAlgn="ctr"/>
                      <a:r>
                        <a:rPr lang="en-US" sz="1200" b="0">
                          <a:effectLst/>
                          <a:latin typeface="inherit"/>
                        </a:rPr>
                        <a:t>Overall evidence</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200" b="0" dirty="0">
                          <a:effectLst/>
                          <a:latin typeface="inherit"/>
                        </a:rPr>
                        <a:t>22</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1200" b="0">
                          <a:effectLst/>
                          <a:latin typeface="inherit"/>
                        </a:rPr>
                        <a:t>General interpretation of the results in the context of current evidence</a:t>
                      </a:r>
                    </a:p>
                  </a:txBody>
                  <a:tcPr marL="5522" marR="5522" marT="2761" marB="2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endParaRPr lang="en-US" sz="1200" dirty="0"/>
                    </a:p>
                  </a:txBody>
                  <a:tcPr marL="5522" marR="5522" marT="2761" marB="276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2370376"/>
                  </a:ext>
                </a:extLst>
              </a:tr>
            </a:tbl>
          </a:graphicData>
        </a:graphic>
      </p:graphicFrame>
      <p:sp>
        <p:nvSpPr>
          <p:cNvPr id="9" name="Rectangle 2">
            <a:extLst>
              <a:ext uri="{FF2B5EF4-FFF2-40B4-BE49-F238E27FC236}">
                <a16:creationId xmlns:a16="http://schemas.microsoft.com/office/drawing/2014/main" id="{E4D9FCA4-FC7E-47B9-8358-8AFFB1E9C688}"/>
              </a:ext>
            </a:extLst>
          </p:cNvPr>
          <p:cNvSpPr>
            <a:spLocks noChangeArrowheads="1"/>
          </p:cNvSpPr>
          <p:nvPr/>
        </p:nvSpPr>
        <p:spPr bwMode="auto">
          <a:xfrm>
            <a:off x="5872163" y="1475473"/>
            <a:ext cx="15711126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Footer Placeholder 1">
            <a:extLst>
              <a:ext uri="{FF2B5EF4-FFF2-40B4-BE49-F238E27FC236}">
                <a16:creationId xmlns:a16="http://schemas.microsoft.com/office/drawing/2014/main" id="{989ED74A-7F08-2C40-8FB0-265E2D682152}"/>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DED5B21D-6000-6748-1635-89830C69941C}"/>
              </a:ext>
            </a:extLst>
          </p:cNvPr>
          <p:cNvSpPr>
            <a:spLocks noGrp="1"/>
          </p:cNvSpPr>
          <p:nvPr>
            <p:ph type="sldNum" sz="quarter" idx="12"/>
          </p:nvPr>
        </p:nvSpPr>
        <p:spPr/>
        <p:txBody>
          <a:bodyPr/>
          <a:lstStyle/>
          <a:p>
            <a:fld id="{77C6A7FE-225D-49F1-B302-AA37EA92BB49}" type="slidenum">
              <a:rPr lang="en-US" smtClean="0"/>
              <a:t>127</a:t>
            </a:fld>
            <a:endParaRPr lang="en-US"/>
          </a:p>
        </p:txBody>
      </p:sp>
    </p:spTree>
    <p:extLst>
      <p:ext uri="{BB962C8B-B14F-4D97-AF65-F5344CB8AC3E}">
        <p14:creationId xmlns:p14="http://schemas.microsoft.com/office/powerpoint/2010/main" val="395897801"/>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30"/>
            <a:ext cx="12192000" cy="1165755"/>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200" dirty="0">
                <a:solidFill>
                  <a:schemeClr val="bg1"/>
                </a:solidFill>
                <a:latin typeface="Arial" panose="020B0604020202020204" pitchFamily="34" charset="0"/>
                <a:cs typeface="Arial" panose="020B0604020202020204" pitchFamily="34" charset="0"/>
              </a:rPr>
              <a:t>REFERENCES</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8" name="TextBox 7">
            <a:extLst>
              <a:ext uri="{FF2B5EF4-FFF2-40B4-BE49-F238E27FC236}">
                <a16:creationId xmlns:a16="http://schemas.microsoft.com/office/drawing/2014/main" id="{DAB6CA0F-512F-43D5-B51E-4403FE463D02}"/>
              </a:ext>
            </a:extLst>
          </p:cNvPr>
          <p:cNvSpPr txBox="1"/>
          <p:nvPr/>
        </p:nvSpPr>
        <p:spPr>
          <a:xfrm>
            <a:off x="334296" y="1296612"/>
            <a:ext cx="11710219" cy="646331"/>
          </a:xfrm>
          <a:prstGeom prst="rect">
            <a:avLst/>
          </a:prstGeom>
          <a:noFill/>
        </p:spPr>
        <p:txBody>
          <a:bodyPr wrap="square">
            <a:spAutoFit/>
          </a:bodyPr>
          <a:lstStyle/>
          <a:p>
            <a:pPr algn="l" fontAlgn="base"/>
            <a:br>
              <a:rPr lang="en-US" b="1" i="0">
                <a:solidFill>
                  <a:srgbClr val="333333"/>
                </a:solidFill>
                <a:effectLst/>
                <a:latin typeface="interfaceregular"/>
              </a:rPr>
            </a:br>
            <a:endParaRPr lang="en-US" b="0" i="0" dirty="0">
              <a:solidFill>
                <a:srgbClr val="333333"/>
              </a:solidFill>
              <a:effectLst/>
              <a:latin typeface="interfaceregular"/>
            </a:endParaRPr>
          </a:p>
        </p:txBody>
      </p:sp>
      <p:sp>
        <p:nvSpPr>
          <p:cNvPr id="9" name="Rectangle 2">
            <a:extLst>
              <a:ext uri="{FF2B5EF4-FFF2-40B4-BE49-F238E27FC236}">
                <a16:creationId xmlns:a16="http://schemas.microsoft.com/office/drawing/2014/main" id="{E4D9FCA4-FC7E-47B9-8358-8AFFB1E9C688}"/>
              </a:ext>
            </a:extLst>
          </p:cNvPr>
          <p:cNvSpPr>
            <a:spLocks noChangeArrowheads="1"/>
          </p:cNvSpPr>
          <p:nvPr/>
        </p:nvSpPr>
        <p:spPr bwMode="auto">
          <a:xfrm>
            <a:off x="5872163" y="1475473"/>
            <a:ext cx="15711126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E91C8505-D9D7-4746-A163-39FEA1ED4D20}"/>
              </a:ext>
            </a:extLst>
          </p:cNvPr>
          <p:cNvSpPr txBox="1"/>
          <p:nvPr/>
        </p:nvSpPr>
        <p:spPr>
          <a:xfrm>
            <a:off x="334296" y="1475473"/>
            <a:ext cx="11523408" cy="4431983"/>
          </a:xfrm>
          <a:prstGeom prst="rect">
            <a:avLst/>
          </a:prstGeom>
          <a:noFill/>
        </p:spPr>
        <p:txBody>
          <a:bodyPr wrap="square" rtlCol="0">
            <a:spAutoFit/>
          </a:bodyPr>
          <a:lstStyle/>
          <a:p>
            <a:pPr marL="457200" indent="-457200">
              <a:spcAft>
                <a:spcPts val="600"/>
              </a:spcAft>
            </a:pPr>
            <a:r>
              <a:rPr lang="en-US" dirty="0"/>
              <a:t>Bass, M.J., </a:t>
            </a:r>
            <a:r>
              <a:rPr lang="en-US" dirty="0" err="1"/>
              <a:t>McWhinney</a:t>
            </a:r>
            <a:r>
              <a:rPr lang="en-US" dirty="0"/>
              <a:t>, I.R. and Donner A. (1986), Do family physicians need medical assistants to detect and manage hypertension? Canadian Medical Association Journal, 134, 1247-1255.</a:t>
            </a:r>
          </a:p>
          <a:p>
            <a:pPr marL="457200" indent="-457200">
              <a:spcAft>
                <a:spcPts val="600"/>
              </a:spcAft>
            </a:pPr>
            <a:r>
              <a:rPr lang="en-US" dirty="0" err="1"/>
              <a:t>Begg</a:t>
            </a:r>
            <a:r>
              <a:rPr lang="en-US" dirty="0"/>
              <a:t>, C., Cho, M., Eastwood, S. et al. (1996), Improving the quality of reporting of randomized controlled trials, the CONSORT statement, Journal of the American Medical Association, 276, 637-639.</a:t>
            </a:r>
          </a:p>
          <a:p>
            <a:pPr marL="457200" indent="-457200">
              <a:spcAft>
                <a:spcPts val="600"/>
              </a:spcAft>
            </a:pPr>
            <a:r>
              <a:rPr lang="en-US" dirty="0"/>
              <a:t>Bell, R.M. and McCaffrey, D.F. (2002), Bias reduction in standard errors for linear regression with multi-stage samples, Survey Methodology, 28, 169-181.</a:t>
            </a:r>
          </a:p>
          <a:p>
            <a:pPr marL="457200" indent="-457200">
              <a:spcAft>
                <a:spcPts val="600"/>
              </a:spcAft>
            </a:pPr>
            <a:r>
              <a:rPr lang="en-US" dirty="0"/>
              <a:t>Bland, J.M. (2004), Cluster </a:t>
            </a:r>
            <a:r>
              <a:rPr lang="en-US" dirty="0" err="1"/>
              <a:t>randomised</a:t>
            </a:r>
            <a:r>
              <a:rPr lang="en-US" dirty="0"/>
              <a:t> trials in the medical literature: two bibliometric surveys, BMC Medical Research Methodology, 4, 1-6.</a:t>
            </a:r>
          </a:p>
          <a:p>
            <a:pPr marL="457200" indent="-457200">
              <a:spcAft>
                <a:spcPts val="600"/>
              </a:spcAft>
            </a:pPr>
            <a:r>
              <a:rPr lang="en-US" dirty="0"/>
              <a:t>Campbell, M.K., </a:t>
            </a:r>
            <a:r>
              <a:rPr lang="en-US" dirty="0" err="1"/>
              <a:t>Elbourne</a:t>
            </a:r>
            <a:r>
              <a:rPr lang="en-US" dirty="0"/>
              <a:t>, D.R. Altman, D.C. (2004), CONSORT statement: extension to cluster </a:t>
            </a:r>
            <a:r>
              <a:rPr lang="en-US" dirty="0" err="1"/>
              <a:t>randomised</a:t>
            </a:r>
            <a:r>
              <a:rPr lang="en-US" dirty="0"/>
              <a:t> trials, British Medical Journal 328: 702-708.</a:t>
            </a:r>
          </a:p>
          <a:p>
            <a:pPr marL="457200" indent="-457200">
              <a:spcAft>
                <a:spcPts val="600"/>
              </a:spcAft>
            </a:pPr>
            <a:r>
              <a:rPr lang="en-US" dirty="0"/>
              <a:t>Campbell, M.K., Mollison, J. and Grimshaw, J.M. (2001), Cluster trials in implementation research: estimation of </a:t>
            </a:r>
            <a:r>
              <a:rPr lang="en-US" dirty="0" err="1"/>
              <a:t>intracluster</a:t>
            </a:r>
            <a:r>
              <a:rPr lang="en-US" dirty="0"/>
              <a:t> correlation coefficients and sample size, Statistics in Medicine, 20, 391-399.</a:t>
            </a:r>
          </a:p>
          <a:p>
            <a:pPr marL="457200" indent="-457200">
              <a:spcAft>
                <a:spcPts val="600"/>
              </a:spcAft>
            </a:pPr>
            <a:r>
              <a:rPr lang="en-US" dirty="0"/>
              <a:t>Campbell, M.J., Donner, A. and </a:t>
            </a:r>
            <a:r>
              <a:rPr lang="en-US" dirty="0" err="1"/>
              <a:t>Klar</a:t>
            </a:r>
            <a:r>
              <a:rPr lang="en-US" dirty="0"/>
              <a:t>, N. (2007), Developments in cluster randomization trials and Statistics in Medicine.26:2-19.</a:t>
            </a:r>
          </a:p>
        </p:txBody>
      </p:sp>
      <p:sp>
        <p:nvSpPr>
          <p:cNvPr id="2" name="Footer Placeholder 1">
            <a:extLst>
              <a:ext uri="{FF2B5EF4-FFF2-40B4-BE49-F238E27FC236}">
                <a16:creationId xmlns:a16="http://schemas.microsoft.com/office/drawing/2014/main" id="{254912F1-5E83-A04D-B710-76C4ABAF159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8EFBA20-48AA-8F19-9632-C26E9E60CC9E}"/>
              </a:ext>
            </a:extLst>
          </p:cNvPr>
          <p:cNvSpPr>
            <a:spLocks noGrp="1"/>
          </p:cNvSpPr>
          <p:nvPr>
            <p:ph type="sldNum" sz="quarter" idx="12"/>
          </p:nvPr>
        </p:nvSpPr>
        <p:spPr/>
        <p:txBody>
          <a:bodyPr/>
          <a:lstStyle/>
          <a:p>
            <a:fld id="{77C6A7FE-225D-49F1-B302-AA37EA92BB49}" type="slidenum">
              <a:rPr lang="en-US" smtClean="0"/>
              <a:t>128</a:t>
            </a:fld>
            <a:endParaRPr lang="en-US"/>
          </a:p>
        </p:txBody>
      </p:sp>
    </p:spTree>
    <p:extLst>
      <p:ext uri="{BB962C8B-B14F-4D97-AF65-F5344CB8AC3E}">
        <p14:creationId xmlns:p14="http://schemas.microsoft.com/office/powerpoint/2010/main" val="1884486524"/>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30"/>
            <a:ext cx="12192000" cy="1165755"/>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200" dirty="0">
                <a:solidFill>
                  <a:schemeClr val="bg1"/>
                </a:solidFill>
                <a:latin typeface="Arial" panose="020B0604020202020204" pitchFamily="34" charset="0"/>
                <a:cs typeface="Arial" panose="020B0604020202020204" pitchFamily="34" charset="0"/>
              </a:rPr>
              <a:t>REFERENCES</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8" name="TextBox 7">
            <a:extLst>
              <a:ext uri="{FF2B5EF4-FFF2-40B4-BE49-F238E27FC236}">
                <a16:creationId xmlns:a16="http://schemas.microsoft.com/office/drawing/2014/main" id="{DAB6CA0F-512F-43D5-B51E-4403FE463D02}"/>
              </a:ext>
            </a:extLst>
          </p:cNvPr>
          <p:cNvSpPr txBox="1"/>
          <p:nvPr/>
        </p:nvSpPr>
        <p:spPr>
          <a:xfrm>
            <a:off x="334296" y="1296612"/>
            <a:ext cx="11710219" cy="646331"/>
          </a:xfrm>
          <a:prstGeom prst="rect">
            <a:avLst/>
          </a:prstGeom>
          <a:noFill/>
        </p:spPr>
        <p:txBody>
          <a:bodyPr wrap="square">
            <a:spAutoFit/>
          </a:bodyPr>
          <a:lstStyle/>
          <a:p>
            <a:pPr algn="l" fontAlgn="base"/>
            <a:br>
              <a:rPr lang="en-US" b="1" i="0">
                <a:solidFill>
                  <a:srgbClr val="333333"/>
                </a:solidFill>
                <a:effectLst/>
                <a:latin typeface="interfaceregular"/>
              </a:rPr>
            </a:br>
            <a:endParaRPr lang="en-US" b="0" i="0" dirty="0">
              <a:solidFill>
                <a:srgbClr val="333333"/>
              </a:solidFill>
              <a:effectLst/>
              <a:latin typeface="interfaceregular"/>
            </a:endParaRPr>
          </a:p>
        </p:txBody>
      </p:sp>
      <p:sp>
        <p:nvSpPr>
          <p:cNvPr id="9" name="Rectangle 2">
            <a:extLst>
              <a:ext uri="{FF2B5EF4-FFF2-40B4-BE49-F238E27FC236}">
                <a16:creationId xmlns:a16="http://schemas.microsoft.com/office/drawing/2014/main" id="{E4D9FCA4-FC7E-47B9-8358-8AFFB1E9C688}"/>
              </a:ext>
            </a:extLst>
          </p:cNvPr>
          <p:cNvSpPr>
            <a:spLocks noChangeArrowheads="1"/>
          </p:cNvSpPr>
          <p:nvPr/>
        </p:nvSpPr>
        <p:spPr bwMode="auto">
          <a:xfrm>
            <a:off x="5872163" y="1475473"/>
            <a:ext cx="15711126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E91C8505-D9D7-4746-A163-39FEA1ED4D20}"/>
              </a:ext>
            </a:extLst>
          </p:cNvPr>
          <p:cNvSpPr txBox="1"/>
          <p:nvPr/>
        </p:nvSpPr>
        <p:spPr>
          <a:xfrm>
            <a:off x="334296" y="1271696"/>
            <a:ext cx="11523408" cy="5339923"/>
          </a:xfrm>
          <a:prstGeom prst="rect">
            <a:avLst/>
          </a:prstGeom>
          <a:noFill/>
        </p:spPr>
        <p:txBody>
          <a:bodyPr wrap="square" rtlCol="0">
            <a:spAutoFit/>
          </a:bodyPr>
          <a:lstStyle/>
          <a:p>
            <a:pPr marL="457200" indent="-457200">
              <a:spcAft>
                <a:spcPts val="600"/>
              </a:spcAft>
            </a:pPr>
            <a:r>
              <a:rPr lang="en-US" dirty="0"/>
              <a:t>COMMIT Research Group. (1995), Community Intervention Trial for Smoking Cessation (COMMIT): I. Cohort results from a four-year community intervention, American Journal of Public Health , 85,183-192.</a:t>
            </a:r>
          </a:p>
          <a:p>
            <a:pPr marL="457200" indent="-457200">
              <a:spcAft>
                <a:spcPts val="600"/>
              </a:spcAft>
            </a:pPr>
            <a:r>
              <a:rPr lang="en-US" dirty="0"/>
              <a:t>COMMIT Research Group. (1995), Community Intervention Trial for Smoking Cessation (COMMIT): II. Changes in adult cigarette smoking prevalence, American Journal of Public Health, 85, 193-200.</a:t>
            </a:r>
          </a:p>
          <a:p>
            <a:pPr marL="457200" indent="-457200">
              <a:spcAft>
                <a:spcPts val="600"/>
              </a:spcAft>
            </a:pPr>
            <a:r>
              <a:rPr lang="en-US" dirty="0"/>
              <a:t>Donner, Allan, Nicholas Birkett, and Carol Buck. "Randomization by cluster: sample size requirements and analysis." American journal of epidemiology 114, no. 6 (1981): 906-914.</a:t>
            </a:r>
          </a:p>
          <a:p>
            <a:pPr marL="457200" indent="-457200">
              <a:spcAft>
                <a:spcPts val="600"/>
              </a:spcAft>
            </a:pPr>
            <a:r>
              <a:rPr lang="en-US" dirty="0"/>
              <a:t>Donner, A., Piaggio, G. and Villar, J. (2001), Statistical methods for the meta-analysis of cluster randomization trials, Statistical Methods in Medical Research, 10, 325-338.</a:t>
            </a:r>
          </a:p>
          <a:p>
            <a:pPr marL="457200" indent="-457200">
              <a:spcAft>
                <a:spcPts val="600"/>
              </a:spcAft>
            </a:pPr>
            <a:r>
              <a:rPr lang="en-US" dirty="0"/>
              <a:t>Edwards, S.J.L., </a:t>
            </a:r>
            <a:r>
              <a:rPr lang="en-US" dirty="0" err="1"/>
              <a:t>Braunholtz</a:t>
            </a:r>
            <a:r>
              <a:rPr lang="en-US" dirty="0"/>
              <a:t>, D.A., </a:t>
            </a:r>
            <a:r>
              <a:rPr lang="en-US" dirty="0" err="1"/>
              <a:t>Lilford</a:t>
            </a:r>
            <a:r>
              <a:rPr lang="en-US" dirty="0"/>
              <a:t>, R.J. and Stevens, A.J. (1999), Ethical issues in the design and conduct of cluster </a:t>
            </a:r>
            <a:r>
              <a:rPr lang="en-US" dirty="0" err="1"/>
              <a:t>randomised</a:t>
            </a:r>
            <a:r>
              <a:rPr lang="en-US" dirty="0"/>
              <a:t> controlled trials, BMJ, 318, 1407-1409.</a:t>
            </a:r>
          </a:p>
          <a:p>
            <a:pPr marL="457200" indent="-457200">
              <a:spcAft>
                <a:spcPts val="600"/>
              </a:spcAft>
            </a:pPr>
            <a:r>
              <a:rPr lang="en-US" dirty="0"/>
              <a:t>Eldridge, S.M, Ashby, D .Feder, G.S. </a:t>
            </a:r>
            <a:r>
              <a:rPr lang="en-US" dirty="0" err="1"/>
              <a:t>Rudnicka</a:t>
            </a:r>
            <a:r>
              <a:rPr lang="en-US" dirty="0"/>
              <a:t>, A.R .and </a:t>
            </a:r>
            <a:r>
              <a:rPr lang="en-US" dirty="0" err="1"/>
              <a:t>Ukomunne</a:t>
            </a:r>
            <a:r>
              <a:rPr lang="en-US" dirty="0"/>
              <a:t>, O.C. (2004), Lessons for cluster randomized trials in the twenty-first century: a systematic review of trials in primary care Clinical Trials 1:80-90.</a:t>
            </a:r>
          </a:p>
          <a:p>
            <a:pPr marL="457200" indent="-457200">
              <a:spcAft>
                <a:spcPts val="600"/>
              </a:spcAft>
            </a:pPr>
            <a:r>
              <a:rPr lang="en-US" dirty="0" err="1"/>
              <a:t>Farrin</a:t>
            </a:r>
            <a:r>
              <a:rPr lang="en-US" dirty="0"/>
              <a:t>, A., Russel, I., Torgerson, D. and Underwood, M. (2005), Differential recruitment in a cluster randomized trial in primary care: the experience of the UK Back pain, Exercise, Active management and Manipulation (UK BEAM) feasibility study, Clinical Trials, 2(2), 119-124.</a:t>
            </a:r>
          </a:p>
          <a:p>
            <a:pPr marL="457200" indent="-457200">
              <a:spcAft>
                <a:spcPts val="600"/>
              </a:spcAft>
            </a:pPr>
            <a:r>
              <a:rPr lang="en-US" dirty="0"/>
              <a:t>Farr, B.M., </a:t>
            </a:r>
            <a:r>
              <a:rPr lang="en-US" dirty="0" err="1"/>
              <a:t>Hendley</a:t>
            </a:r>
            <a:r>
              <a:rPr lang="en-US" dirty="0"/>
              <a:t>, J.O., Kaiser, D.L. and Gwaltney, J.M. (1988), Two randomized controlled trials of virucidal nasal tissues in the prevention of natural upper respiratory infection, American Journal of Epidemiology, 128, 1162-1172.</a:t>
            </a:r>
          </a:p>
        </p:txBody>
      </p:sp>
      <p:sp>
        <p:nvSpPr>
          <p:cNvPr id="2" name="Footer Placeholder 1">
            <a:extLst>
              <a:ext uri="{FF2B5EF4-FFF2-40B4-BE49-F238E27FC236}">
                <a16:creationId xmlns:a16="http://schemas.microsoft.com/office/drawing/2014/main" id="{669A9E3E-3460-454D-8A05-5D2AEDFA536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0866A99-5DE0-9AE6-0748-0A22CFA84A35}"/>
              </a:ext>
            </a:extLst>
          </p:cNvPr>
          <p:cNvSpPr>
            <a:spLocks noGrp="1"/>
          </p:cNvSpPr>
          <p:nvPr>
            <p:ph type="sldNum" sz="quarter" idx="12"/>
          </p:nvPr>
        </p:nvSpPr>
        <p:spPr/>
        <p:txBody>
          <a:bodyPr/>
          <a:lstStyle/>
          <a:p>
            <a:fld id="{77C6A7FE-225D-49F1-B302-AA37EA92BB49}" type="slidenum">
              <a:rPr lang="en-US" smtClean="0"/>
              <a:t>129</a:t>
            </a:fld>
            <a:endParaRPr lang="en-US"/>
          </a:p>
        </p:txBody>
      </p:sp>
    </p:spTree>
    <p:extLst>
      <p:ext uri="{BB962C8B-B14F-4D97-AF65-F5344CB8AC3E}">
        <p14:creationId xmlns:p14="http://schemas.microsoft.com/office/powerpoint/2010/main" val="1610437484"/>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30"/>
            <a:ext cx="12192000" cy="1165755"/>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200" dirty="0">
                <a:solidFill>
                  <a:schemeClr val="bg1"/>
                </a:solidFill>
                <a:latin typeface="Arial" panose="020B0604020202020204" pitchFamily="34" charset="0"/>
                <a:cs typeface="Arial" panose="020B0604020202020204" pitchFamily="34" charset="0"/>
              </a:rPr>
              <a:t>REFERENCES</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8" name="TextBox 7">
            <a:extLst>
              <a:ext uri="{FF2B5EF4-FFF2-40B4-BE49-F238E27FC236}">
                <a16:creationId xmlns:a16="http://schemas.microsoft.com/office/drawing/2014/main" id="{DAB6CA0F-512F-43D5-B51E-4403FE463D02}"/>
              </a:ext>
            </a:extLst>
          </p:cNvPr>
          <p:cNvSpPr txBox="1"/>
          <p:nvPr/>
        </p:nvSpPr>
        <p:spPr>
          <a:xfrm>
            <a:off x="334296" y="1296612"/>
            <a:ext cx="11710219" cy="646331"/>
          </a:xfrm>
          <a:prstGeom prst="rect">
            <a:avLst/>
          </a:prstGeom>
          <a:noFill/>
        </p:spPr>
        <p:txBody>
          <a:bodyPr wrap="square">
            <a:spAutoFit/>
          </a:bodyPr>
          <a:lstStyle/>
          <a:p>
            <a:pPr algn="l" fontAlgn="base"/>
            <a:br>
              <a:rPr lang="en-US" b="1" i="0">
                <a:solidFill>
                  <a:srgbClr val="333333"/>
                </a:solidFill>
                <a:effectLst/>
                <a:latin typeface="interfaceregular"/>
              </a:rPr>
            </a:br>
            <a:endParaRPr lang="en-US" b="0" i="0" dirty="0">
              <a:solidFill>
                <a:srgbClr val="333333"/>
              </a:solidFill>
              <a:effectLst/>
              <a:latin typeface="interfaceregular"/>
            </a:endParaRPr>
          </a:p>
        </p:txBody>
      </p:sp>
      <p:sp>
        <p:nvSpPr>
          <p:cNvPr id="9" name="Rectangle 2">
            <a:extLst>
              <a:ext uri="{FF2B5EF4-FFF2-40B4-BE49-F238E27FC236}">
                <a16:creationId xmlns:a16="http://schemas.microsoft.com/office/drawing/2014/main" id="{E4D9FCA4-FC7E-47B9-8358-8AFFB1E9C688}"/>
              </a:ext>
            </a:extLst>
          </p:cNvPr>
          <p:cNvSpPr>
            <a:spLocks noChangeArrowheads="1"/>
          </p:cNvSpPr>
          <p:nvPr/>
        </p:nvSpPr>
        <p:spPr bwMode="auto">
          <a:xfrm>
            <a:off x="5872163" y="1475473"/>
            <a:ext cx="15711126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E91C8505-D9D7-4746-A163-39FEA1ED4D20}"/>
              </a:ext>
            </a:extLst>
          </p:cNvPr>
          <p:cNvSpPr txBox="1"/>
          <p:nvPr/>
        </p:nvSpPr>
        <p:spPr>
          <a:xfrm>
            <a:off x="334296" y="1475473"/>
            <a:ext cx="11523408" cy="4632037"/>
          </a:xfrm>
          <a:prstGeom prst="rect">
            <a:avLst/>
          </a:prstGeom>
          <a:noFill/>
        </p:spPr>
        <p:txBody>
          <a:bodyPr wrap="square" rtlCol="0">
            <a:spAutoFit/>
          </a:bodyPr>
          <a:lstStyle/>
          <a:p>
            <a:pPr marL="457200" indent="-457200" eaLnBrk="1" hangingPunct="1">
              <a:spcBef>
                <a:spcPct val="0"/>
              </a:spcBef>
              <a:spcAft>
                <a:spcPts val="600"/>
              </a:spcAft>
              <a:buClr>
                <a:schemeClr val="bg1"/>
              </a:buClr>
              <a:buFontTx/>
              <a:buNone/>
            </a:pPr>
            <a:r>
              <a:rPr lang="en-US" altLang="en-US" sz="1800" dirty="0"/>
              <a:t>Glanz, K., Rimer, B.K. and </a:t>
            </a:r>
            <a:r>
              <a:rPr lang="en-US" altLang="en-US" sz="1800" dirty="0" err="1"/>
              <a:t>Lerman</a:t>
            </a:r>
            <a:r>
              <a:rPr lang="en-US" altLang="en-US" sz="1800" dirty="0"/>
              <a:t>, C. (1996), Ethical issues in the design and conduct of community-based intervention studies.  In Coughlin, S.S and Beauchamp, T.L.(eds).  </a:t>
            </a:r>
            <a:r>
              <a:rPr lang="en-US" altLang="en-US" sz="1800" i="1" dirty="0"/>
              <a:t>Ethics and Epidemiology</a:t>
            </a:r>
            <a:r>
              <a:rPr lang="en-US" altLang="en-US" sz="1800" dirty="0"/>
              <a:t>.  Oxford: Oxford University Press, Ch.8.</a:t>
            </a:r>
          </a:p>
          <a:p>
            <a:pPr marL="457200" indent="-457200" eaLnBrk="1" hangingPunct="1">
              <a:spcBef>
                <a:spcPct val="0"/>
              </a:spcBef>
              <a:spcAft>
                <a:spcPts val="600"/>
              </a:spcAft>
              <a:buClr>
                <a:schemeClr val="bg1"/>
              </a:buClr>
              <a:buFontTx/>
              <a:buNone/>
            </a:pPr>
            <a:r>
              <a:rPr lang="en-US" altLang="en-US" sz="1800" dirty="0" err="1"/>
              <a:t>Grosskurth</a:t>
            </a:r>
            <a:r>
              <a:rPr lang="en-US" altLang="en-US" sz="1800" dirty="0"/>
              <a:t>, H., </a:t>
            </a:r>
            <a:r>
              <a:rPr lang="en-US" altLang="en-US" sz="1800" dirty="0" err="1"/>
              <a:t>Mosha</a:t>
            </a:r>
            <a:r>
              <a:rPr lang="en-US" altLang="en-US" sz="1800" dirty="0"/>
              <a:t>, F., Todd, J., </a:t>
            </a:r>
            <a:r>
              <a:rPr lang="en-US" altLang="en-US" sz="1800" dirty="0" err="1"/>
              <a:t>Mwijarubi</a:t>
            </a:r>
            <a:r>
              <a:rPr lang="en-US" altLang="en-US" sz="1800" dirty="0"/>
              <a:t>, E., </a:t>
            </a:r>
            <a:r>
              <a:rPr lang="en-US" altLang="en-US" sz="1800" dirty="0" err="1"/>
              <a:t>Klokke</a:t>
            </a:r>
            <a:r>
              <a:rPr lang="en-US" altLang="en-US" sz="1800" dirty="0"/>
              <a:t>, A., </a:t>
            </a:r>
            <a:r>
              <a:rPr lang="en-US" altLang="en-US" sz="1800" dirty="0" err="1"/>
              <a:t>Senkoro</a:t>
            </a:r>
            <a:r>
              <a:rPr lang="en-US" altLang="en-US" sz="1800" dirty="0"/>
              <a:t>, K., </a:t>
            </a:r>
            <a:r>
              <a:rPr lang="en-US" altLang="en-US" sz="1800" dirty="0" err="1"/>
              <a:t>Mayaud</a:t>
            </a:r>
            <a:r>
              <a:rPr lang="en-US" altLang="en-US" sz="1800" dirty="0"/>
              <a:t>, P., </a:t>
            </a:r>
            <a:r>
              <a:rPr lang="en-US" altLang="en-US" sz="1800" dirty="0" err="1"/>
              <a:t>Changalucha</a:t>
            </a:r>
            <a:r>
              <a:rPr lang="en-US" altLang="en-US" sz="1800" dirty="0"/>
              <a:t>, J., Nicoll, A., ka-Gina, G., Newell, J., </a:t>
            </a:r>
            <a:r>
              <a:rPr lang="en-US" altLang="en-US" sz="1800" dirty="0" err="1"/>
              <a:t>Mugeke</a:t>
            </a:r>
            <a:r>
              <a:rPr lang="en-US" altLang="en-US" sz="1800" dirty="0"/>
              <a:t>, K., </a:t>
            </a:r>
            <a:r>
              <a:rPr lang="en-US" altLang="en-US" sz="1800" dirty="0" err="1"/>
              <a:t>Mobey</a:t>
            </a:r>
            <a:r>
              <a:rPr lang="en-US" altLang="en-US" sz="1800" dirty="0"/>
              <a:t>, D. and Hayes, R. (1995), Impact of improved treatment of sexually transmitted diseases on HIV infection in rural Tanzania: randomized controlled trial, </a:t>
            </a:r>
            <a:r>
              <a:rPr lang="en-US" altLang="en-US" sz="1800" i="1" dirty="0"/>
              <a:t>Lancet</a:t>
            </a:r>
            <a:r>
              <a:rPr lang="en-US" altLang="en-US" sz="1800" dirty="0"/>
              <a:t> , 346, 530-536.</a:t>
            </a:r>
          </a:p>
          <a:p>
            <a:pPr marL="457200" indent="-457200" eaLnBrk="1" hangingPunct="1">
              <a:spcBef>
                <a:spcPct val="0"/>
              </a:spcBef>
              <a:spcAft>
                <a:spcPts val="600"/>
              </a:spcAft>
              <a:buClr>
                <a:schemeClr val="bg1"/>
              </a:buClr>
              <a:buFontTx/>
              <a:buNone/>
            </a:pPr>
            <a:r>
              <a:rPr lang="en-US" altLang="en-US" sz="1800" dirty="0"/>
              <a:t>Gulliford, M.C., Adams, G., </a:t>
            </a:r>
            <a:r>
              <a:rPr lang="en-US" altLang="en-US" sz="1800" dirty="0" err="1"/>
              <a:t>Ukoumunne</a:t>
            </a:r>
            <a:r>
              <a:rPr lang="en-US" altLang="en-US" sz="1800" dirty="0"/>
              <a:t>, O.C., </a:t>
            </a:r>
            <a:r>
              <a:rPr lang="en-US" altLang="en-US" sz="1800" dirty="0" err="1"/>
              <a:t>Latinovic</a:t>
            </a:r>
            <a:r>
              <a:rPr lang="en-US" altLang="en-US" sz="1800" dirty="0"/>
              <a:t>, R., Chinn, S. and Campbell, M.J. (2005), Intraclass correlation coefficient and outcome prevalence are associated in clustered binary data, </a:t>
            </a:r>
            <a:r>
              <a:rPr lang="en-US" altLang="en-US" sz="1800" i="1" dirty="0"/>
              <a:t>Journal of Clinical Epidemiology</a:t>
            </a:r>
            <a:r>
              <a:rPr lang="en-US" altLang="en-US" sz="1800" dirty="0"/>
              <a:t>, 58, 246-251. </a:t>
            </a:r>
          </a:p>
          <a:p>
            <a:pPr marL="457200" indent="-457200" eaLnBrk="1" hangingPunct="1">
              <a:spcBef>
                <a:spcPct val="0"/>
              </a:spcBef>
              <a:spcAft>
                <a:spcPts val="600"/>
              </a:spcAft>
              <a:buClr>
                <a:schemeClr val="bg1"/>
              </a:buClr>
              <a:buFontTx/>
              <a:buNone/>
            </a:pPr>
            <a:r>
              <a:rPr lang="en-US" altLang="en-US" sz="1800" dirty="0"/>
              <a:t>Haggerty, P.A., </a:t>
            </a:r>
            <a:r>
              <a:rPr lang="en-US" altLang="en-US" sz="1800" dirty="0" err="1"/>
              <a:t>Muladi</a:t>
            </a:r>
            <a:r>
              <a:rPr lang="en-US" altLang="en-US" sz="1800" dirty="0"/>
              <a:t>, K., Kirkwood, B.R., Ashworth, A., </a:t>
            </a:r>
            <a:r>
              <a:rPr lang="en-US" altLang="en-US" sz="1800" dirty="0" err="1"/>
              <a:t>Manunebo</a:t>
            </a:r>
            <a:r>
              <a:rPr lang="en-US" altLang="en-US" sz="1800" dirty="0"/>
              <a:t>, M. (1994), Community-based hygiene education to reduce </a:t>
            </a:r>
            <a:r>
              <a:rPr lang="en-US" altLang="en-US" sz="1800" dirty="0" err="1"/>
              <a:t>diarrhoeal</a:t>
            </a:r>
            <a:r>
              <a:rPr lang="en-US" altLang="en-US" sz="1800" dirty="0"/>
              <a:t> disease in rural Zaire: impact of the intervention on </a:t>
            </a:r>
            <a:r>
              <a:rPr lang="en-US" altLang="en-US" sz="1800" dirty="0" err="1"/>
              <a:t>diarrhoeal</a:t>
            </a:r>
            <a:r>
              <a:rPr lang="en-US" altLang="en-US" sz="1800" dirty="0"/>
              <a:t> morbidity, </a:t>
            </a:r>
            <a:r>
              <a:rPr lang="en-US" altLang="en-US" sz="1800" i="1" dirty="0"/>
              <a:t>International Journal of Epidemiology,</a:t>
            </a:r>
            <a:r>
              <a:rPr lang="en-US" altLang="en-US" sz="1800" dirty="0"/>
              <a:t> 23, 1050-1059.</a:t>
            </a:r>
          </a:p>
          <a:p>
            <a:pPr marL="457200" indent="-457200" eaLnBrk="1" hangingPunct="1">
              <a:spcBef>
                <a:spcPct val="0"/>
              </a:spcBef>
              <a:spcAft>
                <a:spcPts val="600"/>
              </a:spcAft>
              <a:buClr>
                <a:schemeClr val="bg1"/>
              </a:buClr>
              <a:buFontTx/>
              <a:buNone/>
            </a:pPr>
            <a:r>
              <a:rPr lang="en-US" altLang="en-US" sz="1800" dirty="0"/>
              <a:t>Henderson, W.G., Demakis, J., </a:t>
            </a:r>
            <a:r>
              <a:rPr lang="en-US" altLang="en-US" sz="1800" dirty="0" err="1"/>
              <a:t>Fihn</a:t>
            </a:r>
            <a:r>
              <a:rPr lang="en-US" altLang="en-US" sz="1800" dirty="0"/>
              <a:t>, S.D. et al (1998), Co-operative studies in health services research in the Department of Veterans Affairs, </a:t>
            </a:r>
            <a:r>
              <a:rPr lang="en-US" altLang="en-US" sz="1800" i="1" dirty="0"/>
              <a:t>Control Clin Trials</a:t>
            </a:r>
            <a:r>
              <a:rPr lang="en-US" altLang="en-US" sz="1800" dirty="0"/>
              <a:t>, 19, 134-148.</a:t>
            </a:r>
          </a:p>
          <a:p>
            <a:pPr marL="457200" indent="-457200" eaLnBrk="1" hangingPunct="1">
              <a:spcBef>
                <a:spcPct val="0"/>
              </a:spcBef>
              <a:spcAft>
                <a:spcPts val="600"/>
              </a:spcAft>
              <a:buClrTx/>
              <a:buSzTx/>
              <a:buFontTx/>
              <a:buNone/>
            </a:pPr>
            <a:r>
              <a:rPr lang="en-US" altLang="en-US" sz="1800" dirty="0"/>
              <a:t>Hsieh, F.Y. (1988), Sample size formulae for intervention studies with the cluster as unit of randomization, </a:t>
            </a:r>
            <a:r>
              <a:rPr lang="en-US" altLang="en-US" sz="1800" i="1" dirty="0"/>
              <a:t>Statistics in Medicine</a:t>
            </a:r>
            <a:r>
              <a:rPr lang="en-US" altLang="en-US" sz="1800" dirty="0"/>
              <a:t>, 8, 1195-1201.</a:t>
            </a:r>
          </a:p>
        </p:txBody>
      </p:sp>
      <p:sp>
        <p:nvSpPr>
          <p:cNvPr id="2" name="Footer Placeholder 1">
            <a:extLst>
              <a:ext uri="{FF2B5EF4-FFF2-40B4-BE49-F238E27FC236}">
                <a16:creationId xmlns:a16="http://schemas.microsoft.com/office/drawing/2014/main" id="{88D1438E-2DEF-944D-A6C4-CE3565C71E2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381651-2F5B-2D51-95BD-A62DE0605EDA}"/>
              </a:ext>
            </a:extLst>
          </p:cNvPr>
          <p:cNvSpPr>
            <a:spLocks noGrp="1"/>
          </p:cNvSpPr>
          <p:nvPr>
            <p:ph type="sldNum" sz="quarter" idx="12"/>
          </p:nvPr>
        </p:nvSpPr>
        <p:spPr/>
        <p:txBody>
          <a:bodyPr/>
          <a:lstStyle/>
          <a:p>
            <a:fld id="{77C6A7FE-225D-49F1-B302-AA37EA92BB49}" type="slidenum">
              <a:rPr lang="en-US" smtClean="0"/>
              <a:t>130</a:t>
            </a:fld>
            <a:endParaRPr lang="en-US"/>
          </a:p>
        </p:txBody>
      </p:sp>
    </p:spTree>
    <p:extLst>
      <p:ext uri="{BB962C8B-B14F-4D97-AF65-F5344CB8AC3E}">
        <p14:creationId xmlns:p14="http://schemas.microsoft.com/office/powerpoint/2010/main" val="378175515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30"/>
            <a:ext cx="12192000" cy="1165755"/>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200" dirty="0">
                <a:solidFill>
                  <a:schemeClr val="bg1"/>
                </a:solidFill>
                <a:latin typeface="Arial" panose="020B0604020202020204" pitchFamily="34" charset="0"/>
                <a:cs typeface="Arial" panose="020B0604020202020204" pitchFamily="34" charset="0"/>
              </a:rPr>
              <a:t>REFERENCES</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8" name="TextBox 7">
            <a:extLst>
              <a:ext uri="{FF2B5EF4-FFF2-40B4-BE49-F238E27FC236}">
                <a16:creationId xmlns:a16="http://schemas.microsoft.com/office/drawing/2014/main" id="{DAB6CA0F-512F-43D5-B51E-4403FE463D02}"/>
              </a:ext>
            </a:extLst>
          </p:cNvPr>
          <p:cNvSpPr txBox="1"/>
          <p:nvPr/>
        </p:nvSpPr>
        <p:spPr>
          <a:xfrm>
            <a:off x="334296" y="1296612"/>
            <a:ext cx="11710219" cy="646331"/>
          </a:xfrm>
          <a:prstGeom prst="rect">
            <a:avLst/>
          </a:prstGeom>
          <a:noFill/>
        </p:spPr>
        <p:txBody>
          <a:bodyPr wrap="square">
            <a:spAutoFit/>
          </a:bodyPr>
          <a:lstStyle/>
          <a:p>
            <a:pPr algn="l" fontAlgn="base"/>
            <a:br>
              <a:rPr lang="en-US" b="1" i="0">
                <a:solidFill>
                  <a:srgbClr val="333333"/>
                </a:solidFill>
                <a:effectLst/>
                <a:latin typeface="interfaceregular"/>
              </a:rPr>
            </a:br>
            <a:endParaRPr lang="en-US" b="0" i="0" dirty="0">
              <a:solidFill>
                <a:srgbClr val="333333"/>
              </a:solidFill>
              <a:effectLst/>
              <a:latin typeface="interfaceregular"/>
            </a:endParaRPr>
          </a:p>
        </p:txBody>
      </p:sp>
      <p:sp>
        <p:nvSpPr>
          <p:cNvPr id="9" name="Rectangle 2">
            <a:extLst>
              <a:ext uri="{FF2B5EF4-FFF2-40B4-BE49-F238E27FC236}">
                <a16:creationId xmlns:a16="http://schemas.microsoft.com/office/drawing/2014/main" id="{E4D9FCA4-FC7E-47B9-8358-8AFFB1E9C688}"/>
              </a:ext>
            </a:extLst>
          </p:cNvPr>
          <p:cNvSpPr>
            <a:spLocks noChangeArrowheads="1"/>
          </p:cNvSpPr>
          <p:nvPr/>
        </p:nvSpPr>
        <p:spPr bwMode="auto">
          <a:xfrm>
            <a:off x="5872163" y="1475473"/>
            <a:ext cx="15711126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E91C8505-D9D7-4746-A163-39FEA1ED4D20}"/>
              </a:ext>
            </a:extLst>
          </p:cNvPr>
          <p:cNvSpPr txBox="1"/>
          <p:nvPr/>
        </p:nvSpPr>
        <p:spPr>
          <a:xfrm>
            <a:off x="334296" y="1194448"/>
            <a:ext cx="11523408" cy="5693866"/>
          </a:xfrm>
          <a:prstGeom prst="rect">
            <a:avLst/>
          </a:prstGeom>
          <a:noFill/>
        </p:spPr>
        <p:txBody>
          <a:bodyPr wrap="square" rtlCol="0">
            <a:spAutoFit/>
          </a:bodyPr>
          <a:lstStyle/>
          <a:p>
            <a:pPr marL="457200" indent="-457200" eaLnBrk="1" hangingPunct="1">
              <a:spcBef>
                <a:spcPct val="0"/>
              </a:spcBef>
              <a:spcAft>
                <a:spcPts val="600"/>
              </a:spcAft>
              <a:buClrTx/>
              <a:buSzTx/>
              <a:buFontTx/>
              <a:buNone/>
            </a:pPr>
            <a:r>
              <a:rPr lang="en-US" altLang="en-US" sz="1800" dirty="0"/>
              <a:t>Kidane, G. and Morrow, R.H.  (2000), Teaching mothers to provide home treatment of malaria in Tigray, Ethiopia: a </a:t>
            </a:r>
            <a:r>
              <a:rPr lang="en-US" altLang="en-US" sz="1800" dirty="0" err="1"/>
              <a:t>randomised</a:t>
            </a:r>
            <a:r>
              <a:rPr lang="en-US" altLang="en-US" sz="1800" dirty="0"/>
              <a:t> trial, Lancet, 356, 550-555.</a:t>
            </a:r>
          </a:p>
          <a:p>
            <a:pPr marL="457200" indent="-457200" eaLnBrk="1" hangingPunct="1">
              <a:spcBef>
                <a:spcPct val="0"/>
              </a:spcBef>
              <a:spcAft>
                <a:spcPts val="600"/>
              </a:spcAft>
              <a:buClr>
                <a:schemeClr val="bg1"/>
              </a:buClr>
              <a:buFontTx/>
              <a:buNone/>
            </a:pPr>
            <a:r>
              <a:rPr lang="en-US" altLang="en-US" sz="1800" dirty="0" err="1"/>
              <a:t>Kinmonth</a:t>
            </a:r>
            <a:r>
              <a:rPr lang="en-US" altLang="en-US" sz="1800" dirty="0"/>
              <a:t>, A.L., Woodcock, A., Griffin, S., </a:t>
            </a:r>
            <a:r>
              <a:rPr lang="en-US" altLang="en-US" sz="1800" dirty="0" err="1"/>
              <a:t>Spiegal</a:t>
            </a:r>
            <a:r>
              <a:rPr lang="en-US" altLang="en-US" sz="1800" dirty="0"/>
              <a:t>, N. and Campbell, M.J. (1998), </a:t>
            </a:r>
            <a:r>
              <a:rPr lang="en-US" altLang="en-US" sz="1800" dirty="0" err="1"/>
              <a:t>Randomised</a:t>
            </a:r>
            <a:r>
              <a:rPr lang="en-US" altLang="en-US" sz="1800" dirty="0"/>
              <a:t> controlled trial of patient centered care of diabetes in general practice: impact on current wellbeing and future disease risk, BMJ, 317, 1202-08.</a:t>
            </a:r>
          </a:p>
          <a:p>
            <a:pPr marL="457200" indent="-457200" eaLnBrk="1" hangingPunct="1">
              <a:spcBef>
                <a:spcPct val="0"/>
              </a:spcBef>
              <a:spcAft>
                <a:spcPts val="600"/>
              </a:spcAft>
              <a:buClr>
                <a:schemeClr val="bg1"/>
              </a:buClr>
              <a:buFontTx/>
              <a:buNone/>
            </a:pPr>
            <a:r>
              <a:rPr lang="en-US" altLang="en-US" sz="1800" dirty="0" err="1"/>
              <a:t>Klar</a:t>
            </a:r>
            <a:r>
              <a:rPr lang="en-US" altLang="en-US" sz="1800" dirty="0"/>
              <a:t>, N. and Donner, A. (1997), The merits of matching in community intervention trials, Statistics in Medicine, 16, 1753-1764.</a:t>
            </a:r>
          </a:p>
          <a:p>
            <a:pPr marL="457200" indent="-457200">
              <a:spcBef>
                <a:spcPct val="0"/>
              </a:spcBef>
              <a:spcAft>
                <a:spcPts val="600"/>
              </a:spcAft>
              <a:buClr>
                <a:schemeClr val="bg1"/>
              </a:buClr>
            </a:pPr>
            <a:r>
              <a:rPr lang="en-US" dirty="0" err="1"/>
              <a:t>Koepsell</a:t>
            </a:r>
            <a:r>
              <a:rPr lang="en-US" dirty="0"/>
              <a:t>, Thomas D., et al. "Data analysis and sample size issues in evaluations of community-based health promotion and disease prevention programs: a mixed-model analysis of variance approach." </a:t>
            </a:r>
            <a:r>
              <a:rPr lang="en-US" i="1" dirty="0"/>
              <a:t>Journal of clinical epidemiology</a:t>
            </a:r>
            <a:r>
              <a:rPr lang="en-US" dirty="0"/>
              <a:t> 44.7 (1991): 701-713.</a:t>
            </a:r>
            <a:endParaRPr lang="en-US" altLang="en-US" sz="1800" dirty="0"/>
          </a:p>
          <a:p>
            <a:pPr marL="457200" indent="-457200" eaLnBrk="1" hangingPunct="1">
              <a:spcBef>
                <a:spcPct val="0"/>
              </a:spcBef>
              <a:spcAft>
                <a:spcPts val="600"/>
              </a:spcAft>
              <a:buClr>
                <a:schemeClr val="bg1"/>
              </a:buClr>
              <a:buFontTx/>
              <a:buNone/>
            </a:pPr>
            <a:r>
              <a:rPr lang="en-US" altLang="en-US" sz="1800" dirty="0"/>
              <a:t>Lake, S., </a:t>
            </a:r>
            <a:r>
              <a:rPr lang="en-US" altLang="en-US" sz="1800" dirty="0" err="1"/>
              <a:t>Kammann</a:t>
            </a:r>
            <a:r>
              <a:rPr lang="en-US" altLang="en-US" sz="1800" dirty="0"/>
              <a:t>, E., </a:t>
            </a:r>
            <a:r>
              <a:rPr lang="en-US" altLang="en-US" sz="1800" dirty="0" err="1"/>
              <a:t>Klar</a:t>
            </a:r>
            <a:r>
              <a:rPr lang="en-US" altLang="en-US" sz="1800" dirty="0"/>
              <a:t>, N. and </a:t>
            </a:r>
            <a:r>
              <a:rPr lang="en-US" altLang="en-US" sz="1800" dirty="0" err="1"/>
              <a:t>Betensky</a:t>
            </a:r>
            <a:r>
              <a:rPr lang="en-US" altLang="en-US" sz="1800" dirty="0"/>
              <a:t>, R. (2002) Sample size re-estimation in cluster randomization trials, Statistics in Medicine, 21, 1337-50.</a:t>
            </a:r>
          </a:p>
          <a:p>
            <a:pPr marL="457200" indent="-457200" eaLnBrk="1" hangingPunct="1">
              <a:spcBef>
                <a:spcPct val="0"/>
              </a:spcBef>
              <a:spcAft>
                <a:spcPts val="600"/>
              </a:spcAft>
              <a:buClr>
                <a:schemeClr val="bg1"/>
              </a:buClr>
              <a:buFontTx/>
              <a:buNone/>
            </a:pPr>
            <a:r>
              <a:rPr lang="en-US" altLang="en-US" sz="1800" dirty="0"/>
              <a:t>Liang, K-Y. and </a:t>
            </a:r>
            <a:r>
              <a:rPr lang="en-US" altLang="en-US" sz="1800" dirty="0" err="1"/>
              <a:t>Zeger</a:t>
            </a:r>
            <a:r>
              <a:rPr lang="en-US" altLang="en-US" sz="1800" dirty="0"/>
              <a:t>, S.L. (1986), Longitudinal data analysis using generalized linear models, </a:t>
            </a:r>
            <a:r>
              <a:rPr lang="en-US" altLang="en-US" sz="1800" dirty="0" err="1"/>
              <a:t>Biometrika</a:t>
            </a:r>
            <a:r>
              <a:rPr lang="en-US" altLang="en-US" sz="1800" dirty="0"/>
              <a:t>, 73, 13-22.</a:t>
            </a:r>
          </a:p>
          <a:p>
            <a:pPr marL="457200" indent="-457200" eaLnBrk="1" hangingPunct="1">
              <a:spcBef>
                <a:spcPct val="0"/>
              </a:spcBef>
              <a:spcAft>
                <a:spcPts val="600"/>
              </a:spcAft>
              <a:buClr>
                <a:schemeClr val="bg1"/>
              </a:buClr>
              <a:buFontTx/>
              <a:buNone/>
            </a:pPr>
            <a:r>
              <a:rPr lang="en-US" altLang="en-US" sz="1800" dirty="0" err="1"/>
              <a:t>Manatunga</a:t>
            </a:r>
            <a:r>
              <a:rPr lang="en-US" altLang="en-US" sz="1800" dirty="0"/>
              <a:t> A.K,, Hudgens M.G, and Chen S. Sample size estimation in cluster randomized trials with varying cluster size (2001). Biometrical Journal 1:75-86.</a:t>
            </a:r>
          </a:p>
          <a:p>
            <a:pPr marL="457200" indent="-457200" eaLnBrk="1" hangingPunct="1">
              <a:spcBef>
                <a:spcPct val="0"/>
              </a:spcBef>
              <a:spcAft>
                <a:spcPts val="600"/>
              </a:spcAft>
              <a:buClr>
                <a:schemeClr val="bg1"/>
              </a:buClr>
              <a:buFontTx/>
              <a:buNone/>
            </a:pPr>
            <a:r>
              <a:rPr lang="en-US" altLang="en-US" sz="1800" dirty="0"/>
              <a:t>Manel ,L.A. and </a:t>
            </a:r>
            <a:r>
              <a:rPr lang="en-US" altLang="en-US" sz="1800" dirty="0" err="1"/>
              <a:t>DeRouen</a:t>
            </a:r>
            <a:r>
              <a:rPr lang="en-US" altLang="en-US" sz="1800" dirty="0"/>
              <a:t>, T.A. A covariance estimator for GEE with improved small-sample  properties. </a:t>
            </a:r>
            <a:r>
              <a:rPr lang="en-US" altLang="en-US" sz="1800" dirty="0" err="1"/>
              <a:t>Biometics</a:t>
            </a:r>
            <a:r>
              <a:rPr lang="en-US" altLang="en-US" sz="1800" dirty="0"/>
              <a:t> 57:126-134.</a:t>
            </a:r>
          </a:p>
          <a:p>
            <a:pPr marL="457200" indent="-457200" eaLnBrk="1" hangingPunct="1">
              <a:spcBef>
                <a:spcPct val="0"/>
              </a:spcBef>
              <a:spcAft>
                <a:spcPts val="600"/>
              </a:spcAft>
              <a:buClr>
                <a:schemeClr val="bg1"/>
              </a:buClr>
              <a:buFontTx/>
              <a:buNone/>
            </a:pPr>
            <a:endParaRPr lang="en-US" altLang="en-US" sz="1800" dirty="0"/>
          </a:p>
        </p:txBody>
      </p:sp>
      <p:sp>
        <p:nvSpPr>
          <p:cNvPr id="2" name="Footer Placeholder 1">
            <a:extLst>
              <a:ext uri="{FF2B5EF4-FFF2-40B4-BE49-F238E27FC236}">
                <a16:creationId xmlns:a16="http://schemas.microsoft.com/office/drawing/2014/main" id="{E6CD3B75-6B28-8B49-9DBD-B3463C01ABF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BF18877-93FE-448B-F68B-87BA0C222C7C}"/>
              </a:ext>
            </a:extLst>
          </p:cNvPr>
          <p:cNvSpPr>
            <a:spLocks noGrp="1"/>
          </p:cNvSpPr>
          <p:nvPr>
            <p:ph type="sldNum" sz="quarter" idx="12"/>
          </p:nvPr>
        </p:nvSpPr>
        <p:spPr/>
        <p:txBody>
          <a:bodyPr/>
          <a:lstStyle/>
          <a:p>
            <a:fld id="{77C6A7FE-225D-49F1-B302-AA37EA92BB49}" type="slidenum">
              <a:rPr lang="en-US" smtClean="0"/>
              <a:t>131</a:t>
            </a:fld>
            <a:endParaRPr lang="en-US"/>
          </a:p>
        </p:txBody>
      </p:sp>
    </p:spTree>
    <p:extLst>
      <p:ext uri="{BB962C8B-B14F-4D97-AF65-F5344CB8AC3E}">
        <p14:creationId xmlns:p14="http://schemas.microsoft.com/office/powerpoint/2010/main" val="896372605"/>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30"/>
            <a:ext cx="12192000" cy="1165755"/>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200" dirty="0">
                <a:solidFill>
                  <a:schemeClr val="bg1"/>
                </a:solidFill>
                <a:latin typeface="Arial" panose="020B0604020202020204" pitchFamily="34" charset="0"/>
                <a:cs typeface="Arial" panose="020B0604020202020204" pitchFamily="34" charset="0"/>
              </a:rPr>
              <a:t>REFERENCES</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6882" y="6555078"/>
            <a:ext cx="3208020" cy="201958"/>
          </a:xfrm>
          <a:prstGeom prst="rect">
            <a:avLst/>
          </a:prstGeom>
        </p:spPr>
      </p:pic>
      <p:sp>
        <p:nvSpPr>
          <p:cNvPr id="8" name="TextBox 7">
            <a:extLst>
              <a:ext uri="{FF2B5EF4-FFF2-40B4-BE49-F238E27FC236}">
                <a16:creationId xmlns:a16="http://schemas.microsoft.com/office/drawing/2014/main" id="{DAB6CA0F-512F-43D5-B51E-4403FE463D02}"/>
              </a:ext>
            </a:extLst>
          </p:cNvPr>
          <p:cNvSpPr txBox="1"/>
          <p:nvPr/>
        </p:nvSpPr>
        <p:spPr>
          <a:xfrm>
            <a:off x="334296" y="1296612"/>
            <a:ext cx="11710219" cy="646331"/>
          </a:xfrm>
          <a:prstGeom prst="rect">
            <a:avLst/>
          </a:prstGeom>
          <a:noFill/>
        </p:spPr>
        <p:txBody>
          <a:bodyPr wrap="square">
            <a:spAutoFit/>
          </a:bodyPr>
          <a:lstStyle/>
          <a:p>
            <a:pPr algn="l" fontAlgn="base"/>
            <a:br>
              <a:rPr lang="en-US" b="1" i="0">
                <a:solidFill>
                  <a:srgbClr val="333333"/>
                </a:solidFill>
                <a:effectLst/>
                <a:latin typeface="interfaceregular"/>
              </a:rPr>
            </a:br>
            <a:endParaRPr lang="en-US" b="0" i="0" dirty="0">
              <a:solidFill>
                <a:srgbClr val="333333"/>
              </a:solidFill>
              <a:effectLst/>
              <a:latin typeface="interfaceregular"/>
            </a:endParaRPr>
          </a:p>
        </p:txBody>
      </p:sp>
      <p:sp>
        <p:nvSpPr>
          <p:cNvPr id="9" name="Rectangle 2">
            <a:extLst>
              <a:ext uri="{FF2B5EF4-FFF2-40B4-BE49-F238E27FC236}">
                <a16:creationId xmlns:a16="http://schemas.microsoft.com/office/drawing/2014/main" id="{E4D9FCA4-FC7E-47B9-8358-8AFFB1E9C688}"/>
              </a:ext>
            </a:extLst>
          </p:cNvPr>
          <p:cNvSpPr>
            <a:spLocks noChangeArrowheads="1"/>
          </p:cNvSpPr>
          <p:nvPr/>
        </p:nvSpPr>
        <p:spPr bwMode="auto">
          <a:xfrm>
            <a:off x="5872163" y="1475473"/>
            <a:ext cx="15711126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E91C8505-D9D7-4746-A163-39FEA1ED4D20}"/>
              </a:ext>
            </a:extLst>
          </p:cNvPr>
          <p:cNvSpPr txBox="1"/>
          <p:nvPr/>
        </p:nvSpPr>
        <p:spPr>
          <a:xfrm>
            <a:off x="334296" y="1191281"/>
            <a:ext cx="11523408" cy="5416868"/>
          </a:xfrm>
          <a:prstGeom prst="rect">
            <a:avLst/>
          </a:prstGeom>
          <a:noFill/>
        </p:spPr>
        <p:txBody>
          <a:bodyPr wrap="square" rtlCol="0">
            <a:spAutoFit/>
          </a:bodyPr>
          <a:lstStyle/>
          <a:p>
            <a:pPr marL="457200" indent="-457200">
              <a:spcBef>
                <a:spcPct val="0"/>
              </a:spcBef>
              <a:spcAft>
                <a:spcPts val="600"/>
              </a:spcAft>
              <a:buClr>
                <a:schemeClr val="bg1"/>
              </a:buClr>
            </a:pPr>
            <a:r>
              <a:rPr lang="en-US" altLang="en-US" dirty="0"/>
              <a:t>Martin, D.C., </a:t>
            </a:r>
            <a:r>
              <a:rPr lang="en-US" altLang="en-US" dirty="0" err="1"/>
              <a:t>Diehr</a:t>
            </a:r>
            <a:r>
              <a:rPr lang="en-US" altLang="en-US" dirty="0"/>
              <a:t>, P., Perrin, E.B. and </a:t>
            </a:r>
            <a:r>
              <a:rPr lang="en-US" altLang="en-US" dirty="0" err="1"/>
              <a:t>Koepsell</a:t>
            </a:r>
            <a:r>
              <a:rPr lang="en-US" altLang="en-US" dirty="0"/>
              <a:t>, T.D. (1993), The effect of matching on the power of randomized community intervention studies, Statistics in Medicine, 12, 329-338.</a:t>
            </a:r>
            <a:endParaRPr lang="en-US" altLang="en-US" sz="1800" dirty="0"/>
          </a:p>
          <a:p>
            <a:pPr marL="457200" indent="-457200" eaLnBrk="1" hangingPunct="1">
              <a:spcBef>
                <a:spcPct val="0"/>
              </a:spcBef>
              <a:spcAft>
                <a:spcPts val="600"/>
              </a:spcAft>
              <a:buClr>
                <a:schemeClr val="bg1"/>
              </a:buClr>
              <a:buFontTx/>
              <a:buNone/>
            </a:pPr>
            <a:r>
              <a:rPr lang="en-US" altLang="en-US" sz="1800" dirty="0"/>
              <a:t>Murray, D.M., Perry, C.L., Griffin, G., Harty, K.C., Jacobs, D.R. Jr., Schmid, L., Daly, K. and </a:t>
            </a:r>
            <a:r>
              <a:rPr lang="en-US" altLang="en-US" sz="1800" dirty="0" err="1"/>
              <a:t>Pallonen</a:t>
            </a:r>
            <a:r>
              <a:rPr lang="en-US" altLang="en-US" sz="1800" dirty="0"/>
              <a:t>, U. (1992), Results from a statewide approach to adolescent tobacco use prevention, Preventive Medicine, 21, 449-472.</a:t>
            </a:r>
          </a:p>
          <a:p>
            <a:pPr marL="457200" indent="-457200" eaLnBrk="1" hangingPunct="1">
              <a:spcBef>
                <a:spcPct val="0"/>
              </a:spcBef>
              <a:spcAft>
                <a:spcPts val="600"/>
              </a:spcAft>
              <a:buClr>
                <a:schemeClr val="bg1"/>
              </a:buClr>
              <a:buFontTx/>
              <a:buNone/>
            </a:pPr>
            <a:r>
              <a:rPr lang="en-US" altLang="en-US" sz="1800" dirty="0"/>
              <a:t>Murray, D.M. The Design and Analysis of Group –Randomized Trials. University </a:t>
            </a:r>
            <a:r>
              <a:rPr lang="en-US" altLang="en-US" sz="1800" dirty="0" err="1"/>
              <a:t>Press:Oxford</a:t>
            </a:r>
            <a:r>
              <a:rPr lang="en-US" altLang="en-US" sz="1800" dirty="0"/>
              <a:t>, 1998.</a:t>
            </a:r>
          </a:p>
          <a:p>
            <a:pPr marL="457200" indent="-457200" eaLnBrk="1" hangingPunct="1">
              <a:spcBef>
                <a:spcPct val="0"/>
              </a:spcBef>
              <a:spcAft>
                <a:spcPts val="600"/>
              </a:spcAft>
              <a:buClrTx/>
              <a:buSzTx/>
              <a:buFontTx/>
              <a:buNone/>
            </a:pPr>
            <a:r>
              <a:rPr lang="en-US" altLang="en-US" sz="1800" dirty="0"/>
              <a:t>Neuhaus, J.M. (1992), Statistical methods for longitudinal and clustered designs with binary responses, Statistical Methods in Medical Research, 1, 249-273.</a:t>
            </a:r>
          </a:p>
          <a:p>
            <a:pPr marL="457200" indent="-457200" eaLnBrk="1" hangingPunct="1">
              <a:spcBef>
                <a:spcPct val="0"/>
              </a:spcBef>
              <a:spcAft>
                <a:spcPts val="600"/>
              </a:spcAft>
              <a:buClrTx/>
              <a:buSzTx/>
              <a:buFontTx/>
              <a:buNone/>
            </a:pPr>
            <a:r>
              <a:rPr lang="en-US" altLang="en-US" sz="1800" dirty="0"/>
              <a:t>Neuhaus, J.M. and </a:t>
            </a:r>
            <a:r>
              <a:rPr lang="en-US" altLang="en-US" sz="1800" dirty="0" err="1"/>
              <a:t>Kalbfleisch</a:t>
            </a:r>
            <a:r>
              <a:rPr lang="en-US" altLang="en-US" sz="1800" dirty="0"/>
              <a:t>, J.D. (1998), Between- and within-cluster covariate effects in the analysis of clustered data, Biometrics, 54,638-645.</a:t>
            </a:r>
          </a:p>
          <a:p>
            <a:pPr marL="457200" indent="-457200" eaLnBrk="1" hangingPunct="1">
              <a:spcBef>
                <a:spcPct val="0"/>
              </a:spcBef>
              <a:spcAft>
                <a:spcPts val="600"/>
              </a:spcAft>
              <a:buClrTx/>
              <a:buSzTx/>
              <a:buFontTx/>
              <a:buNone/>
            </a:pPr>
            <a:r>
              <a:rPr lang="en-US" altLang="en-US" sz="1800" dirty="0"/>
              <a:t>Omar, R.Z. and Thompson, S.G. (2000), Analysis of a cluster randomized trial with binary outcome data using a multi-level model, Statistics in Medicine, 19, 2675-88.</a:t>
            </a:r>
          </a:p>
          <a:p>
            <a:pPr marL="457200" indent="-457200" eaLnBrk="1" hangingPunct="1">
              <a:spcBef>
                <a:spcPct val="0"/>
              </a:spcBef>
              <a:spcAft>
                <a:spcPts val="600"/>
              </a:spcAft>
              <a:buClrTx/>
              <a:buSzTx/>
              <a:buFontTx/>
              <a:buNone/>
            </a:pPr>
            <a:r>
              <a:rPr lang="en-US" altLang="en-US" sz="1800" dirty="0"/>
              <a:t>Pan, W. and Wall, M.M. (2002), Small sample adjustments in using the sandwich variance estimator in generalized estimating equations.  Statistics in Medicine, 21, 1429-1441.</a:t>
            </a:r>
          </a:p>
          <a:p>
            <a:pPr marL="457200" indent="-457200">
              <a:spcBef>
                <a:spcPct val="0"/>
              </a:spcBef>
              <a:spcAft>
                <a:spcPts val="600"/>
              </a:spcAft>
            </a:pPr>
            <a:r>
              <a:rPr lang="en-US" altLang="en-US" sz="1800" dirty="0"/>
              <a:t>Peterson, A.V. Jr., Kealey, K.A., Mann S.L., Marek, P.M. </a:t>
            </a:r>
            <a:r>
              <a:rPr lang="en-US" altLang="en-US" sz="1800" dirty="0" err="1"/>
              <a:t>Sarason</a:t>
            </a:r>
            <a:r>
              <a:rPr lang="en-US" altLang="en-US" sz="1800" dirty="0"/>
              <a:t>, I.G. (2002), Hutchinson smoking Prevention Project: Long-term randomized trial in school-based tobacco use prevention-results on smoking, Journal of the National Cancer Institute, 92(24), 1979-1991.</a:t>
            </a:r>
          </a:p>
          <a:p>
            <a:pPr marL="457200" indent="-457200">
              <a:spcBef>
                <a:spcPct val="0"/>
              </a:spcBef>
              <a:spcAft>
                <a:spcPts val="600"/>
              </a:spcAft>
            </a:pPr>
            <a:r>
              <a:rPr lang="en-US" altLang="en-US" sz="1800" dirty="0"/>
              <a:t>Rao, J.N.K. and Scott, A.J. (1992), A simple method for the analysis of clustered binary data, Biometrics, 48, 577-585.</a:t>
            </a:r>
          </a:p>
        </p:txBody>
      </p:sp>
      <p:sp>
        <p:nvSpPr>
          <p:cNvPr id="2" name="Footer Placeholder 1">
            <a:extLst>
              <a:ext uri="{FF2B5EF4-FFF2-40B4-BE49-F238E27FC236}">
                <a16:creationId xmlns:a16="http://schemas.microsoft.com/office/drawing/2014/main" id="{73FF83E2-A8BA-CB4D-8A5D-DCAD052FE01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897FF0-9499-5D3F-1996-F10AE1247576}"/>
              </a:ext>
            </a:extLst>
          </p:cNvPr>
          <p:cNvSpPr>
            <a:spLocks noGrp="1"/>
          </p:cNvSpPr>
          <p:nvPr>
            <p:ph type="sldNum" sz="quarter" idx="12"/>
          </p:nvPr>
        </p:nvSpPr>
        <p:spPr/>
        <p:txBody>
          <a:bodyPr/>
          <a:lstStyle/>
          <a:p>
            <a:fld id="{77C6A7FE-225D-49F1-B302-AA37EA92BB49}" type="slidenum">
              <a:rPr lang="en-US" smtClean="0"/>
              <a:t>132</a:t>
            </a:fld>
            <a:endParaRPr lang="en-US"/>
          </a:p>
        </p:txBody>
      </p:sp>
    </p:spTree>
    <p:extLst>
      <p:ext uri="{BB962C8B-B14F-4D97-AF65-F5344CB8AC3E}">
        <p14:creationId xmlns:p14="http://schemas.microsoft.com/office/powerpoint/2010/main" val="91378811"/>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30"/>
            <a:ext cx="12192000" cy="1165755"/>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200" dirty="0">
                <a:solidFill>
                  <a:schemeClr val="bg1"/>
                </a:solidFill>
                <a:latin typeface="Arial" panose="020B0604020202020204" pitchFamily="34" charset="0"/>
                <a:cs typeface="Arial" panose="020B0604020202020204" pitchFamily="34" charset="0"/>
              </a:rPr>
              <a:t>REFERENCES</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8" name="TextBox 7">
            <a:extLst>
              <a:ext uri="{FF2B5EF4-FFF2-40B4-BE49-F238E27FC236}">
                <a16:creationId xmlns:a16="http://schemas.microsoft.com/office/drawing/2014/main" id="{DAB6CA0F-512F-43D5-B51E-4403FE463D02}"/>
              </a:ext>
            </a:extLst>
          </p:cNvPr>
          <p:cNvSpPr txBox="1"/>
          <p:nvPr/>
        </p:nvSpPr>
        <p:spPr>
          <a:xfrm>
            <a:off x="334296" y="1296612"/>
            <a:ext cx="11710219" cy="646331"/>
          </a:xfrm>
          <a:prstGeom prst="rect">
            <a:avLst/>
          </a:prstGeom>
          <a:noFill/>
        </p:spPr>
        <p:txBody>
          <a:bodyPr wrap="square">
            <a:spAutoFit/>
          </a:bodyPr>
          <a:lstStyle/>
          <a:p>
            <a:pPr algn="l" fontAlgn="base"/>
            <a:br>
              <a:rPr lang="en-US" b="1" i="0">
                <a:solidFill>
                  <a:srgbClr val="333333"/>
                </a:solidFill>
                <a:effectLst/>
                <a:latin typeface="interfaceregular"/>
              </a:rPr>
            </a:br>
            <a:endParaRPr lang="en-US" b="0" i="0" dirty="0">
              <a:solidFill>
                <a:srgbClr val="333333"/>
              </a:solidFill>
              <a:effectLst/>
              <a:latin typeface="interfaceregular"/>
            </a:endParaRPr>
          </a:p>
        </p:txBody>
      </p:sp>
      <p:sp>
        <p:nvSpPr>
          <p:cNvPr id="9" name="Rectangle 2">
            <a:extLst>
              <a:ext uri="{FF2B5EF4-FFF2-40B4-BE49-F238E27FC236}">
                <a16:creationId xmlns:a16="http://schemas.microsoft.com/office/drawing/2014/main" id="{E4D9FCA4-FC7E-47B9-8358-8AFFB1E9C688}"/>
              </a:ext>
            </a:extLst>
          </p:cNvPr>
          <p:cNvSpPr>
            <a:spLocks noChangeArrowheads="1"/>
          </p:cNvSpPr>
          <p:nvPr/>
        </p:nvSpPr>
        <p:spPr bwMode="auto">
          <a:xfrm>
            <a:off x="5872163" y="1475473"/>
            <a:ext cx="15711126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E91C8505-D9D7-4746-A163-39FEA1ED4D20}"/>
              </a:ext>
            </a:extLst>
          </p:cNvPr>
          <p:cNvSpPr txBox="1"/>
          <p:nvPr/>
        </p:nvSpPr>
        <p:spPr>
          <a:xfrm>
            <a:off x="334296" y="1475473"/>
            <a:ext cx="11523408" cy="4909036"/>
          </a:xfrm>
          <a:prstGeom prst="rect">
            <a:avLst/>
          </a:prstGeom>
          <a:noFill/>
        </p:spPr>
        <p:txBody>
          <a:bodyPr wrap="square" rtlCol="0">
            <a:spAutoFit/>
          </a:bodyPr>
          <a:lstStyle/>
          <a:p>
            <a:pPr marL="457200" indent="-457200" eaLnBrk="1" hangingPunct="1">
              <a:spcBef>
                <a:spcPct val="0"/>
              </a:spcBef>
              <a:spcAft>
                <a:spcPts val="600"/>
              </a:spcAft>
              <a:buClrTx/>
              <a:buSzTx/>
              <a:buFontTx/>
              <a:buNone/>
            </a:pPr>
            <a:r>
              <a:rPr lang="en-US" altLang="en-US" sz="1800" dirty="0"/>
              <a:t>Ray, W.A., Taylor, J.A., Meador, K.G., Thapa, P.B., Brown, A.K., </a:t>
            </a:r>
            <a:r>
              <a:rPr lang="en-US" altLang="en-US" sz="1800" dirty="0" err="1"/>
              <a:t>Kajihara</a:t>
            </a:r>
            <a:r>
              <a:rPr lang="en-US" altLang="en-US" sz="1800" dirty="0"/>
              <a:t>, H.K., Davis, C., Gideon, P. and Griffin, M.R. (1997), A randomized trial of a consultation service to reduce falls in nursing homes, Journal of the American Medical Association,  278, 557-562.</a:t>
            </a:r>
          </a:p>
          <a:p>
            <a:pPr marL="457200" indent="-457200" eaLnBrk="1" hangingPunct="1">
              <a:spcBef>
                <a:spcPct val="0"/>
              </a:spcBef>
              <a:spcAft>
                <a:spcPts val="600"/>
              </a:spcAft>
              <a:buClrTx/>
              <a:buSzTx/>
              <a:buFontTx/>
              <a:buNone/>
            </a:pPr>
            <a:r>
              <a:rPr lang="en-US" sz="1800" dirty="0">
                <a:effectLst/>
                <a:ea typeface="Times New Roman" panose="02020603050405020304" pitchFamily="18" charset="0"/>
              </a:rPr>
              <a:t>Regan, M., Cheng, C., </a:t>
            </a:r>
            <a:r>
              <a:rPr lang="en-US" sz="1800" dirty="0" err="1">
                <a:effectLst/>
                <a:ea typeface="Times New Roman" panose="02020603050405020304" pitchFamily="18" charset="0"/>
              </a:rPr>
              <a:t>Mboggo</a:t>
            </a:r>
            <a:r>
              <a:rPr lang="en-US" sz="1800" dirty="0">
                <a:effectLst/>
                <a:ea typeface="Times New Roman" panose="02020603050405020304" pitchFamily="18" charset="0"/>
              </a:rPr>
              <a:t>, E., Larson, E., </a:t>
            </a:r>
            <a:r>
              <a:rPr lang="en-US" sz="1800" dirty="0" err="1">
                <a:effectLst/>
                <a:ea typeface="Times New Roman" panose="02020603050405020304" pitchFamily="18" charset="0"/>
              </a:rPr>
              <a:t>Lema</a:t>
            </a:r>
            <a:r>
              <a:rPr lang="en-US" sz="1800" dirty="0">
                <a:effectLst/>
                <a:ea typeface="Times New Roman" panose="02020603050405020304" pitchFamily="18" charset="0"/>
              </a:rPr>
              <a:t>, I.A., </a:t>
            </a:r>
            <a:r>
              <a:rPr lang="en-US" sz="1800" dirty="0" err="1">
                <a:effectLst/>
                <a:ea typeface="Times New Roman" panose="02020603050405020304" pitchFamily="18" charset="0"/>
              </a:rPr>
              <a:t>Magesa</a:t>
            </a:r>
            <a:r>
              <a:rPr lang="en-US" sz="1800" dirty="0">
                <a:effectLst/>
                <a:ea typeface="Times New Roman" panose="02020603050405020304" pitchFamily="18" charset="0"/>
              </a:rPr>
              <a:t>, L., </a:t>
            </a:r>
            <a:r>
              <a:rPr lang="en-US" sz="1800" dirty="0" err="1">
                <a:effectLst/>
                <a:ea typeface="Times New Roman" panose="02020603050405020304" pitchFamily="18" charset="0"/>
              </a:rPr>
              <a:t>Machumi</a:t>
            </a:r>
            <a:r>
              <a:rPr lang="en-US" sz="1800" dirty="0">
                <a:effectLst/>
                <a:ea typeface="Times New Roman" panose="02020603050405020304" pitchFamily="18" charset="0"/>
              </a:rPr>
              <a:t>, L., </a:t>
            </a:r>
            <a:r>
              <a:rPr lang="en-US" sz="1800" dirty="0" err="1">
                <a:effectLst/>
                <a:ea typeface="Times New Roman" panose="02020603050405020304" pitchFamily="18" charset="0"/>
              </a:rPr>
              <a:t>Ulenga</a:t>
            </a:r>
            <a:r>
              <a:rPr lang="en-US" sz="1800" dirty="0">
                <a:effectLst/>
                <a:ea typeface="Times New Roman" panose="02020603050405020304" pitchFamily="18" charset="0"/>
              </a:rPr>
              <a:t>, N., Sando, D., </a:t>
            </a:r>
            <a:r>
              <a:rPr lang="en-US" sz="1800" dirty="0" err="1">
                <a:effectLst/>
                <a:ea typeface="Times New Roman" panose="02020603050405020304" pitchFamily="18" charset="0"/>
              </a:rPr>
              <a:t>Mwanyika</a:t>
            </a:r>
            <a:r>
              <a:rPr lang="en-US" sz="1800" dirty="0">
                <a:effectLst/>
                <a:ea typeface="Times New Roman" panose="02020603050405020304" pitchFamily="18" charset="0"/>
              </a:rPr>
              <a:t>-Sando, D., Barnhardt, D., Hong, B., </a:t>
            </a:r>
            <a:r>
              <a:rPr lang="en-US" sz="1800" dirty="0" err="1">
                <a:effectLst/>
                <a:ea typeface="Times New Roman" panose="02020603050405020304" pitchFamily="18" charset="0"/>
              </a:rPr>
              <a:t>Mungure</a:t>
            </a:r>
            <a:r>
              <a:rPr lang="en-US" sz="1800" dirty="0">
                <a:effectLst/>
                <a:ea typeface="Times New Roman" panose="02020603050405020304" pitchFamily="18" charset="0"/>
              </a:rPr>
              <a:t>, E., </a:t>
            </a:r>
            <a:r>
              <a:rPr lang="en-US" sz="1800" dirty="0" err="1">
                <a:effectLst/>
                <a:ea typeface="Times New Roman" panose="02020603050405020304" pitchFamily="18" charset="0"/>
              </a:rPr>
              <a:t>Hertzmark</a:t>
            </a:r>
            <a:r>
              <a:rPr lang="en-US" sz="1800" dirty="0">
                <a:effectLst/>
                <a:ea typeface="Times New Roman" panose="02020603050405020304" pitchFamily="18" charset="0"/>
              </a:rPr>
              <a:t>, E., Li, N., </a:t>
            </a:r>
            <a:r>
              <a:rPr lang="en-US" sz="1800" dirty="0" err="1">
                <a:effectLst/>
                <a:ea typeface="Times New Roman" panose="02020603050405020304" pitchFamily="18" charset="0"/>
              </a:rPr>
              <a:t>Siril</a:t>
            </a:r>
            <a:r>
              <a:rPr lang="en-US" sz="1800" dirty="0">
                <a:effectLst/>
                <a:ea typeface="Times New Roman" panose="02020603050405020304" pitchFamily="18" charset="0"/>
              </a:rPr>
              <a:t>, H.,</a:t>
            </a:r>
            <a:r>
              <a:rPr lang="en-US" sz="1800" baseline="30000" dirty="0">
                <a:effectLst/>
                <a:ea typeface="Times New Roman" panose="02020603050405020304" pitchFamily="18" charset="0"/>
              </a:rPr>
              <a:t> </a:t>
            </a:r>
            <a:r>
              <a:rPr lang="en-US" sz="1800" dirty="0" err="1">
                <a:effectLst/>
                <a:ea typeface="Times New Roman" panose="02020603050405020304" pitchFamily="18" charset="0"/>
              </a:rPr>
              <a:t>Mujinja</a:t>
            </a:r>
            <a:r>
              <a:rPr lang="en-US" sz="1800" dirty="0">
                <a:effectLst/>
                <a:ea typeface="Times New Roman" panose="02020603050405020304" pitchFamily="18" charset="0"/>
              </a:rPr>
              <a:t>, P., </a:t>
            </a:r>
            <a:r>
              <a:rPr lang="en-US" sz="1800" dirty="0" err="1">
                <a:effectLst/>
                <a:ea typeface="Times New Roman" panose="02020603050405020304" pitchFamily="18" charset="0"/>
              </a:rPr>
              <a:t>Naburi</a:t>
            </a:r>
            <a:r>
              <a:rPr lang="en-US" sz="1800" dirty="0">
                <a:effectLst/>
                <a:ea typeface="Times New Roman" panose="02020603050405020304" pitchFamily="18" charset="0"/>
              </a:rPr>
              <a:t>, H.,</a:t>
            </a:r>
            <a:r>
              <a:rPr lang="en-US" sz="1800" baseline="30000" dirty="0">
                <a:effectLst/>
                <a:ea typeface="Times New Roman" panose="02020603050405020304" pitchFamily="18" charset="0"/>
              </a:rPr>
              <a:t> </a:t>
            </a:r>
            <a:r>
              <a:rPr lang="en-US" sz="1800" dirty="0" err="1">
                <a:effectLst/>
                <a:ea typeface="Times New Roman" panose="02020603050405020304" pitchFamily="18" charset="0"/>
              </a:rPr>
              <a:t>Kilewo</a:t>
            </a:r>
            <a:r>
              <a:rPr lang="en-US" sz="1800" dirty="0">
                <a:effectLst/>
                <a:ea typeface="Times New Roman" panose="02020603050405020304" pitchFamily="18" charset="0"/>
              </a:rPr>
              <a:t>, C., </a:t>
            </a:r>
            <a:r>
              <a:rPr lang="en-US" sz="1800" dirty="0" err="1">
                <a:effectLst/>
                <a:ea typeface="Times New Roman" panose="02020603050405020304" pitchFamily="18" charset="0"/>
              </a:rPr>
              <a:t>Ekström</a:t>
            </a:r>
            <a:r>
              <a:rPr lang="en-US" sz="1800" dirty="0">
                <a:effectLst/>
                <a:ea typeface="Times New Roman" panose="02020603050405020304" pitchFamily="18" charset="0"/>
              </a:rPr>
              <a:t>, A.M.,</a:t>
            </a:r>
            <a:r>
              <a:rPr lang="en-US" sz="1800" dirty="0">
                <a:solidFill>
                  <a:srgbClr val="FFFFFF"/>
                </a:solidFill>
                <a:effectLst/>
                <a:ea typeface="Times New Roman" panose="02020603050405020304" pitchFamily="18" charset="0"/>
              </a:rPr>
              <a:t> </a:t>
            </a:r>
            <a:r>
              <a:rPr lang="en-US" sz="1800" dirty="0" err="1">
                <a:effectLst/>
                <a:ea typeface="Times New Roman" panose="02020603050405020304" pitchFamily="18" charset="0"/>
              </a:rPr>
              <a:t>Geldsetzer</a:t>
            </a:r>
            <a:r>
              <a:rPr lang="en-US" sz="1800" dirty="0">
                <a:effectLst/>
                <a:ea typeface="Times New Roman" panose="02020603050405020304" pitchFamily="18" charset="0"/>
              </a:rPr>
              <a:t>, P, Fawzi, W., </a:t>
            </a:r>
            <a:r>
              <a:rPr lang="en-US" sz="1800" dirty="0" err="1">
                <a:effectLst/>
                <a:ea typeface="Times New Roman" panose="02020603050405020304" pitchFamily="18" charset="0"/>
              </a:rPr>
              <a:t>Bärnighausen</a:t>
            </a:r>
            <a:r>
              <a:rPr lang="en-US" sz="1800" dirty="0">
                <a:effectLst/>
                <a:ea typeface="Times New Roman" panose="02020603050405020304" pitchFamily="18" charset="0"/>
              </a:rPr>
              <a:t>, T.,</a:t>
            </a:r>
            <a:r>
              <a:rPr lang="en-US" sz="1800" dirty="0">
                <a:solidFill>
                  <a:srgbClr val="000000"/>
                </a:solidFill>
                <a:effectLst/>
                <a:ea typeface="Times New Roman" panose="02020603050405020304" pitchFamily="18" charset="0"/>
              </a:rPr>
              <a:t> Sudfeld, C.R., Spiegelman, D. The impact of a community health worker intervention on uptake of antenatal care: a cluster- randomized pragmatic trial in Dar es Salaam, Tanzania. </a:t>
            </a:r>
            <a:r>
              <a:rPr lang="en-US" i="1" dirty="0">
                <a:solidFill>
                  <a:srgbClr val="000000"/>
                </a:solidFill>
                <a:ea typeface="Times New Roman" panose="02020603050405020304" pitchFamily="18" charset="0"/>
              </a:rPr>
              <a:t>Working Paper.</a:t>
            </a:r>
            <a:endParaRPr lang="en-US" altLang="en-US" sz="1800" dirty="0"/>
          </a:p>
          <a:p>
            <a:pPr marL="457200" indent="-457200" eaLnBrk="1" hangingPunct="1">
              <a:spcBef>
                <a:spcPct val="0"/>
              </a:spcBef>
              <a:spcAft>
                <a:spcPts val="600"/>
              </a:spcAft>
              <a:buClrTx/>
              <a:buSzTx/>
              <a:buFontTx/>
              <a:buNone/>
            </a:pPr>
            <a:r>
              <a:rPr lang="en-US" altLang="en-US" sz="1800" dirty="0"/>
              <a:t>Sommer, A., </a:t>
            </a:r>
            <a:r>
              <a:rPr lang="en-US" altLang="en-US" sz="1800" dirty="0" err="1"/>
              <a:t>Tarwotjo</a:t>
            </a:r>
            <a:r>
              <a:rPr lang="en-US" altLang="en-US" sz="1800" dirty="0"/>
              <a:t>, I., </a:t>
            </a:r>
            <a:r>
              <a:rPr lang="en-US" altLang="en-US" sz="1800" dirty="0" err="1"/>
              <a:t>Djunaedi</a:t>
            </a:r>
            <a:r>
              <a:rPr lang="en-US" altLang="en-US" sz="1800" dirty="0"/>
              <a:t>, E., West, Jr. K.P., </a:t>
            </a:r>
            <a:r>
              <a:rPr lang="en-US" altLang="en-US" sz="1800" dirty="0" err="1"/>
              <a:t>Loeden</a:t>
            </a:r>
            <a:r>
              <a:rPr lang="en-US" altLang="en-US" sz="1800" dirty="0"/>
              <a:t>, A.A., Tilden, M.L. and the ACEH Study Group. (1986), Impact of vitamin A supplementation on childhood mortality, The Lancet, May 24, 1169-1173.</a:t>
            </a:r>
          </a:p>
          <a:p>
            <a:pPr marL="457200" indent="-457200" eaLnBrk="1" hangingPunct="1">
              <a:spcBef>
                <a:spcPct val="0"/>
              </a:spcBef>
              <a:spcAft>
                <a:spcPts val="600"/>
              </a:spcAft>
              <a:buClrTx/>
              <a:buSzTx/>
              <a:buFontTx/>
              <a:buNone/>
            </a:pPr>
            <a:r>
              <a:rPr lang="en-US" altLang="en-US" sz="1800" dirty="0"/>
              <a:t>Stanton, B.F., Clemens, J.D. (1987), An educational intervention for altering water-sanitation behaviors to reduce childhood diarrhea in urban Bangladesh, American Journal of Epidemiology, 125, 292-301.</a:t>
            </a:r>
          </a:p>
          <a:p>
            <a:pPr marL="457200" indent="-457200" eaLnBrk="1" hangingPunct="1">
              <a:spcBef>
                <a:spcPct val="0"/>
              </a:spcBef>
              <a:spcAft>
                <a:spcPts val="600"/>
              </a:spcAft>
              <a:buClrTx/>
              <a:buSzTx/>
              <a:buFontTx/>
              <a:buNone/>
            </a:pPr>
            <a:r>
              <a:rPr lang="en-US" altLang="en-US" sz="1800" dirty="0"/>
              <a:t>Thompson, B., </a:t>
            </a:r>
            <a:r>
              <a:rPr lang="en-US" altLang="en-US" sz="1800" dirty="0" err="1"/>
              <a:t>Leynseele</a:t>
            </a:r>
            <a:r>
              <a:rPr lang="en-US" altLang="en-US" sz="1800" dirty="0"/>
              <a:t>, J. and Beresford, S.A.A. (1997), Recruiting 	worksites to participate in a health promotion research study, American Journal of Health Promotion, 11, 344-351.</a:t>
            </a:r>
          </a:p>
          <a:p>
            <a:pPr marL="457200" indent="-457200" eaLnBrk="1" hangingPunct="1">
              <a:spcBef>
                <a:spcPct val="0"/>
              </a:spcBef>
              <a:spcAft>
                <a:spcPts val="600"/>
              </a:spcAft>
              <a:buClrTx/>
              <a:buSzTx/>
              <a:buFontTx/>
              <a:buNone/>
            </a:pPr>
            <a:r>
              <a:rPr lang="en-US" altLang="en-US" sz="1800" dirty="0"/>
              <a:t>Thompson, S.G., Pyke, S.D.M. and Hardy, R.J. (1997), The design and analysis of paired cluster randomized trials: an application of meta-analysis techniques, Statistics in Medicine, 16, 2063-2980.</a:t>
            </a:r>
          </a:p>
        </p:txBody>
      </p:sp>
      <p:sp>
        <p:nvSpPr>
          <p:cNvPr id="2" name="Footer Placeholder 1">
            <a:extLst>
              <a:ext uri="{FF2B5EF4-FFF2-40B4-BE49-F238E27FC236}">
                <a16:creationId xmlns:a16="http://schemas.microsoft.com/office/drawing/2014/main" id="{CBF5DA35-DDA9-C34A-9F8E-135513A1E58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F98BB18-C92B-324A-253A-A5F219C43E5F}"/>
              </a:ext>
            </a:extLst>
          </p:cNvPr>
          <p:cNvSpPr>
            <a:spLocks noGrp="1"/>
          </p:cNvSpPr>
          <p:nvPr>
            <p:ph type="sldNum" sz="quarter" idx="12"/>
          </p:nvPr>
        </p:nvSpPr>
        <p:spPr/>
        <p:txBody>
          <a:bodyPr/>
          <a:lstStyle/>
          <a:p>
            <a:fld id="{77C6A7FE-225D-49F1-B302-AA37EA92BB49}" type="slidenum">
              <a:rPr lang="en-US" smtClean="0"/>
              <a:t>133</a:t>
            </a:fld>
            <a:endParaRPr lang="en-US"/>
          </a:p>
        </p:txBody>
      </p:sp>
    </p:spTree>
    <p:extLst>
      <p:ext uri="{BB962C8B-B14F-4D97-AF65-F5344CB8AC3E}">
        <p14:creationId xmlns:p14="http://schemas.microsoft.com/office/powerpoint/2010/main" val="234538196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30"/>
            <a:ext cx="12192000" cy="1165755"/>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200" dirty="0">
                <a:solidFill>
                  <a:schemeClr val="bg1"/>
                </a:solidFill>
                <a:latin typeface="Arial" panose="020B0604020202020204" pitchFamily="34" charset="0"/>
                <a:cs typeface="Arial" panose="020B0604020202020204" pitchFamily="34" charset="0"/>
              </a:rPr>
              <a:t>REFERENCES</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8" name="TextBox 7">
            <a:extLst>
              <a:ext uri="{FF2B5EF4-FFF2-40B4-BE49-F238E27FC236}">
                <a16:creationId xmlns:a16="http://schemas.microsoft.com/office/drawing/2014/main" id="{DAB6CA0F-512F-43D5-B51E-4403FE463D02}"/>
              </a:ext>
            </a:extLst>
          </p:cNvPr>
          <p:cNvSpPr txBox="1"/>
          <p:nvPr/>
        </p:nvSpPr>
        <p:spPr>
          <a:xfrm>
            <a:off x="334296" y="1296612"/>
            <a:ext cx="11710219" cy="646331"/>
          </a:xfrm>
          <a:prstGeom prst="rect">
            <a:avLst/>
          </a:prstGeom>
          <a:noFill/>
        </p:spPr>
        <p:txBody>
          <a:bodyPr wrap="square">
            <a:spAutoFit/>
          </a:bodyPr>
          <a:lstStyle/>
          <a:p>
            <a:pPr algn="l" fontAlgn="base"/>
            <a:br>
              <a:rPr lang="en-US" b="1" i="0">
                <a:solidFill>
                  <a:srgbClr val="333333"/>
                </a:solidFill>
                <a:effectLst/>
                <a:latin typeface="interfaceregular"/>
              </a:rPr>
            </a:br>
            <a:endParaRPr lang="en-US" b="0" i="0" dirty="0">
              <a:solidFill>
                <a:srgbClr val="333333"/>
              </a:solidFill>
              <a:effectLst/>
              <a:latin typeface="interfaceregular"/>
            </a:endParaRPr>
          </a:p>
        </p:txBody>
      </p:sp>
      <p:sp>
        <p:nvSpPr>
          <p:cNvPr id="9" name="Rectangle 2">
            <a:extLst>
              <a:ext uri="{FF2B5EF4-FFF2-40B4-BE49-F238E27FC236}">
                <a16:creationId xmlns:a16="http://schemas.microsoft.com/office/drawing/2014/main" id="{E4D9FCA4-FC7E-47B9-8358-8AFFB1E9C688}"/>
              </a:ext>
            </a:extLst>
          </p:cNvPr>
          <p:cNvSpPr>
            <a:spLocks noChangeArrowheads="1"/>
          </p:cNvSpPr>
          <p:nvPr/>
        </p:nvSpPr>
        <p:spPr bwMode="auto">
          <a:xfrm>
            <a:off x="5872163" y="1475473"/>
            <a:ext cx="15711126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E91C8505-D9D7-4746-A163-39FEA1ED4D20}"/>
              </a:ext>
            </a:extLst>
          </p:cNvPr>
          <p:cNvSpPr txBox="1"/>
          <p:nvPr/>
        </p:nvSpPr>
        <p:spPr>
          <a:xfrm>
            <a:off x="334296" y="1475473"/>
            <a:ext cx="11523408" cy="4708981"/>
          </a:xfrm>
          <a:prstGeom prst="rect">
            <a:avLst/>
          </a:prstGeom>
          <a:noFill/>
        </p:spPr>
        <p:txBody>
          <a:bodyPr wrap="square" rtlCol="0">
            <a:spAutoFit/>
          </a:bodyPr>
          <a:lstStyle/>
          <a:p>
            <a:pPr marL="457200" indent="-457200" eaLnBrk="1" hangingPunct="1">
              <a:spcBef>
                <a:spcPct val="0"/>
              </a:spcBef>
              <a:spcAft>
                <a:spcPts val="600"/>
              </a:spcAft>
              <a:buClrTx/>
              <a:buSzTx/>
              <a:buFontTx/>
              <a:buNone/>
            </a:pPr>
            <a:r>
              <a:rPr lang="en-US" altLang="en-US" sz="1800" dirty="0"/>
              <a:t>Torgerson, D.J. (2001), Contamination in trials: is cluster </a:t>
            </a:r>
            <a:r>
              <a:rPr lang="en-US" altLang="en-US" sz="1800" dirty="0" err="1"/>
              <a:t>randomisation</a:t>
            </a:r>
            <a:r>
              <a:rPr lang="en-US" altLang="en-US" sz="1800" dirty="0"/>
              <a:t> the answer?, British Medical Journal, 322, 355-357.</a:t>
            </a:r>
          </a:p>
          <a:p>
            <a:pPr marL="457200" indent="-457200" eaLnBrk="1" hangingPunct="1">
              <a:spcBef>
                <a:spcPct val="0"/>
              </a:spcBef>
              <a:spcAft>
                <a:spcPts val="600"/>
              </a:spcAft>
              <a:buClrTx/>
              <a:buSzTx/>
              <a:buFontTx/>
              <a:buNone/>
            </a:pPr>
            <a:r>
              <a:rPr lang="en-US" altLang="en-US" sz="1800" dirty="0" err="1"/>
              <a:t>Varnell</a:t>
            </a:r>
            <a:r>
              <a:rPr lang="en-US" altLang="en-US" sz="1800" dirty="0"/>
              <a:t>, S.P., </a:t>
            </a:r>
            <a:r>
              <a:rPr lang="en-US" altLang="en-US" sz="1800" dirty="0" err="1"/>
              <a:t>Murray,D.M</a:t>
            </a:r>
            <a:r>
              <a:rPr lang="en-US" altLang="en-US" sz="1800" dirty="0"/>
              <a:t>., </a:t>
            </a:r>
            <a:r>
              <a:rPr lang="en-US" altLang="en-US" sz="1800" dirty="0" err="1"/>
              <a:t>Janega</a:t>
            </a:r>
            <a:r>
              <a:rPr lang="en-US" altLang="en-US" sz="1800" dirty="0"/>
              <a:t>, J.B., and </a:t>
            </a:r>
            <a:r>
              <a:rPr lang="en-US" altLang="en-US" sz="1800" dirty="0" err="1"/>
              <a:t>Blitstein,J.L</a:t>
            </a:r>
            <a:r>
              <a:rPr lang="en-US" altLang="en-US" sz="1800" dirty="0"/>
              <a:t>. (2004), Design and Analysis of Group-Randomized Trials. A review of recent practices. American Journal of Public Health 94:393-399.</a:t>
            </a:r>
          </a:p>
          <a:p>
            <a:pPr marL="457200" indent="-457200" eaLnBrk="1" hangingPunct="1">
              <a:spcBef>
                <a:spcPct val="0"/>
              </a:spcBef>
              <a:spcAft>
                <a:spcPts val="600"/>
              </a:spcAft>
              <a:buClrTx/>
              <a:buSzTx/>
              <a:buFontTx/>
              <a:buNone/>
            </a:pPr>
            <a:r>
              <a:rPr lang="en-US" altLang="en-US" sz="1800" dirty="0"/>
              <a:t>Villar, J., Piaggio, G., </a:t>
            </a:r>
            <a:r>
              <a:rPr lang="en-US" altLang="en-US" sz="1800" dirty="0" err="1"/>
              <a:t>Lumbiganon</a:t>
            </a:r>
            <a:r>
              <a:rPr lang="en-US" altLang="en-US" sz="1800" dirty="0"/>
              <a:t>, P., </a:t>
            </a:r>
            <a:r>
              <a:rPr lang="en-US" altLang="en-US" sz="1800" dirty="0" err="1"/>
              <a:t>Belizan</a:t>
            </a:r>
            <a:r>
              <a:rPr lang="en-US" altLang="en-US" sz="1800" dirty="0"/>
              <a:t>, J.M. et al.  (2001), The 	evaluation of a new model of routine antenatal care: the WHO antenatal care </a:t>
            </a:r>
            <a:r>
              <a:rPr lang="en-US" altLang="en-US" sz="1800" dirty="0" err="1"/>
              <a:t>randomised</a:t>
            </a:r>
            <a:r>
              <a:rPr lang="en-US" altLang="en-US" sz="1800" dirty="0"/>
              <a:t> controlled trial, Lancet, 357, 1151-1164.</a:t>
            </a:r>
          </a:p>
          <a:p>
            <a:pPr marL="457200" indent="-457200" eaLnBrk="1" hangingPunct="1">
              <a:spcBef>
                <a:spcPct val="0"/>
              </a:spcBef>
              <a:spcAft>
                <a:spcPts val="600"/>
              </a:spcAft>
              <a:buClrTx/>
              <a:buSzTx/>
              <a:buFontTx/>
              <a:buNone/>
            </a:pPr>
            <a:r>
              <a:rPr lang="en-US" altLang="en-US" sz="1800" dirty="0"/>
              <a:t>World Health Organization European Collaborative Group.  (1986), European collaborative trial of multi-factorial prevention of coronary heart disease: final report on the 6-year results, Lancet, 1, 868-872.</a:t>
            </a:r>
          </a:p>
          <a:p>
            <a:pPr marL="457200" indent="-457200" eaLnBrk="1" hangingPunct="1">
              <a:spcBef>
                <a:spcPct val="0"/>
              </a:spcBef>
              <a:spcAft>
                <a:spcPts val="600"/>
              </a:spcAft>
              <a:buClrTx/>
              <a:buSzTx/>
              <a:buFontTx/>
              <a:buNone/>
            </a:pPr>
            <a:r>
              <a:rPr lang="en-US" altLang="en-US" sz="1800" dirty="0"/>
              <a:t>Wyatt, J.C., Paterson-Brown, S., </a:t>
            </a:r>
            <a:r>
              <a:rPr lang="en-US" altLang="en-US" sz="1800" dirty="0" err="1"/>
              <a:t>Johanson</a:t>
            </a:r>
            <a:r>
              <a:rPr lang="en-US" altLang="en-US" sz="1800" dirty="0"/>
              <a:t>, R., Altman, D.G. and Bradburn, M.J. (1998), </a:t>
            </a:r>
            <a:r>
              <a:rPr lang="en-US" altLang="en-US" sz="1800" dirty="0" err="1"/>
              <a:t>Randomised</a:t>
            </a:r>
            <a:r>
              <a:rPr lang="en-US" altLang="en-US" sz="1800" dirty="0"/>
              <a:t> trial of educational visits to enhance use of systematic reviews in 25 obstetric units, BMJ, 317, 1011-16.</a:t>
            </a:r>
          </a:p>
          <a:p>
            <a:pPr marL="457200" indent="-457200" eaLnBrk="1" hangingPunct="1">
              <a:spcBef>
                <a:spcPct val="0"/>
              </a:spcBef>
              <a:spcAft>
                <a:spcPts val="600"/>
              </a:spcAft>
              <a:buClrTx/>
              <a:buSzTx/>
              <a:buFontTx/>
              <a:buNone/>
            </a:pPr>
            <a:r>
              <a:rPr lang="en-US" altLang="en-US" sz="1800" dirty="0"/>
              <a:t>Zou, G., Donner, A. and </a:t>
            </a:r>
            <a:r>
              <a:rPr lang="en-US" altLang="en-US" sz="1800" dirty="0" err="1"/>
              <a:t>Klar</a:t>
            </a:r>
            <a:r>
              <a:rPr lang="en-US" altLang="en-US" sz="1800" dirty="0"/>
              <a:t>, N.  (2005)  Group sequential methods for cluster randomization trials with binary outcomes.  Clinical Trials2:479-485.</a:t>
            </a:r>
          </a:p>
          <a:p>
            <a:pPr marL="457200" indent="-457200" eaLnBrk="1" hangingPunct="1">
              <a:spcBef>
                <a:spcPct val="0"/>
              </a:spcBef>
              <a:spcAft>
                <a:spcPts val="600"/>
              </a:spcAft>
              <a:buClrTx/>
              <a:buSzTx/>
              <a:buFontTx/>
              <a:buNone/>
            </a:pPr>
            <a:r>
              <a:rPr lang="en-US" altLang="en-US" sz="1800" dirty="0" err="1"/>
              <a:t>Zwarenstein</a:t>
            </a:r>
            <a:r>
              <a:rPr lang="en-US" altLang="en-US" sz="1800" dirty="0"/>
              <a:t> M, </a:t>
            </a:r>
            <a:r>
              <a:rPr lang="en-US" altLang="en-US" sz="1800" dirty="0" err="1"/>
              <a:t>Treweek</a:t>
            </a:r>
            <a:r>
              <a:rPr lang="en-US" altLang="en-US" sz="1800" dirty="0"/>
              <a:t> S, </a:t>
            </a:r>
            <a:r>
              <a:rPr lang="en-US" altLang="en-US" sz="1800" dirty="0" err="1"/>
              <a:t>Gagnier</a:t>
            </a:r>
            <a:r>
              <a:rPr lang="en-US" altLang="en-US" sz="1800" dirty="0"/>
              <a:t> JJ, Altman DG, Tunis S, Haynes B, </a:t>
            </a:r>
            <a:r>
              <a:rPr lang="en-US" altLang="en-US" sz="1800" dirty="0" err="1"/>
              <a:t>Oxman</a:t>
            </a:r>
            <a:r>
              <a:rPr lang="en-US" altLang="en-US" sz="1800" dirty="0"/>
              <a:t> AD, Moher D; CONSORT group; Pragmatic Trials in Healthcare (</a:t>
            </a:r>
            <a:r>
              <a:rPr lang="en-US" altLang="en-US" sz="1800" dirty="0" err="1"/>
              <a:t>Practihc</a:t>
            </a:r>
            <a:r>
              <a:rPr lang="en-US" altLang="en-US" sz="1800" dirty="0"/>
              <a:t>) group. Improving the reporting of pragmatic trials: an extension of the CONSORT statement. BMJ. 2008 Nov 11;337:a2390. </a:t>
            </a:r>
          </a:p>
        </p:txBody>
      </p:sp>
      <p:sp>
        <p:nvSpPr>
          <p:cNvPr id="2" name="Footer Placeholder 1">
            <a:extLst>
              <a:ext uri="{FF2B5EF4-FFF2-40B4-BE49-F238E27FC236}">
                <a16:creationId xmlns:a16="http://schemas.microsoft.com/office/drawing/2014/main" id="{224B7C41-20E0-604A-B216-563D8C9FAC4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82FC716-4713-6F7B-E050-B3EDE23509D6}"/>
              </a:ext>
            </a:extLst>
          </p:cNvPr>
          <p:cNvSpPr>
            <a:spLocks noGrp="1"/>
          </p:cNvSpPr>
          <p:nvPr>
            <p:ph type="sldNum" sz="quarter" idx="12"/>
          </p:nvPr>
        </p:nvSpPr>
        <p:spPr/>
        <p:txBody>
          <a:bodyPr/>
          <a:lstStyle/>
          <a:p>
            <a:fld id="{77C6A7FE-225D-49F1-B302-AA37EA92BB49}" type="slidenum">
              <a:rPr lang="en-US" smtClean="0"/>
              <a:t>134</a:t>
            </a:fld>
            <a:endParaRPr lang="en-US"/>
          </a:p>
        </p:txBody>
      </p:sp>
    </p:spTree>
    <p:extLst>
      <p:ext uri="{BB962C8B-B14F-4D97-AF65-F5344CB8AC3E}">
        <p14:creationId xmlns:p14="http://schemas.microsoft.com/office/powerpoint/2010/main" val="4244609221"/>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theme/theme1.xml><?xml version="1.0" encoding="utf-8"?>
<a:theme xmlns:a="http://schemas.openxmlformats.org/drawingml/2006/main" name="ysph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356A"/>
        </a:solidFill>
        <a:ln>
          <a:noFill/>
        </a:ln>
      </a:spPr>
      <a:bodyPr rtlCol="0" anchor="ctr"/>
      <a:lstStyle>
        <a:defPPr algn="ctr">
          <a:defRPr sz="4400" dirty="0" smtClean="0">
            <a:solidFill>
              <a:schemeClr val="bg1"/>
            </a:solidFill>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ysph theme" id="{A273E6F1-11F6-48BF-8C40-201B3A3C711D}" vid="{0BEB8359-017B-4AF6-80F0-00237EDF1FB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ysph theme</Template>
  <TotalTime>55670</TotalTime>
  <Words>16661</Words>
  <Application>Microsoft Office PowerPoint</Application>
  <PresentationFormat>Widescreen</PresentationFormat>
  <Paragraphs>2397</Paragraphs>
  <Slides>134</Slides>
  <Notes>117</Notes>
  <HiddenSlides>1</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134</vt:i4>
      </vt:variant>
    </vt:vector>
  </HeadingPairs>
  <TitlesOfParts>
    <vt:vector size="148" baseType="lpstr">
      <vt:lpstr>inherit</vt:lpstr>
      <vt:lpstr>interfaceregular</vt:lpstr>
      <vt:lpstr>Arial</vt:lpstr>
      <vt:lpstr>Calibri</vt:lpstr>
      <vt:lpstr>Calibri Light</vt:lpstr>
      <vt:lpstr>Cambria Math</vt:lpstr>
      <vt:lpstr>Courier New</vt:lpstr>
      <vt:lpstr>Lucida Console</vt:lpstr>
      <vt:lpstr>Open Sans</vt:lpstr>
      <vt:lpstr>Times New Roman</vt:lpstr>
      <vt:lpstr>Ubuntu</vt:lpstr>
      <vt:lpstr>Wingdings</vt:lpstr>
      <vt:lpstr>ysph theme</vt:lpstr>
      <vt:lpstr>Photo Editor Photo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IMPACT ON POWER OF INCREASING THE NUMBER OF CLUSTERS VS. INCREASING CLUSTER SIZE: </vt:lpstr>
      <vt:lpstr>IMPACT ON POWER OF INCREASING THE NUMBER OF CLUSTERS VS. INCREASING CLUSTER SIZE: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Marla Saben</dc:creator>
  <cp:lastModifiedBy>Can Meng</cp:lastModifiedBy>
  <cp:revision>409</cp:revision>
  <cp:lastPrinted>2021-10-21T02:07:57Z</cp:lastPrinted>
  <dcterms:created xsi:type="dcterms:W3CDTF">2019-09-02T04:55:34Z</dcterms:created>
  <dcterms:modified xsi:type="dcterms:W3CDTF">2026-08-28T17:54:58Z</dcterms:modified>
</cp:coreProperties>
</file>