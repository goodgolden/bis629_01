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320" r:id="rId3"/>
    <p:sldId id="321" r:id="rId4"/>
    <p:sldId id="307" r:id="rId5"/>
    <p:sldId id="308" r:id="rId6"/>
    <p:sldId id="309" r:id="rId7"/>
    <p:sldId id="322" r:id="rId8"/>
    <p:sldId id="311" r:id="rId9"/>
    <p:sldId id="323" r:id="rId10"/>
    <p:sldId id="310" r:id="rId11"/>
    <p:sldId id="312" r:id="rId12"/>
    <p:sldId id="315" r:id="rId13"/>
    <p:sldId id="313" r:id="rId14"/>
    <p:sldId id="314" r:id="rId15"/>
    <p:sldId id="275" r:id="rId16"/>
    <p:sldId id="278" r:id="rId17"/>
    <p:sldId id="269" r:id="rId18"/>
    <p:sldId id="270" r:id="rId19"/>
    <p:sldId id="271" r:id="rId20"/>
    <p:sldId id="317" r:id="rId21"/>
    <p:sldId id="318" r:id="rId22"/>
    <p:sldId id="319" r:id="rId23"/>
    <p:sldId id="272" r:id="rId24"/>
    <p:sldId id="316" r:id="rId25"/>
    <p:sldId id="258" r:id="rId26"/>
    <p:sldId id="273" r:id="rId27"/>
    <p:sldId id="279" r:id="rId28"/>
    <p:sldId id="280" r:id="rId29"/>
    <p:sldId id="261" r:id="rId30"/>
    <p:sldId id="262" r:id="rId31"/>
    <p:sldId id="281" r:id="rId32"/>
    <p:sldId id="282" r:id="rId33"/>
    <p:sldId id="283" r:id="rId34"/>
    <p:sldId id="285" r:id="rId35"/>
    <p:sldId id="284" r:id="rId36"/>
    <p:sldId id="286" r:id="rId37"/>
    <p:sldId id="287" r:id="rId38"/>
    <p:sldId id="288" r:id="rId39"/>
    <p:sldId id="274" r:id="rId40"/>
    <p:sldId id="266" r:id="rId41"/>
    <p:sldId id="28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C99165-EFA3-49FD-A618-A72C93876023}">
          <p14:sldIdLst>
            <p14:sldId id="256"/>
            <p14:sldId id="320"/>
            <p14:sldId id="321"/>
            <p14:sldId id="307"/>
            <p14:sldId id="308"/>
            <p14:sldId id="309"/>
            <p14:sldId id="322"/>
            <p14:sldId id="311"/>
            <p14:sldId id="323"/>
            <p14:sldId id="310"/>
            <p14:sldId id="312"/>
            <p14:sldId id="315"/>
            <p14:sldId id="313"/>
            <p14:sldId id="314"/>
            <p14:sldId id="275"/>
            <p14:sldId id="278"/>
            <p14:sldId id="269"/>
            <p14:sldId id="270"/>
            <p14:sldId id="271"/>
            <p14:sldId id="317"/>
            <p14:sldId id="318"/>
            <p14:sldId id="319"/>
            <p14:sldId id="272"/>
            <p14:sldId id="316"/>
            <p14:sldId id="258"/>
            <p14:sldId id="273"/>
            <p14:sldId id="279"/>
            <p14:sldId id="280"/>
            <p14:sldId id="261"/>
            <p14:sldId id="262"/>
            <p14:sldId id="281"/>
            <p14:sldId id="282"/>
            <p14:sldId id="283"/>
            <p14:sldId id="285"/>
            <p14:sldId id="284"/>
            <p14:sldId id="286"/>
            <p14:sldId id="287"/>
            <p14:sldId id="288"/>
            <p14:sldId id="274"/>
            <p14:sldId id="266"/>
          </p14:sldIdLst>
        </p14:section>
        <p14:section name="Untitled Section" id="{A427CD35-7CC2-43CB-BDFE-8A9A0D12EECD}">
          <p14:sldIdLst>
            <p14:sldId id="28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piegelman, Donna" initials="SD" lastIdx="1" clrIdx="0">
    <p:extLst>
      <p:ext uri="{19B8F6BF-5375-455C-9EA6-DF929625EA0E}">
        <p15:presenceInfo xmlns:p15="http://schemas.microsoft.com/office/powerpoint/2012/main" userId="Spiegelman, Donna" providerId="None"/>
      </p:ext>
    </p:extLst>
  </p:cmAuthor>
  <p:cmAuthor id="2" name="Donna" initials="dls" lastIdx="14" clrIdx="1">
    <p:extLst>
      <p:ext uri="{19B8F6BF-5375-455C-9EA6-DF929625EA0E}">
        <p15:presenceInfo xmlns:p15="http://schemas.microsoft.com/office/powerpoint/2012/main" userId="Donna" providerId="None"/>
      </p:ext>
    </p:extLst>
  </p:cmAuthor>
  <p:cmAuthor id="3" name="Spiegelman, Donna" initials="SD [2]" lastIdx="1" clrIdx="2">
    <p:extLst>
      <p:ext uri="{19B8F6BF-5375-455C-9EA6-DF929625EA0E}">
        <p15:presenceInfo xmlns:p15="http://schemas.microsoft.com/office/powerpoint/2012/main" userId="S::donna.spiegelman@yale.edu::fb7e3339-209c-474a-bdc4-68157e32c0ce" providerId="AD"/>
      </p:ext>
    </p:extLst>
  </p:cmAuthor>
  <p:cmAuthor id="4" name="Saracho, Ericka" initials="SE" lastIdx="2" clrIdx="3">
    <p:extLst>
      <p:ext uri="{19B8F6BF-5375-455C-9EA6-DF929625EA0E}">
        <p15:presenceInfo xmlns:p15="http://schemas.microsoft.com/office/powerpoint/2012/main" userId="S::ericka.saracho@yale.edu::b7a2dfe3-ab51-4323-a179-511f0b2a26cc" providerId="AD"/>
      </p:ext>
    </p:extLst>
  </p:cmAuthor>
  <p:cmAuthor id="5" name="Ericka Saracho" initials="ES" lastIdx="1" clrIdx="4">
    <p:extLst>
      <p:ext uri="{19B8F6BF-5375-455C-9EA6-DF929625EA0E}">
        <p15:presenceInfo xmlns:p15="http://schemas.microsoft.com/office/powerpoint/2012/main" userId="b49fc48b52df45d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05" autoAdjust="0"/>
    <p:restoredTop sz="92946" autoAdjust="0"/>
  </p:normalViewPr>
  <p:slideViewPr>
    <p:cSldViewPr snapToGrid="0">
      <p:cViewPr>
        <p:scale>
          <a:sx n="56" d="100"/>
          <a:sy n="56" d="100"/>
        </p:scale>
        <p:origin x="947" y="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F0CE46-4CBF-674A-9FFA-645668D4E3F4}" type="doc">
      <dgm:prSet loTypeId="urn:microsoft.com/office/officeart/2005/8/layout/default" loCatId="" qsTypeId="urn:microsoft.com/office/officeart/2005/8/quickstyle/simple3" qsCatId="simple" csTypeId="urn:microsoft.com/office/officeart/2005/8/colors/accent1_2" csCatId="accent1" phldr="1"/>
      <dgm:spPr/>
      <dgm:t>
        <a:bodyPr/>
        <a:lstStyle/>
        <a:p>
          <a:endParaRPr lang="en-US"/>
        </a:p>
      </dgm:t>
    </dgm:pt>
    <dgm:pt modelId="{094D0C1C-46A7-8045-A6CC-11A950241A2B}">
      <dgm:prSet/>
      <dgm:spPr/>
      <dgm:t>
        <a:bodyPr/>
        <a:lstStyle/>
        <a:p>
          <a:pPr rtl="0"/>
          <a:r>
            <a:rPr lang="en-US" dirty="0">
              <a:solidFill>
                <a:srgbClr val="FFFFFF"/>
              </a:solidFill>
            </a:rPr>
            <a:t>“A systematic, scientific approach to ask and answer questions about how to get ‘what works’ to people who need it with greater speed, fidelity, efficiency, quality and relevant coverage”</a:t>
          </a:r>
        </a:p>
      </dgm:t>
    </dgm:pt>
    <dgm:pt modelId="{652B43CF-8AD7-C044-9F01-A2E064A00C68}" type="parTrans" cxnId="{C8B9E3C9-6F42-1040-AF59-417E1B858C66}">
      <dgm:prSet/>
      <dgm:spPr/>
      <dgm:t>
        <a:bodyPr/>
        <a:lstStyle/>
        <a:p>
          <a:endParaRPr lang="en-US"/>
        </a:p>
      </dgm:t>
    </dgm:pt>
    <dgm:pt modelId="{EE4EC033-7ADE-E149-BC8B-AACE52E6EF72}" type="sibTrans" cxnId="{C8B9E3C9-6F42-1040-AF59-417E1B858C66}">
      <dgm:prSet/>
      <dgm:spPr/>
      <dgm:t>
        <a:bodyPr/>
        <a:lstStyle/>
        <a:p>
          <a:endParaRPr lang="en-US"/>
        </a:p>
      </dgm:t>
    </dgm:pt>
    <dgm:pt modelId="{F9BF105E-3636-0A43-9ADA-950DBA15CCA3}" type="pres">
      <dgm:prSet presAssocID="{41F0CE46-4CBF-674A-9FFA-645668D4E3F4}" presName="diagram" presStyleCnt="0">
        <dgm:presLayoutVars>
          <dgm:dir/>
          <dgm:resizeHandles val="exact"/>
        </dgm:presLayoutVars>
      </dgm:prSet>
      <dgm:spPr/>
    </dgm:pt>
    <dgm:pt modelId="{52EFD959-485D-1F44-87BE-032E5994F6A1}" type="pres">
      <dgm:prSet presAssocID="{094D0C1C-46A7-8045-A6CC-11A950241A2B}" presName="node" presStyleLbl="node1" presStyleIdx="0" presStyleCnt="1" custScaleX="222609" custLinFactNeighborX="-11036" custLinFactNeighborY="-54612">
        <dgm:presLayoutVars>
          <dgm:bulletEnabled val="1"/>
        </dgm:presLayoutVars>
      </dgm:prSet>
      <dgm:spPr/>
    </dgm:pt>
  </dgm:ptLst>
  <dgm:cxnLst>
    <dgm:cxn modelId="{1854AC0E-2A58-0D4D-A315-16F2B9E3C062}" type="presOf" srcId="{41F0CE46-4CBF-674A-9FFA-645668D4E3F4}" destId="{F9BF105E-3636-0A43-9ADA-950DBA15CCA3}" srcOrd="0" destOrd="0" presId="urn:microsoft.com/office/officeart/2005/8/layout/default"/>
    <dgm:cxn modelId="{2A424588-20EE-8A45-A5FF-03C7412B11D7}" type="presOf" srcId="{094D0C1C-46A7-8045-A6CC-11A950241A2B}" destId="{52EFD959-485D-1F44-87BE-032E5994F6A1}" srcOrd="0" destOrd="0" presId="urn:microsoft.com/office/officeart/2005/8/layout/default"/>
    <dgm:cxn modelId="{C8B9E3C9-6F42-1040-AF59-417E1B858C66}" srcId="{41F0CE46-4CBF-674A-9FFA-645668D4E3F4}" destId="{094D0C1C-46A7-8045-A6CC-11A950241A2B}" srcOrd="0" destOrd="0" parTransId="{652B43CF-8AD7-C044-9F01-A2E064A00C68}" sibTransId="{EE4EC033-7ADE-E149-BC8B-AACE52E6EF72}"/>
    <dgm:cxn modelId="{67EC2F41-FBCF-F04B-88EE-85B2F03AC7E3}" type="presParOf" srcId="{F9BF105E-3636-0A43-9ADA-950DBA15CCA3}" destId="{52EFD959-485D-1F44-87BE-032E5994F6A1}"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10F2DD-CA98-4C40-8D02-F8348BBFBC1A}"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en-US"/>
        </a:p>
      </dgm:t>
    </dgm:pt>
    <dgm:pt modelId="{735E5BC6-A1CE-48D8-A34F-EEE978A0106C}">
      <dgm:prSet custT="1"/>
      <dgm:spPr/>
      <dgm:t>
        <a:bodyPr/>
        <a:lstStyle/>
        <a:p>
          <a:r>
            <a:rPr lang="en-US" sz="1800" b="1" dirty="0">
              <a:effectLst>
                <a:outerShdw blurRad="38100" dist="38100" dir="2700000" algn="tl">
                  <a:srgbClr val="000000">
                    <a:alpha val="43137"/>
                  </a:srgbClr>
                </a:outerShdw>
              </a:effectLst>
            </a:rPr>
            <a:t>Multi-center study in Uttar Pradesh, India</a:t>
          </a:r>
        </a:p>
      </dgm:t>
    </dgm:pt>
    <dgm:pt modelId="{F7A41B03-6BAF-47C1-822D-C40ED9BB1063}" type="parTrans" cxnId="{07FFCFA7-3BDD-456B-89ED-585E5381D867}">
      <dgm:prSet/>
      <dgm:spPr/>
      <dgm:t>
        <a:bodyPr/>
        <a:lstStyle/>
        <a:p>
          <a:endParaRPr lang="en-US" sz="1800" b="1">
            <a:effectLst>
              <a:outerShdw blurRad="38100" dist="38100" dir="2700000" algn="tl">
                <a:srgbClr val="000000">
                  <a:alpha val="43137"/>
                </a:srgbClr>
              </a:outerShdw>
            </a:effectLst>
          </a:endParaRPr>
        </a:p>
      </dgm:t>
    </dgm:pt>
    <dgm:pt modelId="{2B7AB0A8-D9A1-4A16-A5CA-30FEA43AA3B2}" type="sibTrans" cxnId="{07FFCFA7-3BDD-456B-89ED-585E5381D867}">
      <dgm:prSet/>
      <dgm:spPr/>
      <dgm:t>
        <a:bodyPr/>
        <a:lstStyle/>
        <a:p>
          <a:endParaRPr lang="en-US" sz="1800" b="1">
            <a:effectLst>
              <a:outerShdw blurRad="38100" dist="38100" dir="2700000" algn="tl">
                <a:srgbClr val="000000">
                  <a:alpha val="43137"/>
                </a:srgbClr>
              </a:outerShdw>
            </a:effectLst>
          </a:endParaRPr>
        </a:p>
      </dgm:t>
    </dgm:pt>
    <dgm:pt modelId="{29C80837-D47F-4521-AF38-C3095044E3D1}">
      <dgm:prSet custT="1"/>
      <dgm:spPr/>
      <dgm:t>
        <a:bodyPr/>
        <a:lstStyle/>
        <a:p>
          <a:r>
            <a:rPr lang="en-US" sz="1800" b="1" dirty="0">
              <a:effectLst>
                <a:outerShdw blurRad="38100" dist="38100" dir="2700000" algn="tl">
                  <a:srgbClr val="000000">
                    <a:alpha val="43137"/>
                  </a:srgbClr>
                </a:outerShdw>
              </a:effectLst>
            </a:rPr>
            <a:t>Test a multiple component intervention package to improve process and outcomes for mothers and newborns</a:t>
          </a:r>
        </a:p>
      </dgm:t>
    </dgm:pt>
    <dgm:pt modelId="{31D8B4B1-9A47-44FA-AF92-08443D3CDE43}" type="parTrans" cxnId="{84AA8274-6DF4-431A-BE66-FE48A2CFABB5}">
      <dgm:prSet/>
      <dgm:spPr/>
      <dgm:t>
        <a:bodyPr/>
        <a:lstStyle/>
        <a:p>
          <a:endParaRPr lang="en-US" sz="1800" b="1">
            <a:effectLst>
              <a:outerShdw blurRad="38100" dist="38100" dir="2700000" algn="tl">
                <a:srgbClr val="000000">
                  <a:alpha val="43137"/>
                </a:srgbClr>
              </a:outerShdw>
            </a:effectLst>
          </a:endParaRPr>
        </a:p>
      </dgm:t>
    </dgm:pt>
    <dgm:pt modelId="{7D3434E6-1051-47C2-96D9-A70C687473D0}" type="sibTrans" cxnId="{84AA8274-6DF4-431A-BE66-FE48A2CFABB5}">
      <dgm:prSet/>
      <dgm:spPr/>
      <dgm:t>
        <a:bodyPr/>
        <a:lstStyle/>
        <a:p>
          <a:endParaRPr lang="en-US" sz="1800" b="1">
            <a:effectLst>
              <a:outerShdw blurRad="38100" dist="38100" dir="2700000" algn="tl">
                <a:srgbClr val="000000">
                  <a:alpha val="43137"/>
                </a:srgbClr>
              </a:outerShdw>
            </a:effectLst>
          </a:endParaRPr>
        </a:p>
      </dgm:t>
    </dgm:pt>
    <dgm:pt modelId="{B0BDB4E7-E583-4925-BD5D-29BFBD98FC4D}">
      <dgm:prSet custT="1"/>
      <dgm:spPr/>
      <dgm:t>
        <a:bodyPr/>
        <a:lstStyle/>
        <a:p>
          <a:r>
            <a:rPr lang="en-US" sz="1800" b="1" dirty="0">
              <a:effectLst>
                <a:outerShdw blurRad="38100" dist="38100" dir="2700000" algn="tl">
                  <a:srgbClr val="000000">
                    <a:alpha val="43137"/>
                  </a:srgbClr>
                </a:outerShdw>
              </a:effectLst>
            </a:rPr>
            <a:t>Components: Launch duration, Coaching visits, audit and feedback, district/facility leader engagement</a:t>
          </a:r>
        </a:p>
      </dgm:t>
    </dgm:pt>
    <dgm:pt modelId="{36E00BD8-DFCE-4CAE-9FA6-BB0A8FFD8B9F}" type="parTrans" cxnId="{1648F9AB-328E-44DD-8FDD-4FB917BF9E83}">
      <dgm:prSet/>
      <dgm:spPr/>
      <dgm:t>
        <a:bodyPr/>
        <a:lstStyle/>
        <a:p>
          <a:endParaRPr lang="en-US" sz="1800" b="1">
            <a:effectLst>
              <a:outerShdw blurRad="38100" dist="38100" dir="2700000" algn="tl">
                <a:srgbClr val="000000">
                  <a:alpha val="43137"/>
                </a:srgbClr>
              </a:outerShdw>
            </a:effectLst>
          </a:endParaRPr>
        </a:p>
      </dgm:t>
    </dgm:pt>
    <dgm:pt modelId="{5D0748EF-8E9F-473D-91DE-5EEE57E095D6}" type="sibTrans" cxnId="{1648F9AB-328E-44DD-8FDD-4FB917BF9E83}">
      <dgm:prSet/>
      <dgm:spPr/>
      <dgm:t>
        <a:bodyPr/>
        <a:lstStyle/>
        <a:p>
          <a:endParaRPr lang="en-US" sz="1800" b="1">
            <a:effectLst>
              <a:outerShdw blurRad="38100" dist="38100" dir="2700000" algn="tl">
                <a:srgbClr val="000000">
                  <a:alpha val="43137"/>
                </a:srgbClr>
              </a:outerShdw>
            </a:effectLst>
          </a:endParaRPr>
        </a:p>
      </dgm:t>
    </dgm:pt>
    <dgm:pt modelId="{22531247-0003-4195-A0BC-2EFA9EA8ABC8}">
      <dgm:prSet custT="1"/>
      <dgm:spPr/>
      <dgm:t>
        <a:bodyPr/>
        <a:lstStyle/>
        <a:p>
          <a:r>
            <a:rPr lang="en-US" sz="1800" b="1" dirty="0">
              <a:effectLst>
                <a:outerShdw blurRad="38100" dist="38100" dir="2700000" algn="tl">
                  <a:srgbClr val="000000">
                    <a:alpha val="43137"/>
                  </a:srgbClr>
                </a:outerShdw>
              </a:effectLst>
            </a:rPr>
            <a:t>Stage 1 (pilot 2 centers), Stage 2 (pilot 4 centers), Stage 3 (RCT 30 centers);     Quant &amp; Qual data used to guide adaptation</a:t>
          </a:r>
        </a:p>
      </dgm:t>
    </dgm:pt>
    <dgm:pt modelId="{92610010-C276-4D3A-AED7-74FC4C3618C0}" type="parTrans" cxnId="{75F0EF63-872E-4503-8CA4-898CBA8DF036}">
      <dgm:prSet/>
      <dgm:spPr/>
      <dgm:t>
        <a:bodyPr/>
        <a:lstStyle/>
        <a:p>
          <a:endParaRPr lang="en-US" sz="1800" b="1">
            <a:effectLst>
              <a:outerShdw blurRad="38100" dist="38100" dir="2700000" algn="tl">
                <a:srgbClr val="000000">
                  <a:alpha val="43137"/>
                </a:srgbClr>
              </a:outerShdw>
            </a:effectLst>
          </a:endParaRPr>
        </a:p>
      </dgm:t>
    </dgm:pt>
    <dgm:pt modelId="{36684FBD-894E-4EFC-9506-AC4FA89C5133}" type="sibTrans" cxnId="{75F0EF63-872E-4503-8CA4-898CBA8DF036}">
      <dgm:prSet/>
      <dgm:spPr/>
      <dgm:t>
        <a:bodyPr/>
        <a:lstStyle/>
        <a:p>
          <a:endParaRPr lang="en-US" sz="1800" b="1">
            <a:effectLst>
              <a:outerShdw blurRad="38100" dist="38100" dir="2700000" algn="tl">
                <a:srgbClr val="000000">
                  <a:alpha val="43137"/>
                </a:srgbClr>
              </a:outerShdw>
            </a:effectLst>
          </a:endParaRPr>
        </a:p>
      </dgm:t>
    </dgm:pt>
    <dgm:pt modelId="{1DE7F3B4-7D5D-4621-8343-0EA93CB9CA36}">
      <dgm:prSet custT="1"/>
      <dgm:spPr/>
      <dgm:t>
        <a:bodyPr/>
        <a:lstStyle/>
        <a:p>
          <a:pPr algn="ctr"/>
          <a:r>
            <a:rPr lang="en-US" sz="1800" b="1" dirty="0">
              <a:effectLst>
                <a:outerShdw blurRad="38100" dist="38100" dir="2700000" algn="tl">
                  <a:srgbClr val="000000">
                    <a:alpha val="43137"/>
                  </a:srgbClr>
                </a:outerShdw>
              </a:effectLst>
            </a:rPr>
            <a:t>Outcomes (120 sites, 24 districts, n=157,689) </a:t>
          </a:r>
        </a:p>
      </dgm:t>
    </dgm:pt>
    <dgm:pt modelId="{8B27F7E7-02F0-4E86-96CA-AC5D421E3D1A}" type="parTrans" cxnId="{187E9156-1C93-4386-9DE6-F92E76BA3363}">
      <dgm:prSet/>
      <dgm:spPr/>
      <dgm:t>
        <a:bodyPr/>
        <a:lstStyle/>
        <a:p>
          <a:endParaRPr lang="en-US" sz="1800" b="1">
            <a:effectLst>
              <a:outerShdw blurRad="38100" dist="38100" dir="2700000" algn="tl">
                <a:srgbClr val="000000">
                  <a:alpha val="43137"/>
                </a:srgbClr>
              </a:outerShdw>
            </a:effectLst>
          </a:endParaRPr>
        </a:p>
      </dgm:t>
    </dgm:pt>
    <dgm:pt modelId="{9D24776A-D14E-43B2-9B74-7B0148D66AC2}" type="sibTrans" cxnId="{187E9156-1C93-4386-9DE6-F92E76BA3363}">
      <dgm:prSet/>
      <dgm:spPr/>
      <dgm:t>
        <a:bodyPr/>
        <a:lstStyle/>
        <a:p>
          <a:endParaRPr lang="en-US" sz="1800" b="1">
            <a:effectLst>
              <a:outerShdw blurRad="38100" dist="38100" dir="2700000" algn="tl">
                <a:srgbClr val="000000">
                  <a:alpha val="43137"/>
                </a:srgbClr>
              </a:outerShdw>
            </a:effectLst>
          </a:endParaRPr>
        </a:p>
      </dgm:t>
    </dgm:pt>
    <dgm:pt modelId="{BB0A442F-ECB6-4B30-BD3B-AEAA6AD13E60}">
      <dgm:prSet custT="1"/>
      <dgm:spPr/>
      <dgm:t>
        <a:bodyPr/>
        <a:lstStyle/>
        <a:p>
          <a:r>
            <a:rPr lang="en-US" sz="1800" b="1" dirty="0">
              <a:effectLst>
                <a:outerShdw blurRad="38100" dist="38100" dir="2700000" algn="tl">
                  <a:srgbClr val="000000">
                    <a:alpha val="43137"/>
                  </a:srgbClr>
                </a:outerShdw>
              </a:effectLst>
            </a:rPr>
            <a:t>WHO Safe Child Birth checklist (e.g., used during at least 90% of the births)</a:t>
          </a:r>
        </a:p>
      </dgm:t>
    </dgm:pt>
    <dgm:pt modelId="{7180398E-BC59-4824-AA95-23507C053E45}" type="parTrans" cxnId="{046350D2-3E45-4584-9733-5861ADA74972}">
      <dgm:prSet/>
      <dgm:spPr/>
      <dgm:t>
        <a:bodyPr/>
        <a:lstStyle/>
        <a:p>
          <a:endParaRPr lang="en-US" sz="1800" b="1">
            <a:effectLst>
              <a:outerShdw blurRad="38100" dist="38100" dir="2700000" algn="tl">
                <a:srgbClr val="000000">
                  <a:alpha val="43137"/>
                </a:srgbClr>
              </a:outerShdw>
            </a:effectLst>
          </a:endParaRPr>
        </a:p>
      </dgm:t>
    </dgm:pt>
    <dgm:pt modelId="{2EBF5DF3-1C1E-435C-B36A-4B2F30C3406D}" type="sibTrans" cxnId="{046350D2-3E45-4584-9733-5861ADA74972}">
      <dgm:prSet/>
      <dgm:spPr/>
      <dgm:t>
        <a:bodyPr/>
        <a:lstStyle/>
        <a:p>
          <a:endParaRPr lang="en-US" sz="1800" b="1">
            <a:effectLst>
              <a:outerShdw blurRad="38100" dist="38100" dir="2700000" algn="tl">
                <a:srgbClr val="000000">
                  <a:alpha val="43137"/>
                </a:srgbClr>
              </a:outerShdw>
            </a:effectLst>
          </a:endParaRPr>
        </a:p>
      </dgm:t>
    </dgm:pt>
    <dgm:pt modelId="{037F1784-9384-4648-82E6-FF21EF7EC9A9}">
      <dgm:prSet custT="1"/>
      <dgm:spPr/>
      <dgm:t>
        <a:bodyPr/>
        <a:lstStyle/>
        <a:p>
          <a:r>
            <a:rPr lang="en-US" sz="1800" b="1" dirty="0">
              <a:effectLst>
                <a:outerShdw blurRad="38100" dist="38100" dir="2700000" algn="tl">
                  <a:srgbClr val="000000">
                    <a:alpha val="43137"/>
                  </a:srgbClr>
                </a:outerShdw>
              </a:effectLst>
            </a:rPr>
            <a:t>Adherence to oxytocin administration</a:t>
          </a:r>
        </a:p>
      </dgm:t>
    </dgm:pt>
    <dgm:pt modelId="{8E41135C-E7E1-45DC-807C-B7896B2F8B8D}" type="parTrans" cxnId="{A3ECDB90-C9F9-4B1C-9D81-163185E3A78A}">
      <dgm:prSet/>
      <dgm:spPr/>
      <dgm:t>
        <a:bodyPr/>
        <a:lstStyle/>
        <a:p>
          <a:endParaRPr lang="en-US" sz="1800" b="1">
            <a:effectLst>
              <a:outerShdw blurRad="38100" dist="38100" dir="2700000" algn="tl">
                <a:srgbClr val="000000">
                  <a:alpha val="43137"/>
                </a:srgbClr>
              </a:outerShdw>
            </a:effectLst>
          </a:endParaRPr>
        </a:p>
      </dgm:t>
    </dgm:pt>
    <dgm:pt modelId="{2052545E-7D32-4DDF-BB5C-B6A2E5108179}" type="sibTrans" cxnId="{A3ECDB90-C9F9-4B1C-9D81-163185E3A78A}">
      <dgm:prSet/>
      <dgm:spPr/>
      <dgm:t>
        <a:bodyPr/>
        <a:lstStyle/>
        <a:p>
          <a:endParaRPr lang="en-US" sz="1800" b="1">
            <a:effectLst>
              <a:outerShdw blurRad="38100" dist="38100" dir="2700000" algn="tl">
                <a:srgbClr val="000000">
                  <a:alpha val="43137"/>
                </a:srgbClr>
              </a:outerShdw>
            </a:effectLst>
          </a:endParaRPr>
        </a:p>
      </dgm:t>
    </dgm:pt>
    <dgm:pt modelId="{89F5CF73-35F5-4731-ACDC-2376C72D2638}">
      <dgm:prSet custT="1"/>
      <dgm:spPr/>
      <dgm:t>
        <a:bodyPr/>
        <a:lstStyle/>
        <a:p>
          <a:r>
            <a:rPr lang="en-US" sz="1800" b="1" dirty="0">
              <a:effectLst>
                <a:outerShdw blurRad="38100" dist="38100" dir="2700000" algn="tl">
                  <a:srgbClr val="000000">
                    <a:alpha val="43137"/>
                  </a:srgbClr>
                </a:outerShdw>
              </a:effectLst>
            </a:rPr>
            <a:t>7-day mortality  (mother and/or child)</a:t>
          </a:r>
        </a:p>
      </dgm:t>
    </dgm:pt>
    <dgm:pt modelId="{DDE451F7-E77A-4552-959C-1FC0D54EB996}" type="parTrans" cxnId="{52E73333-9D37-4352-AB33-384CD331CE2E}">
      <dgm:prSet/>
      <dgm:spPr/>
      <dgm:t>
        <a:bodyPr/>
        <a:lstStyle/>
        <a:p>
          <a:endParaRPr lang="en-US" sz="1800" b="1">
            <a:effectLst>
              <a:outerShdw blurRad="38100" dist="38100" dir="2700000" algn="tl">
                <a:srgbClr val="000000">
                  <a:alpha val="43137"/>
                </a:srgbClr>
              </a:outerShdw>
            </a:effectLst>
          </a:endParaRPr>
        </a:p>
      </dgm:t>
    </dgm:pt>
    <dgm:pt modelId="{C4C8B3C8-5D5E-46EC-A761-715C39474C5D}" type="sibTrans" cxnId="{52E73333-9D37-4352-AB33-384CD331CE2E}">
      <dgm:prSet/>
      <dgm:spPr/>
      <dgm:t>
        <a:bodyPr/>
        <a:lstStyle/>
        <a:p>
          <a:endParaRPr lang="en-US" sz="1800" b="1">
            <a:effectLst>
              <a:outerShdw blurRad="38100" dist="38100" dir="2700000" algn="tl">
                <a:srgbClr val="000000">
                  <a:alpha val="43137"/>
                </a:srgbClr>
              </a:outerShdw>
            </a:effectLst>
          </a:endParaRPr>
        </a:p>
      </dgm:t>
    </dgm:pt>
    <dgm:pt modelId="{DFCA1BA7-ED54-41D3-9152-B0942A25A21E}">
      <dgm:prSet custT="1"/>
      <dgm:spPr/>
      <dgm:t>
        <a:bodyPr/>
        <a:lstStyle/>
        <a:p>
          <a:r>
            <a:rPr lang="en-US" sz="1800" b="1" dirty="0">
              <a:effectLst>
                <a:outerShdw blurRad="38100" dist="38100" dir="2700000" algn="tl">
                  <a:srgbClr val="000000">
                    <a:alpha val="43137"/>
                  </a:srgbClr>
                </a:outerShdw>
              </a:effectLst>
            </a:rPr>
            <a:t>Costs (e.g., cost per coaching session)</a:t>
          </a:r>
        </a:p>
      </dgm:t>
    </dgm:pt>
    <dgm:pt modelId="{B7E8F8DB-D0DB-4F99-A58A-1108561E90EB}" type="parTrans" cxnId="{7D808A8D-F6EA-4DA6-9359-22DA7602C742}">
      <dgm:prSet/>
      <dgm:spPr/>
      <dgm:t>
        <a:bodyPr/>
        <a:lstStyle/>
        <a:p>
          <a:endParaRPr lang="en-US" sz="1800" b="1">
            <a:effectLst>
              <a:outerShdw blurRad="38100" dist="38100" dir="2700000" algn="tl">
                <a:srgbClr val="000000">
                  <a:alpha val="43137"/>
                </a:srgbClr>
              </a:outerShdw>
            </a:effectLst>
          </a:endParaRPr>
        </a:p>
      </dgm:t>
    </dgm:pt>
    <dgm:pt modelId="{D7EFE476-70CF-46D6-AA19-1A0AC9C568DC}" type="sibTrans" cxnId="{7D808A8D-F6EA-4DA6-9359-22DA7602C742}">
      <dgm:prSet/>
      <dgm:spPr/>
      <dgm:t>
        <a:bodyPr/>
        <a:lstStyle/>
        <a:p>
          <a:endParaRPr lang="en-US" sz="1800" b="1">
            <a:effectLst>
              <a:outerShdw blurRad="38100" dist="38100" dir="2700000" algn="tl">
                <a:srgbClr val="000000">
                  <a:alpha val="43137"/>
                </a:srgbClr>
              </a:outerShdw>
            </a:effectLst>
          </a:endParaRPr>
        </a:p>
      </dgm:t>
    </dgm:pt>
    <dgm:pt modelId="{901620FA-0E30-44E0-A907-8270F2245969}" type="pres">
      <dgm:prSet presAssocID="{F110F2DD-CA98-4C40-8D02-F8348BBFBC1A}" presName="linear" presStyleCnt="0">
        <dgm:presLayoutVars>
          <dgm:animLvl val="lvl"/>
          <dgm:resizeHandles val="exact"/>
        </dgm:presLayoutVars>
      </dgm:prSet>
      <dgm:spPr/>
    </dgm:pt>
    <dgm:pt modelId="{5B841120-FCAB-437E-B9BD-4CB6B3CB9310}" type="pres">
      <dgm:prSet presAssocID="{735E5BC6-A1CE-48D8-A34F-EEE978A0106C}" presName="parentText" presStyleLbl="node1" presStyleIdx="0" presStyleCnt="9">
        <dgm:presLayoutVars>
          <dgm:chMax val="0"/>
          <dgm:bulletEnabled val="1"/>
        </dgm:presLayoutVars>
      </dgm:prSet>
      <dgm:spPr/>
    </dgm:pt>
    <dgm:pt modelId="{B681413A-D5CA-4646-90B0-497566937E03}" type="pres">
      <dgm:prSet presAssocID="{2B7AB0A8-D9A1-4A16-A5CA-30FEA43AA3B2}" presName="spacer" presStyleCnt="0"/>
      <dgm:spPr/>
    </dgm:pt>
    <dgm:pt modelId="{A00E5C8D-E8A6-453D-B3C1-36CCF8D4CDB7}" type="pres">
      <dgm:prSet presAssocID="{29C80837-D47F-4521-AF38-C3095044E3D1}" presName="parentText" presStyleLbl="node1" presStyleIdx="1" presStyleCnt="9">
        <dgm:presLayoutVars>
          <dgm:chMax val="0"/>
          <dgm:bulletEnabled val="1"/>
        </dgm:presLayoutVars>
      </dgm:prSet>
      <dgm:spPr/>
    </dgm:pt>
    <dgm:pt modelId="{31C96A69-2CC1-4123-B473-EF501E13A10E}" type="pres">
      <dgm:prSet presAssocID="{7D3434E6-1051-47C2-96D9-A70C687473D0}" presName="spacer" presStyleCnt="0"/>
      <dgm:spPr/>
    </dgm:pt>
    <dgm:pt modelId="{8B758444-CF04-4E3D-BC40-E467A5C2DD76}" type="pres">
      <dgm:prSet presAssocID="{B0BDB4E7-E583-4925-BD5D-29BFBD98FC4D}" presName="parentText" presStyleLbl="node1" presStyleIdx="2" presStyleCnt="9">
        <dgm:presLayoutVars>
          <dgm:chMax val="0"/>
          <dgm:bulletEnabled val="1"/>
        </dgm:presLayoutVars>
      </dgm:prSet>
      <dgm:spPr/>
    </dgm:pt>
    <dgm:pt modelId="{8163AFC2-C22D-41A1-B6EB-F45A32880589}" type="pres">
      <dgm:prSet presAssocID="{5D0748EF-8E9F-473D-91DE-5EEE57E095D6}" presName="spacer" presStyleCnt="0"/>
      <dgm:spPr/>
    </dgm:pt>
    <dgm:pt modelId="{5EE124D7-4196-4C65-9EFF-DDC0C1BC34E1}" type="pres">
      <dgm:prSet presAssocID="{22531247-0003-4195-A0BC-2EFA9EA8ABC8}" presName="parentText" presStyleLbl="node1" presStyleIdx="3" presStyleCnt="9">
        <dgm:presLayoutVars>
          <dgm:chMax val="0"/>
          <dgm:bulletEnabled val="1"/>
        </dgm:presLayoutVars>
      </dgm:prSet>
      <dgm:spPr/>
    </dgm:pt>
    <dgm:pt modelId="{202DEA59-D959-4D6D-874B-64D6DA169F2B}" type="pres">
      <dgm:prSet presAssocID="{36684FBD-894E-4EFC-9506-AC4FA89C5133}" presName="spacer" presStyleCnt="0"/>
      <dgm:spPr/>
    </dgm:pt>
    <dgm:pt modelId="{130657A5-1079-4F07-8D35-53CB1FE48B02}" type="pres">
      <dgm:prSet presAssocID="{1DE7F3B4-7D5D-4621-8343-0EA93CB9CA36}" presName="parentText" presStyleLbl="node1" presStyleIdx="4" presStyleCnt="9">
        <dgm:presLayoutVars>
          <dgm:chMax val="0"/>
          <dgm:bulletEnabled val="1"/>
        </dgm:presLayoutVars>
      </dgm:prSet>
      <dgm:spPr/>
    </dgm:pt>
    <dgm:pt modelId="{3B133E7E-2B30-487F-B36C-E2EA21689966}" type="pres">
      <dgm:prSet presAssocID="{9D24776A-D14E-43B2-9B74-7B0148D66AC2}" presName="spacer" presStyleCnt="0"/>
      <dgm:spPr/>
    </dgm:pt>
    <dgm:pt modelId="{A414CF2F-6594-4017-9DC7-29EA286FB4EE}" type="pres">
      <dgm:prSet presAssocID="{BB0A442F-ECB6-4B30-BD3B-AEAA6AD13E60}" presName="parentText" presStyleLbl="node1" presStyleIdx="5" presStyleCnt="9">
        <dgm:presLayoutVars>
          <dgm:chMax val="0"/>
          <dgm:bulletEnabled val="1"/>
        </dgm:presLayoutVars>
      </dgm:prSet>
      <dgm:spPr/>
    </dgm:pt>
    <dgm:pt modelId="{70C136CF-DF1D-4408-9543-CFB07D1C3B58}" type="pres">
      <dgm:prSet presAssocID="{2EBF5DF3-1C1E-435C-B36A-4B2F30C3406D}" presName="spacer" presStyleCnt="0"/>
      <dgm:spPr/>
    </dgm:pt>
    <dgm:pt modelId="{E54441C4-DFC2-4218-82D2-9EA0DFC4CF5C}" type="pres">
      <dgm:prSet presAssocID="{037F1784-9384-4648-82E6-FF21EF7EC9A9}" presName="parentText" presStyleLbl="node1" presStyleIdx="6" presStyleCnt="9">
        <dgm:presLayoutVars>
          <dgm:chMax val="0"/>
          <dgm:bulletEnabled val="1"/>
        </dgm:presLayoutVars>
      </dgm:prSet>
      <dgm:spPr/>
    </dgm:pt>
    <dgm:pt modelId="{D47259E7-6626-4267-927C-9C54EAA2BAAF}" type="pres">
      <dgm:prSet presAssocID="{2052545E-7D32-4DDF-BB5C-B6A2E5108179}" presName="spacer" presStyleCnt="0"/>
      <dgm:spPr/>
    </dgm:pt>
    <dgm:pt modelId="{839241AD-9C55-42DF-9228-48DBA59DBBD8}" type="pres">
      <dgm:prSet presAssocID="{89F5CF73-35F5-4731-ACDC-2376C72D2638}" presName="parentText" presStyleLbl="node1" presStyleIdx="7" presStyleCnt="9">
        <dgm:presLayoutVars>
          <dgm:chMax val="0"/>
          <dgm:bulletEnabled val="1"/>
        </dgm:presLayoutVars>
      </dgm:prSet>
      <dgm:spPr/>
    </dgm:pt>
    <dgm:pt modelId="{0C3800BB-4F68-4601-B497-B0960FDCFED3}" type="pres">
      <dgm:prSet presAssocID="{C4C8B3C8-5D5E-46EC-A761-715C39474C5D}" presName="spacer" presStyleCnt="0"/>
      <dgm:spPr/>
    </dgm:pt>
    <dgm:pt modelId="{E2085D69-B1F1-44DF-BBEA-414D05D2ABBD}" type="pres">
      <dgm:prSet presAssocID="{DFCA1BA7-ED54-41D3-9152-B0942A25A21E}" presName="parentText" presStyleLbl="node1" presStyleIdx="8" presStyleCnt="9">
        <dgm:presLayoutVars>
          <dgm:chMax val="0"/>
          <dgm:bulletEnabled val="1"/>
        </dgm:presLayoutVars>
      </dgm:prSet>
      <dgm:spPr/>
    </dgm:pt>
  </dgm:ptLst>
  <dgm:cxnLst>
    <dgm:cxn modelId="{09FEA311-3046-4D6E-8A57-74DF33521C36}" type="presOf" srcId="{29C80837-D47F-4521-AF38-C3095044E3D1}" destId="{A00E5C8D-E8A6-453D-B3C1-36CCF8D4CDB7}" srcOrd="0" destOrd="0" presId="urn:microsoft.com/office/officeart/2005/8/layout/vList2"/>
    <dgm:cxn modelId="{BC84932C-679D-44E3-8477-8A114AF0FBB7}" type="presOf" srcId="{037F1784-9384-4648-82E6-FF21EF7EC9A9}" destId="{E54441C4-DFC2-4218-82D2-9EA0DFC4CF5C}" srcOrd="0" destOrd="0" presId="urn:microsoft.com/office/officeart/2005/8/layout/vList2"/>
    <dgm:cxn modelId="{52E73333-9D37-4352-AB33-384CD331CE2E}" srcId="{F110F2DD-CA98-4C40-8D02-F8348BBFBC1A}" destId="{89F5CF73-35F5-4731-ACDC-2376C72D2638}" srcOrd="7" destOrd="0" parTransId="{DDE451F7-E77A-4552-959C-1FC0D54EB996}" sibTransId="{C4C8B3C8-5D5E-46EC-A761-715C39474C5D}"/>
    <dgm:cxn modelId="{47F39835-F6AB-4DFF-817B-6C0AC157F5B6}" type="presOf" srcId="{B0BDB4E7-E583-4925-BD5D-29BFBD98FC4D}" destId="{8B758444-CF04-4E3D-BC40-E467A5C2DD76}" srcOrd="0" destOrd="0" presId="urn:microsoft.com/office/officeart/2005/8/layout/vList2"/>
    <dgm:cxn modelId="{75F0EF63-872E-4503-8CA4-898CBA8DF036}" srcId="{F110F2DD-CA98-4C40-8D02-F8348BBFBC1A}" destId="{22531247-0003-4195-A0BC-2EFA9EA8ABC8}" srcOrd="3" destOrd="0" parTransId="{92610010-C276-4D3A-AED7-74FC4C3618C0}" sibTransId="{36684FBD-894E-4EFC-9506-AC4FA89C5133}"/>
    <dgm:cxn modelId="{6362CC65-67DB-45EB-9030-A639DD790618}" type="presOf" srcId="{BB0A442F-ECB6-4B30-BD3B-AEAA6AD13E60}" destId="{A414CF2F-6594-4017-9DC7-29EA286FB4EE}" srcOrd="0" destOrd="0" presId="urn:microsoft.com/office/officeart/2005/8/layout/vList2"/>
    <dgm:cxn modelId="{84AA8274-6DF4-431A-BE66-FE48A2CFABB5}" srcId="{F110F2DD-CA98-4C40-8D02-F8348BBFBC1A}" destId="{29C80837-D47F-4521-AF38-C3095044E3D1}" srcOrd="1" destOrd="0" parTransId="{31D8B4B1-9A47-44FA-AF92-08443D3CDE43}" sibTransId="{7D3434E6-1051-47C2-96D9-A70C687473D0}"/>
    <dgm:cxn modelId="{C6FBC474-25D0-4B46-A52E-DC9E4DD39BD8}" type="presOf" srcId="{1DE7F3B4-7D5D-4621-8343-0EA93CB9CA36}" destId="{130657A5-1079-4F07-8D35-53CB1FE48B02}" srcOrd="0" destOrd="0" presId="urn:microsoft.com/office/officeart/2005/8/layout/vList2"/>
    <dgm:cxn modelId="{187E9156-1C93-4386-9DE6-F92E76BA3363}" srcId="{F110F2DD-CA98-4C40-8D02-F8348BBFBC1A}" destId="{1DE7F3B4-7D5D-4621-8343-0EA93CB9CA36}" srcOrd="4" destOrd="0" parTransId="{8B27F7E7-02F0-4E86-96CA-AC5D421E3D1A}" sibTransId="{9D24776A-D14E-43B2-9B74-7B0148D66AC2}"/>
    <dgm:cxn modelId="{7D808A8D-F6EA-4DA6-9359-22DA7602C742}" srcId="{F110F2DD-CA98-4C40-8D02-F8348BBFBC1A}" destId="{DFCA1BA7-ED54-41D3-9152-B0942A25A21E}" srcOrd="8" destOrd="0" parTransId="{B7E8F8DB-D0DB-4F99-A58A-1108561E90EB}" sibTransId="{D7EFE476-70CF-46D6-AA19-1A0AC9C568DC}"/>
    <dgm:cxn modelId="{A3ECDB90-C9F9-4B1C-9D81-163185E3A78A}" srcId="{F110F2DD-CA98-4C40-8D02-F8348BBFBC1A}" destId="{037F1784-9384-4648-82E6-FF21EF7EC9A9}" srcOrd="6" destOrd="0" parTransId="{8E41135C-E7E1-45DC-807C-B7896B2F8B8D}" sibTransId="{2052545E-7D32-4DDF-BB5C-B6A2E5108179}"/>
    <dgm:cxn modelId="{07FFCFA7-3BDD-456B-89ED-585E5381D867}" srcId="{F110F2DD-CA98-4C40-8D02-F8348BBFBC1A}" destId="{735E5BC6-A1CE-48D8-A34F-EEE978A0106C}" srcOrd="0" destOrd="0" parTransId="{F7A41B03-6BAF-47C1-822D-C40ED9BB1063}" sibTransId="{2B7AB0A8-D9A1-4A16-A5CA-30FEA43AA3B2}"/>
    <dgm:cxn modelId="{551E1EAB-63F6-4B97-A851-593F3DC72E42}" type="presOf" srcId="{22531247-0003-4195-A0BC-2EFA9EA8ABC8}" destId="{5EE124D7-4196-4C65-9EFF-DDC0C1BC34E1}" srcOrd="0" destOrd="0" presId="urn:microsoft.com/office/officeart/2005/8/layout/vList2"/>
    <dgm:cxn modelId="{1648F9AB-328E-44DD-8FDD-4FB917BF9E83}" srcId="{F110F2DD-CA98-4C40-8D02-F8348BBFBC1A}" destId="{B0BDB4E7-E583-4925-BD5D-29BFBD98FC4D}" srcOrd="2" destOrd="0" parTransId="{36E00BD8-DFCE-4CAE-9FA6-BB0A8FFD8B9F}" sibTransId="{5D0748EF-8E9F-473D-91DE-5EEE57E095D6}"/>
    <dgm:cxn modelId="{9594D7BA-1626-4C61-8A1C-88C9C706129C}" type="presOf" srcId="{DFCA1BA7-ED54-41D3-9152-B0942A25A21E}" destId="{E2085D69-B1F1-44DF-BBEA-414D05D2ABBD}" srcOrd="0" destOrd="0" presId="urn:microsoft.com/office/officeart/2005/8/layout/vList2"/>
    <dgm:cxn modelId="{006763C1-8680-4356-A151-AB209A18A390}" type="presOf" srcId="{89F5CF73-35F5-4731-ACDC-2376C72D2638}" destId="{839241AD-9C55-42DF-9228-48DBA59DBBD8}" srcOrd="0" destOrd="0" presId="urn:microsoft.com/office/officeart/2005/8/layout/vList2"/>
    <dgm:cxn modelId="{3CAAF2C1-B4B7-4CB5-A3A6-F3F5C0E77CDB}" type="presOf" srcId="{735E5BC6-A1CE-48D8-A34F-EEE978A0106C}" destId="{5B841120-FCAB-437E-B9BD-4CB6B3CB9310}" srcOrd="0" destOrd="0" presId="urn:microsoft.com/office/officeart/2005/8/layout/vList2"/>
    <dgm:cxn modelId="{046350D2-3E45-4584-9733-5861ADA74972}" srcId="{F110F2DD-CA98-4C40-8D02-F8348BBFBC1A}" destId="{BB0A442F-ECB6-4B30-BD3B-AEAA6AD13E60}" srcOrd="5" destOrd="0" parTransId="{7180398E-BC59-4824-AA95-23507C053E45}" sibTransId="{2EBF5DF3-1C1E-435C-B36A-4B2F30C3406D}"/>
    <dgm:cxn modelId="{D95FACF7-05AF-4049-BE32-13CED71B9ABF}" type="presOf" srcId="{F110F2DD-CA98-4C40-8D02-F8348BBFBC1A}" destId="{901620FA-0E30-44E0-A907-8270F2245969}" srcOrd="0" destOrd="0" presId="urn:microsoft.com/office/officeart/2005/8/layout/vList2"/>
    <dgm:cxn modelId="{7BC1E71B-C7F5-4CC2-AADF-D9730EFF68A2}" type="presParOf" srcId="{901620FA-0E30-44E0-A907-8270F2245969}" destId="{5B841120-FCAB-437E-B9BD-4CB6B3CB9310}" srcOrd="0" destOrd="0" presId="urn:microsoft.com/office/officeart/2005/8/layout/vList2"/>
    <dgm:cxn modelId="{A6797123-DB27-452C-ADCA-9792015B1519}" type="presParOf" srcId="{901620FA-0E30-44E0-A907-8270F2245969}" destId="{B681413A-D5CA-4646-90B0-497566937E03}" srcOrd="1" destOrd="0" presId="urn:microsoft.com/office/officeart/2005/8/layout/vList2"/>
    <dgm:cxn modelId="{8CD5BAAD-4682-4E6B-BE96-2CB6B14A025C}" type="presParOf" srcId="{901620FA-0E30-44E0-A907-8270F2245969}" destId="{A00E5C8D-E8A6-453D-B3C1-36CCF8D4CDB7}" srcOrd="2" destOrd="0" presId="urn:microsoft.com/office/officeart/2005/8/layout/vList2"/>
    <dgm:cxn modelId="{0F710DD6-F66F-44CE-AD22-7E91ADFE5C1D}" type="presParOf" srcId="{901620FA-0E30-44E0-A907-8270F2245969}" destId="{31C96A69-2CC1-4123-B473-EF501E13A10E}" srcOrd="3" destOrd="0" presId="urn:microsoft.com/office/officeart/2005/8/layout/vList2"/>
    <dgm:cxn modelId="{79199EAE-1380-467B-94D5-4927D048641F}" type="presParOf" srcId="{901620FA-0E30-44E0-A907-8270F2245969}" destId="{8B758444-CF04-4E3D-BC40-E467A5C2DD76}" srcOrd="4" destOrd="0" presId="urn:microsoft.com/office/officeart/2005/8/layout/vList2"/>
    <dgm:cxn modelId="{7BB32716-1A52-4A0A-A581-3155E4125A29}" type="presParOf" srcId="{901620FA-0E30-44E0-A907-8270F2245969}" destId="{8163AFC2-C22D-41A1-B6EB-F45A32880589}" srcOrd="5" destOrd="0" presId="urn:microsoft.com/office/officeart/2005/8/layout/vList2"/>
    <dgm:cxn modelId="{1B2AB82D-5E99-4BDB-AAA1-39D23AA84ED6}" type="presParOf" srcId="{901620FA-0E30-44E0-A907-8270F2245969}" destId="{5EE124D7-4196-4C65-9EFF-DDC0C1BC34E1}" srcOrd="6" destOrd="0" presId="urn:microsoft.com/office/officeart/2005/8/layout/vList2"/>
    <dgm:cxn modelId="{E9FADB41-C831-4416-ACD7-4D3F4F7B1C2C}" type="presParOf" srcId="{901620FA-0E30-44E0-A907-8270F2245969}" destId="{202DEA59-D959-4D6D-874B-64D6DA169F2B}" srcOrd="7" destOrd="0" presId="urn:microsoft.com/office/officeart/2005/8/layout/vList2"/>
    <dgm:cxn modelId="{82C5516B-5655-4A85-B985-743DE2007B7E}" type="presParOf" srcId="{901620FA-0E30-44E0-A907-8270F2245969}" destId="{130657A5-1079-4F07-8D35-53CB1FE48B02}" srcOrd="8" destOrd="0" presId="urn:microsoft.com/office/officeart/2005/8/layout/vList2"/>
    <dgm:cxn modelId="{7FFFC3CD-4334-4600-83BF-25BBEA2F1240}" type="presParOf" srcId="{901620FA-0E30-44E0-A907-8270F2245969}" destId="{3B133E7E-2B30-487F-B36C-E2EA21689966}" srcOrd="9" destOrd="0" presId="urn:microsoft.com/office/officeart/2005/8/layout/vList2"/>
    <dgm:cxn modelId="{AAEB3782-271F-4CD4-BB6B-4F6201241438}" type="presParOf" srcId="{901620FA-0E30-44E0-A907-8270F2245969}" destId="{A414CF2F-6594-4017-9DC7-29EA286FB4EE}" srcOrd="10" destOrd="0" presId="urn:microsoft.com/office/officeart/2005/8/layout/vList2"/>
    <dgm:cxn modelId="{66A5ABED-247D-45A6-8CE2-F31BD59A87D1}" type="presParOf" srcId="{901620FA-0E30-44E0-A907-8270F2245969}" destId="{70C136CF-DF1D-4408-9543-CFB07D1C3B58}" srcOrd="11" destOrd="0" presId="urn:microsoft.com/office/officeart/2005/8/layout/vList2"/>
    <dgm:cxn modelId="{216EEBD7-F8BE-47F1-B28C-34C30E008B8B}" type="presParOf" srcId="{901620FA-0E30-44E0-A907-8270F2245969}" destId="{E54441C4-DFC2-4218-82D2-9EA0DFC4CF5C}" srcOrd="12" destOrd="0" presId="urn:microsoft.com/office/officeart/2005/8/layout/vList2"/>
    <dgm:cxn modelId="{79F2D5D2-E1CD-4ADC-8A9E-DAB4E08BBF1D}" type="presParOf" srcId="{901620FA-0E30-44E0-A907-8270F2245969}" destId="{D47259E7-6626-4267-927C-9C54EAA2BAAF}" srcOrd="13" destOrd="0" presId="urn:microsoft.com/office/officeart/2005/8/layout/vList2"/>
    <dgm:cxn modelId="{4735EA72-68B3-4D73-9024-6867BC313547}" type="presParOf" srcId="{901620FA-0E30-44E0-A907-8270F2245969}" destId="{839241AD-9C55-42DF-9228-48DBA59DBBD8}" srcOrd="14" destOrd="0" presId="urn:microsoft.com/office/officeart/2005/8/layout/vList2"/>
    <dgm:cxn modelId="{A878E547-BB47-446F-B13C-078060AE029E}" type="presParOf" srcId="{901620FA-0E30-44E0-A907-8270F2245969}" destId="{0C3800BB-4F68-4601-B497-B0960FDCFED3}" srcOrd="15" destOrd="0" presId="urn:microsoft.com/office/officeart/2005/8/layout/vList2"/>
    <dgm:cxn modelId="{9233CB40-8525-460A-9148-E3F82A57F49C}" type="presParOf" srcId="{901620FA-0E30-44E0-A907-8270F2245969}" destId="{E2085D69-B1F1-44DF-BBEA-414D05D2ABBD}" srcOrd="16" destOrd="0" presId="urn:microsoft.com/office/officeart/2005/8/layout/vList2"/>
  </dgm:cxnLst>
  <dgm:bg>
    <a:solidFill>
      <a:schemeClr val="accent1">
        <a:hueOff val="0"/>
        <a:satOff val="0"/>
        <a:lumOff val="0"/>
      </a:schemeClr>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464698-366F-4368-B394-333BBB5494F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ES"/>
        </a:p>
      </dgm:t>
    </dgm:pt>
    <dgm:pt modelId="{F79A8C89-88FE-466D-83E5-B155E4D00791}">
      <dgm:prSet phldrT="[Texto]" custT="1"/>
      <dgm:spPr/>
      <dgm:t>
        <a:bodyPr/>
        <a:lstStyle/>
        <a:p>
          <a:r>
            <a:rPr lang="es-ES" sz="1800" dirty="0" err="1"/>
            <a:t>Index</a:t>
          </a:r>
          <a:r>
            <a:rPr lang="es-ES" sz="1800" dirty="0"/>
            <a:t> for </a:t>
          </a:r>
          <a:r>
            <a:rPr lang="es-ES" sz="1800" dirty="0" err="1"/>
            <a:t>the</a:t>
          </a:r>
          <a:r>
            <a:rPr lang="es-ES" sz="1800" dirty="0"/>
            <a:t> </a:t>
          </a:r>
          <a:r>
            <a:rPr lang="es-ES" sz="1800" dirty="0" err="1"/>
            <a:t>quality</a:t>
          </a:r>
          <a:r>
            <a:rPr lang="es-ES" sz="1800" dirty="0"/>
            <a:t> of </a:t>
          </a:r>
          <a:r>
            <a:rPr lang="es-ES" sz="1800" dirty="0" err="1"/>
            <a:t>care</a:t>
          </a:r>
          <a:r>
            <a:rPr lang="es-ES" sz="1800" dirty="0"/>
            <a:t> for </a:t>
          </a:r>
          <a:r>
            <a:rPr lang="es-ES" sz="1800" dirty="0" err="1"/>
            <a:t>the</a:t>
          </a:r>
          <a:r>
            <a:rPr lang="es-ES" sz="1800" dirty="0"/>
            <a:t> </a:t>
          </a:r>
          <a:r>
            <a:rPr lang="es-ES" sz="1800" dirty="0" err="1"/>
            <a:t>prevention</a:t>
          </a:r>
          <a:r>
            <a:rPr lang="es-ES" sz="1800" dirty="0"/>
            <a:t>, screening and </a:t>
          </a:r>
          <a:r>
            <a:rPr lang="es-ES" sz="1800" dirty="0" err="1"/>
            <a:t>treatment</a:t>
          </a:r>
          <a:r>
            <a:rPr lang="es-ES" sz="1800" dirty="0"/>
            <a:t> of diabetes(ICAD)</a:t>
          </a:r>
        </a:p>
      </dgm:t>
    </dgm:pt>
    <dgm:pt modelId="{59E3DBF1-9C1D-4C88-896B-2495A6E5EA08}" type="parTrans" cxnId="{9BEC5665-7AEE-4151-A159-E669F119078F}">
      <dgm:prSet/>
      <dgm:spPr/>
      <dgm:t>
        <a:bodyPr/>
        <a:lstStyle/>
        <a:p>
          <a:endParaRPr lang="es-ES"/>
        </a:p>
      </dgm:t>
    </dgm:pt>
    <dgm:pt modelId="{CCB2C34F-D22E-4ECF-8EF8-E51C8B043A69}" type="sibTrans" cxnId="{9BEC5665-7AEE-4151-A159-E669F119078F}">
      <dgm:prSet/>
      <dgm:spPr/>
      <dgm:t>
        <a:bodyPr/>
        <a:lstStyle/>
        <a:p>
          <a:endParaRPr lang="es-ES"/>
        </a:p>
      </dgm:t>
    </dgm:pt>
    <dgm:pt modelId="{C7BCBC51-65C0-4323-9DD7-D3AB344964A8}">
      <dgm:prSet phldrT="[Texto]" custT="1"/>
      <dgm:spPr/>
      <dgm:t>
        <a:bodyPr/>
        <a:lstStyle/>
        <a:p>
          <a:r>
            <a:rPr lang="es-ES" sz="1600" dirty="0" err="1"/>
            <a:t>Unit</a:t>
          </a:r>
          <a:r>
            <a:rPr lang="es-ES" sz="1600" dirty="0"/>
            <a:t> of </a:t>
          </a:r>
          <a:r>
            <a:rPr lang="es-ES" sz="1600" dirty="0" err="1"/>
            <a:t>observation</a:t>
          </a:r>
          <a:r>
            <a:rPr lang="es-ES" sz="1600" dirty="0"/>
            <a:t> – </a:t>
          </a:r>
          <a:r>
            <a:rPr lang="es-ES" sz="1600" dirty="0" err="1"/>
            <a:t>one</a:t>
          </a:r>
          <a:r>
            <a:rPr lang="es-ES" sz="1600" dirty="0"/>
            <a:t> </a:t>
          </a:r>
          <a:r>
            <a:rPr lang="es-ES" sz="1600" dirty="0" err="1"/>
            <a:t>facility-month</a:t>
          </a:r>
          <a:endParaRPr lang="es-ES" sz="1600" dirty="0"/>
        </a:p>
      </dgm:t>
    </dgm:pt>
    <dgm:pt modelId="{E2734D54-913A-44C4-9D6E-71E37F4C4140}" type="parTrans" cxnId="{2150C40C-DDE8-4D40-8DA1-A3526C03765B}">
      <dgm:prSet/>
      <dgm:spPr/>
      <dgm:t>
        <a:bodyPr/>
        <a:lstStyle/>
        <a:p>
          <a:endParaRPr lang="es-ES"/>
        </a:p>
      </dgm:t>
    </dgm:pt>
    <dgm:pt modelId="{DBC78E24-F26A-49DA-B68D-F40C3634313E}" type="sibTrans" cxnId="{2150C40C-DDE8-4D40-8DA1-A3526C03765B}">
      <dgm:prSet/>
      <dgm:spPr/>
      <dgm:t>
        <a:bodyPr/>
        <a:lstStyle/>
        <a:p>
          <a:endParaRPr lang="es-ES"/>
        </a:p>
      </dgm:t>
    </dgm:pt>
    <dgm:pt modelId="{DDA6BADC-9641-4C14-A50F-046E02591C7C}">
      <dgm:prSet phldrT="[Texto]" custT="1"/>
      <dgm:spPr/>
      <dgm:t>
        <a:bodyPr/>
        <a:lstStyle/>
        <a:p>
          <a:r>
            <a:rPr lang="es-ES" sz="1600" dirty="0" err="1"/>
            <a:t>Ranges</a:t>
          </a:r>
          <a:r>
            <a:rPr lang="es-ES" sz="1600" dirty="0"/>
            <a:t> From 0-100</a:t>
          </a:r>
        </a:p>
      </dgm:t>
    </dgm:pt>
    <dgm:pt modelId="{5190B130-84EA-4D6A-83E3-718ADFA147E0}" type="parTrans" cxnId="{5B90F065-3CFE-47CD-9B12-F23C73995425}">
      <dgm:prSet/>
      <dgm:spPr/>
      <dgm:t>
        <a:bodyPr/>
        <a:lstStyle/>
        <a:p>
          <a:endParaRPr lang="es-ES"/>
        </a:p>
      </dgm:t>
    </dgm:pt>
    <dgm:pt modelId="{936425C2-AEE2-436B-8659-29E8323FAEE2}" type="sibTrans" cxnId="{5B90F065-3CFE-47CD-9B12-F23C73995425}">
      <dgm:prSet/>
      <dgm:spPr/>
      <dgm:t>
        <a:bodyPr/>
        <a:lstStyle/>
        <a:p>
          <a:endParaRPr lang="es-ES"/>
        </a:p>
      </dgm:t>
    </dgm:pt>
    <dgm:pt modelId="{4A57CBF0-C015-4C43-A31B-20A91B9E556C}">
      <dgm:prSet phldrT="[Texto]" custT="1"/>
      <dgm:spPr/>
      <dgm:t>
        <a:bodyPr/>
        <a:lstStyle/>
        <a:p>
          <a:r>
            <a:rPr lang="es-ES" sz="1800" dirty="0"/>
            <a:t>Electronic medical </a:t>
          </a:r>
          <a:r>
            <a:rPr lang="es-ES" sz="1800" dirty="0" err="1"/>
            <a:t>records</a:t>
          </a:r>
          <a:r>
            <a:rPr lang="es-ES" sz="1800" dirty="0"/>
            <a:t> for </a:t>
          </a:r>
          <a:r>
            <a:rPr lang="es-ES" sz="1800" dirty="0" err="1"/>
            <a:t>chronic</a:t>
          </a:r>
          <a:r>
            <a:rPr lang="es-ES" sz="1800" dirty="0"/>
            <a:t> </a:t>
          </a:r>
          <a:r>
            <a:rPr lang="es-ES" sz="1800" dirty="0" err="1"/>
            <a:t>disease</a:t>
          </a:r>
          <a:r>
            <a:rPr lang="es-ES" sz="1800" dirty="0"/>
            <a:t> </a:t>
          </a:r>
          <a:r>
            <a:rPr lang="es-ES" sz="1800" dirty="0" err="1"/>
            <a:t>prevention</a:t>
          </a:r>
          <a:r>
            <a:rPr lang="es-ES" sz="1800" dirty="0"/>
            <a:t>, screening and </a:t>
          </a:r>
          <a:r>
            <a:rPr lang="es-ES" sz="1800" dirty="0" err="1"/>
            <a:t>care</a:t>
          </a:r>
          <a:endParaRPr lang="es-ES" sz="1800" dirty="0"/>
        </a:p>
      </dgm:t>
    </dgm:pt>
    <dgm:pt modelId="{7F07516C-913D-4943-B1E9-5CF73D1196CA}" type="parTrans" cxnId="{CEDE3597-2E52-4F2C-AB4A-72894AF46D9A}">
      <dgm:prSet/>
      <dgm:spPr/>
      <dgm:t>
        <a:bodyPr/>
        <a:lstStyle/>
        <a:p>
          <a:endParaRPr lang="es-ES"/>
        </a:p>
      </dgm:t>
    </dgm:pt>
    <dgm:pt modelId="{5C32713F-FFE0-4516-A2EE-9F05CF680049}" type="sibTrans" cxnId="{CEDE3597-2E52-4F2C-AB4A-72894AF46D9A}">
      <dgm:prSet/>
      <dgm:spPr/>
      <dgm:t>
        <a:bodyPr/>
        <a:lstStyle/>
        <a:p>
          <a:endParaRPr lang="es-ES"/>
        </a:p>
      </dgm:t>
    </dgm:pt>
    <dgm:pt modelId="{9398054B-271B-43DB-B1A3-0851C47F7109}">
      <dgm:prSet phldrT="[Texto]" custT="1"/>
      <dgm:spPr/>
      <dgm:t>
        <a:bodyPr/>
        <a:lstStyle/>
        <a:p>
          <a:r>
            <a:rPr lang="es-MX" sz="1600" b="1" i="0" dirty="0"/>
            <a:t>1,782,293 </a:t>
          </a:r>
          <a:r>
            <a:rPr lang="es-MX" sz="1600" b="0" i="0" dirty="0" err="1"/>
            <a:t>patients</a:t>
          </a:r>
          <a:r>
            <a:rPr lang="es-MX" sz="1600" b="0" i="0" dirty="0"/>
            <a:t> </a:t>
          </a:r>
          <a:r>
            <a:rPr lang="es-MX" sz="1600" b="0" i="0" dirty="0" err="1"/>
            <a:t>who</a:t>
          </a:r>
          <a:r>
            <a:rPr lang="es-MX" sz="1600" b="0" i="0" dirty="0"/>
            <a:t> </a:t>
          </a:r>
          <a:r>
            <a:rPr lang="es-MX" sz="1600" b="0" i="0" dirty="0" err="1"/>
            <a:t>have</a:t>
          </a:r>
          <a:r>
            <a:rPr lang="es-MX" sz="1600" b="0" i="0" dirty="0"/>
            <a:t> </a:t>
          </a:r>
          <a:r>
            <a:rPr lang="es-MX" sz="1600" b="0" i="0" dirty="0" err="1"/>
            <a:t>had</a:t>
          </a:r>
          <a:r>
            <a:rPr lang="es-MX" sz="1600" b="0" i="0" dirty="0"/>
            <a:t> a </a:t>
          </a:r>
          <a:r>
            <a:rPr lang="es-MX" sz="1600" b="0" i="0" dirty="0" err="1"/>
            <a:t>least</a:t>
          </a:r>
          <a:r>
            <a:rPr lang="es-MX" sz="1600" b="0" i="0" dirty="0"/>
            <a:t> </a:t>
          </a:r>
          <a:r>
            <a:rPr lang="es-MX" sz="1600" b="0" i="0" dirty="0" err="1"/>
            <a:t>one</a:t>
          </a:r>
          <a:r>
            <a:rPr lang="es-MX" sz="1600" b="0" i="0" dirty="0"/>
            <a:t> </a:t>
          </a:r>
          <a:r>
            <a:rPr lang="es-MX" sz="1600" b="0" i="0" dirty="0" err="1"/>
            <a:t>clinic</a:t>
          </a:r>
          <a:r>
            <a:rPr lang="es-MX" sz="1600" b="0" i="0" dirty="0"/>
            <a:t> </a:t>
          </a:r>
          <a:r>
            <a:rPr lang="es-MX" sz="1600" b="0" i="0" dirty="0" err="1"/>
            <a:t>visit</a:t>
          </a:r>
          <a:r>
            <a:rPr lang="es-MX" sz="1600" b="0" i="0" dirty="0"/>
            <a:t> </a:t>
          </a:r>
          <a:r>
            <a:rPr lang="es-MX" sz="1600" b="0" i="0" dirty="0" err="1"/>
            <a:t>that</a:t>
          </a:r>
          <a:r>
            <a:rPr lang="es-MX" sz="1600" b="0" i="0" dirty="0"/>
            <a:t> </a:t>
          </a:r>
          <a:r>
            <a:rPr lang="es-MX" sz="1600" b="0" i="0" dirty="0" err="1"/>
            <a:t>included</a:t>
          </a:r>
          <a:r>
            <a:rPr lang="es-MX" sz="1600" b="0" i="0" dirty="0"/>
            <a:t> a </a:t>
          </a:r>
          <a:r>
            <a:rPr lang="es-MX" sz="1600" b="0" i="0" dirty="0" err="1"/>
            <a:t>chronic</a:t>
          </a:r>
          <a:r>
            <a:rPr lang="es-MX" sz="1600" b="0" i="0" dirty="0"/>
            <a:t> </a:t>
          </a:r>
          <a:r>
            <a:rPr lang="es-MX" sz="1600" b="0" i="0" dirty="0" err="1"/>
            <a:t>disease</a:t>
          </a:r>
          <a:r>
            <a:rPr lang="es-MX" sz="1600" b="0" i="0" dirty="0"/>
            <a:t>* diagnosis</a:t>
          </a:r>
          <a:endParaRPr lang="es-ES" sz="1600" dirty="0"/>
        </a:p>
      </dgm:t>
    </dgm:pt>
    <dgm:pt modelId="{64C52F13-5A9F-4AFA-A307-993872AE05D7}" type="parTrans" cxnId="{2ABC8F3C-A17A-4541-88DB-E5280022BFD2}">
      <dgm:prSet/>
      <dgm:spPr/>
      <dgm:t>
        <a:bodyPr/>
        <a:lstStyle/>
        <a:p>
          <a:endParaRPr lang="es-ES"/>
        </a:p>
      </dgm:t>
    </dgm:pt>
    <dgm:pt modelId="{5E36F435-F215-4DB0-9929-DE2336BB0B5D}" type="sibTrans" cxnId="{2ABC8F3C-A17A-4541-88DB-E5280022BFD2}">
      <dgm:prSet/>
      <dgm:spPr/>
      <dgm:t>
        <a:bodyPr/>
        <a:lstStyle/>
        <a:p>
          <a:endParaRPr lang="es-ES"/>
        </a:p>
      </dgm:t>
    </dgm:pt>
    <dgm:pt modelId="{C9BA4C90-C71A-4750-8E65-A2C213CFDB60}">
      <dgm:prSet phldrT="[Texto]" custT="1"/>
      <dgm:spPr/>
      <dgm:t>
        <a:bodyPr/>
        <a:lstStyle/>
        <a:p>
          <a:r>
            <a:rPr lang="es-MX" sz="1600" b="1" i="0" dirty="0"/>
            <a:t>12,375 </a:t>
          </a:r>
          <a:r>
            <a:rPr lang="es-MX" sz="1600" b="0" i="0" dirty="0" err="1"/>
            <a:t>health</a:t>
          </a:r>
          <a:r>
            <a:rPr lang="es-MX" sz="1600" b="0" i="0" dirty="0"/>
            <a:t> </a:t>
          </a:r>
          <a:r>
            <a:rPr lang="es-MX" sz="1600" b="0" i="0" dirty="0" err="1"/>
            <a:t>facilities</a:t>
          </a:r>
          <a:r>
            <a:rPr lang="es-MX" sz="1600" b="0" i="0" dirty="0"/>
            <a:t> in </a:t>
          </a:r>
          <a:r>
            <a:rPr lang="es-MX" sz="1600" b="0" i="0" dirty="0" err="1"/>
            <a:t>the</a:t>
          </a:r>
          <a:r>
            <a:rPr lang="es-MX" sz="1600" b="0" i="0" dirty="0"/>
            <a:t> country</a:t>
          </a:r>
          <a:endParaRPr lang="es-ES" sz="1600" dirty="0"/>
        </a:p>
      </dgm:t>
    </dgm:pt>
    <dgm:pt modelId="{36D172FC-A79D-4F5D-85FE-4C12FC381483}" type="parTrans" cxnId="{C7D454D2-B12B-44FA-A55E-EC9C4990F21E}">
      <dgm:prSet/>
      <dgm:spPr/>
      <dgm:t>
        <a:bodyPr/>
        <a:lstStyle/>
        <a:p>
          <a:endParaRPr lang="es-ES"/>
        </a:p>
      </dgm:t>
    </dgm:pt>
    <dgm:pt modelId="{05C548E8-7071-42D7-BDC6-D62555A943F1}" type="sibTrans" cxnId="{C7D454D2-B12B-44FA-A55E-EC9C4990F21E}">
      <dgm:prSet/>
      <dgm:spPr/>
      <dgm:t>
        <a:bodyPr/>
        <a:lstStyle/>
        <a:p>
          <a:endParaRPr lang="es-ES"/>
        </a:p>
      </dgm:t>
    </dgm:pt>
    <dgm:pt modelId="{5FEA7C1E-56BB-487C-9011-1B201EE4ED87}">
      <dgm:prSet phldrT="[Texto]" custT="1"/>
      <dgm:spPr/>
      <dgm:t>
        <a:bodyPr/>
        <a:lstStyle/>
        <a:p>
          <a:r>
            <a:rPr lang="es-ES" sz="1600" b="1" dirty="0"/>
            <a:t>June 2016 – </a:t>
          </a:r>
          <a:r>
            <a:rPr lang="es-ES" sz="1600" b="1" dirty="0" err="1"/>
            <a:t>July</a:t>
          </a:r>
          <a:r>
            <a:rPr lang="es-ES" sz="1600" b="1" dirty="0"/>
            <a:t> 2018</a:t>
          </a:r>
        </a:p>
      </dgm:t>
    </dgm:pt>
    <dgm:pt modelId="{D5D3DD9A-5351-4375-8D82-515F1D819DA6}" type="parTrans" cxnId="{FD5D6E73-0672-4778-8553-17B4749F0167}">
      <dgm:prSet/>
      <dgm:spPr/>
      <dgm:t>
        <a:bodyPr/>
        <a:lstStyle/>
        <a:p>
          <a:endParaRPr lang="es-ES"/>
        </a:p>
      </dgm:t>
    </dgm:pt>
    <dgm:pt modelId="{D955A8D9-1829-453C-9004-DCF1C111A932}" type="sibTrans" cxnId="{FD5D6E73-0672-4778-8553-17B4749F0167}">
      <dgm:prSet/>
      <dgm:spPr/>
      <dgm:t>
        <a:bodyPr/>
        <a:lstStyle/>
        <a:p>
          <a:endParaRPr lang="es-ES"/>
        </a:p>
      </dgm:t>
    </dgm:pt>
    <dgm:pt modelId="{54536DCC-035F-4935-ABF7-B70C4E6CB892}" type="pres">
      <dgm:prSet presAssocID="{B3464698-366F-4368-B394-333BBB5494FB}" presName="linear" presStyleCnt="0">
        <dgm:presLayoutVars>
          <dgm:dir/>
          <dgm:animLvl val="lvl"/>
          <dgm:resizeHandles val="exact"/>
        </dgm:presLayoutVars>
      </dgm:prSet>
      <dgm:spPr/>
    </dgm:pt>
    <dgm:pt modelId="{A332B4A5-B8A6-48EF-BB38-BD21D4ED5C42}" type="pres">
      <dgm:prSet presAssocID="{4A57CBF0-C015-4C43-A31B-20A91B9E556C}" presName="parentLin" presStyleCnt="0"/>
      <dgm:spPr/>
    </dgm:pt>
    <dgm:pt modelId="{BAC7E6A1-37BF-4175-B31D-3CE9A44F24EC}" type="pres">
      <dgm:prSet presAssocID="{4A57CBF0-C015-4C43-A31B-20A91B9E556C}" presName="parentLeftMargin" presStyleLbl="node1" presStyleIdx="0" presStyleCnt="2"/>
      <dgm:spPr/>
    </dgm:pt>
    <dgm:pt modelId="{2166A795-B0AB-4C15-8BF2-85E592CF303E}" type="pres">
      <dgm:prSet presAssocID="{4A57CBF0-C015-4C43-A31B-20A91B9E556C}" presName="parentText" presStyleLbl="node1" presStyleIdx="0" presStyleCnt="2" custScaleX="117234" custScaleY="189702">
        <dgm:presLayoutVars>
          <dgm:chMax val="0"/>
          <dgm:bulletEnabled val="1"/>
        </dgm:presLayoutVars>
      </dgm:prSet>
      <dgm:spPr/>
    </dgm:pt>
    <dgm:pt modelId="{18736A1E-E84A-473D-8F06-EA26D8F15C88}" type="pres">
      <dgm:prSet presAssocID="{4A57CBF0-C015-4C43-A31B-20A91B9E556C}" presName="negativeSpace" presStyleCnt="0"/>
      <dgm:spPr/>
    </dgm:pt>
    <dgm:pt modelId="{F9ABC252-C47F-48A4-AD88-F72F5F8E6A73}" type="pres">
      <dgm:prSet presAssocID="{4A57CBF0-C015-4C43-A31B-20A91B9E556C}" presName="childText" presStyleLbl="conFgAcc1" presStyleIdx="0" presStyleCnt="2">
        <dgm:presLayoutVars>
          <dgm:bulletEnabled val="1"/>
        </dgm:presLayoutVars>
      </dgm:prSet>
      <dgm:spPr/>
    </dgm:pt>
    <dgm:pt modelId="{80DE2722-2154-4890-9AE3-4ECCB52F7A11}" type="pres">
      <dgm:prSet presAssocID="{5C32713F-FFE0-4516-A2EE-9F05CF680049}" presName="spaceBetweenRectangles" presStyleCnt="0"/>
      <dgm:spPr/>
    </dgm:pt>
    <dgm:pt modelId="{C7A533BD-EE1B-4D56-A425-8F269FF7F31A}" type="pres">
      <dgm:prSet presAssocID="{F79A8C89-88FE-466D-83E5-B155E4D00791}" presName="parentLin" presStyleCnt="0"/>
      <dgm:spPr/>
    </dgm:pt>
    <dgm:pt modelId="{5756C17C-23FC-4C1D-BC40-6179CB8A606E}" type="pres">
      <dgm:prSet presAssocID="{F79A8C89-88FE-466D-83E5-B155E4D00791}" presName="parentLeftMargin" presStyleLbl="node1" presStyleIdx="0" presStyleCnt="2"/>
      <dgm:spPr/>
    </dgm:pt>
    <dgm:pt modelId="{781652F5-6FB5-44C8-B9DA-86BFD8FFCDDD}" type="pres">
      <dgm:prSet presAssocID="{F79A8C89-88FE-466D-83E5-B155E4D00791}" presName="parentText" presStyleLbl="node1" presStyleIdx="1" presStyleCnt="2" custScaleX="117857" custScaleY="183979">
        <dgm:presLayoutVars>
          <dgm:chMax val="0"/>
          <dgm:bulletEnabled val="1"/>
        </dgm:presLayoutVars>
      </dgm:prSet>
      <dgm:spPr/>
    </dgm:pt>
    <dgm:pt modelId="{6886764C-C3A6-4A0F-858C-7E493D1F7C65}" type="pres">
      <dgm:prSet presAssocID="{F79A8C89-88FE-466D-83E5-B155E4D00791}" presName="negativeSpace" presStyleCnt="0"/>
      <dgm:spPr/>
    </dgm:pt>
    <dgm:pt modelId="{04C9FD58-FBDE-45E2-814B-7A7FF629B85E}" type="pres">
      <dgm:prSet presAssocID="{F79A8C89-88FE-466D-83E5-B155E4D00791}" presName="childText" presStyleLbl="conFgAcc1" presStyleIdx="1" presStyleCnt="2">
        <dgm:presLayoutVars>
          <dgm:bulletEnabled val="1"/>
        </dgm:presLayoutVars>
      </dgm:prSet>
      <dgm:spPr/>
    </dgm:pt>
  </dgm:ptLst>
  <dgm:cxnLst>
    <dgm:cxn modelId="{2150C40C-DDE8-4D40-8DA1-A3526C03765B}" srcId="{F79A8C89-88FE-466D-83E5-B155E4D00791}" destId="{C7BCBC51-65C0-4323-9DD7-D3AB344964A8}" srcOrd="0" destOrd="0" parTransId="{E2734D54-913A-44C4-9D6E-71E37F4C4140}" sibTransId="{DBC78E24-F26A-49DA-B68D-F40C3634313E}"/>
    <dgm:cxn modelId="{632EAC2F-CFB9-45A3-8EA6-6742521D2BEF}" type="presOf" srcId="{5FEA7C1E-56BB-487C-9011-1B201EE4ED87}" destId="{04C9FD58-FBDE-45E2-814B-7A7FF629B85E}" srcOrd="0" destOrd="1" presId="urn:microsoft.com/office/officeart/2005/8/layout/list1"/>
    <dgm:cxn modelId="{2ABC8F3C-A17A-4541-88DB-E5280022BFD2}" srcId="{4A57CBF0-C015-4C43-A31B-20A91B9E556C}" destId="{9398054B-271B-43DB-B1A3-0851C47F7109}" srcOrd="0" destOrd="0" parTransId="{64C52F13-5A9F-4AFA-A307-993872AE05D7}" sibTransId="{5E36F435-F215-4DB0-9929-DE2336BB0B5D}"/>
    <dgm:cxn modelId="{9BEC5665-7AEE-4151-A159-E669F119078F}" srcId="{B3464698-366F-4368-B394-333BBB5494FB}" destId="{F79A8C89-88FE-466D-83E5-B155E4D00791}" srcOrd="1" destOrd="0" parTransId="{59E3DBF1-9C1D-4C88-896B-2495A6E5EA08}" sibTransId="{CCB2C34F-D22E-4ECF-8EF8-E51C8B043A69}"/>
    <dgm:cxn modelId="{5B90F065-3CFE-47CD-9B12-F23C73995425}" srcId="{F79A8C89-88FE-466D-83E5-B155E4D00791}" destId="{DDA6BADC-9641-4C14-A50F-046E02591C7C}" srcOrd="2" destOrd="0" parTransId="{5190B130-84EA-4D6A-83E3-718ADFA147E0}" sibTransId="{936425C2-AEE2-436B-8659-29E8323FAEE2}"/>
    <dgm:cxn modelId="{6DBB1570-8129-4814-B6B5-18FF83B029C2}" type="presOf" srcId="{F79A8C89-88FE-466D-83E5-B155E4D00791}" destId="{781652F5-6FB5-44C8-B9DA-86BFD8FFCDDD}" srcOrd="1" destOrd="0" presId="urn:microsoft.com/office/officeart/2005/8/layout/list1"/>
    <dgm:cxn modelId="{FD5D6E73-0672-4778-8553-17B4749F0167}" srcId="{F79A8C89-88FE-466D-83E5-B155E4D00791}" destId="{5FEA7C1E-56BB-487C-9011-1B201EE4ED87}" srcOrd="1" destOrd="0" parTransId="{D5D3DD9A-5351-4375-8D82-515F1D819DA6}" sibTransId="{D955A8D9-1829-453C-9004-DCF1C111A932}"/>
    <dgm:cxn modelId="{A6205B8A-C2FD-4066-8689-21CDC94BF672}" type="presOf" srcId="{C9BA4C90-C71A-4750-8E65-A2C213CFDB60}" destId="{F9ABC252-C47F-48A4-AD88-F72F5F8E6A73}" srcOrd="0" destOrd="1" presId="urn:microsoft.com/office/officeart/2005/8/layout/list1"/>
    <dgm:cxn modelId="{F979618D-E3E9-4694-80E2-2ED70CDE4FC2}" type="presOf" srcId="{C7BCBC51-65C0-4323-9DD7-D3AB344964A8}" destId="{04C9FD58-FBDE-45E2-814B-7A7FF629B85E}" srcOrd="0" destOrd="0" presId="urn:microsoft.com/office/officeart/2005/8/layout/list1"/>
    <dgm:cxn modelId="{74AEC191-689A-4592-8A7B-5CE7F086BB17}" type="presOf" srcId="{9398054B-271B-43DB-B1A3-0851C47F7109}" destId="{F9ABC252-C47F-48A4-AD88-F72F5F8E6A73}" srcOrd="0" destOrd="0" presId="urn:microsoft.com/office/officeart/2005/8/layout/list1"/>
    <dgm:cxn modelId="{CEDE3597-2E52-4F2C-AB4A-72894AF46D9A}" srcId="{B3464698-366F-4368-B394-333BBB5494FB}" destId="{4A57CBF0-C015-4C43-A31B-20A91B9E556C}" srcOrd="0" destOrd="0" parTransId="{7F07516C-913D-4943-B1E9-5CF73D1196CA}" sibTransId="{5C32713F-FFE0-4516-A2EE-9F05CF680049}"/>
    <dgm:cxn modelId="{542F74B2-0002-41EA-A6E7-5C11826A30E3}" type="presOf" srcId="{F79A8C89-88FE-466D-83E5-B155E4D00791}" destId="{5756C17C-23FC-4C1D-BC40-6179CB8A606E}" srcOrd="0" destOrd="0" presId="urn:microsoft.com/office/officeart/2005/8/layout/list1"/>
    <dgm:cxn modelId="{C301E5CD-C884-4637-A3AD-97101447EE9A}" type="presOf" srcId="{B3464698-366F-4368-B394-333BBB5494FB}" destId="{54536DCC-035F-4935-ABF7-B70C4E6CB892}" srcOrd="0" destOrd="0" presId="urn:microsoft.com/office/officeart/2005/8/layout/list1"/>
    <dgm:cxn modelId="{64CE1CD0-A933-4980-8E0C-332700545CF1}" type="presOf" srcId="{4A57CBF0-C015-4C43-A31B-20A91B9E556C}" destId="{BAC7E6A1-37BF-4175-B31D-3CE9A44F24EC}" srcOrd="0" destOrd="0" presId="urn:microsoft.com/office/officeart/2005/8/layout/list1"/>
    <dgm:cxn modelId="{C7D454D2-B12B-44FA-A55E-EC9C4990F21E}" srcId="{4A57CBF0-C015-4C43-A31B-20A91B9E556C}" destId="{C9BA4C90-C71A-4750-8E65-A2C213CFDB60}" srcOrd="1" destOrd="0" parTransId="{36D172FC-A79D-4F5D-85FE-4C12FC381483}" sibTransId="{05C548E8-7071-42D7-BDC6-D62555A943F1}"/>
    <dgm:cxn modelId="{9B9A3CD9-668E-4F49-AE80-121A73938E3F}" type="presOf" srcId="{DDA6BADC-9641-4C14-A50F-046E02591C7C}" destId="{04C9FD58-FBDE-45E2-814B-7A7FF629B85E}" srcOrd="0" destOrd="2" presId="urn:microsoft.com/office/officeart/2005/8/layout/list1"/>
    <dgm:cxn modelId="{A0A462DC-E1F2-4630-871C-CACBB4B833C1}" type="presOf" srcId="{4A57CBF0-C015-4C43-A31B-20A91B9E556C}" destId="{2166A795-B0AB-4C15-8BF2-85E592CF303E}" srcOrd="1" destOrd="0" presId="urn:microsoft.com/office/officeart/2005/8/layout/list1"/>
    <dgm:cxn modelId="{2F869D93-D952-4025-BA06-B30EDA309484}" type="presParOf" srcId="{54536DCC-035F-4935-ABF7-B70C4E6CB892}" destId="{A332B4A5-B8A6-48EF-BB38-BD21D4ED5C42}" srcOrd="0" destOrd="0" presId="urn:microsoft.com/office/officeart/2005/8/layout/list1"/>
    <dgm:cxn modelId="{0AB5242E-487B-4DFA-B751-C005310C7CC4}" type="presParOf" srcId="{A332B4A5-B8A6-48EF-BB38-BD21D4ED5C42}" destId="{BAC7E6A1-37BF-4175-B31D-3CE9A44F24EC}" srcOrd="0" destOrd="0" presId="urn:microsoft.com/office/officeart/2005/8/layout/list1"/>
    <dgm:cxn modelId="{3C343129-E271-4DCC-9457-33C3ECB4BF89}" type="presParOf" srcId="{A332B4A5-B8A6-48EF-BB38-BD21D4ED5C42}" destId="{2166A795-B0AB-4C15-8BF2-85E592CF303E}" srcOrd="1" destOrd="0" presId="urn:microsoft.com/office/officeart/2005/8/layout/list1"/>
    <dgm:cxn modelId="{8FD9F775-9605-4C39-82E8-660E795FBB5B}" type="presParOf" srcId="{54536DCC-035F-4935-ABF7-B70C4E6CB892}" destId="{18736A1E-E84A-473D-8F06-EA26D8F15C88}" srcOrd="1" destOrd="0" presId="urn:microsoft.com/office/officeart/2005/8/layout/list1"/>
    <dgm:cxn modelId="{7BB40965-E1D0-47CE-B09D-E5F248158CEA}" type="presParOf" srcId="{54536DCC-035F-4935-ABF7-B70C4E6CB892}" destId="{F9ABC252-C47F-48A4-AD88-F72F5F8E6A73}" srcOrd="2" destOrd="0" presId="urn:microsoft.com/office/officeart/2005/8/layout/list1"/>
    <dgm:cxn modelId="{5034A1D1-A01B-4C0D-A683-2D606FD737C3}" type="presParOf" srcId="{54536DCC-035F-4935-ABF7-B70C4E6CB892}" destId="{80DE2722-2154-4890-9AE3-4ECCB52F7A11}" srcOrd="3" destOrd="0" presId="urn:microsoft.com/office/officeart/2005/8/layout/list1"/>
    <dgm:cxn modelId="{989F8506-D943-4F33-A49C-AF6B002C243C}" type="presParOf" srcId="{54536DCC-035F-4935-ABF7-B70C4E6CB892}" destId="{C7A533BD-EE1B-4D56-A425-8F269FF7F31A}" srcOrd="4" destOrd="0" presId="urn:microsoft.com/office/officeart/2005/8/layout/list1"/>
    <dgm:cxn modelId="{CA772824-21F4-4834-83D9-C89952387470}" type="presParOf" srcId="{C7A533BD-EE1B-4D56-A425-8F269FF7F31A}" destId="{5756C17C-23FC-4C1D-BC40-6179CB8A606E}" srcOrd="0" destOrd="0" presId="urn:microsoft.com/office/officeart/2005/8/layout/list1"/>
    <dgm:cxn modelId="{CD03B2ED-0B0B-4F77-A3AA-351D0B405C73}" type="presParOf" srcId="{C7A533BD-EE1B-4D56-A425-8F269FF7F31A}" destId="{781652F5-6FB5-44C8-B9DA-86BFD8FFCDDD}" srcOrd="1" destOrd="0" presId="urn:microsoft.com/office/officeart/2005/8/layout/list1"/>
    <dgm:cxn modelId="{DEC4433E-D7AA-4C00-B473-8E8B8BA9C5D2}" type="presParOf" srcId="{54536DCC-035F-4935-ABF7-B70C4E6CB892}" destId="{6886764C-C3A6-4A0F-858C-7E493D1F7C65}" srcOrd="5" destOrd="0" presId="urn:microsoft.com/office/officeart/2005/8/layout/list1"/>
    <dgm:cxn modelId="{9F855554-163A-4073-BE05-4E8609204C6D}" type="presParOf" srcId="{54536DCC-035F-4935-ABF7-B70C4E6CB892}" destId="{04C9FD58-FBDE-45E2-814B-7A7FF629B85E}"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EFD959-485D-1F44-87BE-032E5994F6A1}">
      <dsp:nvSpPr>
        <dsp:cNvPr id="0" name=""/>
        <dsp:cNvSpPr/>
      </dsp:nvSpPr>
      <dsp:spPr>
        <a:xfrm>
          <a:off x="0" y="0"/>
          <a:ext cx="7953389" cy="2143684"/>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US" sz="3000" kern="1200" dirty="0">
              <a:solidFill>
                <a:srgbClr val="FFFFFF"/>
              </a:solidFill>
            </a:rPr>
            <a:t>“A systematic, scientific approach to ask and answer questions about how to get ‘what works’ to people who need it with greater speed, fidelity, efficiency, quality and relevant coverage”</a:t>
          </a:r>
        </a:p>
      </dsp:txBody>
      <dsp:txXfrm>
        <a:off x="0" y="0"/>
        <a:ext cx="7953389" cy="21436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841120-FCAB-437E-B9BD-4CB6B3CB9310}">
      <dsp:nvSpPr>
        <dsp:cNvPr id="0" name=""/>
        <dsp:cNvSpPr/>
      </dsp:nvSpPr>
      <dsp:spPr>
        <a:xfrm>
          <a:off x="0" y="2245"/>
          <a:ext cx="7514972" cy="715590"/>
        </a:xfrm>
        <a:prstGeom prst="round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Multi-center study in Uttar Pradesh, India</a:t>
          </a:r>
        </a:p>
      </dsp:txBody>
      <dsp:txXfrm>
        <a:off x="34932" y="37177"/>
        <a:ext cx="7445108" cy="645726"/>
      </dsp:txXfrm>
    </dsp:sp>
    <dsp:sp modelId="{A00E5C8D-E8A6-453D-B3C1-36CCF8D4CDB7}">
      <dsp:nvSpPr>
        <dsp:cNvPr id="0" name=""/>
        <dsp:cNvSpPr/>
      </dsp:nvSpPr>
      <dsp:spPr>
        <a:xfrm>
          <a:off x="0" y="732207"/>
          <a:ext cx="7514972" cy="715590"/>
        </a:xfrm>
        <a:prstGeom prst="roundRect">
          <a:avLst/>
        </a:prstGeom>
        <a:solidFill>
          <a:schemeClr val="accent1">
            <a:shade val="80000"/>
            <a:hueOff val="43660"/>
            <a:satOff val="-782"/>
            <a:lumOff val="33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Test a multiple component intervention package to improve process and outcomes for mothers and newborns</a:t>
          </a:r>
        </a:p>
      </dsp:txBody>
      <dsp:txXfrm>
        <a:off x="34932" y="767139"/>
        <a:ext cx="7445108" cy="645726"/>
      </dsp:txXfrm>
    </dsp:sp>
    <dsp:sp modelId="{8B758444-CF04-4E3D-BC40-E467A5C2DD76}">
      <dsp:nvSpPr>
        <dsp:cNvPr id="0" name=""/>
        <dsp:cNvSpPr/>
      </dsp:nvSpPr>
      <dsp:spPr>
        <a:xfrm>
          <a:off x="0" y="1462170"/>
          <a:ext cx="7514972" cy="715590"/>
        </a:xfrm>
        <a:prstGeom prst="roundRect">
          <a:avLst/>
        </a:prstGeom>
        <a:solidFill>
          <a:schemeClr val="accent1">
            <a:shade val="80000"/>
            <a:hueOff val="87321"/>
            <a:satOff val="-1564"/>
            <a:lumOff val="66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Components: Launch duration, Coaching visits, audit and feedback, district/facility leader engagement</a:t>
          </a:r>
        </a:p>
      </dsp:txBody>
      <dsp:txXfrm>
        <a:off x="34932" y="1497102"/>
        <a:ext cx="7445108" cy="645726"/>
      </dsp:txXfrm>
    </dsp:sp>
    <dsp:sp modelId="{5EE124D7-4196-4C65-9EFF-DDC0C1BC34E1}">
      <dsp:nvSpPr>
        <dsp:cNvPr id="0" name=""/>
        <dsp:cNvSpPr/>
      </dsp:nvSpPr>
      <dsp:spPr>
        <a:xfrm>
          <a:off x="0" y="2192132"/>
          <a:ext cx="7514972" cy="715590"/>
        </a:xfrm>
        <a:prstGeom prst="roundRect">
          <a:avLst/>
        </a:prstGeom>
        <a:solidFill>
          <a:schemeClr val="accent1">
            <a:shade val="80000"/>
            <a:hueOff val="130981"/>
            <a:satOff val="-2346"/>
            <a:lumOff val="99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Stage 1 (pilot 2 centers), Stage 2 (pilot 4 centers), Stage 3 (RCT 30 centers);     Quant &amp; Qual data used to guide adaptation</a:t>
          </a:r>
        </a:p>
      </dsp:txBody>
      <dsp:txXfrm>
        <a:off x="34932" y="2227064"/>
        <a:ext cx="7445108" cy="645726"/>
      </dsp:txXfrm>
    </dsp:sp>
    <dsp:sp modelId="{130657A5-1079-4F07-8D35-53CB1FE48B02}">
      <dsp:nvSpPr>
        <dsp:cNvPr id="0" name=""/>
        <dsp:cNvSpPr/>
      </dsp:nvSpPr>
      <dsp:spPr>
        <a:xfrm>
          <a:off x="0" y="2922094"/>
          <a:ext cx="7514972" cy="715590"/>
        </a:xfrm>
        <a:prstGeom prst="roundRect">
          <a:avLst/>
        </a:prstGeom>
        <a:solidFill>
          <a:schemeClr val="accent1">
            <a:shade val="80000"/>
            <a:hueOff val="174641"/>
            <a:satOff val="-3128"/>
            <a:lumOff val="132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Outcomes (120 sites, 24 districts, n=157,689) </a:t>
          </a:r>
        </a:p>
      </dsp:txBody>
      <dsp:txXfrm>
        <a:off x="34932" y="2957026"/>
        <a:ext cx="7445108" cy="645726"/>
      </dsp:txXfrm>
    </dsp:sp>
    <dsp:sp modelId="{A414CF2F-6594-4017-9DC7-29EA286FB4EE}">
      <dsp:nvSpPr>
        <dsp:cNvPr id="0" name=""/>
        <dsp:cNvSpPr/>
      </dsp:nvSpPr>
      <dsp:spPr>
        <a:xfrm>
          <a:off x="0" y="3652056"/>
          <a:ext cx="7514972" cy="715590"/>
        </a:xfrm>
        <a:prstGeom prst="roundRect">
          <a:avLst/>
        </a:prstGeom>
        <a:solidFill>
          <a:schemeClr val="accent1">
            <a:shade val="80000"/>
            <a:hueOff val="218302"/>
            <a:satOff val="-3910"/>
            <a:lumOff val="166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WHO Safe Child Birth checklist (e.g., used during at least 90% of the births)</a:t>
          </a:r>
        </a:p>
      </dsp:txBody>
      <dsp:txXfrm>
        <a:off x="34932" y="3686988"/>
        <a:ext cx="7445108" cy="645726"/>
      </dsp:txXfrm>
    </dsp:sp>
    <dsp:sp modelId="{E54441C4-DFC2-4218-82D2-9EA0DFC4CF5C}">
      <dsp:nvSpPr>
        <dsp:cNvPr id="0" name=""/>
        <dsp:cNvSpPr/>
      </dsp:nvSpPr>
      <dsp:spPr>
        <a:xfrm>
          <a:off x="0" y="4382018"/>
          <a:ext cx="7514972" cy="715590"/>
        </a:xfrm>
        <a:prstGeom prst="roundRect">
          <a:avLst/>
        </a:prstGeom>
        <a:solidFill>
          <a:schemeClr val="accent1">
            <a:shade val="80000"/>
            <a:hueOff val="261962"/>
            <a:satOff val="-4692"/>
            <a:lumOff val="199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Adherence to oxytocin administration</a:t>
          </a:r>
        </a:p>
      </dsp:txBody>
      <dsp:txXfrm>
        <a:off x="34932" y="4416950"/>
        <a:ext cx="7445108" cy="645726"/>
      </dsp:txXfrm>
    </dsp:sp>
    <dsp:sp modelId="{839241AD-9C55-42DF-9228-48DBA59DBBD8}">
      <dsp:nvSpPr>
        <dsp:cNvPr id="0" name=""/>
        <dsp:cNvSpPr/>
      </dsp:nvSpPr>
      <dsp:spPr>
        <a:xfrm>
          <a:off x="0" y="5111980"/>
          <a:ext cx="7514972" cy="715590"/>
        </a:xfrm>
        <a:prstGeom prst="roundRect">
          <a:avLst/>
        </a:prstGeom>
        <a:solidFill>
          <a:schemeClr val="accent1">
            <a:shade val="80000"/>
            <a:hueOff val="305622"/>
            <a:satOff val="-5474"/>
            <a:lumOff val="232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7-day mortality  (mother and/or child)</a:t>
          </a:r>
        </a:p>
      </dsp:txBody>
      <dsp:txXfrm>
        <a:off x="34932" y="5146912"/>
        <a:ext cx="7445108" cy="645726"/>
      </dsp:txXfrm>
    </dsp:sp>
    <dsp:sp modelId="{E2085D69-B1F1-44DF-BBEA-414D05D2ABBD}">
      <dsp:nvSpPr>
        <dsp:cNvPr id="0" name=""/>
        <dsp:cNvSpPr/>
      </dsp:nvSpPr>
      <dsp:spPr>
        <a:xfrm>
          <a:off x="0" y="5841942"/>
          <a:ext cx="7514972" cy="715590"/>
        </a:xfrm>
        <a:prstGeom prst="roundRect">
          <a:avLst/>
        </a:prstGeom>
        <a:solidFill>
          <a:schemeClr val="accent1">
            <a:shade val="80000"/>
            <a:hueOff val="349283"/>
            <a:satOff val="-6256"/>
            <a:lumOff val="265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Costs (e.g., cost per coaching session)</a:t>
          </a:r>
        </a:p>
      </dsp:txBody>
      <dsp:txXfrm>
        <a:off x="34932" y="5876874"/>
        <a:ext cx="7445108" cy="6457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BC252-C47F-48A4-AD88-F72F5F8E6A73}">
      <dsp:nvSpPr>
        <dsp:cNvPr id="0" name=""/>
        <dsp:cNvSpPr/>
      </dsp:nvSpPr>
      <dsp:spPr>
        <a:xfrm>
          <a:off x="0" y="772846"/>
          <a:ext cx="3788228" cy="16443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4009" tIns="374904" rIns="294009" bIns="113792" numCol="1" spcCol="1270" anchor="t" anchorCtr="0">
          <a:noAutofit/>
        </a:bodyPr>
        <a:lstStyle/>
        <a:p>
          <a:pPr marL="171450" lvl="1" indent="-171450" algn="l" defTabSz="711200">
            <a:lnSpc>
              <a:spcPct val="90000"/>
            </a:lnSpc>
            <a:spcBef>
              <a:spcPct val="0"/>
            </a:spcBef>
            <a:spcAft>
              <a:spcPct val="15000"/>
            </a:spcAft>
            <a:buChar char="•"/>
          </a:pPr>
          <a:r>
            <a:rPr lang="es-MX" sz="1600" b="1" i="0" kern="1200" dirty="0"/>
            <a:t>1,782,293 </a:t>
          </a:r>
          <a:r>
            <a:rPr lang="es-MX" sz="1600" b="0" i="0" kern="1200" dirty="0" err="1"/>
            <a:t>patients</a:t>
          </a:r>
          <a:r>
            <a:rPr lang="es-MX" sz="1600" b="0" i="0" kern="1200" dirty="0"/>
            <a:t> </a:t>
          </a:r>
          <a:r>
            <a:rPr lang="es-MX" sz="1600" b="0" i="0" kern="1200" dirty="0" err="1"/>
            <a:t>who</a:t>
          </a:r>
          <a:r>
            <a:rPr lang="es-MX" sz="1600" b="0" i="0" kern="1200" dirty="0"/>
            <a:t> </a:t>
          </a:r>
          <a:r>
            <a:rPr lang="es-MX" sz="1600" b="0" i="0" kern="1200" dirty="0" err="1"/>
            <a:t>have</a:t>
          </a:r>
          <a:r>
            <a:rPr lang="es-MX" sz="1600" b="0" i="0" kern="1200" dirty="0"/>
            <a:t> </a:t>
          </a:r>
          <a:r>
            <a:rPr lang="es-MX" sz="1600" b="0" i="0" kern="1200" dirty="0" err="1"/>
            <a:t>had</a:t>
          </a:r>
          <a:r>
            <a:rPr lang="es-MX" sz="1600" b="0" i="0" kern="1200" dirty="0"/>
            <a:t> a </a:t>
          </a:r>
          <a:r>
            <a:rPr lang="es-MX" sz="1600" b="0" i="0" kern="1200" dirty="0" err="1"/>
            <a:t>least</a:t>
          </a:r>
          <a:r>
            <a:rPr lang="es-MX" sz="1600" b="0" i="0" kern="1200" dirty="0"/>
            <a:t> </a:t>
          </a:r>
          <a:r>
            <a:rPr lang="es-MX" sz="1600" b="0" i="0" kern="1200" dirty="0" err="1"/>
            <a:t>one</a:t>
          </a:r>
          <a:r>
            <a:rPr lang="es-MX" sz="1600" b="0" i="0" kern="1200" dirty="0"/>
            <a:t> </a:t>
          </a:r>
          <a:r>
            <a:rPr lang="es-MX" sz="1600" b="0" i="0" kern="1200" dirty="0" err="1"/>
            <a:t>clinic</a:t>
          </a:r>
          <a:r>
            <a:rPr lang="es-MX" sz="1600" b="0" i="0" kern="1200" dirty="0"/>
            <a:t> </a:t>
          </a:r>
          <a:r>
            <a:rPr lang="es-MX" sz="1600" b="0" i="0" kern="1200" dirty="0" err="1"/>
            <a:t>visit</a:t>
          </a:r>
          <a:r>
            <a:rPr lang="es-MX" sz="1600" b="0" i="0" kern="1200" dirty="0"/>
            <a:t> </a:t>
          </a:r>
          <a:r>
            <a:rPr lang="es-MX" sz="1600" b="0" i="0" kern="1200" dirty="0" err="1"/>
            <a:t>that</a:t>
          </a:r>
          <a:r>
            <a:rPr lang="es-MX" sz="1600" b="0" i="0" kern="1200" dirty="0"/>
            <a:t> </a:t>
          </a:r>
          <a:r>
            <a:rPr lang="es-MX" sz="1600" b="0" i="0" kern="1200" dirty="0" err="1"/>
            <a:t>included</a:t>
          </a:r>
          <a:r>
            <a:rPr lang="es-MX" sz="1600" b="0" i="0" kern="1200" dirty="0"/>
            <a:t> a </a:t>
          </a:r>
          <a:r>
            <a:rPr lang="es-MX" sz="1600" b="0" i="0" kern="1200" dirty="0" err="1"/>
            <a:t>chronic</a:t>
          </a:r>
          <a:r>
            <a:rPr lang="es-MX" sz="1600" b="0" i="0" kern="1200" dirty="0"/>
            <a:t> </a:t>
          </a:r>
          <a:r>
            <a:rPr lang="es-MX" sz="1600" b="0" i="0" kern="1200" dirty="0" err="1"/>
            <a:t>disease</a:t>
          </a:r>
          <a:r>
            <a:rPr lang="es-MX" sz="1600" b="0" i="0" kern="1200" dirty="0"/>
            <a:t>* diagnosis</a:t>
          </a:r>
          <a:endParaRPr lang="es-ES" sz="1600" kern="1200" dirty="0"/>
        </a:p>
        <a:p>
          <a:pPr marL="171450" lvl="1" indent="-171450" algn="l" defTabSz="711200">
            <a:lnSpc>
              <a:spcPct val="90000"/>
            </a:lnSpc>
            <a:spcBef>
              <a:spcPct val="0"/>
            </a:spcBef>
            <a:spcAft>
              <a:spcPct val="15000"/>
            </a:spcAft>
            <a:buChar char="•"/>
          </a:pPr>
          <a:r>
            <a:rPr lang="es-MX" sz="1600" b="1" i="0" kern="1200" dirty="0"/>
            <a:t>12,375 </a:t>
          </a:r>
          <a:r>
            <a:rPr lang="es-MX" sz="1600" b="0" i="0" kern="1200" dirty="0" err="1"/>
            <a:t>health</a:t>
          </a:r>
          <a:r>
            <a:rPr lang="es-MX" sz="1600" b="0" i="0" kern="1200" dirty="0"/>
            <a:t> </a:t>
          </a:r>
          <a:r>
            <a:rPr lang="es-MX" sz="1600" b="0" i="0" kern="1200" dirty="0" err="1"/>
            <a:t>facilities</a:t>
          </a:r>
          <a:r>
            <a:rPr lang="es-MX" sz="1600" b="0" i="0" kern="1200" dirty="0"/>
            <a:t> in </a:t>
          </a:r>
          <a:r>
            <a:rPr lang="es-MX" sz="1600" b="0" i="0" kern="1200" dirty="0" err="1"/>
            <a:t>the</a:t>
          </a:r>
          <a:r>
            <a:rPr lang="es-MX" sz="1600" b="0" i="0" kern="1200" dirty="0"/>
            <a:t> country</a:t>
          </a:r>
          <a:endParaRPr lang="es-ES" sz="1600" kern="1200" dirty="0"/>
        </a:p>
      </dsp:txBody>
      <dsp:txXfrm>
        <a:off x="0" y="772846"/>
        <a:ext cx="3788228" cy="1644300"/>
      </dsp:txXfrm>
    </dsp:sp>
    <dsp:sp modelId="{2166A795-B0AB-4C15-8BF2-85E592CF303E}">
      <dsp:nvSpPr>
        <dsp:cNvPr id="0" name=""/>
        <dsp:cNvSpPr/>
      </dsp:nvSpPr>
      <dsp:spPr>
        <a:xfrm>
          <a:off x="189411" y="30526"/>
          <a:ext cx="3108763" cy="100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230" tIns="0" rIns="100230" bIns="0" numCol="1" spcCol="1270" anchor="ctr" anchorCtr="0">
          <a:noAutofit/>
        </a:bodyPr>
        <a:lstStyle/>
        <a:p>
          <a:pPr marL="0" lvl="0" indent="0" algn="l" defTabSz="800100">
            <a:lnSpc>
              <a:spcPct val="90000"/>
            </a:lnSpc>
            <a:spcBef>
              <a:spcPct val="0"/>
            </a:spcBef>
            <a:spcAft>
              <a:spcPct val="35000"/>
            </a:spcAft>
            <a:buNone/>
          </a:pPr>
          <a:r>
            <a:rPr lang="es-ES" sz="1800" kern="1200" dirty="0"/>
            <a:t>Electronic medical </a:t>
          </a:r>
          <a:r>
            <a:rPr lang="es-ES" sz="1800" kern="1200" dirty="0" err="1"/>
            <a:t>records</a:t>
          </a:r>
          <a:r>
            <a:rPr lang="es-ES" sz="1800" kern="1200" dirty="0"/>
            <a:t> for </a:t>
          </a:r>
          <a:r>
            <a:rPr lang="es-ES" sz="1800" kern="1200" dirty="0" err="1"/>
            <a:t>chronic</a:t>
          </a:r>
          <a:r>
            <a:rPr lang="es-ES" sz="1800" kern="1200" dirty="0"/>
            <a:t> </a:t>
          </a:r>
          <a:r>
            <a:rPr lang="es-ES" sz="1800" kern="1200" dirty="0" err="1"/>
            <a:t>disease</a:t>
          </a:r>
          <a:r>
            <a:rPr lang="es-ES" sz="1800" kern="1200" dirty="0"/>
            <a:t> </a:t>
          </a:r>
          <a:r>
            <a:rPr lang="es-ES" sz="1800" kern="1200" dirty="0" err="1"/>
            <a:t>prevention</a:t>
          </a:r>
          <a:r>
            <a:rPr lang="es-ES" sz="1800" kern="1200" dirty="0"/>
            <a:t>, screening and </a:t>
          </a:r>
          <a:r>
            <a:rPr lang="es-ES" sz="1800" kern="1200" dirty="0" err="1"/>
            <a:t>care</a:t>
          </a:r>
          <a:endParaRPr lang="es-ES" sz="1800" kern="1200" dirty="0"/>
        </a:p>
      </dsp:txBody>
      <dsp:txXfrm>
        <a:off x="238618" y="79733"/>
        <a:ext cx="3010349" cy="909586"/>
      </dsp:txXfrm>
    </dsp:sp>
    <dsp:sp modelId="{04C9FD58-FBDE-45E2-814B-7A7FF629B85E}">
      <dsp:nvSpPr>
        <dsp:cNvPr id="0" name=""/>
        <dsp:cNvSpPr/>
      </dsp:nvSpPr>
      <dsp:spPr>
        <a:xfrm>
          <a:off x="0" y="3226257"/>
          <a:ext cx="3788228" cy="1474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4009" tIns="374904" rIns="294009" bIns="113792" numCol="1" spcCol="1270" anchor="t" anchorCtr="0">
          <a:noAutofit/>
        </a:bodyPr>
        <a:lstStyle/>
        <a:p>
          <a:pPr marL="171450" lvl="1" indent="-171450" algn="l" defTabSz="711200">
            <a:lnSpc>
              <a:spcPct val="90000"/>
            </a:lnSpc>
            <a:spcBef>
              <a:spcPct val="0"/>
            </a:spcBef>
            <a:spcAft>
              <a:spcPct val="15000"/>
            </a:spcAft>
            <a:buChar char="•"/>
          </a:pPr>
          <a:r>
            <a:rPr lang="es-ES" sz="1600" kern="1200" dirty="0" err="1"/>
            <a:t>Unit</a:t>
          </a:r>
          <a:r>
            <a:rPr lang="es-ES" sz="1600" kern="1200" dirty="0"/>
            <a:t> of </a:t>
          </a:r>
          <a:r>
            <a:rPr lang="es-ES" sz="1600" kern="1200" dirty="0" err="1"/>
            <a:t>observation</a:t>
          </a:r>
          <a:r>
            <a:rPr lang="es-ES" sz="1600" kern="1200" dirty="0"/>
            <a:t> – </a:t>
          </a:r>
          <a:r>
            <a:rPr lang="es-ES" sz="1600" kern="1200" dirty="0" err="1"/>
            <a:t>one</a:t>
          </a:r>
          <a:r>
            <a:rPr lang="es-ES" sz="1600" kern="1200" dirty="0"/>
            <a:t> </a:t>
          </a:r>
          <a:r>
            <a:rPr lang="es-ES" sz="1600" kern="1200" dirty="0" err="1"/>
            <a:t>facility-month</a:t>
          </a:r>
          <a:endParaRPr lang="es-ES" sz="1600" kern="1200" dirty="0"/>
        </a:p>
        <a:p>
          <a:pPr marL="171450" lvl="1" indent="-171450" algn="l" defTabSz="711200">
            <a:lnSpc>
              <a:spcPct val="90000"/>
            </a:lnSpc>
            <a:spcBef>
              <a:spcPct val="0"/>
            </a:spcBef>
            <a:spcAft>
              <a:spcPct val="15000"/>
            </a:spcAft>
            <a:buChar char="•"/>
          </a:pPr>
          <a:r>
            <a:rPr lang="es-ES" sz="1600" b="1" kern="1200" dirty="0"/>
            <a:t>June 2016 – </a:t>
          </a:r>
          <a:r>
            <a:rPr lang="es-ES" sz="1600" b="1" kern="1200" dirty="0" err="1"/>
            <a:t>July</a:t>
          </a:r>
          <a:r>
            <a:rPr lang="es-ES" sz="1600" b="1" kern="1200" dirty="0"/>
            <a:t> 2018</a:t>
          </a:r>
        </a:p>
        <a:p>
          <a:pPr marL="171450" lvl="1" indent="-171450" algn="l" defTabSz="711200">
            <a:lnSpc>
              <a:spcPct val="90000"/>
            </a:lnSpc>
            <a:spcBef>
              <a:spcPct val="0"/>
            </a:spcBef>
            <a:spcAft>
              <a:spcPct val="15000"/>
            </a:spcAft>
            <a:buChar char="•"/>
          </a:pPr>
          <a:r>
            <a:rPr lang="es-ES" sz="1600" kern="1200" dirty="0" err="1"/>
            <a:t>Ranges</a:t>
          </a:r>
          <a:r>
            <a:rPr lang="es-ES" sz="1600" kern="1200" dirty="0"/>
            <a:t> From 0-100</a:t>
          </a:r>
        </a:p>
      </dsp:txBody>
      <dsp:txXfrm>
        <a:off x="0" y="3226257"/>
        <a:ext cx="3788228" cy="1474200"/>
      </dsp:txXfrm>
    </dsp:sp>
    <dsp:sp modelId="{781652F5-6FB5-44C8-B9DA-86BFD8FFCDDD}">
      <dsp:nvSpPr>
        <dsp:cNvPr id="0" name=""/>
        <dsp:cNvSpPr/>
      </dsp:nvSpPr>
      <dsp:spPr>
        <a:xfrm>
          <a:off x="189411" y="2514346"/>
          <a:ext cx="3125284" cy="9775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230" tIns="0" rIns="100230" bIns="0" numCol="1" spcCol="1270" anchor="ctr" anchorCtr="0">
          <a:noAutofit/>
        </a:bodyPr>
        <a:lstStyle/>
        <a:p>
          <a:pPr marL="0" lvl="0" indent="0" algn="l" defTabSz="800100">
            <a:lnSpc>
              <a:spcPct val="90000"/>
            </a:lnSpc>
            <a:spcBef>
              <a:spcPct val="0"/>
            </a:spcBef>
            <a:spcAft>
              <a:spcPct val="35000"/>
            </a:spcAft>
            <a:buNone/>
          </a:pPr>
          <a:r>
            <a:rPr lang="es-ES" sz="1800" kern="1200" dirty="0" err="1"/>
            <a:t>Index</a:t>
          </a:r>
          <a:r>
            <a:rPr lang="es-ES" sz="1800" kern="1200" dirty="0"/>
            <a:t> for </a:t>
          </a:r>
          <a:r>
            <a:rPr lang="es-ES" sz="1800" kern="1200" dirty="0" err="1"/>
            <a:t>the</a:t>
          </a:r>
          <a:r>
            <a:rPr lang="es-ES" sz="1800" kern="1200" dirty="0"/>
            <a:t> </a:t>
          </a:r>
          <a:r>
            <a:rPr lang="es-ES" sz="1800" kern="1200" dirty="0" err="1"/>
            <a:t>quality</a:t>
          </a:r>
          <a:r>
            <a:rPr lang="es-ES" sz="1800" kern="1200" dirty="0"/>
            <a:t> of </a:t>
          </a:r>
          <a:r>
            <a:rPr lang="es-ES" sz="1800" kern="1200" dirty="0" err="1"/>
            <a:t>care</a:t>
          </a:r>
          <a:r>
            <a:rPr lang="es-ES" sz="1800" kern="1200" dirty="0"/>
            <a:t> for </a:t>
          </a:r>
          <a:r>
            <a:rPr lang="es-ES" sz="1800" kern="1200" dirty="0" err="1"/>
            <a:t>the</a:t>
          </a:r>
          <a:r>
            <a:rPr lang="es-ES" sz="1800" kern="1200" dirty="0"/>
            <a:t> </a:t>
          </a:r>
          <a:r>
            <a:rPr lang="es-ES" sz="1800" kern="1200" dirty="0" err="1"/>
            <a:t>prevention</a:t>
          </a:r>
          <a:r>
            <a:rPr lang="es-ES" sz="1800" kern="1200" dirty="0"/>
            <a:t>, screening and </a:t>
          </a:r>
          <a:r>
            <a:rPr lang="es-ES" sz="1800" kern="1200" dirty="0" err="1"/>
            <a:t>treatment</a:t>
          </a:r>
          <a:r>
            <a:rPr lang="es-ES" sz="1800" kern="1200" dirty="0"/>
            <a:t> of diabetes(ICAD)</a:t>
          </a:r>
        </a:p>
      </dsp:txBody>
      <dsp:txXfrm>
        <a:off x="237133" y="2562068"/>
        <a:ext cx="3029840" cy="88214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820CA8-88C1-4E73-8ADB-D85BCE78A117}"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979E6-713B-4271-BC29-AFAD243A2AFB}" type="slidenum">
              <a:rPr lang="en-US" smtClean="0"/>
              <a:t>‹#›</a:t>
            </a:fld>
            <a:endParaRPr lang="en-US"/>
          </a:p>
        </p:txBody>
      </p:sp>
    </p:spTree>
    <p:extLst>
      <p:ext uri="{BB962C8B-B14F-4D97-AF65-F5344CB8AC3E}">
        <p14:creationId xmlns:p14="http://schemas.microsoft.com/office/powerpoint/2010/main" val="2869781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cdc.gov/reproductivehealth"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a:t>On behalf of leadership team; I lead implementation science at Yale, and this design is about implementation; </a:t>
            </a:r>
            <a:r>
              <a:rPr lang="en-US" sz="1200" dirty="0">
                <a:solidFill>
                  <a:schemeClr val="tx1"/>
                </a:solidFill>
              </a:rPr>
              <a:t>H-index 122, &gt; 750 pubs, statistical research and collaborative work, statistician on many RCTs, interacting with many DSMBs, PI of numerous NIH grants</a:t>
            </a:r>
          </a:p>
          <a:p>
            <a:pPr algn="ctr"/>
            <a:endParaRPr lang="en-US" sz="1050" dirty="0">
              <a:solidFill>
                <a:schemeClr val="tx1"/>
              </a:solidFill>
            </a:endParaRPr>
          </a:p>
          <a:p>
            <a:pPr algn="ctr"/>
            <a:r>
              <a:rPr lang="en-US" sz="1400" dirty="0">
                <a:solidFill>
                  <a:schemeClr val="tx1"/>
                </a:solidFill>
              </a:rPr>
              <a:t>With co-Is Lok, Nevo</a:t>
            </a:r>
          </a:p>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a:t>
            </a:fld>
            <a:endParaRPr lang="en-US"/>
          </a:p>
        </p:txBody>
      </p:sp>
    </p:spTree>
    <p:extLst>
      <p:ext uri="{BB962C8B-B14F-4D97-AF65-F5344CB8AC3E}">
        <p14:creationId xmlns:p14="http://schemas.microsoft.com/office/powerpoint/2010/main" val="2530900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a:t>On behalf of leadership team; I lead implementation science at Yale, and this design is about implementation; </a:t>
            </a:r>
            <a:r>
              <a:rPr lang="en-US" sz="1200" dirty="0">
                <a:solidFill>
                  <a:schemeClr val="tx1"/>
                </a:solidFill>
              </a:rPr>
              <a:t>H-index 122, &gt; 750 pubs, statistical research and collaborative work, statistician on many RCTs, interacting with many DSMBs, PI of numerous NIH grants</a:t>
            </a:r>
          </a:p>
          <a:p>
            <a:pPr algn="ctr"/>
            <a:endParaRPr lang="en-US" sz="1050" dirty="0">
              <a:solidFill>
                <a:schemeClr val="tx1"/>
              </a:solidFill>
            </a:endParaRPr>
          </a:p>
          <a:p>
            <a:pPr algn="ctr"/>
            <a:r>
              <a:rPr lang="en-US" sz="1400" dirty="0">
                <a:solidFill>
                  <a:schemeClr val="tx1"/>
                </a:solidFill>
              </a:rPr>
              <a:t>With co-Is Lok, Nevo</a:t>
            </a:r>
          </a:p>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2</a:t>
            </a:fld>
            <a:endParaRPr lang="en-US"/>
          </a:p>
        </p:txBody>
      </p:sp>
    </p:spTree>
    <p:extLst>
      <p:ext uri="{BB962C8B-B14F-4D97-AF65-F5344CB8AC3E}">
        <p14:creationId xmlns:p14="http://schemas.microsoft.com/office/powerpoint/2010/main" val="3494774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CA422-B317-52AC-D9F8-A66FC5293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49BDD-F2EF-E5C2-CC48-2136B8913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91299-9B83-3528-82ED-B82650969E20}"/>
              </a:ext>
            </a:extLst>
          </p:cNvPr>
          <p:cNvSpPr>
            <a:spLocks noGrp="1"/>
          </p:cNvSpPr>
          <p:nvPr>
            <p:ph type="body" idx="1"/>
          </p:nvPr>
        </p:nvSpPr>
        <p:spPr/>
        <p:txBody>
          <a:bodyPr/>
          <a:lstStyle/>
          <a:p>
            <a:pPr algn="ctr"/>
            <a:r>
              <a:rPr lang="en-US" dirty="0"/>
              <a:t>On behalf of leadership team; I lead implementation science at Yale, and this design is about implementation; </a:t>
            </a:r>
            <a:r>
              <a:rPr lang="en-US" sz="1200" dirty="0">
                <a:solidFill>
                  <a:schemeClr val="tx1"/>
                </a:solidFill>
              </a:rPr>
              <a:t>H-index 122, &gt; 750 pubs, statistical research and collaborative work, statistician on many RCTs, interacting with many DSMBs, PI of numerous NIH grants</a:t>
            </a:r>
          </a:p>
          <a:p>
            <a:pPr algn="ctr"/>
            <a:endParaRPr lang="en-US" sz="1050" dirty="0">
              <a:solidFill>
                <a:schemeClr val="tx1"/>
              </a:solidFill>
            </a:endParaRPr>
          </a:p>
          <a:p>
            <a:pPr algn="ctr"/>
            <a:r>
              <a:rPr lang="en-US" sz="1400" dirty="0">
                <a:solidFill>
                  <a:schemeClr val="tx1"/>
                </a:solidFill>
              </a:rPr>
              <a:t>With co-Is Lok, Nevo</a:t>
            </a:r>
          </a:p>
          <a:p>
            <a:endParaRPr lang="en-US" dirty="0"/>
          </a:p>
        </p:txBody>
      </p:sp>
      <p:sp>
        <p:nvSpPr>
          <p:cNvPr id="4" name="Slide Number Placeholder 3">
            <a:extLst>
              <a:ext uri="{FF2B5EF4-FFF2-40B4-BE49-F238E27FC236}">
                <a16:creationId xmlns:a16="http://schemas.microsoft.com/office/drawing/2014/main" id="{AF66F931-4F57-0A66-5B62-F2BAAD42E6A0}"/>
              </a:ext>
            </a:extLst>
          </p:cNvPr>
          <p:cNvSpPr>
            <a:spLocks noGrp="1"/>
          </p:cNvSpPr>
          <p:nvPr>
            <p:ph type="sldNum" sz="quarter" idx="10"/>
          </p:nvPr>
        </p:nvSpPr>
        <p:spPr/>
        <p:txBody>
          <a:bodyPr/>
          <a:lstStyle/>
          <a:p>
            <a:fld id="{9DA979E6-713B-4271-BC29-AFAD243A2AFB}" type="slidenum">
              <a:rPr lang="en-US" smtClean="0"/>
              <a:t>3</a:t>
            </a:fld>
            <a:endParaRPr lang="en-US"/>
          </a:p>
        </p:txBody>
      </p:sp>
    </p:spTree>
    <p:extLst>
      <p:ext uri="{BB962C8B-B14F-4D97-AF65-F5344CB8AC3E}">
        <p14:creationId xmlns:p14="http://schemas.microsoft.com/office/powerpoint/2010/main" val="2582595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a:t>
            </a:fld>
            <a:endParaRPr lang="en-US"/>
          </a:p>
        </p:txBody>
      </p:sp>
    </p:spTree>
    <p:extLst>
      <p:ext uri="{BB962C8B-B14F-4D97-AF65-F5344CB8AC3E}">
        <p14:creationId xmlns:p14="http://schemas.microsoft.com/office/powerpoint/2010/main" val="7891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3/4s of maternal deaths are due to hemorrhage, infections, </a:t>
            </a:r>
            <a:r>
              <a:rPr lang="en-US" dirty="0" err="1"/>
              <a:t>eclampsia</a:t>
            </a:r>
            <a:r>
              <a:rPr lang="en-US" dirty="0"/>
              <a:t>, obstructed labor and unsafe</a:t>
            </a:r>
            <a:r>
              <a:rPr lang="en-US" baseline="0" dirty="0"/>
              <a:t> abortion. Again, the clinical and preventive solutions to each of these causes is well known.</a:t>
            </a:r>
            <a:endParaRPr lang="en-US" dirty="0"/>
          </a:p>
        </p:txBody>
      </p:sp>
      <p:sp>
        <p:nvSpPr>
          <p:cNvPr id="4" name="Slide Number Placeholder 3"/>
          <p:cNvSpPr>
            <a:spLocks noGrp="1"/>
          </p:cNvSpPr>
          <p:nvPr>
            <p:ph type="sldNum" sz="quarter" idx="10"/>
          </p:nvPr>
        </p:nvSpPr>
        <p:spPr/>
        <p:txBody>
          <a:bodyPr/>
          <a:lstStyle/>
          <a:p>
            <a:fld id="{AA6F9D73-ACEC-48B9-97F2-7E8C630002F6}" type="slidenum">
              <a:rPr lang="en-US" smtClean="0"/>
              <a:pPr/>
              <a:t>10</a:t>
            </a:fld>
            <a:endParaRPr lang="en-US"/>
          </a:p>
        </p:txBody>
      </p:sp>
    </p:spTree>
    <p:extLst>
      <p:ext uri="{BB962C8B-B14F-4D97-AF65-F5344CB8AC3E}">
        <p14:creationId xmlns:p14="http://schemas.microsoft.com/office/powerpoint/2010/main" val="1078832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a:p>
            <a:pPr defTabSz="931774">
              <a:defRPr/>
            </a:pPr>
            <a:r>
              <a:rPr lang="en-US" dirty="0"/>
              <a:t>I propose a</a:t>
            </a:r>
            <a:r>
              <a:rPr lang="en-US" baseline="0" dirty="0"/>
              <a:t> 2x2x2 randomized factorial trial to prevent maternal mortality. The unit of randomization could be the village, district or individual. The factorial design makes it possible to study all 3 interventions with the sample size needed to study one, and could be conducted in any of the countries on the previous slide with the sample sizes given – ranging from 40,000 in Tanzania, or 120,000 in Pakistan. 96% of maternal deaths are expected to be prevented by the combined effect of these 3 interventions, which target the top 4 causes of maternal mortality, one by one.</a:t>
            </a:r>
          </a:p>
          <a:p>
            <a:pPr defTabSz="931774">
              <a:defRPr/>
            </a:pPr>
            <a:endParaRPr lang="en-US" baseline="0" dirty="0"/>
          </a:p>
          <a:p>
            <a:pPr defTabSz="931774">
              <a:defRPr/>
            </a:pPr>
            <a:endParaRPr lang="en-US" dirty="0"/>
          </a:p>
          <a:p>
            <a:pPr defTabSz="931774">
              <a:defRPr/>
            </a:pPr>
            <a:r>
              <a:rPr lang="en-US" dirty="0"/>
              <a:t>Emailed Wanda Barfield today, Director of</a:t>
            </a:r>
            <a:r>
              <a:rPr lang="en-US" baseline="0" dirty="0"/>
              <a:t> the </a:t>
            </a:r>
            <a:r>
              <a:rPr lang="en-US" dirty="0">
                <a:hlinkClick r:id="rId3"/>
              </a:rPr>
              <a:t>Division of Reproductive Health</a:t>
            </a:r>
            <a:r>
              <a:rPr lang="en-US" dirty="0"/>
              <a:t> of the National Center for Chronic Disease Prevention and Health Promotion at the Centers for Disease Control in Atlanta, invited for talk!</a:t>
            </a:r>
          </a:p>
        </p:txBody>
      </p:sp>
      <p:sp>
        <p:nvSpPr>
          <p:cNvPr id="4" name="Slide Number Placeholder 3"/>
          <p:cNvSpPr>
            <a:spLocks noGrp="1"/>
          </p:cNvSpPr>
          <p:nvPr>
            <p:ph type="sldNum" sz="quarter" idx="10"/>
          </p:nvPr>
        </p:nvSpPr>
        <p:spPr/>
        <p:txBody>
          <a:bodyPr/>
          <a:lstStyle/>
          <a:p>
            <a:fld id="{AA6F9D73-ACEC-48B9-97F2-7E8C630002F6}" type="slidenum">
              <a:rPr lang="en-US" smtClean="0"/>
              <a:pPr/>
              <a:t>11</a:t>
            </a:fld>
            <a:endParaRPr lang="en-US"/>
          </a:p>
        </p:txBody>
      </p:sp>
    </p:spTree>
    <p:extLst>
      <p:ext uri="{BB962C8B-B14F-4D97-AF65-F5344CB8AC3E}">
        <p14:creationId xmlns:p14="http://schemas.microsoft.com/office/powerpoint/2010/main" val="959671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31459" indent="-231459"/>
            <a:endParaRPr lang="en-US" dirty="0"/>
          </a:p>
        </p:txBody>
      </p:sp>
      <p:sp>
        <p:nvSpPr>
          <p:cNvPr id="4" name="Slide Number Placeholder 3"/>
          <p:cNvSpPr>
            <a:spLocks noGrp="1"/>
          </p:cNvSpPr>
          <p:nvPr>
            <p:ph type="sldNum" sz="quarter" idx="10"/>
          </p:nvPr>
        </p:nvSpPr>
        <p:spPr/>
        <p:txBody>
          <a:bodyPr/>
          <a:lstStyle/>
          <a:p>
            <a:fld id="{97A9ACED-C2E8-4D33-9640-CE336B1E612F}" type="slidenum">
              <a:rPr lang="en-US" smtClean="0"/>
              <a:pPr/>
              <a:t>12</a:t>
            </a:fld>
            <a:endParaRPr lang="en-US"/>
          </a:p>
        </p:txBody>
      </p:sp>
    </p:spTree>
    <p:extLst>
      <p:ext uri="{BB962C8B-B14F-4D97-AF65-F5344CB8AC3E}">
        <p14:creationId xmlns:p14="http://schemas.microsoft.com/office/powerpoint/2010/main" val="131335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15</a:t>
            </a:fld>
            <a:endParaRPr lang="en-US"/>
          </a:p>
        </p:txBody>
      </p:sp>
    </p:spTree>
    <p:extLst>
      <p:ext uri="{BB962C8B-B14F-4D97-AF65-F5344CB8AC3E}">
        <p14:creationId xmlns:p14="http://schemas.microsoft.com/office/powerpoint/2010/main" val="2214535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16</a:t>
            </a:fld>
            <a:endParaRPr lang="en-US"/>
          </a:p>
        </p:txBody>
      </p:sp>
    </p:spTree>
    <p:extLst>
      <p:ext uri="{BB962C8B-B14F-4D97-AF65-F5344CB8AC3E}">
        <p14:creationId xmlns:p14="http://schemas.microsoft.com/office/powerpoint/2010/main" val="806157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17</a:t>
            </a:fld>
            <a:endParaRPr lang="en-US"/>
          </a:p>
        </p:txBody>
      </p:sp>
    </p:spTree>
    <p:extLst>
      <p:ext uri="{BB962C8B-B14F-4D97-AF65-F5344CB8AC3E}">
        <p14:creationId xmlns:p14="http://schemas.microsoft.com/office/powerpoint/2010/main" val="2710700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A979E6-713B-4271-BC29-AFAD243A2AFB}" type="slidenum">
              <a:rPr lang="en-US" smtClean="0"/>
              <a:t>18</a:t>
            </a:fld>
            <a:endParaRPr lang="en-US"/>
          </a:p>
        </p:txBody>
      </p:sp>
    </p:spTree>
    <p:extLst>
      <p:ext uri="{BB962C8B-B14F-4D97-AF65-F5344CB8AC3E}">
        <p14:creationId xmlns:p14="http://schemas.microsoft.com/office/powerpoint/2010/main" val="1513617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21</a:t>
            </a:fld>
            <a:endParaRPr lang="en-US"/>
          </a:p>
        </p:txBody>
      </p:sp>
    </p:spTree>
    <p:extLst>
      <p:ext uri="{BB962C8B-B14F-4D97-AF65-F5344CB8AC3E}">
        <p14:creationId xmlns:p14="http://schemas.microsoft.com/office/powerpoint/2010/main" val="3681062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p:spPr>
        <p:txBody>
          <a:bodyPr/>
          <a:lstStyle/>
          <a:p>
            <a:r>
              <a:rPr lang="en-US" altLang="en-US"/>
              <a:t>Highlight that Option A is the standard of care in Tanzania</a:t>
            </a:r>
          </a:p>
          <a:p>
            <a:r>
              <a:rPr lang="en-US" altLang="en-US"/>
              <a:t>Mention that Option B in our trial is AZT + 3TC + EFV </a:t>
            </a:r>
          </a:p>
        </p:txBody>
      </p:sp>
      <p:sp>
        <p:nvSpPr>
          <p:cNvPr id="93188" name="Slide Number Placeholder 3"/>
          <p:cNvSpPr>
            <a:spLocks noGrp="1"/>
          </p:cNvSpPr>
          <p:nvPr>
            <p:ph type="sldNum" sz="quarter" idx="5"/>
          </p:nvPr>
        </p:nvSpPr>
        <p:spPr>
          <a:noFill/>
        </p:spPr>
        <p:txBody>
          <a:bodyPr/>
          <a:lstStyle/>
          <a:p>
            <a:fld id="{A8A4C339-62E7-4C5A-9987-51DBCDF1CFFB}" type="slidenum">
              <a:rPr lang="en-US" altLang="en-US" smtClean="0"/>
              <a:pPr/>
              <a:t>22</a:t>
            </a:fld>
            <a:endParaRPr lang="en-US" altLang="en-US"/>
          </a:p>
        </p:txBody>
      </p:sp>
    </p:spTree>
    <p:extLst>
      <p:ext uri="{BB962C8B-B14F-4D97-AF65-F5344CB8AC3E}">
        <p14:creationId xmlns:p14="http://schemas.microsoft.com/office/powerpoint/2010/main" val="1753545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25</a:t>
            </a:fld>
            <a:endParaRPr lang="en-US"/>
          </a:p>
        </p:txBody>
      </p:sp>
    </p:spTree>
    <p:extLst>
      <p:ext uri="{BB962C8B-B14F-4D97-AF65-F5344CB8AC3E}">
        <p14:creationId xmlns:p14="http://schemas.microsoft.com/office/powerpoint/2010/main" val="4018362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27</a:t>
            </a:fld>
            <a:endParaRPr lang="en-US"/>
          </a:p>
        </p:txBody>
      </p:sp>
    </p:spTree>
    <p:extLst>
      <p:ext uri="{BB962C8B-B14F-4D97-AF65-F5344CB8AC3E}">
        <p14:creationId xmlns:p14="http://schemas.microsoft.com/office/powerpoint/2010/main" val="503339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https://dcricollab.dcri.duke.edu/sites/impact/Knowledge%20Repository/2023-01-20-GR-Slides-IMPACT.pdf is a presentation elaborating on the use of FRAME to check out</a:t>
            </a:r>
          </a:p>
        </p:txBody>
      </p:sp>
      <p:sp>
        <p:nvSpPr>
          <p:cNvPr id="4" name="Slide Number Placeholder 3"/>
          <p:cNvSpPr>
            <a:spLocks noGrp="1"/>
          </p:cNvSpPr>
          <p:nvPr>
            <p:ph type="sldNum" sz="quarter" idx="5"/>
          </p:nvPr>
        </p:nvSpPr>
        <p:spPr/>
        <p:txBody>
          <a:bodyPr/>
          <a:lstStyle/>
          <a:p>
            <a:fld id="{9DA979E6-713B-4271-BC29-AFAD243A2AFB}" type="slidenum">
              <a:rPr lang="en-US" smtClean="0"/>
              <a:t>34</a:t>
            </a:fld>
            <a:endParaRPr lang="en-US"/>
          </a:p>
        </p:txBody>
      </p:sp>
    </p:spTree>
    <p:extLst>
      <p:ext uri="{BB962C8B-B14F-4D97-AF65-F5344CB8AC3E}">
        <p14:creationId xmlns:p14="http://schemas.microsoft.com/office/powerpoint/2010/main" val="1868179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38</a:t>
            </a:fld>
            <a:endParaRPr lang="en-US"/>
          </a:p>
        </p:txBody>
      </p:sp>
    </p:spTree>
    <p:extLst>
      <p:ext uri="{BB962C8B-B14F-4D97-AF65-F5344CB8AC3E}">
        <p14:creationId xmlns:p14="http://schemas.microsoft.com/office/powerpoint/2010/main" val="4055198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40</a:t>
            </a:fld>
            <a:endParaRPr lang="en-US"/>
          </a:p>
        </p:txBody>
      </p:sp>
    </p:spTree>
    <p:extLst>
      <p:ext uri="{BB962C8B-B14F-4D97-AF65-F5344CB8AC3E}">
        <p14:creationId xmlns:p14="http://schemas.microsoft.com/office/powerpoint/2010/main" val="18985943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syllabus from here</a:t>
            </a:r>
          </a:p>
        </p:txBody>
      </p:sp>
      <p:sp>
        <p:nvSpPr>
          <p:cNvPr id="4" name="Slide Number Placeholder 3"/>
          <p:cNvSpPr>
            <a:spLocks noGrp="1"/>
          </p:cNvSpPr>
          <p:nvPr>
            <p:ph type="sldNum" sz="quarter" idx="10"/>
          </p:nvPr>
        </p:nvSpPr>
        <p:spPr/>
        <p:txBody>
          <a:bodyPr/>
          <a:lstStyle/>
          <a:p>
            <a:fld id="{9DA979E6-713B-4271-BC29-AFAD243A2AFB}" type="slidenum">
              <a:rPr lang="en-US" smtClean="0"/>
              <a:t>41</a:t>
            </a:fld>
            <a:endParaRPr lang="en-US"/>
          </a:p>
        </p:txBody>
      </p:sp>
    </p:spTree>
    <p:extLst>
      <p:ext uri="{BB962C8B-B14F-4D97-AF65-F5344CB8AC3E}">
        <p14:creationId xmlns:p14="http://schemas.microsoft.com/office/powerpoint/2010/main" val="2218465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B390F-7375-4D11-A900-DC1D9BCE9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750E59-C29E-4C9C-BD3C-EE313218A5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C180BA-5004-4926-A1C7-D23D867BCD29}"/>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5" name="Footer Placeholder 4">
            <a:extLst>
              <a:ext uri="{FF2B5EF4-FFF2-40B4-BE49-F238E27FC236}">
                <a16:creationId xmlns:a16="http://schemas.microsoft.com/office/drawing/2014/main" id="{D5A26C45-9255-460D-AE90-06D499BDE9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8C05A5-958B-4603-9986-518380882EFA}"/>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27587986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364EB-7E63-473C-B315-AD80003571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5040DC-893E-44C1-AF04-554D276672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81C378-1502-4072-ADE1-424C8C876591}"/>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5" name="Footer Placeholder 4">
            <a:extLst>
              <a:ext uri="{FF2B5EF4-FFF2-40B4-BE49-F238E27FC236}">
                <a16:creationId xmlns:a16="http://schemas.microsoft.com/office/drawing/2014/main" id="{C2D98BFC-EB9D-4DD2-B30A-3E7346A8AD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966824-E9A4-4E00-B0FF-80ECB5841BB9}"/>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88564351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00871-BF56-4D04-AC1A-B440CD7602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3C5AAA-C527-49DE-A6FE-0E989DE6D2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D50D2C-1717-494F-9F97-1E81FDB4AA1D}"/>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5" name="Footer Placeholder 4">
            <a:extLst>
              <a:ext uri="{FF2B5EF4-FFF2-40B4-BE49-F238E27FC236}">
                <a16:creationId xmlns:a16="http://schemas.microsoft.com/office/drawing/2014/main" id="{9712261E-94A4-4247-A9F8-F8BAF3FB9A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55E4F-2A6D-46AB-88AF-7656BC6F0EA1}"/>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64371608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D9B2F-EBFC-4EE7-8C89-AEFA4FE1B8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330E8C-F77F-4E2F-9574-D5279BB294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BCC3EE-E2C8-4933-BBC6-4401083E20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74762B-48FC-44B1-B4C2-EA59EEFCC572}"/>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6" name="Footer Placeholder 5">
            <a:extLst>
              <a:ext uri="{FF2B5EF4-FFF2-40B4-BE49-F238E27FC236}">
                <a16:creationId xmlns:a16="http://schemas.microsoft.com/office/drawing/2014/main" id="{694207A1-7CD6-4264-954A-65141B41C1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44253F-DB39-473F-97F1-06D141139898}"/>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01846311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D868-7CEB-4E58-B75C-0CA096FF23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CC0253-C9DD-4DA7-8FB8-7E73F5E918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AA8AA4-0156-47AF-8717-9333DF3FDC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FC021F-B2D8-4499-8A7E-A9ABF7518D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5F49FF-C852-4DAA-84C6-5A597FCDB4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8E3AB3-0C25-49AA-A733-333C2690A0B1}"/>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8" name="Footer Placeholder 7">
            <a:extLst>
              <a:ext uri="{FF2B5EF4-FFF2-40B4-BE49-F238E27FC236}">
                <a16:creationId xmlns:a16="http://schemas.microsoft.com/office/drawing/2014/main" id="{FECA58F5-F4F2-4704-94BF-4A77C650CF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F4D043-509F-47E0-BDE2-B3A9141A6598}"/>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43644149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E03AD-E118-45E8-801E-BF317BC203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7E8423-C3DE-48C3-A7D2-F5A05DED7D66}"/>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4" name="Footer Placeholder 3">
            <a:extLst>
              <a:ext uri="{FF2B5EF4-FFF2-40B4-BE49-F238E27FC236}">
                <a16:creationId xmlns:a16="http://schemas.microsoft.com/office/drawing/2014/main" id="{6D2DB88A-6AE2-40E5-AD9D-8C79B73433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0500F5-37B2-4418-8211-C6AF88D8E580}"/>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67192813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2A8F2-E152-41CD-9354-A5911067D4E2}"/>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3" name="Footer Placeholder 2">
            <a:extLst>
              <a:ext uri="{FF2B5EF4-FFF2-40B4-BE49-F238E27FC236}">
                <a16:creationId xmlns:a16="http://schemas.microsoft.com/office/drawing/2014/main" id="{ED5B03D1-2C4D-424E-9EED-955BD5C6AE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2D8D30-01FF-44E6-8B25-66D9F619FF39}"/>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426670504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969F3-3DCD-4C00-9662-86DA9CCD91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7364-1E26-4ED8-B2C3-F13DD1A65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1137A8-2791-4530-A641-F3C54AABA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8AD5E3-85CA-4846-AFCD-AEC2BFD6CBE1}"/>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6" name="Footer Placeholder 5">
            <a:extLst>
              <a:ext uri="{FF2B5EF4-FFF2-40B4-BE49-F238E27FC236}">
                <a16:creationId xmlns:a16="http://schemas.microsoft.com/office/drawing/2014/main" id="{4C7725B6-B8F9-4A73-ADB3-1EF56D2C7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E8EEFC-9C7D-435C-811E-EEA5F268038C}"/>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92498482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91D0-3771-41D9-9B30-B8727A8FC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526BD8-7E70-4236-9EF8-EAD10B2BBC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A62F87C-1004-430B-9A66-68B9711031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F3D52D-46C2-4195-8974-00AE032428EF}"/>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6" name="Footer Placeholder 5">
            <a:extLst>
              <a:ext uri="{FF2B5EF4-FFF2-40B4-BE49-F238E27FC236}">
                <a16:creationId xmlns:a16="http://schemas.microsoft.com/office/drawing/2014/main" id="{B7D599FE-14BB-48C0-843E-87FEE76DD2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DC4590-E198-429C-891A-F5E7BB5BD621}"/>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72441224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4CD5F-E468-4E80-9DD8-A7681A90B2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3021AF-EDEB-4F60-87C8-60059273BA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EFD96A-56E3-4FCC-A6C4-86B4DC88BD1C}"/>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5" name="Footer Placeholder 4">
            <a:extLst>
              <a:ext uri="{FF2B5EF4-FFF2-40B4-BE49-F238E27FC236}">
                <a16:creationId xmlns:a16="http://schemas.microsoft.com/office/drawing/2014/main" id="{2EFB2FBB-AFB6-472A-A354-3F9C695414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156B55-69A0-4B5C-87D5-B030C39B7DAE}"/>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133716895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35B826-AD48-49EE-B803-D1C9317693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1AC291-B977-4329-B2F5-56C919789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B3F06-4C15-49C3-934B-85755AE5EE06}"/>
              </a:ext>
            </a:extLst>
          </p:cNvPr>
          <p:cNvSpPr>
            <a:spLocks noGrp="1"/>
          </p:cNvSpPr>
          <p:nvPr>
            <p:ph type="dt" sz="half" idx="10"/>
          </p:nvPr>
        </p:nvSpPr>
        <p:spPr/>
        <p:txBody>
          <a:bodyPr/>
          <a:lstStyle/>
          <a:p>
            <a:fld id="{45788320-8CC9-460A-8667-E34A32C94FA5}" type="datetimeFigureOut">
              <a:rPr lang="en-US" smtClean="0"/>
              <a:t>9/7/2026</a:t>
            </a:fld>
            <a:endParaRPr lang="en-US"/>
          </a:p>
        </p:txBody>
      </p:sp>
      <p:sp>
        <p:nvSpPr>
          <p:cNvPr id="5" name="Footer Placeholder 4">
            <a:extLst>
              <a:ext uri="{FF2B5EF4-FFF2-40B4-BE49-F238E27FC236}">
                <a16:creationId xmlns:a16="http://schemas.microsoft.com/office/drawing/2014/main" id="{C63A5FBC-3AD8-4A63-88F1-267664642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E75695-BD15-4871-87DF-19831FE32A16}"/>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80583615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D4325-E09E-4DBD-8177-855BF179F0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C71BB2-FD5E-4388-ADD8-8BD025EAD0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E9B4CF-BDAB-4F63-B0E1-65AA0CC54C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788320-8CC9-460A-8667-E34A32C94FA5}" type="datetimeFigureOut">
              <a:rPr lang="en-US" smtClean="0"/>
              <a:t>9/7/2026</a:t>
            </a:fld>
            <a:endParaRPr lang="en-US"/>
          </a:p>
        </p:txBody>
      </p:sp>
      <p:sp>
        <p:nvSpPr>
          <p:cNvPr id="5" name="Footer Placeholder 4">
            <a:extLst>
              <a:ext uri="{FF2B5EF4-FFF2-40B4-BE49-F238E27FC236}">
                <a16:creationId xmlns:a16="http://schemas.microsoft.com/office/drawing/2014/main" id="{84318F85-7548-4FD7-9256-3B34BF0A20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C97F7E-A5BF-4464-A70F-BBC657E4AD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C6A7FE-225D-49F1-B302-AA37EA92BB49}" type="slidenum">
              <a:rPr lang="en-US" smtClean="0"/>
              <a:t>‹#›</a:t>
            </a:fld>
            <a:endParaRPr lang="en-US"/>
          </a:p>
        </p:txBody>
      </p:sp>
    </p:spTree>
    <p:extLst>
      <p:ext uri="{BB962C8B-B14F-4D97-AF65-F5344CB8AC3E}">
        <p14:creationId xmlns:p14="http://schemas.microsoft.com/office/powerpoint/2010/main" val="24224562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250"/>
    </mc:Choice>
    <mc:Fallback xmlns="">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hyperlink" Target="https://ysph.yale.edu/cmips/"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hyperlink" Target="mailto:zach.frere@yale.edu"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emf"/><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7.png"/><Relationship Id="rId7" Type="http://schemas.openxmlformats.org/officeDocument/2006/relationships/diagramColors" Target="../diagrams/colors3.xm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0.jpg"/><Relationship Id="rId5" Type="http://schemas.openxmlformats.org/officeDocument/2006/relationships/image" Target="../media/image29.jpeg"/><Relationship Id="rId4"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F401C9-957A-4103-A278-02BA7594E5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38460"/>
            <a:ext cx="12192000" cy="1019540"/>
          </a:xfrm>
          <a:prstGeom prst="rect">
            <a:avLst/>
          </a:prstGeom>
        </p:spPr>
      </p:pic>
      <p:sp>
        <p:nvSpPr>
          <p:cNvPr id="6" name="Rectangle 5">
            <a:extLst>
              <a:ext uri="{FF2B5EF4-FFF2-40B4-BE49-F238E27FC236}">
                <a16:creationId xmlns:a16="http://schemas.microsoft.com/office/drawing/2014/main" id="{EA3ABC59-4759-4855-86E5-E2B22244AD05}"/>
              </a:ext>
            </a:extLst>
          </p:cNvPr>
          <p:cNvSpPr/>
          <p:nvPr/>
        </p:nvSpPr>
        <p:spPr>
          <a:xfrm>
            <a:off x="0" y="32790"/>
            <a:ext cx="12192000" cy="243840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9">
            <a:extLst>
              <a:ext uri="{FF2B5EF4-FFF2-40B4-BE49-F238E27FC236}">
                <a16:creationId xmlns:a16="http://schemas.microsoft.com/office/drawing/2014/main" id="{E2439DA3-280F-44BF-8B15-41456EFC3B5C}"/>
              </a:ext>
            </a:extLst>
          </p:cNvPr>
          <p:cNvSpPr txBox="1">
            <a:spLocks/>
          </p:cNvSpPr>
          <p:nvPr/>
        </p:nvSpPr>
        <p:spPr>
          <a:xfrm>
            <a:off x="-104861" y="2561860"/>
            <a:ext cx="12191999" cy="3095259"/>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b="1" dirty="0">
                <a:solidFill>
                  <a:schemeClr val="tx1"/>
                </a:solidFill>
              </a:rPr>
              <a:t>Donna Spiegelman, Sc.D.</a:t>
            </a:r>
          </a:p>
          <a:p>
            <a:pPr algn="ctr"/>
            <a:r>
              <a:rPr lang="en-US" sz="4000" b="1" dirty="0">
                <a:solidFill>
                  <a:schemeClr val="tx1"/>
                </a:solidFill>
              </a:rPr>
              <a:t>Susan Dwight Bliss Professor of Biostatistics and</a:t>
            </a:r>
          </a:p>
          <a:p>
            <a:pPr algn="ctr"/>
            <a:r>
              <a:rPr lang="en-US" sz="4000" dirty="0">
                <a:solidFill>
                  <a:schemeClr val="tx1"/>
                </a:solidFill>
              </a:rPr>
              <a:t>Inaugural Director, Center for Methods in Implementation and Prevention Science (CMIPS)</a:t>
            </a:r>
          </a:p>
          <a:p>
            <a:pPr algn="ctr"/>
            <a:r>
              <a:rPr lang="en-US" sz="4000" dirty="0">
                <a:solidFill>
                  <a:schemeClr val="tx1"/>
                </a:solidFill>
                <a:hlinkClick r:id="rId4"/>
              </a:rPr>
              <a:t>https://ysph.yale.edu/cmips/</a:t>
            </a:r>
            <a:endParaRPr lang="en-US" sz="4000" dirty="0">
              <a:solidFill>
                <a:schemeClr val="tx1"/>
              </a:solidFill>
            </a:endParaRPr>
          </a:p>
          <a:p>
            <a:pPr algn="ctr"/>
            <a:endParaRPr lang="en-US" sz="4000" dirty="0">
              <a:solidFill>
                <a:schemeClr val="tx1"/>
              </a:solidFill>
            </a:endParaRPr>
          </a:p>
          <a:p>
            <a:pPr algn="ctr"/>
            <a:endParaRPr lang="en-US" sz="4000" dirty="0">
              <a:solidFill>
                <a:schemeClr val="tx1"/>
              </a:solidFill>
            </a:endParaRPr>
          </a:p>
          <a:p>
            <a:pPr algn="ctr"/>
            <a:endParaRPr lang="en-US" sz="2800" dirty="0">
              <a:solidFill>
                <a:schemeClr val="tx1"/>
              </a:solidFill>
            </a:endParaRPr>
          </a:p>
        </p:txBody>
      </p:sp>
      <p:pic>
        <p:nvPicPr>
          <p:cNvPr id="9" name="Picture 8">
            <a:extLst>
              <a:ext uri="{FF2B5EF4-FFF2-40B4-BE49-F238E27FC236}">
                <a16:creationId xmlns:a16="http://schemas.microsoft.com/office/drawing/2014/main" id="{867186EF-8D32-458F-A4BA-4849C7A9D0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982" y="149131"/>
            <a:ext cx="4140639" cy="260670"/>
          </a:xfrm>
          <a:prstGeom prst="rect">
            <a:avLst/>
          </a:prstGeom>
        </p:spPr>
      </p:pic>
      <p:sp>
        <p:nvSpPr>
          <p:cNvPr id="2" name="Title 9">
            <a:extLst>
              <a:ext uri="{FF2B5EF4-FFF2-40B4-BE49-F238E27FC236}">
                <a16:creationId xmlns:a16="http://schemas.microsoft.com/office/drawing/2014/main" id="{C7262873-7055-C01F-86AE-F928868D486E}"/>
              </a:ext>
            </a:extLst>
          </p:cNvPr>
          <p:cNvSpPr txBox="1">
            <a:spLocks/>
          </p:cNvSpPr>
          <p:nvPr/>
        </p:nvSpPr>
        <p:spPr>
          <a:xfrm>
            <a:off x="-104861" y="637582"/>
            <a:ext cx="11982278" cy="1605826"/>
          </a:xfrm>
          <a:prstGeom prst="rect">
            <a:avLst/>
          </a:prstGeom>
        </p:spPr>
        <p:txBody>
          <a:bodyPr anchor="ct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dirty="0"/>
              <a:t>BIS629 Advanced Methods In Implementation Science</a:t>
            </a:r>
          </a:p>
          <a:p>
            <a:pPr algn="ctr"/>
            <a:r>
              <a:rPr lang="en-US" sz="4000" dirty="0"/>
              <a:t>Lecture 1: Introduction and Motivation</a:t>
            </a:r>
          </a:p>
        </p:txBody>
      </p:sp>
    </p:spTree>
    <p:extLst>
      <p:ext uri="{BB962C8B-B14F-4D97-AF65-F5344CB8AC3E}">
        <p14:creationId xmlns:p14="http://schemas.microsoft.com/office/powerpoint/2010/main" val="365667495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F401C9-957A-4103-A278-02BA7594E5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38460"/>
            <a:ext cx="12192000" cy="1019540"/>
          </a:xfrm>
          <a:prstGeom prst="rect">
            <a:avLst/>
          </a:prstGeom>
        </p:spPr>
      </p:pic>
      <p:sp>
        <p:nvSpPr>
          <p:cNvPr id="6" name="Rectangle 5">
            <a:extLst>
              <a:ext uri="{FF2B5EF4-FFF2-40B4-BE49-F238E27FC236}">
                <a16:creationId xmlns:a16="http://schemas.microsoft.com/office/drawing/2014/main" id="{EA3ABC59-4759-4855-86E5-E2B22244AD05}"/>
              </a:ext>
            </a:extLst>
          </p:cNvPr>
          <p:cNvSpPr/>
          <p:nvPr/>
        </p:nvSpPr>
        <p:spPr>
          <a:xfrm>
            <a:off x="0" y="0"/>
            <a:ext cx="12192000" cy="243840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9">
            <a:extLst>
              <a:ext uri="{FF2B5EF4-FFF2-40B4-BE49-F238E27FC236}">
                <a16:creationId xmlns:a16="http://schemas.microsoft.com/office/drawing/2014/main" id="{AB13BC08-9428-4075-9A4F-C496192AB7EE}"/>
              </a:ext>
            </a:extLst>
          </p:cNvPr>
          <p:cNvSpPr txBox="1">
            <a:spLocks/>
          </p:cNvSpPr>
          <p:nvPr/>
        </p:nvSpPr>
        <p:spPr>
          <a:xfrm>
            <a:off x="104861" y="651234"/>
            <a:ext cx="11982278" cy="1605826"/>
          </a:xfrm>
          <a:prstGeom prst="rect">
            <a:avLst/>
          </a:prstGeom>
        </p:spPr>
        <p:txBody>
          <a:bodyPr anchor="ct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dirty="0"/>
              <a:t>BIS629 Advanced Methods In Implementation Science</a:t>
            </a:r>
          </a:p>
          <a:p>
            <a:pPr algn="ctr"/>
            <a:r>
              <a:rPr lang="en-US" sz="4000" dirty="0"/>
              <a:t>Lecture 1: Introduction and Motivation</a:t>
            </a:r>
          </a:p>
        </p:txBody>
      </p:sp>
      <p:sp>
        <p:nvSpPr>
          <p:cNvPr id="8" name="Title 9">
            <a:extLst>
              <a:ext uri="{FF2B5EF4-FFF2-40B4-BE49-F238E27FC236}">
                <a16:creationId xmlns:a16="http://schemas.microsoft.com/office/drawing/2014/main" id="{E2439DA3-280F-44BF-8B15-41456EFC3B5C}"/>
              </a:ext>
            </a:extLst>
          </p:cNvPr>
          <p:cNvSpPr txBox="1">
            <a:spLocks/>
          </p:cNvSpPr>
          <p:nvPr/>
        </p:nvSpPr>
        <p:spPr>
          <a:xfrm>
            <a:off x="-104860" y="2743201"/>
            <a:ext cx="12191999" cy="3095259"/>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b="1" dirty="0">
                <a:solidFill>
                  <a:schemeClr val="tx1"/>
                </a:solidFill>
              </a:rPr>
              <a:t>Teaching assistant: Can Meng</a:t>
            </a:r>
          </a:p>
          <a:p>
            <a:pPr algn="ctr"/>
            <a:endParaRPr lang="en-US" sz="4000" dirty="0">
              <a:solidFill>
                <a:schemeClr val="tx1"/>
              </a:solidFill>
            </a:endParaRPr>
          </a:p>
          <a:p>
            <a:pPr algn="ctr"/>
            <a:r>
              <a:rPr lang="en-US" sz="2800" dirty="0">
                <a:solidFill>
                  <a:schemeClr val="tx1"/>
                </a:solidFill>
              </a:rPr>
              <a:t>PhD Candidate</a:t>
            </a:r>
          </a:p>
          <a:p>
            <a:pPr algn="ctr"/>
            <a:r>
              <a:rPr lang="en-US" sz="2800" dirty="0">
                <a:solidFill>
                  <a:schemeClr val="tx1"/>
                </a:solidFill>
              </a:rPr>
              <a:t>Department of Biostatistics</a:t>
            </a:r>
          </a:p>
          <a:p>
            <a:pPr algn="ctr"/>
            <a:r>
              <a:rPr lang="en-US" sz="2800" dirty="0">
                <a:solidFill>
                  <a:schemeClr val="tx1"/>
                </a:solidFill>
              </a:rPr>
              <a:t>Yale School of Public Health</a:t>
            </a:r>
          </a:p>
          <a:p>
            <a:pPr algn="ctr"/>
            <a:r>
              <a:rPr lang="en-US" sz="1800" u="sng" dirty="0">
                <a:solidFill>
                  <a:srgbClr val="0000FF"/>
                </a:solidFill>
                <a:effectLst/>
                <a:latin typeface="Calibri" panose="020F0502020204030204" pitchFamily="34" charset="0"/>
                <a:ea typeface="SimSun" panose="02010600030101010101" pitchFamily="2" charset="-122"/>
                <a:cs typeface="Times New Roman" panose="02020603050405020304" pitchFamily="18" charset="0"/>
                <a:hlinkClick r:id="rId4"/>
              </a:rPr>
              <a:t>Can.meng@yale.edu</a:t>
            </a:r>
            <a:endParaRPr lang="en-US" sz="2800" dirty="0">
              <a:solidFill>
                <a:schemeClr val="tx1"/>
              </a:solidFill>
            </a:endParaRPr>
          </a:p>
        </p:txBody>
      </p:sp>
      <p:pic>
        <p:nvPicPr>
          <p:cNvPr id="9" name="Picture 8">
            <a:extLst>
              <a:ext uri="{FF2B5EF4-FFF2-40B4-BE49-F238E27FC236}">
                <a16:creationId xmlns:a16="http://schemas.microsoft.com/office/drawing/2014/main" id="{867186EF-8D32-458F-A4BA-4849C7A9D0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982" y="149131"/>
            <a:ext cx="4140639" cy="260670"/>
          </a:xfrm>
          <a:prstGeom prst="rect">
            <a:avLst/>
          </a:prstGeom>
        </p:spPr>
      </p:pic>
    </p:spTree>
    <p:extLst>
      <p:ext uri="{BB962C8B-B14F-4D97-AF65-F5344CB8AC3E}">
        <p14:creationId xmlns:p14="http://schemas.microsoft.com/office/powerpoint/2010/main" val="265208064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FB3217-F7A6-0CD6-C57F-3CB08CE7F72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F03A149-0FAE-D6EC-31B7-9B8DBB4D7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38460"/>
            <a:ext cx="12192000" cy="1019540"/>
          </a:xfrm>
          <a:prstGeom prst="rect">
            <a:avLst/>
          </a:prstGeom>
        </p:spPr>
      </p:pic>
      <p:sp>
        <p:nvSpPr>
          <p:cNvPr id="6" name="Rectangle 5">
            <a:extLst>
              <a:ext uri="{FF2B5EF4-FFF2-40B4-BE49-F238E27FC236}">
                <a16:creationId xmlns:a16="http://schemas.microsoft.com/office/drawing/2014/main" id="{E2155997-37A1-26B9-61FD-4A1BC0C512F4}"/>
              </a:ext>
            </a:extLst>
          </p:cNvPr>
          <p:cNvSpPr/>
          <p:nvPr/>
        </p:nvSpPr>
        <p:spPr>
          <a:xfrm>
            <a:off x="0" y="0"/>
            <a:ext cx="12192000" cy="243840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9">
            <a:extLst>
              <a:ext uri="{FF2B5EF4-FFF2-40B4-BE49-F238E27FC236}">
                <a16:creationId xmlns:a16="http://schemas.microsoft.com/office/drawing/2014/main" id="{6F87F184-CA0F-5478-D410-3C1025A0ACE0}"/>
              </a:ext>
            </a:extLst>
          </p:cNvPr>
          <p:cNvSpPr txBox="1">
            <a:spLocks/>
          </p:cNvSpPr>
          <p:nvPr/>
        </p:nvSpPr>
        <p:spPr>
          <a:xfrm>
            <a:off x="104861" y="651234"/>
            <a:ext cx="11982278" cy="1605826"/>
          </a:xfrm>
          <a:prstGeom prst="rect">
            <a:avLst/>
          </a:prstGeom>
        </p:spPr>
        <p:txBody>
          <a:bodyPr anchor="ct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dirty="0"/>
              <a:t>BIS629 Advanced Methods In Implementation Science</a:t>
            </a:r>
          </a:p>
          <a:p>
            <a:pPr algn="ctr"/>
            <a:r>
              <a:rPr lang="en-US" sz="4000" dirty="0"/>
              <a:t>Lecture 1: Introduction and Motivation</a:t>
            </a:r>
          </a:p>
        </p:txBody>
      </p:sp>
      <p:sp>
        <p:nvSpPr>
          <p:cNvPr id="8" name="Title 9">
            <a:extLst>
              <a:ext uri="{FF2B5EF4-FFF2-40B4-BE49-F238E27FC236}">
                <a16:creationId xmlns:a16="http://schemas.microsoft.com/office/drawing/2014/main" id="{F07A2AEC-EA41-403F-6A06-BCDF1F37E34E}"/>
              </a:ext>
            </a:extLst>
          </p:cNvPr>
          <p:cNvSpPr txBox="1">
            <a:spLocks/>
          </p:cNvSpPr>
          <p:nvPr/>
        </p:nvSpPr>
        <p:spPr>
          <a:xfrm>
            <a:off x="-104860" y="2743201"/>
            <a:ext cx="12191999" cy="3095259"/>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b="1" dirty="0">
                <a:solidFill>
                  <a:schemeClr val="tx1"/>
                </a:solidFill>
              </a:rPr>
              <a:t>Teaching assistant: Chiedozie Arum</a:t>
            </a:r>
          </a:p>
          <a:p>
            <a:pPr algn="ctr"/>
            <a:endParaRPr lang="en-US" sz="4000" dirty="0">
              <a:solidFill>
                <a:schemeClr val="tx1"/>
              </a:solidFill>
            </a:endParaRPr>
          </a:p>
          <a:p>
            <a:pPr algn="ctr"/>
            <a:r>
              <a:rPr lang="en-US" sz="2800" dirty="0">
                <a:solidFill>
                  <a:schemeClr val="tx1"/>
                </a:solidFill>
              </a:rPr>
              <a:t>PhD Candidate</a:t>
            </a:r>
          </a:p>
          <a:p>
            <a:pPr algn="ctr"/>
            <a:r>
              <a:rPr lang="en-US" sz="2800" dirty="0">
                <a:solidFill>
                  <a:schemeClr val="tx1"/>
                </a:solidFill>
              </a:rPr>
              <a:t>Department of Epidemiology of Microbial Diseases</a:t>
            </a:r>
          </a:p>
          <a:p>
            <a:pPr algn="ctr"/>
            <a:r>
              <a:rPr lang="en-US" sz="2800" dirty="0">
                <a:solidFill>
                  <a:schemeClr val="tx1"/>
                </a:solidFill>
              </a:rPr>
              <a:t>Yale School of Public Health</a:t>
            </a:r>
          </a:p>
          <a:p>
            <a:pPr algn="ctr"/>
            <a:r>
              <a:rPr lang="en-US" sz="1800" u="sng" dirty="0">
                <a:solidFill>
                  <a:srgbClr val="0000FF"/>
                </a:solidFill>
                <a:latin typeface="Calibri" panose="020F0502020204030204" pitchFamily="34" charset="0"/>
                <a:ea typeface="SimSun" panose="02010600030101010101" pitchFamily="2" charset="-122"/>
                <a:cs typeface="Times New Roman" panose="02020603050405020304" pitchFamily="18" charset="0"/>
              </a:rPr>
              <a:t>chiedozie.arum@yale.edu</a:t>
            </a:r>
            <a:endParaRPr lang="en-US" sz="2800" dirty="0">
              <a:solidFill>
                <a:schemeClr val="tx1"/>
              </a:solidFill>
            </a:endParaRPr>
          </a:p>
        </p:txBody>
      </p:sp>
      <p:pic>
        <p:nvPicPr>
          <p:cNvPr id="9" name="Picture 8">
            <a:extLst>
              <a:ext uri="{FF2B5EF4-FFF2-40B4-BE49-F238E27FC236}">
                <a16:creationId xmlns:a16="http://schemas.microsoft.com/office/drawing/2014/main" id="{B1C1036E-80D7-2D93-AE78-DE1BE3F37E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6982" y="149131"/>
            <a:ext cx="4140639" cy="260670"/>
          </a:xfrm>
          <a:prstGeom prst="rect">
            <a:avLst/>
          </a:prstGeom>
        </p:spPr>
      </p:pic>
    </p:spTree>
    <p:extLst>
      <p:ext uri="{BB962C8B-B14F-4D97-AF65-F5344CB8AC3E}">
        <p14:creationId xmlns:p14="http://schemas.microsoft.com/office/powerpoint/2010/main" val="112348733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Why implementation science?</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extLst>
      <p:ext uri="{BB962C8B-B14F-4D97-AF65-F5344CB8AC3E}">
        <p14:creationId xmlns:p14="http://schemas.microsoft.com/office/powerpoint/2010/main" val="416241540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he latest research shows"/>
          <p:cNvPicPr>
            <a:picLocks noGrp="1" noChangeAspect="1"/>
          </p:cNvPicPr>
          <p:nvPr>
            <p:ph idx="1"/>
          </p:nvPr>
        </p:nvPicPr>
        <p:blipFill>
          <a:blip r:embed="rId2">
            <a:extLst>
              <a:ext uri="{28A0092B-C50C-407E-A947-70E740481C1C}">
                <a14:useLocalDpi xmlns:a14="http://schemas.microsoft.com/office/drawing/2010/main" val="0"/>
              </a:ext>
            </a:extLst>
          </a:blip>
          <a:srcRect t="12222" b="12222"/>
          <a:stretch>
            <a:fillRect/>
          </a:stretch>
        </p:blipFill>
        <p:spPr>
          <a:xfrm>
            <a:off x="42320" y="727364"/>
            <a:ext cx="11311480" cy="5694218"/>
          </a:xfrm>
        </p:spPr>
      </p:pic>
    </p:spTree>
    <p:extLst>
      <p:ext uri="{BB962C8B-B14F-4D97-AF65-F5344CB8AC3E}">
        <p14:creationId xmlns:p14="http://schemas.microsoft.com/office/powerpoint/2010/main" val="268022604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alphaModFix/>
          </a:blip>
          <a:stretch>
            <a:fillRect/>
          </a:stretch>
        </p:blipFill>
        <p:spPr>
          <a:xfrm>
            <a:off x="1524000" y="0"/>
            <a:ext cx="9144000" cy="6858000"/>
          </a:xfrm>
          <a:prstGeom prst="rect">
            <a:avLst/>
          </a:prstGeom>
          <a:solidFill>
            <a:srgbClr val="FFFFFF">
              <a:shade val="85000"/>
            </a:srgbClr>
          </a:solidFill>
          <a:ln w="190500" cap="rnd">
            <a:no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9784903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405B1-CF42-3F67-3347-05E99BB527A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B8B332B-58A8-CF79-A245-ED4C5AEA1E89}"/>
              </a:ext>
            </a:extLst>
          </p:cNvPr>
          <p:cNvPicPr>
            <a:picLocks noChangeAspect="1"/>
          </p:cNvPicPr>
          <p:nvPr/>
        </p:nvPicPr>
        <p:blipFill>
          <a:blip r:embed="rId2">
            <a:alphaModFix/>
          </a:blip>
          <a:stretch>
            <a:fillRect/>
          </a:stretch>
        </p:blipFill>
        <p:spPr>
          <a:xfrm>
            <a:off x="1524000" y="0"/>
            <a:ext cx="9144000" cy="6858000"/>
          </a:xfrm>
          <a:prstGeom prst="rect">
            <a:avLst/>
          </a:prstGeom>
          <a:solidFill>
            <a:srgbClr val="FFFFFF">
              <a:shade val="85000"/>
            </a:srgbClr>
          </a:solidFill>
          <a:ln w="190500" cap="rnd">
            <a:no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 name="TextBox 1">
            <a:extLst>
              <a:ext uri="{FF2B5EF4-FFF2-40B4-BE49-F238E27FC236}">
                <a16:creationId xmlns:a16="http://schemas.microsoft.com/office/drawing/2014/main" id="{60DF8538-1F3E-B49F-5AE7-37CBC2516925}"/>
              </a:ext>
            </a:extLst>
          </p:cNvPr>
          <p:cNvSpPr txBox="1"/>
          <p:nvPr/>
        </p:nvSpPr>
        <p:spPr>
          <a:xfrm>
            <a:off x="1524001" y="2707271"/>
            <a:ext cx="9143999"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3600" dirty="0">
                <a:solidFill>
                  <a:schemeClr val="accent2"/>
                </a:solidFill>
              </a:rPr>
              <a:t>It takes 17 years to turn 14 percent of original research to the benefit of patient care</a:t>
            </a:r>
          </a:p>
        </p:txBody>
      </p:sp>
    </p:spTree>
    <p:extLst>
      <p:ext uri="{BB962C8B-B14F-4D97-AF65-F5344CB8AC3E}">
        <p14:creationId xmlns:p14="http://schemas.microsoft.com/office/powerpoint/2010/main" val="1741888860"/>
      </p:ext>
    </p:extLst>
  </p:cSld>
  <p:clrMapOvr>
    <a:masterClrMapping/>
  </p:clrMapOvr>
  <mc:AlternateContent xmlns:mc="http://schemas.openxmlformats.org/markup-compatibility/2006">
    <mc:Choice xmlns:p14="http://schemas.microsoft.com/office/powerpoint/2010/main" Requires="p14">
      <p:transition spd="slow" p14:dur="1225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1" y="62754"/>
            <a:ext cx="8906933" cy="128316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Example: Maternal Mortality – the world’s </a:t>
            </a:r>
            <a:br>
              <a:rPr lang="en-US" sz="3200" dirty="0"/>
            </a:br>
            <a:r>
              <a:rPr lang="en-US" sz="3200" dirty="0"/>
              <a:t>greatest health disparity </a:t>
            </a:r>
            <a:r>
              <a:rPr lang="en-US" sz="2000" dirty="0"/>
              <a:t>(WHO)</a:t>
            </a:r>
          </a:p>
        </p:txBody>
      </p:sp>
      <p:pic>
        <p:nvPicPr>
          <p:cNvPr id="3" name="Picture 3"/>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50000"/>
                    </a14:imgEffect>
                    <a14:imgEffect>
                      <a14:colorTemperature colorTemp="4650"/>
                    </a14:imgEffect>
                    <a14:imgEffect>
                      <a14:saturation sat="57000"/>
                    </a14:imgEffect>
                    <a14:imgEffect>
                      <a14:brightnessContrast contrast="48000"/>
                    </a14:imgEffect>
                  </a14:imgLayer>
                </a14:imgProps>
              </a:ext>
            </a:extLst>
          </a:blip>
          <a:srcRect t="3402" b="3402"/>
          <a:stretch>
            <a:fillRect/>
          </a:stretch>
        </p:blipFill>
        <p:spPr>
          <a:xfrm>
            <a:off x="1323833" y="1231630"/>
            <a:ext cx="9107101" cy="5128228"/>
          </a:xfrm>
          <a:prstGeom prst="rect">
            <a:avLst/>
          </a:prstGeom>
        </p:spPr>
      </p:pic>
    </p:spTree>
    <p:extLst>
      <p:ext uri="{BB962C8B-B14F-4D97-AF65-F5344CB8AC3E}">
        <p14:creationId xmlns:p14="http://schemas.microsoft.com/office/powerpoint/2010/main" val="138143315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AB51D-E2AE-D4F7-4BEC-ED19495F05A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1552231-F758-0136-6E35-97634F159A14}"/>
              </a:ext>
            </a:extLst>
          </p:cNvPr>
          <p:cNvSpPr txBox="1">
            <a:spLocks noChangeArrowheads="1"/>
          </p:cNvSpPr>
          <p:nvPr/>
        </p:nvSpPr>
        <p:spPr>
          <a:xfrm>
            <a:off x="1524001" y="62754"/>
            <a:ext cx="8906933" cy="128316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Example: Maternal Mortality – the world’s </a:t>
            </a:r>
            <a:br>
              <a:rPr lang="en-US" sz="3200" dirty="0"/>
            </a:br>
            <a:r>
              <a:rPr lang="en-US" sz="3200" dirty="0"/>
              <a:t>greatest health disparity </a:t>
            </a:r>
            <a:r>
              <a:rPr lang="en-US" sz="2000" dirty="0"/>
              <a:t>(WHO)</a:t>
            </a:r>
          </a:p>
        </p:txBody>
      </p:sp>
      <p:pic>
        <p:nvPicPr>
          <p:cNvPr id="3" name="Picture 3">
            <a:extLst>
              <a:ext uri="{FF2B5EF4-FFF2-40B4-BE49-F238E27FC236}">
                <a16:creationId xmlns:a16="http://schemas.microsoft.com/office/drawing/2014/main" id="{8B237FD6-8966-A071-9315-41B59823813C}"/>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50000"/>
                    </a14:imgEffect>
                    <a14:imgEffect>
                      <a14:colorTemperature colorTemp="4650"/>
                    </a14:imgEffect>
                    <a14:imgEffect>
                      <a14:saturation sat="57000"/>
                    </a14:imgEffect>
                    <a14:imgEffect>
                      <a14:brightnessContrast contrast="48000"/>
                    </a14:imgEffect>
                  </a14:imgLayer>
                </a14:imgProps>
              </a:ext>
            </a:extLst>
          </a:blip>
          <a:srcRect t="3402" b="3402"/>
          <a:stretch>
            <a:fillRect/>
          </a:stretch>
        </p:blipFill>
        <p:spPr>
          <a:xfrm>
            <a:off x="1323833" y="1231630"/>
            <a:ext cx="9107101" cy="5128228"/>
          </a:xfrm>
          <a:prstGeom prst="rect">
            <a:avLst/>
          </a:prstGeom>
        </p:spPr>
      </p:pic>
      <p:sp>
        <p:nvSpPr>
          <p:cNvPr id="4" name="TextBox 3">
            <a:extLst>
              <a:ext uri="{FF2B5EF4-FFF2-40B4-BE49-F238E27FC236}">
                <a16:creationId xmlns:a16="http://schemas.microsoft.com/office/drawing/2014/main" id="{9726B78F-3EAB-3B72-1EBA-5740D290CB0C}"/>
              </a:ext>
            </a:extLst>
          </p:cNvPr>
          <p:cNvSpPr txBox="1"/>
          <p:nvPr/>
        </p:nvSpPr>
        <p:spPr>
          <a:xfrm>
            <a:off x="981341" y="2389045"/>
            <a:ext cx="10449655" cy="1323439"/>
          </a:xfrm>
          <a:prstGeom prst="rect">
            <a:avLst/>
          </a:prstGeom>
          <a:noFill/>
        </p:spPr>
        <p:txBody>
          <a:bodyPr wrap="none" rtlCol="0">
            <a:spAutoFit/>
          </a:bodyPr>
          <a:lstStyle/>
          <a:p>
            <a:r>
              <a:rPr lang="en-US" sz="4000" dirty="0"/>
              <a:t>100-fold disparity between Northern Europe and </a:t>
            </a:r>
          </a:p>
          <a:p>
            <a:r>
              <a:rPr lang="en-US" sz="4000" dirty="0"/>
              <a:t>Central Africa</a:t>
            </a:r>
          </a:p>
        </p:txBody>
      </p:sp>
    </p:spTree>
    <p:extLst>
      <p:ext uri="{BB962C8B-B14F-4D97-AF65-F5344CB8AC3E}">
        <p14:creationId xmlns:p14="http://schemas.microsoft.com/office/powerpoint/2010/main" val="2254556835"/>
      </p:ext>
    </p:extLst>
  </p:cSld>
  <p:clrMapOvr>
    <a:masterClrMapping/>
  </p:clrMapOvr>
  <mc:AlternateContent xmlns:mc="http://schemas.openxmlformats.org/markup-compatibility/2006">
    <mc:Choice xmlns:p14="http://schemas.microsoft.com/office/powerpoint/2010/main" Requires="p14">
      <p:transition spd="slow" p14:dur="1225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Maternal mortality is nearly entirely preventable</a:t>
            </a:r>
          </a:p>
        </p:txBody>
      </p:sp>
      <p:sp>
        <p:nvSpPr>
          <p:cNvPr id="3" name="Content Placeholder 2"/>
          <p:cNvSpPr>
            <a:spLocks noGrp="1"/>
          </p:cNvSpPr>
          <p:nvPr>
            <p:ph idx="1"/>
          </p:nvPr>
        </p:nvSpPr>
        <p:spPr/>
        <p:txBody>
          <a:bodyPr/>
          <a:lstStyle/>
          <a:p>
            <a:pPr marL="0" indent="0">
              <a:buNone/>
            </a:pPr>
            <a:br>
              <a:rPr lang="en-US" dirty="0"/>
            </a:br>
            <a:endParaRPr lang="en-US" dirty="0"/>
          </a:p>
        </p:txBody>
      </p:sp>
      <p:pic>
        <p:nvPicPr>
          <p:cNvPr id="78850" name="Picture 2" descr="http://uppercasewoman.com/wp-content/uploads/2011/10/mmr3.jpg"/>
          <p:cNvPicPr>
            <a:picLocks noChangeAspect="1" noChangeArrowheads="1"/>
          </p:cNvPicPr>
          <p:nvPr/>
        </p:nvPicPr>
        <p:blipFill>
          <a:blip r:embed="rId3" cstate="print"/>
          <a:srcRect/>
          <a:stretch>
            <a:fillRect/>
          </a:stretch>
        </p:blipFill>
        <p:spPr bwMode="auto">
          <a:xfrm>
            <a:off x="1596787" y="1563771"/>
            <a:ext cx="8980227" cy="4727847"/>
          </a:xfrm>
          <a:prstGeom prst="rect">
            <a:avLst/>
          </a:prstGeom>
          <a:noFill/>
        </p:spPr>
      </p:pic>
    </p:spTree>
    <p:extLst>
      <p:ext uri="{BB962C8B-B14F-4D97-AF65-F5344CB8AC3E}">
        <p14:creationId xmlns:p14="http://schemas.microsoft.com/office/powerpoint/2010/main" val="28064327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pPr eaLnBrk="1" hangingPunct="1"/>
            <a:r>
              <a:rPr lang="en-US" sz="3200" dirty="0">
                <a:solidFill>
                  <a:schemeClr val="accent1">
                    <a:lumMod val="60000"/>
                    <a:lumOff val="40000"/>
                  </a:schemeClr>
                </a:solidFill>
              </a:rPr>
              <a:t>Proposal: </a:t>
            </a:r>
            <a:r>
              <a:rPr lang="en-US" sz="3200" dirty="0"/>
              <a:t>Multi-factorial CRT (cluster-randomized trial) </a:t>
            </a:r>
            <a:br>
              <a:rPr lang="en-US" sz="3200" dirty="0"/>
            </a:br>
            <a:r>
              <a:rPr lang="en-US" sz="3200" dirty="0"/>
              <a:t>to </a:t>
            </a:r>
            <a:r>
              <a:rPr lang="en-US" sz="3200" i="1" dirty="0"/>
              <a:t>prevent</a:t>
            </a:r>
            <a:r>
              <a:rPr lang="en-US" sz="3200" dirty="0"/>
              <a:t> maternal mortality</a:t>
            </a:r>
          </a:p>
        </p:txBody>
      </p:sp>
      <p:sp>
        <p:nvSpPr>
          <p:cNvPr id="34819" name="Rectangle 3"/>
          <p:cNvSpPr>
            <a:spLocks noGrp="1" noChangeArrowheads="1"/>
          </p:cNvSpPr>
          <p:nvPr>
            <p:ph idx="1"/>
          </p:nvPr>
        </p:nvSpPr>
        <p:spPr>
          <a:xfrm>
            <a:off x="838200" y="1600200"/>
            <a:ext cx="9448801" cy="4969933"/>
          </a:xfrm>
        </p:spPr>
        <p:txBody>
          <a:bodyPr anchor="ctr" anchorCtr="0">
            <a:noAutofit/>
          </a:bodyPr>
          <a:lstStyle/>
          <a:p>
            <a:r>
              <a:rPr lang="en-US" dirty="0"/>
              <a:t>2x2x2 factorial design will be sufficiently powered for each intervention</a:t>
            </a:r>
          </a:p>
          <a:p>
            <a:r>
              <a:rPr lang="en-US" dirty="0"/>
              <a:t>Unit of randomization could be village, district, or individual</a:t>
            </a:r>
          </a:p>
          <a:p>
            <a:r>
              <a:rPr lang="en-US" b="1" dirty="0"/>
              <a:t>No new science needed!</a:t>
            </a:r>
          </a:p>
          <a:p>
            <a:r>
              <a:rPr lang="en-US" dirty="0"/>
              <a:t>Interventions:                                  </a:t>
            </a: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marL="0" indent="0">
              <a:buNone/>
            </a:pPr>
            <a:endParaRPr lang="en-US" sz="2000" dirty="0"/>
          </a:p>
        </p:txBody>
      </p:sp>
      <p:graphicFrame>
        <p:nvGraphicFramePr>
          <p:cNvPr id="2" name="Table 1"/>
          <p:cNvGraphicFramePr>
            <a:graphicFrameLocks noGrp="1"/>
          </p:cNvGraphicFramePr>
          <p:nvPr>
            <p:extLst>
              <p:ext uri="{D42A27DB-BD31-4B8C-83A1-F6EECF244321}">
                <p14:modId xmlns:p14="http://schemas.microsoft.com/office/powerpoint/2010/main" val="1679427733"/>
              </p:ext>
            </p:extLst>
          </p:nvPr>
        </p:nvGraphicFramePr>
        <p:xfrm>
          <a:off x="2178996" y="4258733"/>
          <a:ext cx="6575898" cy="2651760"/>
        </p:xfrm>
        <a:graphic>
          <a:graphicData uri="http://schemas.openxmlformats.org/drawingml/2006/table">
            <a:tbl>
              <a:tblPr firstRow="1" bandRow="1">
                <a:tableStyleId>{2D5ABB26-0587-4C30-8999-92F81FD0307C}</a:tableStyleId>
              </a:tblPr>
              <a:tblGrid>
                <a:gridCol w="4905829">
                  <a:extLst>
                    <a:ext uri="{9D8B030D-6E8A-4147-A177-3AD203B41FA5}">
                      <a16:colId xmlns:a16="http://schemas.microsoft.com/office/drawing/2014/main" val="20000"/>
                    </a:ext>
                  </a:extLst>
                </a:gridCol>
                <a:gridCol w="1670069">
                  <a:extLst>
                    <a:ext uri="{9D8B030D-6E8A-4147-A177-3AD203B41FA5}">
                      <a16:colId xmlns:a16="http://schemas.microsoft.com/office/drawing/2014/main" val="20001"/>
                    </a:ext>
                  </a:extLst>
                </a:gridCol>
              </a:tblGrid>
              <a:tr h="0">
                <a:tc>
                  <a:txBody>
                    <a:bodyPr/>
                    <a:lstStyle/>
                    <a:p>
                      <a:endParaRPr lang="en-US" sz="2400" dirty="0">
                        <a:latin typeface="Arial" panose="020B0604020202020204" pitchFamily="34" charset="0"/>
                        <a:cs typeface="Arial" panose="020B0604020202020204" pitchFamily="34" charset="0"/>
                      </a:endParaRPr>
                    </a:p>
                  </a:txBody>
                  <a:tcPr/>
                </a:tc>
                <a:tc>
                  <a:txBody>
                    <a:bodyPr/>
                    <a:lstStyle/>
                    <a:p>
                      <a:r>
                        <a:rPr lang="en-US" sz="2400" dirty="0">
                          <a:latin typeface="Arial" panose="020B0604020202020204" pitchFamily="34" charset="0"/>
                          <a:cs typeface="Arial" panose="020B0604020202020204" pitchFamily="34" charset="0"/>
                        </a:rPr>
                        <a:t>RR</a:t>
                      </a:r>
                    </a:p>
                  </a:txBody>
                  <a:tcPr/>
                </a:tc>
                <a:extLst>
                  <a:ext uri="{0D108BD9-81ED-4DB2-BD59-A6C34878D82A}">
                    <a16:rowId xmlns:a16="http://schemas.microsoft.com/office/drawing/2014/main" val="859081452"/>
                  </a:ext>
                </a:extLst>
              </a:tr>
              <a:tr h="325544">
                <a:tc>
                  <a:txBody>
                    <a:bodyPr/>
                    <a:lstStyle/>
                    <a:p>
                      <a:r>
                        <a:rPr lang="en-US" sz="2400" dirty="0">
                          <a:latin typeface="Arial" panose="020B0604020202020204" pitchFamily="34" charset="0"/>
                          <a:cs typeface="Arial" panose="020B0604020202020204" pitchFamily="34" charset="0"/>
                        </a:rPr>
                        <a:t>TBA</a:t>
                      </a:r>
                      <a:r>
                        <a:rPr lang="en-US" sz="2400" baseline="0" dirty="0">
                          <a:latin typeface="Arial" panose="020B0604020202020204" pitchFamily="34" charset="0"/>
                          <a:cs typeface="Arial" panose="020B0604020202020204" pitchFamily="34" charset="0"/>
                        </a:rPr>
                        <a:t> training &amp; supplies (infections, obstructed labor)</a:t>
                      </a:r>
                      <a:endParaRPr lang="en-US" sz="2400" dirty="0">
                        <a:latin typeface="Arial" panose="020B0604020202020204" pitchFamily="34" charset="0"/>
                        <a:cs typeface="Arial" panose="020B0604020202020204" pitchFamily="34" charset="0"/>
                      </a:endParaRPr>
                    </a:p>
                  </a:txBody>
                  <a:tcPr/>
                </a:tc>
                <a:tc>
                  <a:txBody>
                    <a:bodyPr/>
                    <a:lstStyle/>
                    <a:p>
                      <a:r>
                        <a:rPr lang="en-US" sz="2400" dirty="0">
                          <a:latin typeface="Arial" panose="020B0604020202020204" pitchFamily="34" charset="0"/>
                          <a:cs typeface="Arial" panose="020B0604020202020204" pitchFamily="34" charset="0"/>
                        </a:rPr>
                        <a:t>0.74</a:t>
                      </a:r>
                    </a:p>
                  </a:txBody>
                  <a:tcPr/>
                </a:tc>
                <a:extLst>
                  <a:ext uri="{0D108BD9-81ED-4DB2-BD59-A6C34878D82A}">
                    <a16:rowId xmlns:a16="http://schemas.microsoft.com/office/drawing/2014/main" val="10000"/>
                  </a:ext>
                </a:extLst>
              </a:tr>
              <a:tr h="421789">
                <a:tc>
                  <a:txBody>
                    <a:bodyPr/>
                    <a:lstStyle/>
                    <a:p>
                      <a:r>
                        <a:rPr lang="en-US" sz="2400" dirty="0">
                          <a:latin typeface="Arial" panose="020B0604020202020204" pitchFamily="34" charset="0"/>
                          <a:cs typeface="Arial" panose="020B0604020202020204" pitchFamily="34" charset="0"/>
                        </a:rPr>
                        <a:t>Calcium supplement (</a:t>
                      </a:r>
                      <a:r>
                        <a:rPr lang="en-US" sz="2400" dirty="0" err="1">
                          <a:latin typeface="Arial" panose="020B0604020202020204" pitchFamily="34" charset="0"/>
                          <a:cs typeface="Arial" panose="020B0604020202020204" pitchFamily="34" charset="0"/>
                        </a:rPr>
                        <a:t>eclampsia</a:t>
                      </a:r>
                      <a:r>
                        <a:rPr lang="en-US" sz="2400" dirty="0">
                          <a:latin typeface="Arial" panose="020B0604020202020204" pitchFamily="34" charset="0"/>
                          <a:cs typeface="Arial" panose="020B0604020202020204" pitchFamily="34" charset="0"/>
                        </a:rPr>
                        <a:t>)</a:t>
                      </a:r>
                    </a:p>
                  </a:txBody>
                  <a:tcPr/>
                </a:tc>
                <a:tc>
                  <a:txBody>
                    <a:bodyPr/>
                    <a:lstStyle/>
                    <a:p>
                      <a:r>
                        <a:rPr lang="en-US" sz="2400" dirty="0">
                          <a:latin typeface="Arial" panose="020B0604020202020204" pitchFamily="34" charset="0"/>
                          <a:cs typeface="Arial" panose="020B0604020202020204" pitchFamily="34" charset="0"/>
                        </a:rPr>
                        <a:t>0.17</a:t>
                      </a:r>
                    </a:p>
                  </a:txBody>
                  <a:tcPr/>
                </a:tc>
                <a:extLst>
                  <a:ext uri="{0D108BD9-81ED-4DB2-BD59-A6C34878D82A}">
                    <a16:rowId xmlns:a16="http://schemas.microsoft.com/office/drawing/2014/main" val="10001"/>
                  </a:ext>
                </a:extLst>
              </a:tr>
              <a:tr h="0">
                <a:tc>
                  <a:txBody>
                    <a:bodyPr/>
                    <a:lstStyle/>
                    <a:p>
                      <a:r>
                        <a:rPr lang="en-US" sz="2400" dirty="0">
                          <a:latin typeface="Arial" panose="020B0604020202020204" pitchFamily="34" charset="0"/>
                          <a:cs typeface="Arial" panose="020B0604020202020204" pitchFamily="34" charset="0"/>
                        </a:rPr>
                        <a:t>Oral misoprostol (bleeding)</a:t>
                      </a:r>
                    </a:p>
                  </a:txBody>
                  <a:tcPr/>
                </a:tc>
                <a:tc>
                  <a:txBody>
                    <a:bodyPr/>
                    <a:lstStyle/>
                    <a:p>
                      <a:r>
                        <a:rPr lang="en-US" sz="2400" dirty="0">
                          <a:latin typeface="Arial" panose="020B0604020202020204" pitchFamily="34" charset="0"/>
                          <a:cs typeface="Arial" panose="020B0604020202020204" pitchFamily="34" charset="0"/>
                        </a:rPr>
                        <a:t>0.33</a:t>
                      </a:r>
                    </a:p>
                  </a:txBody>
                  <a:tcPr/>
                </a:tc>
                <a:extLst>
                  <a:ext uri="{0D108BD9-81ED-4DB2-BD59-A6C34878D82A}">
                    <a16:rowId xmlns:a16="http://schemas.microsoft.com/office/drawing/2014/main" val="10002"/>
                  </a:ext>
                </a:extLst>
              </a:tr>
              <a:tr h="450678">
                <a:tc>
                  <a:txBody>
                    <a:bodyPr/>
                    <a:lstStyle/>
                    <a:p>
                      <a:r>
                        <a:rPr lang="en-US" sz="2400" b="1" dirty="0">
                          <a:solidFill>
                            <a:schemeClr val="accent6">
                              <a:lumMod val="75000"/>
                            </a:schemeClr>
                          </a:solidFill>
                          <a:latin typeface="Arial" panose="020B0604020202020204" pitchFamily="34" charset="0"/>
                          <a:cs typeface="Arial" panose="020B0604020202020204" pitchFamily="34" charset="0"/>
                        </a:rPr>
                        <a:t>Combined effect</a:t>
                      </a:r>
                    </a:p>
                  </a:txBody>
                  <a:tcPr/>
                </a:tc>
                <a:tc>
                  <a:txBody>
                    <a:bodyPr/>
                    <a:lstStyle/>
                    <a:p>
                      <a:r>
                        <a:rPr lang="en-US" sz="2400" b="1" dirty="0">
                          <a:solidFill>
                            <a:schemeClr val="accent6">
                              <a:lumMod val="75000"/>
                            </a:schemeClr>
                          </a:solidFill>
                          <a:latin typeface="Arial" panose="020B0604020202020204" pitchFamily="34" charset="0"/>
                          <a:cs typeface="Arial" panose="020B0604020202020204" pitchFamily="34" charset="0"/>
                        </a:rPr>
                        <a:t>0.04</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3252752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49" y="-1463"/>
            <a:ext cx="9189801" cy="1325563"/>
          </a:xfrm>
        </p:spPr>
        <p:txBody>
          <a:bodyPr/>
          <a:lstStyle/>
          <a:p>
            <a:pPr algn="ctr"/>
            <a:r>
              <a:rPr lang="en-US" dirty="0"/>
              <a:t>Definitions of Implementation Science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063323359"/>
              </p:ext>
            </p:extLst>
          </p:nvPr>
        </p:nvGraphicFramePr>
        <p:xfrm>
          <a:off x="2303465" y="1828801"/>
          <a:ext cx="8166416" cy="21443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p:cNvSpPr/>
          <p:nvPr/>
        </p:nvSpPr>
        <p:spPr>
          <a:xfrm>
            <a:off x="358589" y="4144169"/>
            <a:ext cx="11062446" cy="1938992"/>
          </a:xfrm>
          <a:prstGeom prst="rect">
            <a:avLst/>
          </a:prstGeom>
        </p:spPr>
        <p:txBody>
          <a:bodyPr wrap="square">
            <a:spAutoFit/>
          </a:bodyPr>
          <a:lstStyle/>
          <a:p>
            <a:pPr lvl="1" algn="ctr"/>
            <a:r>
              <a:rPr lang="en-US" dirty="0">
                <a:solidFill>
                  <a:schemeClr val="bg2"/>
                </a:solidFill>
              </a:rPr>
              <a:t>settings</a:t>
            </a:r>
            <a:r>
              <a:rPr lang="en-US" sz="2000" dirty="0">
                <a:solidFill>
                  <a:schemeClr val="bg2"/>
                </a:solidFill>
              </a:rPr>
              <a:t>.”</a:t>
            </a:r>
            <a:r>
              <a:rPr lang="en-US" sz="2000" dirty="0"/>
              <a:t> “The scientific study of programs and interventions which promote the systematic uptake of clinical research findings and other evidence-based approaches into routine clinical practice and public health policy, hence improving the quality (effectiveness, reliability, safety, appropriateness, equity, efficiency) of health care.”</a:t>
            </a:r>
          </a:p>
          <a:p>
            <a:pPr lvl="1"/>
            <a:endParaRPr lang="en-US" sz="2000" dirty="0"/>
          </a:p>
          <a:p>
            <a:pPr lvl="1"/>
            <a:r>
              <a:rPr lang="en-US" sz="2000" dirty="0"/>
              <a:t> “Implementation science is about determining what works, in real-life at full-scale </a:t>
            </a:r>
            <a:endParaRPr lang="en-US" sz="2000" dirty="0">
              <a:solidFill>
                <a:schemeClr val="bg2"/>
              </a:solidFill>
            </a:endParaRPr>
          </a:p>
        </p:txBody>
      </p:sp>
    </p:spTree>
    <p:extLst>
      <p:ext uri="{BB962C8B-B14F-4D97-AF65-F5344CB8AC3E}">
        <p14:creationId xmlns:p14="http://schemas.microsoft.com/office/powerpoint/2010/main" val="314197758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925" y="136187"/>
            <a:ext cx="10148492" cy="5919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286781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811" y="62754"/>
            <a:ext cx="10246659" cy="1283167"/>
          </a:xfrm>
        </p:spPr>
        <p:txBody>
          <a:bodyPr>
            <a:noAutofit/>
          </a:bodyPr>
          <a:lstStyle/>
          <a:p>
            <a:r>
              <a:rPr lang="en-US" sz="3200" dirty="0">
                <a:latin typeface="+mn-lt"/>
              </a:rPr>
              <a:t>Features of Implementation and Dissemination Research</a:t>
            </a:r>
          </a:p>
        </p:txBody>
      </p:sp>
      <p:sp>
        <p:nvSpPr>
          <p:cNvPr id="3" name="Content Placeholder 2"/>
          <p:cNvSpPr>
            <a:spLocks noGrp="1"/>
          </p:cNvSpPr>
          <p:nvPr>
            <p:ph idx="1"/>
          </p:nvPr>
        </p:nvSpPr>
        <p:spPr>
          <a:xfrm>
            <a:off x="2303463" y="1484244"/>
            <a:ext cx="7583488" cy="5221356"/>
          </a:xfrm>
        </p:spPr>
        <p:txBody>
          <a:bodyPr>
            <a:normAutofit/>
          </a:bodyPr>
          <a:lstStyle/>
          <a:p>
            <a:r>
              <a:rPr lang="en-US" dirty="0"/>
              <a:t>Theory-driven (CFIR,  RE-AIM, …)</a:t>
            </a:r>
          </a:p>
          <a:p>
            <a:r>
              <a:rPr lang="en-US" dirty="0"/>
              <a:t>Mixed methods</a:t>
            </a:r>
          </a:p>
          <a:p>
            <a:r>
              <a:rPr lang="en-US" dirty="0"/>
              <a:t>Adaptation vs. Fidelity</a:t>
            </a:r>
          </a:p>
          <a:p>
            <a:r>
              <a:rPr lang="en-US" dirty="0"/>
              <a:t>Contextual (?when? ?where?) vs. External validity</a:t>
            </a:r>
          </a:p>
          <a:p>
            <a:r>
              <a:rPr lang="en-US" dirty="0"/>
              <a:t>Economic evaluation/cost-effectiveness</a:t>
            </a:r>
          </a:p>
          <a:p>
            <a:r>
              <a:rPr lang="en-US" dirty="0"/>
              <a:t>Sustainability</a:t>
            </a:r>
          </a:p>
          <a:p>
            <a:r>
              <a:rPr lang="en-US" dirty="0"/>
              <a:t>Diffusion (network science)</a:t>
            </a:r>
          </a:p>
        </p:txBody>
      </p:sp>
    </p:spTree>
    <p:extLst>
      <p:ext uri="{BB962C8B-B14F-4D97-AF65-F5344CB8AC3E}">
        <p14:creationId xmlns:p14="http://schemas.microsoft.com/office/powerpoint/2010/main" val="236368112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304800" y="1779640"/>
            <a:ext cx="11563739" cy="4630396"/>
          </a:xfrm>
        </p:spPr>
        <p:txBody>
          <a:bodyPr>
            <a:normAutofit/>
          </a:bodyPr>
          <a:lstStyle/>
          <a:p>
            <a:pPr>
              <a:buFont typeface="Wingdings" panose="05000000000000000000" pitchFamily="2" charset="2"/>
              <a:buChar char="Ø"/>
              <a:defRPr/>
            </a:pPr>
            <a:r>
              <a:rPr lang="en-US" sz="6000" dirty="0">
                <a:latin typeface="Arial" panose="020B0604020202020204" pitchFamily="34" charset="0"/>
                <a:cs typeface="Arial" panose="020B0604020202020204" pitchFamily="34" charset="0"/>
              </a:rPr>
              <a:t>Rigorous</a:t>
            </a:r>
          </a:p>
          <a:p>
            <a:pPr>
              <a:buFont typeface="Wingdings" panose="05000000000000000000" pitchFamily="2" charset="2"/>
              <a:buChar char="Ø"/>
              <a:defRPr/>
            </a:pPr>
            <a:r>
              <a:rPr lang="en-US" sz="6000" dirty="0">
                <a:latin typeface="Arial" panose="020B0604020202020204" pitchFamily="34" charset="0"/>
                <a:cs typeface="Arial" panose="020B0604020202020204" pitchFamily="34" charset="0"/>
              </a:rPr>
              <a:t>Rapid</a:t>
            </a:r>
          </a:p>
          <a:p>
            <a:pPr>
              <a:buFont typeface="Wingdings" panose="05000000000000000000" pitchFamily="2" charset="2"/>
              <a:buChar char="Ø"/>
              <a:defRPr/>
            </a:pPr>
            <a:r>
              <a:rPr lang="en-US" sz="6000" dirty="0">
                <a:latin typeface="Arial" panose="020B0604020202020204" pitchFamily="34" charset="0"/>
                <a:cs typeface="Arial" panose="020B0604020202020204" pitchFamily="34" charset="0"/>
              </a:rPr>
              <a:t>Relevant</a:t>
            </a:r>
          </a:p>
          <a:p>
            <a:pPr marL="0" indent="0">
              <a:buNone/>
            </a:pPr>
            <a:endParaRPr lang="en-US" dirty="0"/>
          </a:p>
        </p:txBody>
      </p:sp>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Implementation science studies should be…</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extLst>
      <p:ext uri="{BB962C8B-B14F-4D97-AF65-F5344CB8AC3E}">
        <p14:creationId xmlns:p14="http://schemas.microsoft.com/office/powerpoint/2010/main" val="240856147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9"/>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altLang="en-US" sz="4000" dirty="0">
                <a:latin typeface="Arial" panose="020B0604020202020204" pitchFamily="34" charset="0"/>
                <a:cs typeface="Arial" panose="020B0604020202020204" pitchFamily="34" charset="0"/>
              </a:rPr>
              <a:t>Implementation science study design should consider…</a:t>
            </a:r>
            <a:endParaRPr lang="en-US" sz="6000" dirty="0"/>
          </a:p>
        </p:txBody>
      </p:sp>
      <p:sp>
        <p:nvSpPr>
          <p:cNvPr id="4" name="Content Placeholder 3">
            <a:extLst>
              <a:ext uri="{FF2B5EF4-FFF2-40B4-BE49-F238E27FC236}">
                <a16:creationId xmlns:a16="http://schemas.microsoft.com/office/drawing/2014/main" id="{5398935C-62CE-48B0-ABE4-E375FF6A6152}"/>
              </a:ext>
            </a:extLst>
          </p:cNvPr>
          <p:cNvSpPr>
            <a:spLocks noGrp="1"/>
          </p:cNvSpPr>
          <p:nvPr>
            <p:ph sz="half" idx="1"/>
          </p:nvPr>
        </p:nvSpPr>
        <p:spPr>
          <a:xfrm>
            <a:off x="363794" y="1219202"/>
            <a:ext cx="11828206" cy="4975122"/>
          </a:xfrm>
        </p:spPr>
        <p:txBody>
          <a:bodyPr>
            <a:noAutofit/>
          </a:bodyPr>
          <a:lstStyle/>
          <a:p>
            <a:pPr>
              <a:defRPr/>
            </a:pPr>
            <a:r>
              <a:rPr lang="en-US" dirty="0">
                <a:latin typeface="Arial" panose="020B0604020202020204" pitchFamily="34" charset="0"/>
                <a:cs typeface="Arial" panose="020B0604020202020204" pitchFamily="34" charset="0"/>
              </a:rPr>
              <a:t>Guided by implementation science theory, models and frameworks</a:t>
            </a:r>
            <a:endParaRPr lang="en-US" sz="2000" dirty="0">
              <a:latin typeface="Arial" panose="020B0604020202020204" pitchFamily="34" charset="0"/>
              <a:cs typeface="Arial" panose="020B0604020202020204" pitchFamily="34" charset="0"/>
            </a:endParaRPr>
          </a:p>
          <a:p>
            <a:pPr>
              <a:defRPr/>
            </a:pPr>
            <a:r>
              <a:rPr lang="en-US" dirty="0">
                <a:latin typeface="Arial" panose="020B0604020202020204" pitchFamily="34" charset="0"/>
                <a:cs typeface="Arial" panose="020B0604020202020204" pitchFamily="34" charset="0"/>
              </a:rPr>
              <a:t>Multilevel interventions and strategies (no magic bullet)</a:t>
            </a:r>
          </a:p>
          <a:p>
            <a:pPr lvl="1">
              <a:defRPr/>
            </a:pPr>
            <a:r>
              <a:rPr lang="en-US" dirty="0">
                <a:latin typeface="Arial" panose="020B0604020202020204" pitchFamily="34" charset="0"/>
                <a:cs typeface="Arial" panose="020B0604020202020204" pitchFamily="34" charset="0"/>
              </a:rPr>
              <a:t>e.g., health care system, policy makers, organizational leaders, health care providers, clients and their families and social networks</a:t>
            </a:r>
          </a:p>
          <a:p>
            <a:pPr>
              <a:defRPr/>
            </a:pPr>
            <a:r>
              <a:rPr lang="en-US" dirty="0">
                <a:latin typeface="Arial" panose="020B0604020202020204" pitchFamily="34" charset="0"/>
                <a:cs typeface="Arial" panose="020B0604020202020204" pitchFamily="34" charset="0"/>
              </a:rPr>
              <a:t>Dynamic</a:t>
            </a:r>
          </a:p>
          <a:p>
            <a:pPr lvl="1">
              <a:defRPr/>
            </a:pPr>
            <a:r>
              <a:rPr lang="en-US" dirty="0">
                <a:latin typeface="Arial" panose="020B0604020202020204" pitchFamily="34" charset="0"/>
                <a:cs typeface="Arial" panose="020B0604020202020204" pitchFamily="34" charset="0"/>
              </a:rPr>
              <a:t>Implementation process goes through stages (prevention, screening &amp; treatment cascade)</a:t>
            </a:r>
          </a:p>
          <a:p>
            <a:pPr lvl="1">
              <a:defRPr/>
            </a:pPr>
            <a:r>
              <a:rPr lang="en-US" dirty="0">
                <a:latin typeface="Arial" panose="020B0604020202020204" pitchFamily="34" charset="0"/>
                <a:cs typeface="Arial" panose="020B0604020202020204" pitchFamily="34" charset="0"/>
              </a:rPr>
              <a:t>Timing of delivery of intervention components along the cascade can be as important as delivery itself</a:t>
            </a:r>
            <a:endParaRPr lang="en-US" i="1" dirty="0">
              <a:latin typeface="Arial" panose="020B0604020202020204" pitchFamily="34" charset="0"/>
              <a:cs typeface="Arial" panose="020B0604020202020204" pitchFamily="34" charset="0"/>
            </a:endParaRPr>
          </a:p>
          <a:p>
            <a:pPr>
              <a:defRPr/>
            </a:pPr>
            <a:r>
              <a:rPr lang="en-US" i="1" dirty="0">
                <a:latin typeface="Arial" panose="020B0604020202020204" pitchFamily="34" charset="0"/>
                <a:cs typeface="Arial" panose="020B0604020202020204" pitchFamily="34" charset="0"/>
              </a:rPr>
              <a:t>Implications for Design:</a:t>
            </a:r>
          </a:p>
          <a:p>
            <a:pPr lvl="1">
              <a:defRPr/>
            </a:pPr>
            <a:r>
              <a:rPr lang="en-US" dirty="0">
                <a:latin typeface="Arial" panose="020B0604020202020204" pitchFamily="34" charset="0"/>
                <a:cs typeface="Arial" panose="020B0604020202020204" pitchFamily="34" charset="0"/>
              </a:rPr>
              <a:t>group-level assignment(s) are necessary to study intervention components at district, </a:t>
            </a:r>
            <a:r>
              <a:rPr lang="en-US" b="1" dirty="0">
                <a:latin typeface="Arial" panose="020B0604020202020204" pitchFamily="34" charset="0"/>
                <a:cs typeface="Arial" panose="020B0604020202020204" pitchFamily="34" charset="0"/>
              </a:rPr>
              <a:t>hospital, facility, practice, provider </a:t>
            </a:r>
            <a:r>
              <a:rPr lang="en-US" dirty="0">
                <a:latin typeface="Arial" panose="020B0604020202020204" pitchFamily="34" charset="0"/>
                <a:cs typeface="Arial" panose="020B0604020202020204" pitchFamily="34" charset="0"/>
              </a:rPr>
              <a:t>or community level(s)</a:t>
            </a:r>
          </a:p>
          <a:p>
            <a:pPr marL="0" indent="0">
              <a:buNone/>
            </a:pPr>
            <a:endParaRPr lang="en-US" sz="1700" dirty="0"/>
          </a:p>
        </p:txBody>
      </p:sp>
      <p:sp>
        <p:nvSpPr>
          <p:cNvPr id="6" name="TextBox 3">
            <a:extLst>
              <a:ext uri="{FF2B5EF4-FFF2-40B4-BE49-F238E27FC236}">
                <a16:creationId xmlns:a16="http://schemas.microsoft.com/office/drawing/2014/main" id="{BDF25DDA-AADB-470C-A71A-BCDE43B2D8EE}"/>
              </a:ext>
            </a:extLst>
          </p:cNvPr>
          <p:cNvSpPr txBox="1">
            <a:spLocks noChangeArrowheads="1"/>
          </p:cNvSpPr>
          <p:nvPr/>
        </p:nvSpPr>
        <p:spPr bwMode="auto">
          <a:xfrm>
            <a:off x="-452284" y="6200254"/>
            <a:ext cx="1242797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r>
              <a:rPr lang="en-US" altLang="en-US" sz="1050" dirty="0">
                <a:latin typeface="Arial" panose="020B0604020202020204" pitchFamily="34" charset="0"/>
                <a:cs typeface="Arial" panose="020B0604020202020204" pitchFamily="34" charset="0"/>
              </a:rPr>
              <a:t>*Chamberlain, P,  Brown, CH, Saldana, L. Observational Measure of Implementation Progress: The Stages of Implementation Completion (SIC), </a:t>
            </a:r>
            <a:r>
              <a:rPr lang="en-US" altLang="en-US" sz="1050" i="1" dirty="0">
                <a:latin typeface="Arial" panose="020B0604020202020204" pitchFamily="34" charset="0"/>
                <a:cs typeface="Arial" panose="020B0604020202020204" pitchFamily="34" charset="0"/>
              </a:rPr>
              <a:t>Implementation Science, 6</a:t>
            </a:r>
            <a:r>
              <a:rPr lang="en-US" altLang="en-US" sz="1050" dirty="0">
                <a:latin typeface="Arial" panose="020B0604020202020204" pitchFamily="34" charset="0"/>
                <a:cs typeface="Arial" panose="020B0604020202020204" pitchFamily="34" charset="0"/>
              </a:rPr>
              <a:t>(116), 1-8, 2011.</a:t>
            </a:r>
          </a:p>
        </p:txBody>
      </p:sp>
    </p:spTree>
    <p:extLst>
      <p:ext uri="{BB962C8B-B14F-4D97-AF65-F5344CB8AC3E}">
        <p14:creationId xmlns:p14="http://schemas.microsoft.com/office/powerpoint/2010/main" val="96753943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9"/>
            <a:ext cx="12192000" cy="102883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160418"/>
            <a:ext cx="12192000" cy="850385"/>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400" dirty="0"/>
              <a:t>Selecting a Study Design</a:t>
            </a:r>
          </a:p>
        </p:txBody>
      </p:sp>
      <p:sp>
        <p:nvSpPr>
          <p:cNvPr id="3" name="Content Placeholder 2">
            <a:extLst>
              <a:ext uri="{FF2B5EF4-FFF2-40B4-BE49-F238E27FC236}">
                <a16:creationId xmlns:a16="http://schemas.microsoft.com/office/drawing/2014/main" id="{CC26BC69-DA9E-4F1C-A2B4-FF0A0523AC91}"/>
              </a:ext>
            </a:extLst>
          </p:cNvPr>
          <p:cNvSpPr>
            <a:spLocks noGrp="1"/>
          </p:cNvSpPr>
          <p:nvPr>
            <p:ph sz="half" idx="1"/>
          </p:nvPr>
        </p:nvSpPr>
        <p:spPr>
          <a:xfrm>
            <a:off x="216310" y="1317523"/>
            <a:ext cx="5803490" cy="4859440"/>
          </a:xfrm>
        </p:spPr>
        <p:txBody>
          <a:bodyPr/>
          <a:lstStyle/>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Research Question(s)</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Type of Clinical/Public Health Intervention</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Type of Implementation Strategy</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Feasibility</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Cost/Personnel</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Setting </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Stakeholders</a:t>
            </a:r>
          </a:p>
          <a:p>
            <a:endParaRPr lang="en-US" dirty="0"/>
          </a:p>
        </p:txBody>
      </p:sp>
      <p:sp>
        <p:nvSpPr>
          <p:cNvPr id="6" name="Content Placeholder 5">
            <a:extLst>
              <a:ext uri="{FF2B5EF4-FFF2-40B4-BE49-F238E27FC236}">
                <a16:creationId xmlns:a16="http://schemas.microsoft.com/office/drawing/2014/main" id="{AB897523-CD80-490E-9960-C07D4A1205EB}"/>
              </a:ext>
            </a:extLst>
          </p:cNvPr>
          <p:cNvSpPr>
            <a:spLocks noGrp="1"/>
          </p:cNvSpPr>
          <p:nvPr>
            <p:ph sz="half" idx="2"/>
          </p:nvPr>
        </p:nvSpPr>
        <p:spPr>
          <a:xfrm>
            <a:off x="6172199" y="1317523"/>
            <a:ext cx="5685503" cy="4859440"/>
          </a:xfrm>
        </p:spPr>
        <p:txBody>
          <a:bodyPr/>
          <a:lstStyle/>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Logistics</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Target Population(s)</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Timeline</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Ethics</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Data availability</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Funding Opportunity </a:t>
            </a:r>
          </a:p>
          <a:p>
            <a:endParaRPr lang="en-US" dirty="0"/>
          </a:p>
        </p:txBody>
      </p:sp>
    </p:spTree>
    <p:extLst>
      <p:ext uri="{BB962C8B-B14F-4D97-AF65-F5344CB8AC3E}">
        <p14:creationId xmlns:p14="http://schemas.microsoft.com/office/powerpoint/2010/main" val="340424477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
            <a:ext cx="12192000" cy="96356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rPr>
              <a:t>Experimental Study Designs in Implementation Science</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87854" y="73730"/>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4800" dirty="0"/>
          </a:p>
        </p:txBody>
      </p:sp>
      <p:sp>
        <p:nvSpPr>
          <p:cNvPr id="7" name="TextBox 6">
            <a:extLst>
              <a:ext uri="{FF2B5EF4-FFF2-40B4-BE49-F238E27FC236}">
                <a16:creationId xmlns:a16="http://schemas.microsoft.com/office/drawing/2014/main" id="{55BFF0D0-2D05-47C2-98AC-2B57443F7F74}"/>
              </a:ext>
            </a:extLst>
          </p:cNvPr>
          <p:cNvSpPr txBox="1"/>
          <p:nvPr/>
        </p:nvSpPr>
        <p:spPr>
          <a:xfrm>
            <a:off x="520942" y="1118772"/>
            <a:ext cx="12013102" cy="5201424"/>
          </a:xfrm>
          <a:prstGeom prst="rect">
            <a:avLst/>
          </a:prstGeom>
          <a:noFill/>
        </p:spPr>
        <p:txBody>
          <a:bodyPr wrap="square">
            <a:spAutoFit/>
          </a:bodyPr>
          <a:lstStyle/>
          <a:p>
            <a:pPr marL="342900" indent="-342900">
              <a:buFont typeface="Wingdings" panose="05000000000000000000" pitchFamily="2" charset="2"/>
              <a:buChar char="Ø"/>
            </a:pPr>
            <a:endParaRPr lang="en-US" sz="2400" b="1" dirty="0"/>
          </a:p>
          <a:p>
            <a:pPr marL="457200" indent="-457200">
              <a:buFont typeface="Wingdings" panose="05000000000000000000" pitchFamily="2" charset="2"/>
              <a:buChar char="Ø"/>
            </a:pPr>
            <a:r>
              <a:rPr lang="en-US" sz="3600" dirty="0">
                <a:latin typeface="Arial" panose="020B0604020202020204" pitchFamily="34" charset="0"/>
                <a:cs typeface="Arial" panose="020B0604020202020204" pitchFamily="34" charset="0"/>
              </a:rPr>
              <a:t>Randomized controlled trial (RCT) – individually randomized</a:t>
            </a:r>
          </a:p>
          <a:p>
            <a:pPr marL="457200" indent="-457200">
              <a:buFont typeface="Wingdings" panose="05000000000000000000" pitchFamily="2" charset="2"/>
              <a:buChar char="Ø"/>
            </a:pPr>
            <a:endParaRPr lang="en-US" sz="36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Ø"/>
            </a:pPr>
            <a:r>
              <a:rPr lang="en-US" sz="3600" dirty="0">
                <a:latin typeface="Arial" panose="020B0604020202020204" pitchFamily="34" charset="0"/>
                <a:cs typeface="Arial" panose="020B0604020202020204" pitchFamily="34" charset="0"/>
              </a:rPr>
              <a:t>Cluster RCT (CRTs)</a:t>
            </a:r>
          </a:p>
          <a:p>
            <a:pPr marL="457200" indent="-457200">
              <a:buFont typeface="Wingdings" panose="05000000000000000000" pitchFamily="2" charset="2"/>
              <a:buChar char="Ø"/>
            </a:pPr>
            <a:endParaRPr lang="en-US" sz="36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Ø"/>
            </a:pPr>
            <a:r>
              <a:rPr lang="en-US" sz="3600" dirty="0">
                <a:latin typeface="Arial" panose="020B0604020202020204" pitchFamily="34" charset="0"/>
                <a:cs typeface="Arial" panose="020B0604020202020204" pitchFamily="34" charset="0"/>
              </a:rPr>
              <a:t>Stepped-wedge cluster RCT (SWD)</a:t>
            </a:r>
          </a:p>
          <a:p>
            <a:pPr marL="457200" indent="-457200">
              <a:buFont typeface="Wingdings" panose="05000000000000000000" pitchFamily="2" charset="2"/>
              <a:buChar char="Ø"/>
            </a:pPr>
            <a:endParaRPr lang="en-US" sz="36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Ø"/>
            </a:pPr>
            <a:r>
              <a:rPr lang="en-US" sz="2800" dirty="0">
                <a:latin typeface="Arial" panose="020B0604020202020204" pitchFamily="34" charset="0"/>
                <a:cs typeface="Arial" panose="020B0604020202020204" pitchFamily="34" charset="0"/>
              </a:rPr>
              <a:t>Pragmatic trials – can be any of the above – usually CRTs and SWDs</a:t>
            </a:r>
          </a:p>
          <a:p>
            <a:pPr marL="457200" indent="-457200" algn="l">
              <a:buFont typeface="Wingdings" panose="05000000000000000000" pitchFamily="2" charset="2"/>
              <a:buChar char="Ø"/>
            </a:pPr>
            <a:endParaRPr lang="en-US" sz="2800" dirty="0"/>
          </a:p>
        </p:txBody>
      </p:sp>
      <p:sp>
        <p:nvSpPr>
          <p:cNvPr id="8" name="TextBox 7">
            <a:extLst>
              <a:ext uri="{FF2B5EF4-FFF2-40B4-BE49-F238E27FC236}">
                <a16:creationId xmlns:a16="http://schemas.microsoft.com/office/drawing/2014/main" id="{D323A77A-1727-4D2E-8712-3663C6C59FAF}"/>
              </a:ext>
            </a:extLst>
          </p:cNvPr>
          <p:cNvSpPr txBox="1"/>
          <p:nvPr/>
        </p:nvSpPr>
        <p:spPr>
          <a:xfrm>
            <a:off x="166033" y="5977955"/>
            <a:ext cx="11859934"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Brown, C.H., Curran, G., Palinkas, L.A., Aarons, G.A., Wells, K.B., Jones, L., Collins, L.M., Duan, N., Mittman, B.S., Wallace, A. and Tabak, R.G. (2017). An overview of research and evaluation designs for dissemination and implementation. </a:t>
            </a:r>
            <a:r>
              <a:rPr lang="en-US" sz="1400" i="1" dirty="0">
                <a:latin typeface="Arial" panose="020B0604020202020204" pitchFamily="34" charset="0"/>
                <a:cs typeface="Arial" panose="020B0604020202020204" pitchFamily="34" charset="0"/>
              </a:rPr>
              <a:t>Annual review of public health</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38</a:t>
            </a:r>
            <a:r>
              <a:rPr lang="en-US" sz="1400" dirty="0">
                <a:latin typeface="Arial" panose="020B0604020202020204" pitchFamily="34" charset="0"/>
                <a:cs typeface="Arial" panose="020B0604020202020204" pitchFamily="34" charset="0"/>
              </a:rPr>
              <a:t>, pp.1-22.</a:t>
            </a:r>
          </a:p>
        </p:txBody>
      </p:sp>
    </p:spTree>
    <p:extLst>
      <p:ext uri="{BB962C8B-B14F-4D97-AF65-F5344CB8AC3E}">
        <p14:creationId xmlns:p14="http://schemas.microsoft.com/office/powerpoint/2010/main" val="93248218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BDB873-EF0E-40C6-9384-F63B1EF08124}"/>
              </a:ext>
            </a:extLst>
          </p:cNvPr>
          <p:cNvSpPr/>
          <p:nvPr/>
        </p:nvSpPr>
        <p:spPr>
          <a:xfrm>
            <a:off x="0" y="-1"/>
            <a:ext cx="4827639" cy="1406013"/>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Pragmatic Study Designs</a:t>
            </a:r>
            <a:endParaRPr lang="en-US" sz="2800" dirty="0">
              <a:solidFill>
                <a:schemeClr val="bg1"/>
              </a:solidFill>
            </a:endParaRPr>
          </a:p>
        </p:txBody>
      </p:sp>
      <p:pic>
        <p:nvPicPr>
          <p:cNvPr id="3" name="Picture 2">
            <a:extLst>
              <a:ext uri="{FF2B5EF4-FFF2-40B4-BE49-F238E27FC236}">
                <a16:creationId xmlns:a16="http://schemas.microsoft.com/office/drawing/2014/main" id="{ACA88A0E-FD2F-45EB-8A96-43FFCDEF03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965"/>
          <a:stretch/>
        </p:blipFill>
        <p:spPr bwMode="auto">
          <a:xfrm>
            <a:off x="5171768" y="-1"/>
            <a:ext cx="6295346" cy="514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92E0D2FB-D662-4378-96F4-4E0194C5ECA3}"/>
              </a:ext>
            </a:extLst>
          </p:cNvPr>
          <p:cNvSpPr txBox="1"/>
          <p:nvPr/>
        </p:nvSpPr>
        <p:spPr>
          <a:xfrm>
            <a:off x="100781" y="1418718"/>
            <a:ext cx="5070987" cy="3554819"/>
          </a:xfrm>
          <a:prstGeom prst="rect">
            <a:avLst/>
          </a:prstGeom>
          <a:noFill/>
        </p:spPr>
        <p:txBody>
          <a:bodyPr wrap="square">
            <a:spAutoFit/>
          </a:bodyPr>
          <a:lstStyle/>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Pragmatic-Explanatory Continuum Indicator Summary (PRECIS) </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PRECIS-2</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9 constructs to consider</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Guidance for coding</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Maximize the applicability of the intervention to usual care across a wide range of local and distant settings</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Less focused on highly specialized care settings</a:t>
            </a:r>
          </a:p>
        </p:txBody>
      </p:sp>
      <p:sp>
        <p:nvSpPr>
          <p:cNvPr id="7" name="TextBox 6">
            <a:extLst>
              <a:ext uri="{FF2B5EF4-FFF2-40B4-BE49-F238E27FC236}">
                <a16:creationId xmlns:a16="http://schemas.microsoft.com/office/drawing/2014/main" id="{FB46D750-1423-4FC6-974C-070FE6AFBE82}"/>
              </a:ext>
            </a:extLst>
          </p:cNvPr>
          <p:cNvSpPr txBox="1"/>
          <p:nvPr/>
        </p:nvSpPr>
        <p:spPr>
          <a:xfrm>
            <a:off x="0" y="5228240"/>
            <a:ext cx="11835580" cy="1246495"/>
          </a:xfrm>
          <a:prstGeom prst="rect">
            <a:avLst/>
          </a:prstGeom>
          <a:noFill/>
        </p:spPr>
        <p:txBody>
          <a:bodyPr wrap="square">
            <a:spAutoFit/>
          </a:bodyPr>
          <a:lstStyle/>
          <a:p>
            <a:pPr>
              <a:spcAft>
                <a:spcPts val="600"/>
              </a:spcAft>
            </a:pPr>
            <a:r>
              <a:rPr lang="en-US" sz="1400" dirty="0">
                <a:latin typeface="Arial" panose="020B0604020202020204" pitchFamily="34" charset="0"/>
                <a:cs typeface="Arial" panose="020B0604020202020204" pitchFamily="34" charset="0"/>
              </a:rPr>
              <a:t>Thorpe, K.E., </a:t>
            </a:r>
            <a:r>
              <a:rPr lang="en-US" sz="1400" dirty="0" err="1">
                <a:latin typeface="Arial" panose="020B0604020202020204" pitchFamily="34" charset="0"/>
                <a:cs typeface="Arial" panose="020B0604020202020204" pitchFamily="34" charset="0"/>
              </a:rPr>
              <a:t>Zwarenstein</a:t>
            </a:r>
            <a:r>
              <a:rPr lang="en-US" sz="1400" dirty="0">
                <a:latin typeface="Arial" panose="020B0604020202020204" pitchFamily="34" charset="0"/>
                <a:cs typeface="Arial" panose="020B0604020202020204" pitchFamily="34" charset="0"/>
              </a:rPr>
              <a:t>, M., </a:t>
            </a:r>
            <a:r>
              <a:rPr lang="en-US" sz="1400" dirty="0" err="1">
                <a:latin typeface="Arial" panose="020B0604020202020204" pitchFamily="34" charset="0"/>
                <a:cs typeface="Arial" panose="020B0604020202020204" pitchFamily="34" charset="0"/>
              </a:rPr>
              <a:t>Oxman</a:t>
            </a:r>
            <a:r>
              <a:rPr lang="en-US" sz="1400" dirty="0">
                <a:latin typeface="Arial" panose="020B0604020202020204" pitchFamily="34" charset="0"/>
                <a:cs typeface="Arial" panose="020B0604020202020204" pitchFamily="34" charset="0"/>
              </a:rPr>
              <a:t>, A.D., </a:t>
            </a:r>
            <a:r>
              <a:rPr lang="en-US" sz="1400" dirty="0" err="1">
                <a:latin typeface="Arial" panose="020B0604020202020204" pitchFamily="34" charset="0"/>
                <a:cs typeface="Arial" panose="020B0604020202020204" pitchFamily="34" charset="0"/>
              </a:rPr>
              <a:t>Treweek</a:t>
            </a:r>
            <a:r>
              <a:rPr lang="en-US" sz="1400" dirty="0">
                <a:latin typeface="Arial" panose="020B0604020202020204" pitchFamily="34" charset="0"/>
                <a:cs typeface="Arial" panose="020B0604020202020204" pitchFamily="34" charset="0"/>
              </a:rPr>
              <a:t>, S., </a:t>
            </a:r>
            <a:r>
              <a:rPr lang="en-US" sz="1400" dirty="0" err="1">
                <a:latin typeface="Arial" panose="020B0604020202020204" pitchFamily="34" charset="0"/>
                <a:cs typeface="Arial" panose="020B0604020202020204" pitchFamily="34" charset="0"/>
              </a:rPr>
              <a:t>Furberg</a:t>
            </a:r>
            <a:r>
              <a:rPr lang="en-US" sz="1400" dirty="0">
                <a:latin typeface="Arial" panose="020B0604020202020204" pitchFamily="34" charset="0"/>
                <a:cs typeface="Arial" panose="020B0604020202020204" pitchFamily="34" charset="0"/>
              </a:rPr>
              <a:t>, C.D., Altman, D.G., Tunis, S., </a:t>
            </a:r>
            <a:r>
              <a:rPr lang="en-US" sz="1400" dirty="0" err="1">
                <a:latin typeface="Arial" panose="020B0604020202020204" pitchFamily="34" charset="0"/>
                <a:cs typeface="Arial" panose="020B0604020202020204" pitchFamily="34" charset="0"/>
              </a:rPr>
              <a:t>Bergel</a:t>
            </a:r>
            <a:r>
              <a:rPr lang="en-US" sz="1400" dirty="0">
                <a:latin typeface="Arial" panose="020B0604020202020204" pitchFamily="34" charset="0"/>
                <a:cs typeface="Arial" panose="020B0604020202020204" pitchFamily="34" charset="0"/>
              </a:rPr>
              <a:t>, E., Harvey, I., </a:t>
            </a:r>
            <a:r>
              <a:rPr lang="en-US" sz="1400" dirty="0" err="1">
                <a:latin typeface="Arial" panose="020B0604020202020204" pitchFamily="34" charset="0"/>
                <a:cs typeface="Arial" panose="020B0604020202020204" pitchFamily="34" charset="0"/>
              </a:rPr>
              <a:t>Magid</a:t>
            </a:r>
            <a:r>
              <a:rPr lang="en-US" sz="1400" dirty="0">
                <a:latin typeface="Arial" panose="020B0604020202020204" pitchFamily="34" charset="0"/>
                <a:cs typeface="Arial" panose="020B0604020202020204" pitchFamily="34" charset="0"/>
              </a:rPr>
              <a:t>, D.J. and </a:t>
            </a:r>
            <a:r>
              <a:rPr lang="en-US" sz="1400" dirty="0" err="1">
                <a:latin typeface="Arial" panose="020B0604020202020204" pitchFamily="34" charset="0"/>
                <a:cs typeface="Arial" panose="020B0604020202020204" pitchFamily="34" charset="0"/>
              </a:rPr>
              <a:t>Chalkidou</a:t>
            </a:r>
            <a:r>
              <a:rPr lang="en-US" sz="1400" dirty="0">
                <a:latin typeface="Arial" panose="020B0604020202020204" pitchFamily="34" charset="0"/>
                <a:cs typeface="Arial" panose="020B0604020202020204" pitchFamily="34" charset="0"/>
              </a:rPr>
              <a:t>, K., 2009. A pragmatic–explanatory continuum indicator summary (PRECIS): a tool to help trial designers. Journal of clinical epidemiology, 62(5), pp.464-475.</a:t>
            </a:r>
          </a:p>
          <a:p>
            <a:pPr>
              <a:spcAft>
                <a:spcPts val="600"/>
              </a:spcAft>
            </a:pPr>
            <a:r>
              <a:rPr lang="en-US" sz="1400" dirty="0">
                <a:latin typeface="Arial" panose="020B0604020202020204" pitchFamily="34" charset="0"/>
                <a:cs typeface="Arial" panose="020B0604020202020204" pitchFamily="34" charset="0"/>
              </a:rPr>
              <a:t>Loudon, K., </a:t>
            </a:r>
            <a:r>
              <a:rPr lang="en-US" sz="1400" dirty="0" err="1">
                <a:latin typeface="Arial" panose="020B0604020202020204" pitchFamily="34" charset="0"/>
                <a:cs typeface="Arial" panose="020B0604020202020204" pitchFamily="34" charset="0"/>
              </a:rPr>
              <a:t>Treweek</a:t>
            </a:r>
            <a:r>
              <a:rPr lang="en-US" sz="1400" dirty="0">
                <a:latin typeface="Arial" panose="020B0604020202020204" pitchFamily="34" charset="0"/>
                <a:cs typeface="Arial" panose="020B0604020202020204" pitchFamily="34" charset="0"/>
              </a:rPr>
              <a:t>, S., Sullivan, F., </a:t>
            </a:r>
            <a:r>
              <a:rPr lang="en-US" sz="1400" dirty="0" err="1">
                <a:latin typeface="Arial" panose="020B0604020202020204" pitchFamily="34" charset="0"/>
                <a:cs typeface="Arial" panose="020B0604020202020204" pitchFamily="34" charset="0"/>
              </a:rPr>
              <a:t>Donnan</a:t>
            </a:r>
            <a:r>
              <a:rPr lang="en-US" sz="1400" dirty="0">
                <a:latin typeface="Arial" panose="020B0604020202020204" pitchFamily="34" charset="0"/>
                <a:cs typeface="Arial" panose="020B0604020202020204" pitchFamily="34" charset="0"/>
              </a:rPr>
              <a:t>, P., Thorpe, K.E. and </a:t>
            </a:r>
            <a:r>
              <a:rPr lang="en-US" sz="1400" dirty="0" err="1">
                <a:latin typeface="Arial" panose="020B0604020202020204" pitchFamily="34" charset="0"/>
                <a:cs typeface="Arial" panose="020B0604020202020204" pitchFamily="34" charset="0"/>
              </a:rPr>
              <a:t>Zwarenstein</a:t>
            </a:r>
            <a:r>
              <a:rPr lang="en-US" sz="1400" dirty="0">
                <a:latin typeface="Arial" panose="020B0604020202020204" pitchFamily="34" charset="0"/>
                <a:cs typeface="Arial" panose="020B0604020202020204" pitchFamily="34" charset="0"/>
              </a:rPr>
              <a:t>, M., 2015. The PRECIS-2 tool: designing trials that are fit for purpose. </a:t>
            </a:r>
            <a:r>
              <a:rPr lang="en-US" sz="1400" i="1" dirty="0">
                <a:latin typeface="Arial" panose="020B0604020202020204" pitchFamily="34" charset="0"/>
                <a:cs typeface="Arial" panose="020B0604020202020204" pitchFamily="34" charset="0"/>
              </a:rPr>
              <a:t>BMJ</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350</a:t>
            </a:r>
            <a:r>
              <a:rPr lang="en-US" sz="1400" dirty="0">
                <a:latin typeface="Arial" panose="020B0604020202020204" pitchFamily="34" charset="0"/>
                <a:cs typeface="Arial" panose="020B0604020202020204" pitchFamily="34" charset="0"/>
              </a:rPr>
              <a:t>, p.h2147</a:t>
            </a:r>
            <a:r>
              <a:rPr lang="en-US" sz="1200" dirty="0">
                <a:latin typeface="Arial" panose="020B0604020202020204" pitchFamily="34" charset="0"/>
                <a:cs typeface="Arial" panose="020B0604020202020204" pitchFamily="34" charset="0"/>
              </a:rPr>
              <a:t>.</a:t>
            </a:r>
          </a:p>
        </p:txBody>
      </p:sp>
      <p:pic>
        <p:nvPicPr>
          <p:cNvPr id="8" name="Picture 7">
            <a:extLst>
              <a:ext uri="{FF2B5EF4-FFF2-40B4-BE49-F238E27FC236}">
                <a16:creationId xmlns:a16="http://schemas.microsoft.com/office/drawing/2014/main" id="{7DCC2D82-32A8-4853-91B7-B9CA3B0BA8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extLst>
      <p:ext uri="{BB962C8B-B14F-4D97-AF65-F5344CB8AC3E}">
        <p14:creationId xmlns:p14="http://schemas.microsoft.com/office/powerpoint/2010/main" val="33958490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5469" y="208456"/>
            <a:ext cx="9087969" cy="6649544"/>
          </a:xfrm>
          <a:prstGeom prst="rect">
            <a:avLst/>
          </a:prstGeom>
        </p:spPr>
      </p:pic>
    </p:spTree>
    <p:extLst>
      <p:ext uri="{BB962C8B-B14F-4D97-AF65-F5344CB8AC3E}">
        <p14:creationId xmlns:p14="http://schemas.microsoft.com/office/powerpoint/2010/main" val="161335533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3195" y="-19162"/>
            <a:ext cx="7767021" cy="2633270"/>
          </a:xfrm>
        </p:spPr>
        <p:txBody>
          <a:bodyPr>
            <a:noAutofit/>
          </a:bodyPr>
          <a:lstStyle/>
          <a:p>
            <a:pPr>
              <a:defRPr/>
            </a:pPr>
            <a:br>
              <a:rPr lang="en-US" sz="1200" dirty="0"/>
            </a:br>
            <a:r>
              <a:rPr lang="en-US" sz="3600" b="1" dirty="0"/>
              <a:t>Case Study:</a:t>
            </a:r>
            <a:br>
              <a:rPr lang="en-US" sz="3600" b="1" dirty="0"/>
            </a:br>
            <a:br>
              <a:rPr lang="en-US" sz="3600" b="1" dirty="0"/>
            </a:br>
            <a:r>
              <a:rPr lang="en-US" sz="3600" b="1" dirty="0"/>
              <a:t>The Familia Salama study</a:t>
            </a:r>
            <a:br>
              <a:rPr lang="en-US" sz="3600" b="1" dirty="0"/>
            </a:br>
            <a:r>
              <a:rPr lang="en-US" sz="3600" dirty="0"/>
              <a:t>Dar es Salaam, Tanzania</a:t>
            </a:r>
            <a:br>
              <a:rPr lang="en-US" sz="3600" dirty="0"/>
            </a:br>
            <a:endParaRPr lang="en-US" sz="3600" dirty="0"/>
          </a:p>
        </p:txBody>
      </p:sp>
      <p:sp>
        <p:nvSpPr>
          <p:cNvPr id="16387" name="Rectangle 5"/>
          <p:cNvSpPr>
            <a:spLocks noChangeArrowheads="1"/>
          </p:cNvSpPr>
          <p:nvPr/>
        </p:nvSpPr>
        <p:spPr bwMode="auto">
          <a:xfrm>
            <a:off x="329901" y="990264"/>
            <a:ext cx="11532198" cy="5942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14000"/>
              </a:lnSpc>
              <a:spcAft>
                <a:spcPts val="300"/>
              </a:spcAft>
              <a:defRPr/>
            </a:pPr>
            <a:endParaRPr lang="en-US" b="1" dirty="0"/>
          </a:p>
          <a:p>
            <a:pPr algn="ctr">
              <a:lnSpc>
                <a:spcPct val="114000"/>
              </a:lnSpc>
              <a:spcAft>
                <a:spcPts val="300"/>
              </a:spcAft>
              <a:defRPr/>
            </a:pPr>
            <a:endParaRPr lang="en-US" sz="3600" dirty="0"/>
          </a:p>
          <a:p>
            <a:pPr algn="ctr">
              <a:lnSpc>
                <a:spcPct val="114000"/>
              </a:lnSpc>
              <a:spcAft>
                <a:spcPts val="300"/>
              </a:spcAft>
              <a:defRPr/>
            </a:pPr>
            <a:r>
              <a:rPr lang="en-US" sz="3600" dirty="0"/>
              <a:t>2x2 cluster-randomized trial</a:t>
            </a:r>
          </a:p>
          <a:p>
            <a:pPr algn="ctr">
              <a:lnSpc>
                <a:spcPct val="114000"/>
              </a:lnSpc>
              <a:spcAft>
                <a:spcPts val="300"/>
              </a:spcAft>
              <a:defRPr/>
            </a:pPr>
            <a:endParaRPr lang="en-US" sz="3600" dirty="0"/>
          </a:p>
          <a:p>
            <a:pPr marL="742950" indent="-742950">
              <a:lnSpc>
                <a:spcPct val="114000"/>
              </a:lnSpc>
              <a:spcAft>
                <a:spcPts val="300"/>
              </a:spcAft>
              <a:buFont typeface="+mj-lt"/>
              <a:buAutoNum type="arabicPeriod"/>
              <a:defRPr/>
            </a:pPr>
            <a:r>
              <a:rPr lang="en-US" sz="3600" dirty="0"/>
              <a:t>Enhanced community health worker vs. standard of care</a:t>
            </a:r>
          </a:p>
          <a:p>
            <a:pPr marL="971550" lvl="1" indent="-514350">
              <a:lnSpc>
                <a:spcPct val="114000"/>
              </a:lnSpc>
              <a:spcAft>
                <a:spcPts val="300"/>
              </a:spcAft>
              <a:buAutoNum type="alphaLcPeriod"/>
              <a:defRPr/>
            </a:pPr>
            <a:r>
              <a:rPr lang="en-US" sz="2800" dirty="0"/>
              <a:t>Primary outcome – 4 or more ANC visits (WHO “EBI”)</a:t>
            </a:r>
          </a:p>
          <a:p>
            <a:pPr lvl="1">
              <a:lnSpc>
                <a:spcPct val="114000"/>
              </a:lnSpc>
              <a:spcAft>
                <a:spcPts val="300"/>
              </a:spcAft>
              <a:defRPr/>
            </a:pPr>
            <a:r>
              <a:rPr lang="en-US" sz="1400" dirty="0"/>
              <a:t>Regan M, Cheng C, Mboggo E, Larson E, </a:t>
            </a:r>
            <a:r>
              <a:rPr lang="en-US" sz="1400" dirty="0" err="1"/>
              <a:t>Lema</a:t>
            </a:r>
            <a:r>
              <a:rPr lang="en-US" sz="1400" dirty="0"/>
              <a:t> IA, Magesa L, Machumi L, Ulenga N, Sando D, Mwanyika-Sando M, Barnhart DA, Hong B, Mungure E, Li N, Siril H, </a:t>
            </a:r>
            <a:r>
              <a:rPr lang="en-US" sz="1400" dirty="0" err="1"/>
              <a:t>Mujinja</a:t>
            </a:r>
            <a:r>
              <a:rPr lang="en-US" sz="1400" dirty="0"/>
              <a:t> P, </a:t>
            </a:r>
            <a:r>
              <a:rPr lang="en-US" sz="1400" dirty="0" err="1"/>
              <a:t>Naburi</a:t>
            </a:r>
            <a:r>
              <a:rPr lang="en-US" sz="1400" dirty="0"/>
              <a:t> H, Kilewo C, Ekström AM, Geldsetzer P, Fawzi W, </a:t>
            </a:r>
            <a:r>
              <a:rPr lang="en-US" sz="1400" dirty="0" err="1"/>
              <a:t>Bärnighausen</a:t>
            </a:r>
            <a:r>
              <a:rPr lang="en-US" sz="1400" dirty="0"/>
              <a:t> T, Sudfeld CR, Spiegelman D. The impact of a community health worker intervention on uptake of antenatal care: a cluster-randomized pragmatic trial in Dar es Salaam. Health Policy Plan. 2023 Mar 16;38(3):279-288. </a:t>
            </a:r>
            <a:r>
              <a:rPr lang="en-US" sz="1400" dirty="0" err="1"/>
              <a:t>doi</a:t>
            </a:r>
            <a:r>
              <a:rPr lang="en-US" sz="1400" dirty="0"/>
              <a:t>: 10.1093/</a:t>
            </a:r>
            <a:r>
              <a:rPr lang="en-US" sz="1400" dirty="0" err="1"/>
              <a:t>heapol</a:t>
            </a:r>
            <a:r>
              <a:rPr lang="en-US" sz="1400" dirty="0"/>
              <a:t>/czac100. PMID: 36377764; PMCID: PMC10019560.</a:t>
            </a:r>
          </a:p>
          <a:p>
            <a:pPr marL="742950" indent="-742950">
              <a:lnSpc>
                <a:spcPct val="114000"/>
              </a:lnSpc>
              <a:spcAft>
                <a:spcPts val="300"/>
              </a:spcAft>
              <a:buAutoNum type="arabicPeriod"/>
              <a:defRPr/>
            </a:pPr>
            <a:r>
              <a:rPr lang="en-US" sz="3600" dirty="0"/>
              <a:t>Option A vs. Option B among HIV+ mothers</a:t>
            </a:r>
          </a:p>
          <a:p>
            <a:pPr>
              <a:lnSpc>
                <a:spcPct val="114000"/>
              </a:lnSpc>
              <a:spcAft>
                <a:spcPts val="300"/>
              </a:spcAft>
              <a:defRPr/>
            </a:pPr>
            <a:r>
              <a:rPr lang="en-US" sz="3600" dirty="0"/>
              <a:t>	</a:t>
            </a:r>
            <a:r>
              <a:rPr lang="en-US" sz="2800" dirty="0"/>
              <a:t>a. Primary outcome – PMTCT HIV incidence rate</a:t>
            </a:r>
          </a:p>
        </p:txBody>
      </p:sp>
      <p:pic>
        <p:nvPicPr>
          <p:cNvPr id="7172" name="Picture 2"/>
          <p:cNvPicPr>
            <a:picLocks noChangeAspect="1"/>
          </p:cNvPicPr>
          <p:nvPr/>
        </p:nvPicPr>
        <p:blipFill>
          <a:blip r:embed="rId3" cstate="print"/>
          <a:srcRect/>
          <a:stretch>
            <a:fillRect/>
          </a:stretch>
        </p:blipFill>
        <p:spPr bwMode="auto">
          <a:xfrm>
            <a:off x="0" y="127000"/>
            <a:ext cx="2730500" cy="1016000"/>
          </a:xfrm>
          <a:prstGeom prst="rect">
            <a:avLst/>
          </a:prstGeom>
          <a:noFill/>
          <a:ln w="9525">
            <a:noFill/>
            <a:miter lim="800000"/>
            <a:headEnd/>
            <a:tailEnd/>
          </a:ln>
        </p:spPr>
      </p:pic>
      <p:pic>
        <p:nvPicPr>
          <p:cNvPr id="7173" name="Picture 2"/>
          <p:cNvPicPr>
            <a:picLocks noChangeAspect="1" noChangeArrowheads="1"/>
          </p:cNvPicPr>
          <p:nvPr/>
        </p:nvPicPr>
        <p:blipFill>
          <a:blip r:embed="rId4" cstate="print"/>
          <a:srcRect r="45284"/>
          <a:stretch>
            <a:fillRect/>
          </a:stretch>
        </p:blipFill>
        <p:spPr bwMode="auto">
          <a:xfrm>
            <a:off x="8089901" y="247650"/>
            <a:ext cx="3898900" cy="1028700"/>
          </a:xfrm>
          <a:prstGeom prst="rect">
            <a:avLst/>
          </a:prstGeom>
          <a:noFill/>
          <a:ln w="9525">
            <a:noFill/>
            <a:miter lim="800000"/>
            <a:headEnd/>
            <a:tailEnd/>
          </a:ln>
        </p:spPr>
      </p:pic>
    </p:spTree>
    <p:extLst>
      <p:ext uri="{BB962C8B-B14F-4D97-AF65-F5344CB8AC3E}">
        <p14:creationId xmlns:p14="http://schemas.microsoft.com/office/powerpoint/2010/main" val="151371953"/>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232012" y="381000"/>
            <a:ext cx="11300346" cy="1176338"/>
          </a:xfrm>
        </p:spPr>
        <p:txBody>
          <a:bodyPr>
            <a:normAutofit fontScale="90000"/>
          </a:bodyPr>
          <a:lstStyle/>
          <a:p>
            <a:pPr eaLnBrk="1" hangingPunct="1">
              <a:defRPr/>
            </a:pPr>
            <a:r>
              <a:rPr lang="en-US" sz="3600" b="1" dirty="0">
                <a:solidFill>
                  <a:srgbClr val="0070C0"/>
                </a:solidFill>
              </a:rPr>
              <a:t>60 Wards in 2 of 3 districts in Dar </a:t>
            </a:r>
            <a:r>
              <a:rPr lang="en-US" sz="3600" b="1" dirty="0" err="1">
                <a:solidFill>
                  <a:srgbClr val="0070C0"/>
                </a:solidFill>
              </a:rPr>
              <a:t>es</a:t>
            </a:r>
            <a:r>
              <a:rPr lang="en-US" sz="3600" b="1" dirty="0">
                <a:solidFill>
                  <a:srgbClr val="0070C0"/>
                </a:solidFill>
              </a:rPr>
              <a:t> Salaam were randomized to one of four arms in this cluster-randomized implementation trial</a:t>
            </a:r>
          </a:p>
        </p:txBody>
      </p:sp>
      <p:grpSp>
        <p:nvGrpSpPr>
          <p:cNvPr id="11267" name="Group 24"/>
          <p:cNvGrpSpPr>
            <a:grpSpLocks noChangeAspect="1"/>
          </p:cNvGrpSpPr>
          <p:nvPr/>
        </p:nvGrpSpPr>
        <p:grpSpPr bwMode="auto">
          <a:xfrm>
            <a:off x="1662113" y="1716088"/>
            <a:ext cx="8858250" cy="3465513"/>
            <a:chOff x="1035" y="3956"/>
            <a:chExt cx="8653" cy="1908"/>
          </a:xfrm>
        </p:grpSpPr>
        <p:sp>
          <p:nvSpPr>
            <p:cNvPr id="21509" name="Text Box 37"/>
            <p:cNvSpPr txBox="1">
              <a:spLocks noChangeArrowheads="1"/>
            </p:cNvSpPr>
            <p:nvPr/>
          </p:nvSpPr>
          <p:spPr bwMode="auto">
            <a:xfrm>
              <a:off x="4411" y="3956"/>
              <a:ext cx="1630" cy="376"/>
            </a:xfrm>
            <a:prstGeom prst="rect">
              <a:avLst/>
            </a:prstGeom>
            <a:solidFill>
              <a:srgbClr val="FFC000"/>
            </a:solidFill>
            <a:ln w="9525">
              <a:solidFill>
                <a:srgbClr val="000000"/>
              </a:solidFill>
              <a:miter lim="800000"/>
              <a:headEnd/>
              <a:tailEnd/>
            </a:ln>
          </p:spPr>
          <p:txBody>
            <a:bodyPr/>
            <a:lstStyle>
              <a:lvl1pPr eaLnBrk="0" hangingPunct="0">
                <a:defRPr sz="2400">
                  <a:solidFill>
                    <a:schemeClr val="tx1"/>
                  </a:solidFill>
                  <a:latin typeface="Book Antiqua" charset="0"/>
                  <a:ea typeface="ＭＳ Ｐゴシック" charset="0"/>
                  <a:cs typeface="ＭＳ Ｐゴシック" charset="0"/>
                </a:defRPr>
              </a:lvl1pPr>
              <a:lvl2pPr marL="742950" indent="-285750" eaLnBrk="0" hangingPunct="0">
                <a:defRPr sz="2400">
                  <a:solidFill>
                    <a:schemeClr val="tx1"/>
                  </a:solidFill>
                  <a:latin typeface="Book Antiqua" charset="0"/>
                  <a:ea typeface="ＭＳ Ｐゴシック" charset="0"/>
                </a:defRPr>
              </a:lvl2pPr>
              <a:lvl3pPr marL="1143000" indent="-228600" eaLnBrk="0" hangingPunct="0">
                <a:defRPr sz="2400">
                  <a:solidFill>
                    <a:schemeClr val="tx1"/>
                  </a:solidFill>
                  <a:latin typeface="Book Antiqua" charset="0"/>
                  <a:ea typeface="ＭＳ Ｐゴシック" charset="0"/>
                </a:defRPr>
              </a:lvl3pPr>
              <a:lvl4pPr marL="1600200" indent="-228600" eaLnBrk="0" hangingPunct="0">
                <a:defRPr sz="2400">
                  <a:solidFill>
                    <a:schemeClr val="tx1"/>
                  </a:solidFill>
                  <a:latin typeface="Book Antiqua" charset="0"/>
                  <a:ea typeface="ＭＳ Ｐゴシック" charset="0"/>
                </a:defRPr>
              </a:lvl4pPr>
              <a:lvl5pPr marL="2057400" indent="-228600" eaLnBrk="0" hangingPunct="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pPr algn="ctr" eaLnBrk="1" hangingPunct="1">
                <a:defRPr/>
              </a:pPr>
              <a:r>
                <a:rPr lang="en-US" sz="1600" b="1" dirty="0">
                  <a:latin typeface="+mn-lt"/>
                  <a:cs typeface="Times New Roman" charset="0"/>
                </a:rPr>
                <a:t>60 wards</a:t>
              </a:r>
              <a:endParaRPr lang="en-US" sz="1600" dirty="0">
                <a:latin typeface="+mn-lt"/>
              </a:endParaRPr>
            </a:p>
          </p:txBody>
        </p:sp>
        <p:sp>
          <p:nvSpPr>
            <p:cNvPr id="7" name="Text Box 36"/>
            <p:cNvSpPr txBox="1">
              <a:spLocks noChangeArrowheads="1"/>
            </p:cNvSpPr>
            <p:nvPr/>
          </p:nvSpPr>
          <p:spPr bwMode="auto">
            <a:xfrm>
              <a:off x="2517" y="4603"/>
              <a:ext cx="2565" cy="423"/>
            </a:xfrm>
            <a:prstGeom prst="rect">
              <a:avLst/>
            </a:prstGeom>
            <a:solidFill>
              <a:schemeClr val="bg1">
                <a:lumMod val="65000"/>
              </a:schemeClr>
            </a:solidFill>
            <a:ln w="9525">
              <a:solidFill>
                <a:srgbClr val="000000"/>
              </a:solidFill>
              <a:miter lim="800000"/>
              <a:headEnd/>
              <a:tailEnd/>
            </a:ln>
          </p:spPr>
          <p:txBody>
            <a:bodyPr/>
            <a:lstStyle/>
            <a:p>
              <a:pPr>
                <a:defRPr/>
              </a:pPr>
              <a:r>
                <a:rPr lang="en-US" sz="1600" dirty="0">
                  <a:ea typeface="Times New Roman" pitchFamily="18" charset="0"/>
                  <a:cs typeface="Arial" charset="0"/>
                </a:rPr>
                <a:t>Community intervention:</a:t>
              </a:r>
              <a:endParaRPr lang="en-US" sz="1600" dirty="0">
                <a:cs typeface="Arial" charset="0"/>
              </a:endParaRPr>
            </a:p>
            <a:p>
              <a:pPr eaLnBrk="0" hangingPunct="0">
                <a:defRPr/>
              </a:pPr>
              <a:r>
                <a:rPr lang="en-US" sz="1600" b="1" dirty="0">
                  <a:ea typeface="Times New Roman" pitchFamily="18" charset="0"/>
                  <a:cs typeface="Arial" charset="0"/>
                </a:rPr>
                <a:t>36 wards</a:t>
              </a:r>
              <a:endParaRPr lang="en-US" sz="1600" dirty="0">
                <a:cs typeface="Arial" charset="0"/>
              </a:endParaRPr>
            </a:p>
          </p:txBody>
        </p:sp>
        <p:sp>
          <p:nvSpPr>
            <p:cNvPr id="8" name="Text Box 35"/>
            <p:cNvSpPr txBox="1">
              <a:spLocks noChangeArrowheads="1"/>
            </p:cNvSpPr>
            <p:nvPr/>
          </p:nvSpPr>
          <p:spPr bwMode="auto">
            <a:xfrm>
              <a:off x="5955" y="4603"/>
              <a:ext cx="2875" cy="423"/>
            </a:xfrm>
            <a:prstGeom prst="rect">
              <a:avLst/>
            </a:prstGeom>
            <a:solidFill>
              <a:schemeClr val="accent4"/>
            </a:solidFill>
            <a:ln w="9525">
              <a:solidFill>
                <a:srgbClr val="000000"/>
              </a:solidFill>
              <a:miter lim="800000"/>
              <a:headEnd/>
              <a:tailEnd/>
            </a:ln>
          </p:spPr>
          <p:txBody>
            <a:bodyPr/>
            <a:lstStyle/>
            <a:p>
              <a:pPr>
                <a:defRPr/>
              </a:pPr>
              <a:r>
                <a:rPr lang="en-US" sz="1600" dirty="0">
                  <a:ea typeface="Times New Roman" pitchFamily="18" charset="0"/>
                  <a:cs typeface="Arial" charset="0"/>
                </a:rPr>
                <a:t>No community intervention</a:t>
              </a:r>
              <a:r>
                <a:rPr lang="en-US" sz="1600" dirty="0">
                  <a:cs typeface="Arial" charset="0"/>
                </a:rPr>
                <a:t>:</a:t>
              </a:r>
            </a:p>
            <a:p>
              <a:pPr>
                <a:defRPr/>
              </a:pPr>
              <a:r>
                <a:rPr lang="en-US" sz="1600" dirty="0">
                  <a:cs typeface="Arial" charset="0"/>
                </a:rPr>
                <a:t> </a:t>
              </a:r>
              <a:r>
                <a:rPr lang="en-US" sz="1600" b="1" dirty="0">
                  <a:ea typeface="Times New Roman" pitchFamily="18" charset="0"/>
                  <a:cs typeface="Arial" charset="0"/>
                </a:rPr>
                <a:t>24 wards</a:t>
              </a:r>
              <a:endParaRPr lang="en-US" sz="1600" dirty="0">
                <a:cs typeface="Arial" charset="0"/>
              </a:endParaRPr>
            </a:p>
          </p:txBody>
        </p:sp>
        <p:sp>
          <p:nvSpPr>
            <p:cNvPr id="9" name="Text Box 34"/>
            <p:cNvSpPr txBox="1">
              <a:spLocks noChangeArrowheads="1"/>
            </p:cNvSpPr>
            <p:nvPr/>
          </p:nvSpPr>
          <p:spPr bwMode="auto">
            <a:xfrm>
              <a:off x="1035" y="5348"/>
              <a:ext cx="1946" cy="516"/>
            </a:xfrm>
            <a:prstGeom prst="rect">
              <a:avLst/>
            </a:prstGeom>
            <a:solidFill>
              <a:schemeClr val="bg2">
                <a:lumMod val="75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B: </a:t>
              </a:r>
              <a:r>
                <a:rPr lang="en-US" sz="1600" b="1" dirty="0">
                  <a:ea typeface="Times New Roman" pitchFamily="18" charset="0"/>
                  <a:cs typeface="Arial" charset="0"/>
                </a:rPr>
                <a:t>22 wards </a:t>
              </a:r>
            </a:p>
            <a:p>
              <a:pPr>
                <a:defRPr/>
              </a:pPr>
              <a:r>
                <a:rPr lang="en-US" sz="1600" dirty="0">
                  <a:ea typeface="Times New Roman" pitchFamily="18" charset="0"/>
                  <a:cs typeface="Arial" charset="0"/>
                </a:rPr>
                <a:t>(36,540 pregnancies)</a:t>
              </a:r>
              <a:endParaRPr lang="en-US" sz="1600" dirty="0">
                <a:cs typeface="Arial" charset="0"/>
              </a:endParaRPr>
            </a:p>
            <a:p>
              <a:pPr eaLnBrk="0" hangingPunct="0">
                <a:defRPr/>
              </a:pPr>
              <a:endParaRPr lang="en-US" sz="1600" dirty="0">
                <a:cs typeface="Arial" charset="0"/>
              </a:endParaRPr>
            </a:p>
          </p:txBody>
        </p:sp>
        <p:sp>
          <p:nvSpPr>
            <p:cNvPr id="10" name="Text Box 33"/>
            <p:cNvSpPr txBox="1">
              <a:spLocks noChangeArrowheads="1"/>
            </p:cNvSpPr>
            <p:nvPr/>
          </p:nvSpPr>
          <p:spPr bwMode="auto">
            <a:xfrm>
              <a:off x="3333" y="5348"/>
              <a:ext cx="1986" cy="516"/>
            </a:xfrm>
            <a:prstGeom prst="rect">
              <a:avLst/>
            </a:prstGeom>
            <a:solidFill>
              <a:schemeClr val="accent6">
                <a:lumMod val="40000"/>
                <a:lumOff val="60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A:</a:t>
              </a:r>
              <a:r>
                <a:rPr lang="en-US" sz="1600" b="1" dirty="0">
                  <a:ea typeface="Times New Roman" pitchFamily="18" charset="0"/>
                  <a:cs typeface="Arial" charset="0"/>
                </a:rPr>
                <a:t> 14 wards </a:t>
              </a:r>
              <a:r>
                <a:rPr lang="en-US" sz="1600" dirty="0">
                  <a:ea typeface="Times New Roman" pitchFamily="18" charset="0"/>
                  <a:cs typeface="Arial" charset="0"/>
                </a:rPr>
                <a:t>(35,622 pregnancies)</a:t>
              </a:r>
              <a:endParaRPr lang="en-US" sz="1600" dirty="0">
                <a:cs typeface="Arial" charset="0"/>
              </a:endParaRPr>
            </a:p>
            <a:p>
              <a:pPr eaLnBrk="0" hangingPunct="0">
                <a:defRPr/>
              </a:pPr>
              <a:endParaRPr lang="en-US" sz="1600" dirty="0">
                <a:cs typeface="Arial" charset="0"/>
              </a:endParaRPr>
            </a:p>
          </p:txBody>
        </p:sp>
        <p:sp>
          <p:nvSpPr>
            <p:cNvPr id="11" name="Text Box 32"/>
            <p:cNvSpPr txBox="1">
              <a:spLocks noChangeArrowheads="1"/>
            </p:cNvSpPr>
            <p:nvPr/>
          </p:nvSpPr>
          <p:spPr bwMode="auto">
            <a:xfrm>
              <a:off x="5557" y="5348"/>
              <a:ext cx="1986" cy="516"/>
            </a:xfrm>
            <a:prstGeom prst="rect">
              <a:avLst/>
            </a:prstGeom>
            <a:solidFill>
              <a:schemeClr val="bg2">
                <a:lumMod val="75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B: </a:t>
              </a:r>
              <a:r>
                <a:rPr lang="en-US" sz="1600" b="1" dirty="0">
                  <a:ea typeface="Times New Roman" pitchFamily="18" charset="0"/>
                  <a:cs typeface="Arial" charset="0"/>
                </a:rPr>
                <a:t>10 wards</a:t>
              </a:r>
              <a:r>
                <a:rPr lang="en-US" sz="1600" dirty="0">
                  <a:ea typeface="Times New Roman" pitchFamily="18" charset="0"/>
                  <a:cs typeface="Arial" charset="0"/>
                </a:rPr>
                <a:t> (44,424 pregnancies)</a:t>
              </a:r>
              <a:endParaRPr lang="en-US" sz="1600" dirty="0">
                <a:cs typeface="Arial" charset="0"/>
              </a:endParaRPr>
            </a:p>
          </p:txBody>
        </p:sp>
        <p:sp>
          <p:nvSpPr>
            <p:cNvPr id="12" name="Text Box 31"/>
            <p:cNvSpPr txBox="1">
              <a:spLocks noChangeArrowheads="1"/>
            </p:cNvSpPr>
            <p:nvPr/>
          </p:nvSpPr>
          <p:spPr bwMode="auto">
            <a:xfrm>
              <a:off x="7712" y="5348"/>
              <a:ext cx="1976" cy="503"/>
            </a:xfrm>
            <a:prstGeom prst="rect">
              <a:avLst/>
            </a:prstGeom>
            <a:solidFill>
              <a:schemeClr val="accent6">
                <a:lumMod val="40000"/>
                <a:lumOff val="60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A: </a:t>
              </a:r>
              <a:r>
                <a:rPr lang="en-US" sz="1600" b="1" dirty="0">
                  <a:ea typeface="Times New Roman" pitchFamily="18" charset="0"/>
                  <a:cs typeface="Arial" charset="0"/>
                </a:rPr>
                <a:t>14 wards</a:t>
              </a:r>
              <a:r>
                <a:rPr lang="en-US" sz="1600" dirty="0">
                  <a:ea typeface="Times New Roman" pitchFamily="18" charset="0"/>
                  <a:cs typeface="Arial" charset="0"/>
                </a:rPr>
                <a:t> </a:t>
              </a:r>
            </a:p>
            <a:p>
              <a:pPr>
                <a:defRPr/>
              </a:pPr>
              <a:r>
                <a:rPr lang="en-US" sz="1600" dirty="0">
                  <a:ea typeface="Times New Roman" pitchFamily="18" charset="0"/>
                  <a:cs typeface="Arial" charset="0"/>
                </a:rPr>
                <a:t>(37,098</a:t>
              </a:r>
              <a:r>
                <a:rPr lang="en-US" sz="1600" b="1" dirty="0">
                  <a:ea typeface="Times New Roman" pitchFamily="18" charset="0"/>
                  <a:cs typeface="Arial" charset="0"/>
                </a:rPr>
                <a:t> </a:t>
              </a:r>
              <a:r>
                <a:rPr lang="en-US" sz="1600" dirty="0">
                  <a:ea typeface="Times New Roman" pitchFamily="18" charset="0"/>
                  <a:cs typeface="Arial" charset="0"/>
                </a:rPr>
                <a:t>pregnancies)</a:t>
              </a:r>
              <a:endParaRPr lang="en-US" sz="1600" dirty="0">
                <a:cs typeface="Arial" charset="0"/>
              </a:endParaRPr>
            </a:p>
          </p:txBody>
        </p:sp>
        <p:cxnSp>
          <p:nvCxnSpPr>
            <p:cNvPr id="11276" name="AutoShape 30"/>
            <p:cNvCxnSpPr>
              <a:cxnSpLocks noChangeShapeType="1"/>
            </p:cNvCxnSpPr>
            <p:nvPr/>
          </p:nvCxnSpPr>
          <p:spPr bwMode="auto">
            <a:xfrm flipH="1">
              <a:off x="3534" y="4336"/>
              <a:ext cx="1550" cy="271"/>
            </a:xfrm>
            <a:prstGeom prst="straightConnector1">
              <a:avLst/>
            </a:prstGeom>
            <a:noFill/>
            <a:ln w="9525">
              <a:solidFill>
                <a:srgbClr val="000000"/>
              </a:solidFill>
              <a:round/>
              <a:headEnd/>
              <a:tailEnd type="triangle" w="med" len="med"/>
            </a:ln>
          </p:spPr>
        </p:cxnSp>
        <p:cxnSp>
          <p:nvCxnSpPr>
            <p:cNvPr id="11277" name="AutoShape 29"/>
            <p:cNvCxnSpPr>
              <a:cxnSpLocks noChangeShapeType="1"/>
            </p:cNvCxnSpPr>
            <p:nvPr/>
          </p:nvCxnSpPr>
          <p:spPr bwMode="auto">
            <a:xfrm>
              <a:off x="5303" y="4332"/>
              <a:ext cx="1635" cy="271"/>
            </a:xfrm>
            <a:prstGeom prst="straightConnector1">
              <a:avLst/>
            </a:prstGeom>
            <a:noFill/>
            <a:ln w="9525">
              <a:solidFill>
                <a:srgbClr val="000000"/>
              </a:solidFill>
              <a:round/>
              <a:headEnd/>
              <a:tailEnd type="triangle" w="med" len="med"/>
            </a:ln>
          </p:spPr>
        </p:cxnSp>
        <p:cxnSp>
          <p:nvCxnSpPr>
            <p:cNvPr id="11278" name="AutoShape 28"/>
            <p:cNvCxnSpPr>
              <a:cxnSpLocks noChangeShapeType="1"/>
            </p:cNvCxnSpPr>
            <p:nvPr/>
          </p:nvCxnSpPr>
          <p:spPr bwMode="auto">
            <a:xfrm flipH="1">
              <a:off x="2708" y="5030"/>
              <a:ext cx="826" cy="278"/>
            </a:xfrm>
            <a:prstGeom prst="straightConnector1">
              <a:avLst/>
            </a:prstGeom>
            <a:noFill/>
            <a:ln w="9525">
              <a:solidFill>
                <a:srgbClr val="000000"/>
              </a:solidFill>
              <a:round/>
              <a:headEnd/>
              <a:tailEnd type="triangle" w="med" len="med"/>
            </a:ln>
          </p:spPr>
        </p:cxnSp>
        <p:cxnSp>
          <p:nvCxnSpPr>
            <p:cNvPr id="11279" name="AutoShape 27"/>
            <p:cNvCxnSpPr>
              <a:cxnSpLocks noChangeShapeType="1"/>
              <a:stCxn id="7" idx="2"/>
            </p:cNvCxnSpPr>
            <p:nvPr/>
          </p:nvCxnSpPr>
          <p:spPr bwMode="auto">
            <a:xfrm>
              <a:off x="3800" y="5026"/>
              <a:ext cx="506" cy="282"/>
            </a:xfrm>
            <a:prstGeom prst="straightConnector1">
              <a:avLst/>
            </a:prstGeom>
            <a:noFill/>
            <a:ln w="9525">
              <a:solidFill>
                <a:srgbClr val="000000"/>
              </a:solidFill>
              <a:round/>
              <a:headEnd/>
              <a:tailEnd type="triangle" w="med" len="med"/>
            </a:ln>
          </p:spPr>
        </p:cxnSp>
        <p:cxnSp>
          <p:nvCxnSpPr>
            <p:cNvPr id="11280" name="AutoShape 26"/>
            <p:cNvCxnSpPr>
              <a:cxnSpLocks noChangeShapeType="1"/>
              <a:stCxn id="8" idx="2"/>
            </p:cNvCxnSpPr>
            <p:nvPr/>
          </p:nvCxnSpPr>
          <p:spPr bwMode="auto">
            <a:xfrm flipH="1">
              <a:off x="6808" y="5026"/>
              <a:ext cx="586" cy="282"/>
            </a:xfrm>
            <a:prstGeom prst="straightConnector1">
              <a:avLst/>
            </a:prstGeom>
            <a:noFill/>
            <a:ln w="9525">
              <a:solidFill>
                <a:srgbClr val="000000"/>
              </a:solidFill>
              <a:round/>
              <a:headEnd/>
              <a:tailEnd type="triangle" w="med" len="med"/>
            </a:ln>
          </p:spPr>
        </p:cxnSp>
        <p:cxnSp>
          <p:nvCxnSpPr>
            <p:cNvPr id="11281" name="AutoShape 25"/>
            <p:cNvCxnSpPr>
              <a:cxnSpLocks noChangeShapeType="1"/>
            </p:cNvCxnSpPr>
            <p:nvPr/>
          </p:nvCxnSpPr>
          <p:spPr bwMode="auto">
            <a:xfrm>
              <a:off x="7712" y="5030"/>
              <a:ext cx="625" cy="278"/>
            </a:xfrm>
            <a:prstGeom prst="straightConnector1">
              <a:avLst/>
            </a:prstGeom>
            <a:noFill/>
            <a:ln w="9525">
              <a:solidFill>
                <a:srgbClr val="000000"/>
              </a:solidFill>
              <a:round/>
              <a:headEnd/>
              <a:tailEnd type="triangle" w="med" len="med"/>
            </a:ln>
          </p:spPr>
        </p:cxnSp>
      </p:grpSp>
      <p:sp>
        <p:nvSpPr>
          <p:cNvPr id="2" name="Slide Number Placeholder 1"/>
          <p:cNvSpPr>
            <a:spLocks noGrp="1"/>
          </p:cNvSpPr>
          <p:nvPr>
            <p:ph type="sldNum" sz="quarter" idx="12"/>
          </p:nvPr>
        </p:nvSpPr>
        <p:spPr/>
        <p:txBody>
          <a:bodyPr/>
          <a:lstStyle/>
          <a:p>
            <a:pPr>
              <a:defRPr/>
            </a:pPr>
            <a:fld id="{BBC41F06-68C5-40A3-B7A6-D104B58942A7}" type="slidenum">
              <a:rPr lang="zh-CN" altLang="en-US" smtClean="0"/>
              <a:pPr>
                <a:defRPr/>
              </a:pPr>
              <a:t>22</a:t>
            </a:fld>
            <a:endParaRPr lang="en-US" altLang="zh-CN"/>
          </a:p>
        </p:txBody>
      </p:sp>
      <p:sp>
        <p:nvSpPr>
          <p:cNvPr id="3" name="TextBox 2"/>
          <p:cNvSpPr txBox="1"/>
          <p:nvPr/>
        </p:nvSpPr>
        <p:spPr>
          <a:xfrm>
            <a:off x="3557005" y="5302984"/>
            <a:ext cx="5952596" cy="1631216"/>
          </a:xfrm>
          <a:prstGeom prst="rect">
            <a:avLst/>
          </a:prstGeom>
          <a:noFill/>
        </p:spPr>
        <p:txBody>
          <a:bodyPr wrap="square" rtlCol="0">
            <a:spAutoFit/>
          </a:bodyPr>
          <a:lstStyle/>
          <a:p>
            <a:r>
              <a:rPr lang="en-US" sz="2000" dirty="0"/>
              <a:t>Expected: 80,964 B vs. 77,720 A</a:t>
            </a:r>
          </a:p>
          <a:p>
            <a:r>
              <a:rPr lang="en-US" sz="2000" dirty="0"/>
              <a:t>Observed: 89,014 B vs. 98,419 A</a:t>
            </a:r>
          </a:p>
          <a:p>
            <a:endParaRPr lang="en-US" sz="2000" dirty="0"/>
          </a:p>
          <a:p>
            <a:r>
              <a:rPr lang="en-US" sz="2000" dirty="0"/>
              <a:t>Expected: 72,162 CHW vs. 81,522 SOC </a:t>
            </a:r>
          </a:p>
          <a:p>
            <a:r>
              <a:rPr lang="en-US" sz="2000" dirty="0"/>
              <a:t>Observed: 103,628 CHW vs. 83,805 SOC</a:t>
            </a:r>
          </a:p>
        </p:txBody>
      </p:sp>
    </p:spTree>
    <p:extLst>
      <p:ext uri="{BB962C8B-B14F-4D97-AF65-F5344CB8AC3E}">
        <p14:creationId xmlns:p14="http://schemas.microsoft.com/office/powerpoint/2010/main" val="424084862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01AD03-9859-4D01-B879-DB6E935D0651}"/>
              </a:ext>
            </a:extLst>
          </p:cNvPr>
          <p:cNvSpPr/>
          <p:nvPr/>
        </p:nvSpPr>
        <p:spPr>
          <a:xfrm>
            <a:off x="0" y="-1"/>
            <a:ext cx="12192000" cy="113384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rPr>
              <a:t>Stepped-Wedge Cluster RCTs</a:t>
            </a:r>
          </a:p>
        </p:txBody>
      </p:sp>
      <p:pic>
        <p:nvPicPr>
          <p:cNvPr id="8" name="Picture 7">
            <a:extLst>
              <a:ext uri="{FF2B5EF4-FFF2-40B4-BE49-F238E27FC236}">
                <a16:creationId xmlns:a16="http://schemas.microsoft.com/office/drawing/2014/main" id="{05FE74CB-360F-4F61-BD31-370AAE75E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pic>
        <p:nvPicPr>
          <p:cNvPr id="5" name="Content Placeholder 4">
            <a:extLst>
              <a:ext uri="{FF2B5EF4-FFF2-40B4-BE49-F238E27FC236}">
                <a16:creationId xmlns:a16="http://schemas.microsoft.com/office/drawing/2014/main" id="{F2108557-AE8E-40EA-8531-B8D829A6B7A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75508" y="1343128"/>
            <a:ext cx="7093732" cy="444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D605AD9D-5B2A-41F7-AB3F-0271DBACDAA1}"/>
              </a:ext>
            </a:extLst>
          </p:cNvPr>
          <p:cNvSpPr txBox="1"/>
          <p:nvPr/>
        </p:nvSpPr>
        <p:spPr>
          <a:xfrm>
            <a:off x="245805" y="5997408"/>
            <a:ext cx="11326761" cy="307777"/>
          </a:xfrm>
          <a:prstGeom prst="rect">
            <a:avLst/>
          </a:prstGeom>
          <a:noFill/>
        </p:spPr>
        <p:txBody>
          <a:bodyPr wrap="square">
            <a:spAutoFit/>
          </a:bodyPr>
          <a:lstStyle/>
          <a:p>
            <a:r>
              <a:rPr lang="en-US" altLang="en-US" sz="1400" dirty="0">
                <a:latin typeface="Arial" panose="020B0604020202020204" pitchFamily="34" charset="0"/>
                <a:cs typeface="Arial" panose="020B0604020202020204" pitchFamily="34" charset="0"/>
              </a:rPr>
              <a:t>Brown, C. A., &amp; </a:t>
            </a:r>
            <a:r>
              <a:rPr lang="en-US" altLang="en-US" sz="1400" dirty="0" err="1">
                <a:latin typeface="Arial" panose="020B0604020202020204" pitchFamily="34" charset="0"/>
                <a:cs typeface="Arial" panose="020B0604020202020204" pitchFamily="34" charset="0"/>
              </a:rPr>
              <a:t>Lilford</a:t>
            </a:r>
            <a:r>
              <a:rPr lang="en-US" altLang="en-US" sz="1400" dirty="0">
                <a:latin typeface="Arial" panose="020B0604020202020204" pitchFamily="34" charset="0"/>
                <a:cs typeface="Arial" panose="020B0604020202020204" pitchFamily="34" charset="0"/>
              </a:rPr>
              <a:t>, R. J. (2006). The stepped wedge trial design: a systematic review. BMC medical research methodology, 6(1), 54.</a:t>
            </a:r>
          </a:p>
        </p:txBody>
      </p:sp>
    </p:spTree>
    <p:extLst>
      <p:ext uri="{BB962C8B-B14F-4D97-AF65-F5344CB8AC3E}">
        <p14:creationId xmlns:p14="http://schemas.microsoft.com/office/powerpoint/2010/main" val="103937759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272" y="417595"/>
            <a:ext cx="11934825" cy="1283167"/>
          </a:xfrm>
        </p:spPr>
        <p:txBody>
          <a:bodyPr>
            <a:normAutofit fontScale="90000"/>
          </a:bodyPr>
          <a:lstStyle/>
          <a:p>
            <a:r>
              <a:rPr lang="en-US" dirty="0"/>
              <a:t>Early Access to ART in Swaziland, CHAI</a:t>
            </a:r>
            <a:br>
              <a:rPr lang="en-US" dirty="0"/>
            </a:br>
            <a:r>
              <a:rPr lang="en-US" sz="3200" dirty="0"/>
              <a:t>Impact of early initiation versus national standard of care of antiretroviral therapy in Swaziland’s public sector health system: the MaxART stepped-wedge randomized trial</a:t>
            </a:r>
            <a:br>
              <a:rPr lang="en-US" sz="3200" dirty="0"/>
            </a:br>
            <a:endParaRPr lang="en-US" sz="3100" dirty="0"/>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8272" y="1856095"/>
            <a:ext cx="10803835" cy="4117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a:extLst>
              <a:ext uri="{FF2B5EF4-FFF2-40B4-BE49-F238E27FC236}">
                <a16:creationId xmlns:a16="http://schemas.microsoft.com/office/drawing/2014/main" id="{B398B679-C240-42D0-9A41-02828A7BB568}"/>
              </a:ext>
            </a:extLst>
          </p:cNvPr>
          <p:cNvSpPr txBox="1"/>
          <p:nvPr/>
        </p:nvSpPr>
        <p:spPr>
          <a:xfrm>
            <a:off x="270822" y="5973192"/>
            <a:ext cx="11391901" cy="738664"/>
          </a:xfrm>
          <a:prstGeom prst="rect">
            <a:avLst/>
          </a:prstGeom>
          <a:noFill/>
        </p:spPr>
        <p:txBody>
          <a:bodyPr wrap="square">
            <a:spAutoFit/>
          </a:bodyPr>
          <a:lstStyle/>
          <a:p>
            <a:pPr lvl="0"/>
            <a:r>
              <a:rPr lang="en-US" sz="1400" dirty="0"/>
              <a:t>Khan S, </a:t>
            </a:r>
            <a:r>
              <a:rPr lang="en-US" sz="1400" u="sng" dirty="0"/>
              <a:t>Spiegelman D</a:t>
            </a:r>
            <a:r>
              <a:rPr lang="en-US" sz="1400" dirty="0"/>
              <a:t>, Walsh F, </a:t>
            </a:r>
            <a:r>
              <a:rPr lang="en-US" sz="1400" dirty="0" err="1"/>
              <a:t>Mazibuko</a:t>
            </a:r>
            <a:r>
              <a:rPr lang="en-US" sz="1400" dirty="0"/>
              <a:t> S, </a:t>
            </a:r>
            <a:r>
              <a:rPr lang="en-US" sz="1400" dirty="0" err="1"/>
              <a:t>Pasi</a:t>
            </a:r>
            <a:r>
              <a:rPr lang="en-US" sz="1400" dirty="0"/>
              <a:t> M, Chai B, Reis R, Mlambo K, </a:t>
            </a:r>
            <a:r>
              <a:rPr lang="en-US" sz="1400" dirty="0" err="1"/>
              <a:t>Delva</a:t>
            </a:r>
            <a:r>
              <a:rPr lang="en-US" sz="1400" dirty="0"/>
              <a:t> W, Khumalo G, Zwane M, Fleming Y, </a:t>
            </a:r>
            <a:r>
              <a:rPr lang="en-US" sz="1400" dirty="0" err="1"/>
              <a:t>Mafara</a:t>
            </a:r>
            <a:r>
              <a:rPr lang="en-US" sz="1400" dirty="0"/>
              <a:t> E, </a:t>
            </a:r>
            <a:r>
              <a:rPr lang="en-US" sz="1400" dirty="0" err="1"/>
              <a:t>Hettema</a:t>
            </a:r>
            <a:r>
              <a:rPr lang="en-US" sz="1400" dirty="0"/>
              <a:t> A, Lejeune C, </a:t>
            </a:r>
            <a:r>
              <a:rPr lang="en-US" sz="1400" dirty="0" err="1"/>
              <a:t>Barnighausen</a:t>
            </a:r>
            <a:r>
              <a:rPr lang="en-US" sz="1400" dirty="0"/>
              <a:t> T, Okello V. Universal test and treat (UTT) versus standard of care for access to antiretroviral therapy in HIV clients: the </a:t>
            </a:r>
            <a:r>
              <a:rPr lang="en-US" sz="1400" dirty="0" err="1"/>
              <a:t>MaxART</a:t>
            </a:r>
            <a:r>
              <a:rPr lang="en-US" sz="1400" dirty="0"/>
              <a:t> stepped-wedge randomized controlled health systems trial in Swaziland. Journal of the International Aids Society. 2018;21:161-162.</a:t>
            </a:r>
          </a:p>
        </p:txBody>
      </p:sp>
    </p:spTree>
    <p:extLst>
      <p:ext uri="{BB962C8B-B14F-4D97-AF65-F5344CB8AC3E}">
        <p14:creationId xmlns:p14="http://schemas.microsoft.com/office/powerpoint/2010/main" val="380579192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CB035D-99B4-4818-9E4A-FD463E2E0BB7}"/>
              </a:ext>
            </a:extLst>
          </p:cNvPr>
          <p:cNvSpPr/>
          <p:nvPr/>
        </p:nvSpPr>
        <p:spPr>
          <a:xfrm>
            <a:off x="-8" y="0"/>
            <a:ext cx="12192000" cy="1081548"/>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latin typeface="Arial" panose="020B0604020202020204" pitchFamily="34" charset="0"/>
                <a:cs typeface="Arial" panose="020B0604020202020204" pitchFamily="34" charset="0"/>
              </a:rPr>
              <a:t>Stepped Wedge Design Benefits/Cautions</a:t>
            </a:r>
            <a:endParaRPr lang="en-US" sz="2800" dirty="0">
              <a:solidFill>
                <a:schemeClr val="bg1"/>
              </a:solidFill>
            </a:endParaRPr>
          </a:p>
        </p:txBody>
      </p:sp>
      <p:sp>
        <p:nvSpPr>
          <p:cNvPr id="6" name="TextBox 5">
            <a:extLst>
              <a:ext uri="{FF2B5EF4-FFF2-40B4-BE49-F238E27FC236}">
                <a16:creationId xmlns:a16="http://schemas.microsoft.com/office/drawing/2014/main" id="{85B17837-23A8-4C6E-88E8-55DC53A904B0}"/>
              </a:ext>
            </a:extLst>
          </p:cNvPr>
          <p:cNvSpPr txBox="1"/>
          <p:nvPr/>
        </p:nvSpPr>
        <p:spPr>
          <a:xfrm>
            <a:off x="358869" y="1150373"/>
            <a:ext cx="11474245" cy="4770537"/>
          </a:xfrm>
          <a:prstGeom prst="rect">
            <a:avLst/>
          </a:prstGeom>
          <a:noFill/>
        </p:spPr>
        <p:txBody>
          <a:bodyPr wrap="square">
            <a:spAutoFit/>
          </a:bodyPr>
          <a:lstStyle/>
          <a:p>
            <a:pPr>
              <a:spcAft>
                <a:spcPts val="6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Preferable when:</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There is evidence in support of the intervention, and/or resistance to a parallel design where half do not receive the treatment</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The intra-cluster correlation (ICC) is high</a:t>
            </a:r>
          </a:p>
          <a:p>
            <a:pPr lvl="2">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Can increase efficiency over parallel design</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It is logistically challenging to start all intervention clusters at the same time</a:t>
            </a:r>
          </a:p>
          <a:p>
            <a:pPr lvl="1">
              <a:spcAft>
                <a:spcPts val="600"/>
              </a:spcAft>
              <a:buFont typeface="Wingdings" panose="05000000000000000000" pitchFamily="2" charset="2"/>
              <a:buChar char="§"/>
            </a:pPr>
            <a:endParaRPr lang="en-US" sz="2400" dirty="0">
              <a:latin typeface="Arial" panose="020B0604020202020204" pitchFamily="34" charset="0"/>
              <a:cs typeface="Arial" panose="020B0604020202020204" pitchFamily="34" charset="0"/>
            </a:endParaRPr>
          </a:p>
          <a:p>
            <a:pPr>
              <a:spcAft>
                <a:spcPts val="6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Deserves caution when:</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Clusters may not be able to follow randomization schedule</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Concerns about informative censoring for sustained interventions as is usually the case  </a:t>
            </a:r>
          </a:p>
        </p:txBody>
      </p:sp>
      <p:pic>
        <p:nvPicPr>
          <p:cNvPr id="7" name="Picture 6">
            <a:extLst>
              <a:ext uri="{FF2B5EF4-FFF2-40B4-BE49-F238E27FC236}">
                <a16:creationId xmlns:a16="http://schemas.microsoft.com/office/drawing/2014/main" id="{5CE6AC46-4AF3-4BC3-9C4D-0691CA64AA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extLst>
      <p:ext uri="{BB962C8B-B14F-4D97-AF65-F5344CB8AC3E}">
        <p14:creationId xmlns:p14="http://schemas.microsoft.com/office/powerpoint/2010/main" val="421986718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CF22A5-12EB-4D02-9DE3-00E8B89023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Rectangle 4">
            <a:extLst>
              <a:ext uri="{FF2B5EF4-FFF2-40B4-BE49-F238E27FC236}">
                <a16:creationId xmlns:a16="http://schemas.microsoft.com/office/drawing/2014/main" id="{079BB604-135B-4418-B36A-44D5C44C4CAE}"/>
              </a:ext>
            </a:extLst>
          </p:cNvPr>
          <p:cNvSpPr/>
          <p:nvPr/>
        </p:nvSpPr>
        <p:spPr>
          <a:xfrm>
            <a:off x="0" y="-1"/>
            <a:ext cx="12192000" cy="1406013"/>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What if you can’t randomize to the implementation condition? </a:t>
            </a:r>
            <a:endParaRPr lang="en-US" sz="2800" dirty="0">
              <a:solidFill>
                <a:schemeClr val="bg1"/>
              </a:solidFill>
            </a:endParaRPr>
          </a:p>
        </p:txBody>
      </p:sp>
    </p:spTree>
    <p:extLst>
      <p:ext uri="{BB962C8B-B14F-4D97-AF65-F5344CB8AC3E}">
        <p14:creationId xmlns:p14="http://schemas.microsoft.com/office/powerpoint/2010/main" val="156314454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E108D-8982-41E1-9B9E-4D6094AED634}"/>
              </a:ext>
            </a:extLst>
          </p:cNvPr>
          <p:cNvSpPr>
            <a:spLocks noGrp="1"/>
          </p:cNvSpPr>
          <p:nvPr>
            <p:ph idx="1"/>
          </p:nvPr>
        </p:nvSpPr>
        <p:spPr>
          <a:xfrm>
            <a:off x="255639" y="1160206"/>
            <a:ext cx="11098161" cy="4628945"/>
          </a:xfrm>
        </p:spPr>
        <p:txBody>
          <a:bodyPr>
            <a:normAutofit fontScale="92500" lnSpcReduction="10000"/>
          </a:bodyPr>
          <a:lstStyle/>
          <a:p>
            <a:pPr>
              <a:lnSpc>
                <a:spcPct val="110000"/>
              </a:lnSpc>
            </a:pPr>
            <a:r>
              <a:rPr lang="en-US" sz="2600" dirty="0">
                <a:latin typeface="Arial" panose="020B0604020202020204" pitchFamily="34" charset="0"/>
                <a:cs typeface="Arial" panose="020B0604020202020204" pitchFamily="34" charset="0"/>
              </a:rPr>
              <a:t>Before-After (Pre-post) Design</a:t>
            </a:r>
          </a:p>
          <a:p>
            <a:pPr>
              <a:lnSpc>
                <a:spcPct val="110000"/>
              </a:lnSpc>
            </a:pPr>
            <a:r>
              <a:rPr lang="en-US" sz="2600" dirty="0">
                <a:latin typeface="Arial" panose="020B0604020202020204" pitchFamily="34" charset="0"/>
                <a:cs typeface="Arial" panose="020B0604020202020204" pitchFamily="34" charset="0"/>
              </a:rPr>
              <a:t>Controlled Before-After Design (Difference-in-difference design)</a:t>
            </a:r>
          </a:p>
          <a:p>
            <a:pPr>
              <a:lnSpc>
                <a:spcPct val="110000"/>
              </a:lnSpc>
            </a:pPr>
            <a:r>
              <a:rPr lang="en-US" sz="2600" dirty="0">
                <a:latin typeface="Arial" panose="020B0604020202020204" pitchFamily="34" charset="0"/>
                <a:cs typeface="Arial" panose="020B0604020202020204" pitchFamily="34" charset="0"/>
              </a:rPr>
              <a:t>Interrupted Time Series (ITS)</a:t>
            </a:r>
          </a:p>
          <a:p>
            <a:pPr lvl="1">
              <a:lnSpc>
                <a:spcPct val="110000"/>
              </a:lnSpc>
            </a:pPr>
            <a:r>
              <a:rPr lang="en-US" sz="2600" dirty="0">
                <a:latin typeface="Arial" panose="020B0604020202020204" pitchFamily="34" charset="0"/>
                <a:cs typeface="Arial" panose="020B0604020202020204" pitchFamily="34" charset="0"/>
              </a:rPr>
              <a:t>Multiple assessments prior to and following introduction of intervention</a:t>
            </a:r>
          </a:p>
          <a:p>
            <a:pPr lvl="1">
              <a:lnSpc>
                <a:spcPct val="110000"/>
              </a:lnSpc>
            </a:pPr>
            <a:r>
              <a:rPr lang="en-US" sz="2600" dirty="0">
                <a:latin typeface="Arial" panose="020B0604020202020204" pitchFamily="34" charset="0"/>
                <a:cs typeface="Arial" panose="020B0604020202020204" pitchFamily="34" charset="0"/>
              </a:rPr>
              <a:t>More accurate assessment of outcomes or behavior than single pre-post assessments</a:t>
            </a:r>
          </a:p>
          <a:p>
            <a:pPr lvl="1">
              <a:lnSpc>
                <a:spcPct val="110000"/>
              </a:lnSpc>
            </a:pPr>
            <a:r>
              <a:rPr lang="en-US" sz="2600" dirty="0">
                <a:latin typeface="Arial" panose="020B0604020202020204" pitchFamily="34" charset="0"/>
                <a:cs typeface="Arial" panose="020B0604020202020204" pitchFamily="34" charset="0"/>
              </a:rPr>
              <a:t>Controlled ITS design</a:t>
            </a:r>
          </a:p>
          <a:p>
            <a:pPr>
              <a:lnSpc>
                <a:spcPct val="110000"/>
              </a:lnSpc>
            </a:pPr>
            <a:r>
              <a:rPr lang="en-US" sz="2600" dirty="0">
                <a:latin typeface="Arial" panose="020B0604020202020204" pitchFamily="34" charset="0"/>
                <a:cs typeface="Arial" panose="020B0604020202020204" pitchFamily="34" charset="0"/>
              </a:rPr>
              <a:t>Regression Discontinuity Design</a:t>
            </a:r>
          </a:p>
          <a:p>
            <a:pPr lvl="1">
              <a:lnSpc>
                <a:spcPct val="110000"/>
              </a:lnSpc>
            </a:pPr>
            <a:r>
              <a:rPr lang="en-US" sz="2600" dirty="0">
                <a:latin typeface="Arial" panose="020B0604020202020204" pitchFamily="34" charset="0"/>
                <a:cs typeface="Arial" panose="020B0604020202020204" pitchFamily="34" charset="0"/>
              </a:rPr>
              <a:t>Individuals/groups assigned to intervention or control based on </a:t>
            </a:r>
            <a:r>
              <a:rPr lang="en-US" sz="2600" i="1" dirty="0">
                <a:latin typeface="Arial" panose="020B0604020202020204" pitchFamily="34" charset="0"/>
                <a:cs typeface="Arial" panose="020B0604020202020204" pitchFamily="34" charset="0"/>
              </a:rPr>
              <a:t>a priori </a:t>
            </a:r>
            <a:r>
              <a:rPr lang="en-US" sz="2600" dirty="0">
                <a:latin typeface="Arial" panose="020B0604020202020204" pitchFamily="34" charset="0"/>
                <a:cs typeface="Arial" panose="020B0604020202020204" pitchFamily="34" charset="0"/>
              </a:rPr>
              <a:t>score or metric</a:t>
            </a:r>
          </a:p>
          <a:p>
            <a:endParaRPr lang="en-US" dirty="0"/>
          </a:p>
        </p:txBody>
      </p:sp>
      <p:sp>
        <p:nvSpPr>
          <p:cNvPr id="4" name="Rectangle 3">
            <a:extLst>
              <a:ext uri="{FF2B5EF4-FFF2-40B4-BE49-F238E27FC236}">
                <a16:creationId xmlns:a16="http://schemas.microsoft.com/office/drawing/2014/main" id="{620B0DD0-2BFE-4166-A498-80AB39892C36}"/>
              </a:ext>
            </a:extLst>
          </p:cNvPr>
          <p:cNvSpPr/>
          <p:nvPr/>
        </p:nvSpPr>
        <p:spPr>
          <a:xfrm>
            <a:off x="0" y="0"/>
            <a:ext cx="12192000" cy="92569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Quasi-Experimental Study Designs</a:t>
            </a:r>
          </a:p>
        </p:txBody>
      </p:sp>
      <p:sp>
        <p:nvSpPr>
          <p:cNvPr id="6" name="TextBox 5">
            <a:extLst>
              <a:ext uri="{FF2B5EF4-FFF2-40B4-BE49-F238E27FC236}">
                <a16:creationId xmlns:a16="http://schemas.microsoft.com/office/drawing/2014/main" id="{5C5946B7-495A-4FB5-BA09-1D6424BCDDF1}"/>
              </a:ext>
            </a:extLst>
          </p:cNvPr>
          <p:cNvSpPr txBox="1"/>
          <p:nvPr/>
        </p:nvSpPr>
        <p:spPr>
          <a:xfrm>
            <a:off x="255639" y="5888259"/>
            <a:ext cx="10862187" cy="523220"/>
          </a:xfrm>
          <a:prstGeom prst="rect">
            <a:avLst/>
          </a:prstGeom>
          <a:noFill/>
        </p:spPr>
        <p:txBody>
          <a:bodyPr wrap="square">
            <a:spAutoFit/>
          </a:bodyPr>
          <a:lstStyle/>
          <a:p>
            <a:r>
              <a:rPr lang="en-US" sz="1400" dirty="0" err="1">
                <a:latin typeface="Arial" panose="020B0604020202020204" pitchFamily="34" charset="0"/>
                <a:cs typeface="Arial" panose="020B0604020202020204" pitchFamily="34" charset="0"/>
              </a:rPr>
              <a:t>Shadish</a:t>
            </a:r>
            <a:r>
              <a:rPr lang="en-US" sz="1400" dirty="0">
                <a:latin typeface="Arial" panose="020B0604020202020204" pitchFamily="34" charset="0"/>
                <a:cs typeface="Arial" panose="020B0604020202020204" pitchFamily="34" charset="0"/>
              </a:rPr>
              <a:t>, W.R., Cook, T.D. and Campbell, D.T. (2002). </a:t>
            </a:r>
            <a:r>
              <a:rPr lang="en-US" sz="1400" i="1" dirty="0">
                <a:latin typeface="Arial" panose="020B0604020202020204" pitchFamily="34" charset="0"/>
                <a:cs typeface="Arial" panose="020B0604020202020204" pitchFamily="34" charset="0"/>
              </a:rPr>
              <a:t>Experimental and quasi-experimental designs for generalized causal inference</a:t>
            </a:r>
            <a:r>
              <a:rPr lang="en-US" sz="1400" dirty="0">
                <a:latin typeface="Arial" panose="020B0604020202020204" pitchFamily="34" charset="0"/>
                <a:cs typeface="Arial" panose="020B0604020202020204" pitchFamily="34" charset="0"/>
              </a:rPr>
              <a:t>. Wadsworth Cengage learning.</a:t>
            </a: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Tree>
    <p:extLst>
      <p:ext uri="{BB962C8B-B14F-4D97-AF65-F5344CB8AC3E}">
        <p14:creationId xmlns:p14="http://schemas.microsoft.com/office/powerpoint/2010/main" val="157635643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E108D-8982-41E1-9B9E-4D6094AED634}"/>
              </a:ext>
            </a:extLst>
          </p:cNvPr>
          <p:cNvSpPr>
            <a:spLocks noGrp="1"/>
          </p:cNvSpPr>
          <p:nvPr>
            <p:ph idx="1"/>
          </p:nvPr>
        </p:nvSpPr>
        <p:spPr>
          <a:xfrm>
            <a:off x="255639" y="1041761"/>
            <a:ext cx="11098161" cy="1141000"/>
          </a:xfrm>
        </p:spPr>
        <p:txBody>
          <a:bodyPr>
            <a:normAutofit/>
          </a:bodyPr>
          <a:lstStyle/>
          <a:p>
            <a:pPr marL="285750" indent="-285750">
              <a:buFont typeface="Wingdings" panose="05000000000000000000" pitchFamily="2" charset="2"/>
              <a:buChar char="Ø"/>
            </a:pPr>
            <a:r>
              <a:rPr lang="en-US" sz="1700" dirty="0">
                <a:latin typeface="Arial" panose="020B0604020202020204" pitchFamily="34" charset="0"/>
                <a:cs typeface="Arial" panose="020B0604020202020204" pitchFamily="34" charset="0"/>
              </a:rPr>
              <a:t>One of the strongest quasi-experimental designs.</a:t>
            </a:r>
          </a:p>
          <a:p>
            <a:pPr marL="285750" indent="-285750">
              <a:buFont typeface="Wingdings" panose="05000000000000000000" pitchFamily="2" charset="2"/>
              <a:buChar char="Ø"/>
            </a:pPr>
            <a:r>
              <a:rPr lang="en-US" sz="1700" dirty="0">
                <a:latin typeface="Arial" panose="020B0604020202020204" pitchFamily="34" charset="0"/>
                <a:cs typeface="Arial" panose="020B0604020202020204" pitchFamily="34" charset="0"/>
              </a:rPr>
              <a:t>Increasingly advocated for use in the evaluation of health system quality improvement (QI) interventions when randomization is not possible. </a:t>
            </a:r>
            <a:endParaRPr lang="en-US" sz="1700" b="0" i="0" dirty="0">
              <a:effectLst/>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20B0DD0-2BFE-4166-A498-80AB39892C36}"/>
              </a:ext>
            </a:extLst>
          </p:cNvPr>
          <p:cNvSpPr/>
          <p:nvPr/>
        </p:nvSpPr>
        <p:spPr>
          <a:xfrm>
            <a:off x="0" y="0"/>
            <a:ext cx="12192000" cy="92569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Interrupted Time Series</a:t>
            </a:r>
          </a:p>
        </p:txBody>
      </p:sp>
      <p:sp>
        <p:nvSpPr>
          <p:cNvPr id="6" name="TextBox 5">
            <a:extLst>
              <a:ext uri="{FF2B5EF4-FFF2-40B4-BE49-F238E27FC236}">
                <a16:creationId xmlns:a16="http://schemas.microsoft.com/office/drawing/2014/main" id="{5C5946B7-495A-4FB5-BA09-1D6424BCDDF1}"/>
              </a:ext>
            </a:extLst>
          </p:cNvPr>
          <p:cNvSpPr txBox="1"/>
          <p:nvPr/>
        </p:nvSpPr>
        <p:spPr>
          <a:xfrm>
            <a:off x="255639" y="5888259"/>
            <a:ext cx="10862187" cy="523220"/>
          </a:xfrm>
          <a:prstGeom prst="rect">
            <a:avLst/>
          </a:prstGeom>
          <a:noFill/>
        </p:spPr>
        <p:txBody>
          <a:bodyPr wrap="square">
            <a:spAutoFit/>
          </a:bodyPr>
          <a:lstStyle/>
          <a:p>
            <a:r>
              <a:rPr lang="en-US" sz="1400" dirty="0" err="1">
                <a:latin typeface="Arial" panose="020B0604020202020204" pitchFamily="34" charset="0"/>
                <a:cs typeface="Arial" panose="020B0604020202020204" pitchFamily="34" charset="0"/>
              </a:rPr>
              <a:t>Hategeka</a:t>
            </a:r>
            <a:r>
              <a:rPr lang="en-US" sz="1400" dirty="0">
                <a:latin typeface="Arial" panose="020B0604020202020204" pitchFamily="34" charset="0"/>
                <a:cs typeface="Arial" panose="020B0604020202020204" pitchFamily="34" charset="0"/>
              </a:rPr>
              <a:t>, C., </a:t>
            </a:r>
            <a:r>
              <a:rPr lang="en-US" sz="1400" dirty="0" err="1">
                <a:latin typeface="Arial" panose="020B0604020202020204" pitchFamily="34" charset="0"/>
                <a:cs typeface="Arial" panose="020B0604020202020204" pitchFamily="34" charset="0"/>
              </a:rPr>
              <a:t>Ruton</a:t>
            </a:r>
            <a:r>
              <a:rPr lang="en-US" sz="1400" dirty="0">
                <a:latin typeface="Arial" panose="020B0604020202020204" pitchFamily="34" charset="0"/>
                <a:cs typeface="Arial" panose="020B0604020202020204" pitchFamily="34" charset="0"/>
              </a:rPr>
              <a:t>, H., </a:t>
            </a:r>
            <a:r>
              <a:rPr lang="en-US" sz="1400" dirty="0" err="1">
                <a:latin typeface="Arial" panose="020B0604020202020204" pitchFamily="34" charset="0"/>
                <a:cs typeface="Arial" panose="020B0604020202020204" pitchFamily="34" charset="0"/>
              </a:rPr>
              <a:t>Karamouzian</a:t>
            </a:r>
            <a:r>
              <a:rPr lang="en-US" sz="1400" dirty="0">
                <a:latin typeface="Arial" panose="020B0604020202020204" pitchFamily="34" charset="0"/>
                <a:cs typeface="Arial" panose="020B0604020202020204" pitchFamily="34" charset="0"/>
              </a:rPr>
              <a:t>, M., Lynd, L. D., &amp; Law, M. R. (2020). Use of interrupted time series methods in the evaluation of health system quality improvement interventions: a methodological systematic review. </a:t>
            </a:r>
            <a:r>
              <a:rPr lang="en-US" sz="1400" i="1" dirty="0">
                <a:latin typeface="Arial" panose="020B0604020202020204" pitchFamily="34" charset="0"/>
                <a:cs typeface="Arial" panose="020B0604020202020204" pitchFamily="34" charset="0"/>
              </a:rPr>
              <a:t>BMJ Global Health</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5</a:t>
            </a:r>
            <a:r>
              <a:rPr lang="en-US" sz="1400" dirty="0">
                <a:latin typeface="Arial" panose="020B0604020202020204" pitchFamily="34" charset="0"/>
                <a:cs typeface="Arial" panose="020B0604020202020204" pitchFamily="34" charset="0"/>
              </a:rPr>
              <a:t>(10), e003567.</a:t>
            </a: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pic>
        <p:nvPicPr>
          <p:cNvPr id="8" name="Picture 7">
            <a:extLst>
              <a:ext uri="{FF2B5EF4-FFF2-40B4-BE49-F238E27FC236}">
                <a16:creationId xmlns:a16="http://schemas.microsoft.com/office/drawing/2014/main" id="{34F8BC90-3A44-401F-B109-9A8D42635C40}"/>
              </a:ext>
            </a:extLst>
          </p:cNvPr>
          <p:cNvPicPr>
            <a:picLocks noChangeAspect="1"/>
          </p:cNvPicPr>
          <p:nvPr/>
        </p:nvPicPr>
        <p:blipFill>
          <a:blip r:embed="rId3"/>
          <a:stretch>
            <a:fillRect/>
          </a:stretch>
        </p:blipFill>
        <p:spPr>
          <a:xfrm>
            <a:off x="2158127" y="2183483"/>
            <a:ext cx="7415835" cy="3632756"/>
          </a:xfrm>
          <a:prstGeom prst="rect">
            <a:avLst/>
          </a:prstGeom>
        </p:spPr>
      </p:pic>
    </p:spTree>
    <p:extLst>
      <p:ext uri="{BB962C8B-B14F-4D97-AF65-F5344CB8AC3E}">
        <p14:creationId xmlns:p14="http://schemas.microsoft.com/office/powerpoint/2010/main" val="135247497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92966C3-D9D0-44C9-AA84-9CCE10DEE7D3}"/>
              </a:ext>
            </a:extLst>
          </p:cNvPr>
          <p:cNvSpPr/>
          <p:nvPr/>
        </p:nvSpPr>
        <p:spPr>
          <a:xfrm>
            <a:off x="0" y="0"/>
            <a:ext cx="12192000" cy="134112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9">
            <a:extLst>
              <a:ext uri="{FF2B5EF4-FFF2-40B4-BE49-F238E27FC236}">
                <a16:creationId xmlns:a16="http://schemas.microsoft.com/office/drawing/2014/main" id="{18B1662D-C5DB-4D5C-A1DA-8E6FE06D2F55}"/>
              </a:ext>
            </a:extLst>
          </p:cNvPr>
          <p:cNvSpPr txBox="1">
            <a:spLocks/>
          </p:cNvSpPr>
          <p:nvPr/>
        </p:nvSpPr>
        <p:spPr>
          <a:xfrm>
            <a:off x="502920" y="304998"/>
            <a:ext cx="105156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r>
              <a:rPr lang="en-US" sz="3200" dirty="0">
                <a:cs typeface="Arial" panose="020B0604020202020204" pitchFamily="34" charset="0"/>
              </a:rPr>
              <a:t>Causal Impact of Affordable Care Act on Colorectal Cancer Incidence and Mortality: An ITS study based on EHR</a:t>
            </a:r>
            <a:endParaRPr lang="en-US" sz="3200" dirty="0"/>
          </a:p>
        </p:txBody>
      </p:sp>
      <p:pic>
        <p:nvPicPr>
          <p:cNvPr id="5" name="Picture 4">
            <a:extLst>
              <a:ext uri="{FF2B5EF4-FFF2-40B4-BE49-F238E27FC236}">
                <a16:creationId xmlns:a16="http://schemas.microsoft.com/office/drawing/2014/main" id="{FBD8F8F3-FF68-4900-9563-BE2D91A70F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8" name="Content Placeholder 2">
            <a:extLst>
              <a:ext uri="{FF2B5EF4-FFF2-40B4-BE49-F238E27FC236}">
                <a16:creationId xmlns:a16="http://schemas.microsoft.com/office/drawing/2014/main" id="{AB61B20F-38D5-4C90-B40A-95EC3B02186A}"/>
              </a:ext>
            </a:extLst>
          </p:cNvPr>
          <p:cNvSpPr txBox="1">
            <a:spLocks/>
          </p:cNvSpPr>
          <p:nvPr/>
        </p:nvSpPr>
        <p:spPr>
          <a:xfrm>
            <a:off x="125507" y="1390602"/>
            <a:ext cx="11932022" cy="459094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u="sng" dirty="0">
                <a:latin typeface="Helvetica" panose="020B0604020202020204" pitchFamily="34" charset="0"/>
                <a:cs typeface="Helvetica" panose="020B0604020202020204" pitchFamily="34" charset="0"/>
              </a:rPr>
              <a:t>Objectives</a:t>
            </a:r>
          </a:p>
          <a:p>
            <a:pPr lvl="1"/>
            <a:r>
              <a:rPr lang="en-US" sz="1800" dirty="0">
                <a:latin typeface="Helvetica" panose="020B0604020202020204" pitchFamily="34" charset="0"/>
                <a:cs typeface="Helvetica" panose="020B0604020202020204" pitchFamily="34" charset="0"/>
              </a:rPr>
              <a:t>Evaluate the causal impact of ACA on CRC incidence and CRC-related mortality using a controlled interrupted time series design. In addition, investigate possible </a:t>
            </a:r>
            <a:r>
              <a:rPr lang="en-US" sz="1800" b="1" i="1" dirty="0">
                <a:latin typeface="Helvetica" panose="020B0604020202020204" pitchFamily="34" charset="0"/>
                <a:cs typeface="Helvetica" panose="020B0604020202020204" pitchFamily="34" charset="0"/>
              </a:rPr>
              <a:t>effect modification </a:t>
            </a:r>
            <a:r>
              <a:rPr lang="en-US" sz="1800" dirty="0">
                <a:latin typeface="Helvetica" panose="020B0604020202020204" pitchFamily="34" charset="0"/>
                <a:cs typeface="Helvetica" panose="020B0604020202020204" pitchFamily="34" charset="0"/>
              </a:rPr>
              <a:t>by race/ethnicity, age, and/or gender.</a:t>
            </a:r>
          </a:p>
          <a:p>
            <a:pPr lvl="1"/>
            <a:r>
              <a:rPr lang="en-US" sz="1800" dirty="0">
                <a:latin typeface="Helvetica" panose="020B0604020202020204" pitchFamily="34" charset="0"/>
                <a:cs typeface="Helvetica" panose="020B0604020202020204" pitchFamily="34" charset="0"/>
              </a:rPr>
              <a:t>Conduct mediation analysis where </a:t>
            </a:r>
            <a:r>
              <a:rPr lang="en-US" sz="1800" b="1" i="1" dirty="0">
                <a:latin typeface="Helvetica" panose="020B0604020202020204" pitchFamily="34" charset="0"/>
                <a:cs typeface="Helvetica" panose="020B0604020202020204" pitchFamily="34" charset="0"/>
              </a:rPr>
              <a:t>screening status </a:t>
            </a:r>
            <a:r>
              <a:rPr lang="en-US" sz="1800" dirty="0">
                <a:latin typeface="Helvetica" panose="020B0604020202020204" pitchFamily="34" charset="0"/>
                <a:cs typeface="Helvetica" panose="020B0604020202020204" pitchFamily="34" charset="0"/>
              </a:rPr>
              <a:t>is the mediator, to further strengthen evidence for causality</a:t>
            </a:r>
          </a:p>
          <a:p>
            <a:pPr marL="0" indent="0">
              <a:buFont typeface="Arial" panose="020B0604020202020204" pitchFamily="34" charset="0"/>
              <a:buNone/>
            </a:pPr>
            <a:r>
              <a:rPr lang="en-US" sz="1800" u="sng" dirty="0">
                <a:latin typeface="Helvetica" panose="020B0604020202020204" pitchFamily="34" charset="0"/>
                <a:cs typeface="Helvetica" panose="020B0604020202020204" pitchFamily="34" charset="0"/>
              </a:rPr>
              <a:t>Utilize the vast electronic medical records database of Kaiser Permanente of Northern California</a:t>
            </a:r>
          </a:p>
          <a:p>
            <a:pPr lvl="1"/>
            <a:r>
              <a:rPr lang="en-US" sz="1800" dirty="0">
                <a:latin typeface="Helvetica" panose="020B0604020202020204" pitchFamily="34" charset="0"/>
                <a:cs typeface="Helvetica" panose="020B0604020202020204" pitchFamily="34" charset="0"/>
              </a:rPr>
              <a:t>Kaiser Permanente of Northern California is an integrated health care delivery system with over 4 million members who are representative of the regional population. For this study, we used an open cohort of KPNC members who were 50 years or older between January 1, 2000 and December 31, 2017.  </a:t>
            </a:r>
          </a:p>
          <a:p>
            <a:pPr lvl="1"/>
            <a:r>
              <a:rPr lang="en-US" sz="1800" dirty="0">
                <a:latin typeface="Helvetica" panose="020B0604020202020204" pitchFamily="34" charset="0"/>
                <a:cs typeface="Helvetica" panose="020B0604020202020204" pitchFamily="34" charset="0"/>
              </a:rPr>
              <a:t>&gt;1M unique KPNC members; &gt;220M person-months of follow-up</a:t>
            </a:r>
          </a:p>
          <a:p>
            <a:pPr lvl="1"/>
            <a:r>
              <a:rPr lang="en-US" sz="1800" dirty="0">
                <a:latin typeface="Helvetica" panose="020B0604020202020204" pitchFamily="34" charset="0"/>
                <a:cs typeface="Helvetica" panose="020B0604020202020204" pitchFamily="34" charset="0"/>
              </a:rPr>
              <a:t>Incidence:</a:t>
            </a:r>
          </a:p>
          <a:p>
            <a:pPr lvl="2"/>
            <a:r>
              <a:rPr lang="en-US" sz="1800" dirty="0">
                <a:latin typeface="Helvetica" panose="020B0604020202020204" pitchFamily="34" charset="0"/>
                <a:cs typeface="Helvetica" panose="020B0604020202020204" pitchFamily="34" charset="0"/>
              </a:rPr>
              <a:t>19,177 events; crude incidence rate ≈ 100 cases per 100,000 person-years</a:t>
            </a:r>
          </a:p>
          <a:p>
            <a:pPr lvl="1"/>
            <a:r>
              <a:rPr lang="en-US" sz="1800" dirty="0">
                <a:latin typeface="Helvetica" panose="020B0604020202020204" pitchFamily="34" charset="0"/>
                <a:cs typeface="Helvetica" panose="020B0604020202020204" pitchFamily="34" charset="0"/>
              </a:rPr>
              <a:t>Mortality:</a:t>
            </a:r>
          </a:p>
          <a:p>
            <a:pPr lvl="2"/>
            <a:r>
              <a:rPr lang="en-US" sz="1800" dirty="0">
                <a:latin typeface="Helvetica" panose="020B0604020202020204" pitchFamily="34" charset="0"/>
                <a:cs typeface="Helvetica" panose="020B0604020202020204" pitchFamily="34" charset="0"/>
              </a:rPr>
              <a:t>2,623 deaths; crude mortality rate ≈13.8 deaths per 100,000 person-year</a:t>
            </a:r>
            <a:endParaRPr lang="en-US" sz="1800" b="1" dirty="0">
              <a:latin typeface="Helvetica" panose="020B0604020202020204" pitchFamily="34" charset="0"/>
              <a:cs typeface="Helvetica" panose="020B0604020202020204" pitchFamily="34" charset="0"/>
            </a:endParaRPr>
          </a:p>
          <a:p>
            <a:endParaRPr lang="en-US" dirty="0"/>
          </a:p>
        </p:txBody>
      </p:sp>
      <p:pic>
        <p:nvPicPr>
          <p:cNvPr id="7" name="Picture 6">
            <a:extLst>
              <a:ext uri="{FF2B5EF4-FFF2-40B4-BE49-F238E27FC236}">
                <a16:creationId xmlns:a16="http://schemas.microsoft.com/office/drawing/2014/main" id="{3640B64D-B682-038A-4356-2277E00EAE74}"/>
              </a:ext>
            </a:extLst>
          </p:cNvPr>
          <p:cNvPicPr>
            <a:picLocks noChangeAspect="1"/>
          </p:cNvPicPr>
          <p:nvPr/>
        </p:nvPicPr>
        <p:blipFill>
          <a:blip r:embed="rId3"/>
          <a:stretch>
            <a:fillRect/>
          </a:stretch>
        </p:blipFill>
        <p:spPr>
          <a:xfrm>
            <a:off x="3957349" y="5887942"/>
            <a:ext cx="8234652" cy="920576"/>
          </a:xfrm>
          <a:prstGeom prst="rect">
            <a:avLst/>
          </a:prstGeom>
        </p:spPr>
      </p:pic>
    </p:spTree>
    <p:extLst>
      <p:ext uri="{BB962C8B-B14F-4D97-AF65-F5344CB8AC3E}">
        <p14:creationId xmlns:p14="http://schemas.microsoft.com/office/powerpoint/2010/main" val="316068762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18DC6E-1A0D-4BF6-91F5-7D9FEEACE4F0}"/>
              </a:ext>
            </a:extLst>
          </p:cNvPr>
          <p:cNvPicPr>
            <a:picLocks noChangeAspect="1"/>
          </p:cNvPicPr>
          <p:nvPr/>
        </p:nvPicPr>
        <p:blipFill>
          <a:blip r:embed="rId2"/>
          <a:stretch>
            <a:fillRect/>
          </a:stretch>
        </p:blipFill>
        <p:spPr>
          <a:xfrm>
            <a:off x="1486761" y="-26634"/>
            <a:ext cx="9095424" cy="6870574"/>
          </a:xfrm>
          <a:prstGeom prst="rect">
            <a:avLst/>
          </a:prstGeom>
        </p:spPr>
      </p:pic>
    </p:spTree>
    <p:extLst>
      <p:ext uri="{BB962C8B-B14F-4D97-AF65-F5344CB8AC3E}">
        <p14:creationId xmlns:p14="http://schemas.microsoft.com/office/powerpoint/2010/main" val="221095764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E108D-8982-41E1-9B9E-4D6094AED634}"/>
              </a:ext>
            </a:extLst>
          </p:cNvPr>
          <p:cNvSpPr>
            <a:spLocks noGrp="1"/>
          </p:cNvSpPr>
          <p:nvPr>
            <p:ph idx="1"/>
          </p:nvPr>
        </p:nvSpPr>
        <p:spPr>
          <a:xfrm>
            <a:off x="530943" y="2103643"/>
            <a:ext cx="10282083" cy="2212717"/>
          </a:xfrm>
        </p:spPr>
        <p:txBody>
          <a:bodyPr>
            <a:normAutofit/>
          </a:bodyPr>
          <a:lstStyle/>
          <a:p>
            <a:pPr>
              <a:lnSpc>
                <a:spcPct val="100000"/>
              </a:lnSpc>
              <a:spcBef>
                <a:spcPts val="0"/>
              </a:spcBef>
              <a:spcAft>
                <a:spcPts val="1200"/>
              </a:spcAft>
              <a:buFont typeface="Wingdings" panose="05000000000000000000" pitchFamily="2" charset="2"/>
              <a:buChar char="Ø"/>
            </a:pPr>
            <a:r>
              <a:rPr lang="en-US" sz="3200" dirty="0"/>
              <a:t>Multiphase Optimization Strategy (MOST)</a:t>
            </a:r>
          </a:p>
          <a:p>
            <a:pPr>
              <a:lnSpc>
                <a:spcPct val="100000"/>
              </a:lnSpc>
              <a:spcBef>
                <a:spcPts val="0"/>
              </a:spcBef>
              <a:spcAft>
                <a:spcPts val="1200"/>
              </a:spcAft>
              <a:buFont typeface="Wingdings" panose="05000000000000000000" pitchFamily="2" charset="2"/>
              <a:buChar char="Ø"/>
            </a:pPr>
            <a:r>
              <a:rPr lang="en-US" sz="3200" dirty="0"/>
              <a:t>Sequential Multiple Assignment Randomized Trial (SMART)</a:t>
            </a:r>
          </a:p>
          <a:p>
            <a:pPr>
              <a:lnSpc>
                <a:spcPct val="100000"/>
              </a:lnSpc>
              <a:spcBef>
                <a:spcPts val="0"/>
              </a:spcBef>
              <a:spcAft>
                <a:spcPts val="1200"/>
              </a:spcAft>
              <a:buFont typeface="Wingdings" panose="05000000000000000000" pitchFamily="2" charset="2"/>
              <a:buChar char="Ø"/>
            </a:pPr>
            <a:r>
              <a:rPr lang="en-US" sz="3200" dirty="0"/>
              <a:t>Learn-as-you-GO Design (LAGO)</a:t>
            </a:r>
          </a:p>
        </p:txBody>
      </p:sp>
      <p:sp>
        <p:nvSpPr>
          <p:cNvPr id="4" name="Rectangle 3">
            <a:extLst>
              <a:ext uri="{FF2B5EF4-FFF2-40B4-BE49-F238E27FC236}">
                <a16:creationId xmlns:a16="http://schemas.microsoft.com/office/drawing/2014/main" id="{620B0DD0-2BFE-4166-A498-80AB39892C36}"/>
              </a:ext>
            </a:extLst>
          </p:cNvPr>
          <p:cNvSpPr/>
          <p:nvPr/>
        </p:nvSpPr>
        <p:spPr>
          <a:xfrm>
            <a:off x="0" y="0"/>
            <a:ext cx="12192000" cy="146500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Some emerging innovative designs for implementation science</a:t>
            </a:r>
            <a:endParaRPr lang="en-US" sz="4400" dirty="0">
              <a:solidFill>
                <a:schemeClr val="bg1"/>
              </a:solidFill>
            </a:endParaRP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Tree>
    <p:extLst>
      <p:ext uri="{BB962C8B-B14F-4D97-AF65-F5344CB8AC3E}">
        <p14:creationId xmlns:p14="http://schemas.microsoft.com/office/powerpoint/2010/main" val="268490354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0B0DD0-2BFE-4166-A498-80AB39892C36}"/>
              </a:ext>
            </a:extLst>
          </p:cNvPr>
          <p:cNvSpPr/>
          <p:nvPr/>
        </p:nvSpPr>
        <p:spPr>
          <a:xfrm>
            <a:off x="0" y="0"/>
            <a:ext cx="12192000" cy="104221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Arial" panose="020B0604020202020204" pitchFamily="34" charset="0"/>
                <a:cs typeface="Arial" panose="020B0604020202020204" pitchFamily="34" charset="0"/>
              </a:rPr>
              <a:t>Multiphase Optimization Strategy</a:t>
            </a:r>
            <a:endParaRPr lang="en-US" sz="2800" dirty="0">
              <a:solidFill>
                <a:schemeClr val="bg1"/>
              </a:solidFill>
            </a:endParaRP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pic>
        <p:nvPicPr>
          <p:cNvPr id="8" name="Picture 2" descr="https://media.springernature.com/original/springer-static/image/chp%3A10.1007%2F978-3-319-72206-1_1/MediaObjects/370271_1_En_1_Fig1_HTML.gif">
            <a:extLst>
              <a:ext uri="{FF2B5EF4-FFF2-40B4-BE49-F238E27FC236}">
                <a16:creationId xmlns:a16="http://schemas.microsoft.com/office/drawing/2014/main" id="{DC4A8D1F-1862-43B9-980B-D8C8D6BED6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260" y="1279952"/>
            <a:ext cx="10575480" cy="418812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22E9EDC-10F8-4EAC-96DF-D985F9EF6311}"/>
              </a:ext>
            </a:extLst>
          </p:cNvPr>
          <p:cNvSpPr txBox="1"/>
          <p:nvPr/>
        </p:nvSpPr>
        <p:spPr>
          <a:xfrm>
            <a:off x="206626" y="5473805"/>
            <a:ext cx="9964968" cy="1031051"/>
          </a:xfrm>
          <a:prstGeom prst="rect">
            <a:avLst/>
          </a:prstGeom>
          <a:noFill/>
        </p:spPr>
        <p:txBody>
          <a:bodyPr wrap="square">
            <a:spAutoFit/>
          </a:bodyPr>
          <a:lstStyle/>
          <a:p>
            <a:pPr>
              <a:spcAft>
                <a:spcPts val="600"/>
              </a:spcAft>
            </a:pPr>
            <a:r>
              <a:rPr lang="en-US" sz="1400" dirty="0">
                <a:latin typeface="Arial" panose="020B0604020202020204" pitchFamily="34" charset="0"/>
                <a:cs typeface="Arial" panose="020B0604020202020204" pitchFamily="34" charset="0"/>
              </a:rPr>
              <a:t>Collins, L. M. (2018). Conceptual introduction to the multiphase optimization strategy (MOST). In </a:t>
            </a:r>
            <a:r>
              <a:rPr lang="en-US" sz="1400" i="1" dirty="0">
                <a:latin typeface="Arial" panose="020B0604020202020204" pitchFamily="34" charset="0"/>
                <a:cs typeface="Arial" panose="020B0604020202020204" pitchFamily="34" charset="0"/>
              </a:rPr>
              <a:t>Optimization of behavioral, biobehavioral, and biomedical interventions</a:t>
            </a:r>
            <a:r>
              <a:rPr lang="en-US" sz="1400" dirty="0">
                <a:latin typeface="Arial" panose="020B0604020202020204" pitchFamily="34" charset="0"/>
                <a:cs typeface="Arial" panose="020B0604020202020204" pitchFamily="34" charset="0"/>
              </a:rPr>
              <a:t> (pp. 1-34). Springer, Cham.</a:t>
            </a:r>
          </a:p>
          <a:p>
            <a:pPr>
              <a:spcAft>
                <a:spcPts val="600"/>
              </a:spcAft>
            </a:pPr>
            <a:r>
              <a:rPr lang="en-US" sz="1400" dirty="0" err="1">
                <a:latin typeface="Arial" panose="020B0604020202020204" pitchFamily="34" charset="0"/>
                <a:cs typeface="Arial" panose="020B0604020202020204" pitchFamily="34" charset="0"/>
              </a:rPr>
              <a:t>Guastaferro</a:t>
            </a:r>
            <a:r>
              <a:rPr lang="en-US" sz="1400" dirty="0">
                <a:latin typeface="Arial" panose="020B0604020202020204" pitchFamily="34" charset="0"/>
                <a:cs typeface="Arial" panose="020B0604020202020204" pitchFamily="34" charset="0"/>
              </a:rPr>
              <a:t>, K., and Collins, L.M. (2019). Achieving the goals of translational science in public health intervention research: the Multiphase Optimization Strategy (MOST). American Journal of Public Health: S128-S129.</a:t>
            </a:r>
          </a:p>
        </p:txBody>
      </p:sp>
    </p:spTree>
    <p:extLst>
      <p:ext uri="{BB962C8B-B14F-4D97-AF65-F5344CB8AC3E}">
        <p14:creationId xmlns:p14="http://schemas.microsoft.com/office/powerpoint/2010/main" val="8740666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pic>
        <p:nvPicPr>
          <p:cNvPr id="6" name="Picture 5">
            <a:extLst>
              <a:ext uri="{FF2B5EF4-FFF2-40B4-BE49-F238E27FC236}">
                <a16:creationId xmlns:a16="http://schemas.microsoft.com/office/drawing/2014/main" id="{5B9BD59B-7602-42DD-9E51-24F7BA062D2A}"/>
              </a:ext>
            </a:extLst>
          </p:cNvPr>
          <p:cNvPicPr>
            <a:picLocks noChangeAspect="1"/>
          </p:cNvPicPr>
          <p:nvPr/>
        </p:nvPicPr>
        <p:blipFill>
          <a:blip r:embed="rId3"/>
          <a:stretch>
            <a:fillRect/>
          </a:stretch>
        </p:blipFill>
        <p:spPr>
          <a:xfrm>
            <a:off x="338902" y="145455"/>
            <a:ext cx="7557323" cy="3354130"/>
          </a:xfrm>
          <a:prstGeom prst="rect">
            <a:avLst/>
          </a:prstGeom>
        </p:spPr>
      </p:pic>
      <p:sp>
        <p:nvSpPr>
          <p:cNvPr id="10" name="Content Placeholder 2">
            <a:extLst>
              <a:ext uri="{FF2B5EF4-FFF2-40B4-BE49-F238E27FC236}">
                <a16:creationId xmlns:a16="http://schemas.microsoft.com/office/drawing/2014/main" id="{223679B4-86A9-46E8-9612-E2AF0E0209DC}"/>
              </a:ext>
            </a:extLst>
          </p:cNvPr>
          <p:cNvSpPr>
            <a:spLocks noGrp="1"/>
          </p:cNvSpPr>
          <p:nvPr>
            <p:ph idx="1"/>
          </p:nvPr>
        </p:nvSpPr>
        <p:spPr>
          <a:xfrm>
            <a:off x="176977" y="3499585"/>
            <a:ext cx="11590396" cy="2288541"/>
          </a:xfrm>
        </p:spPr>
        <p:txBody>
          <a:bodyPr>
            <a:noAutofit/>
          </a:bodyPr>
          <a:lstStyle/>
          <a:p>
            <a:pPr>
              <a:spcBef>
                <a:spcPts val="0"/>
              </a:spcBef>
              <a:spcAft>
                <a:spcPts val="1200"/>
              </a:spcAft>
            </a:pPr>
            <a:r>
              <a:rPr lang="en-US" sz="2200" dirty="0">
                <a:latin typeface="Arial" panose="020B0604020202020204" pitchFamily="34" charset="0"/>
                <a:cs typeface="Arial" panose="020B0604020202020204" pitchFamily="34" charset="0"/>
              </a:rPr>
              <a:t>The end product of implementation efforts should emphasize overall value to stakeholders (systems, organizations, providers, patients) rather than only intervention effects </a:t>
            </a:r>
          </a:p>
          <a:p>
            <a:pPr>
              <a:spcBef>
                <a:spcPts val="0"/>
              </a:spcBef>
              <a:spcAft>
                <a:spcPts val="1200"/>
              </a:spcAft>
            </a:pPr>
            <a:r>
              <a:rPr lang="en-US" sz="2200" dirty="0">
                <a:latin typeface="Arial" panose="020B0604020202020204" pitchFamily="34" charset="0"/>
                <a:cs typeface="Arial" panose="020B0604020202020204" pitchFamily="34" charset="0"/>
              </a:rPr>
              <a:t>Adaptation should address adaptation to intervention, outer context, inner context, and bridging factors as needed</a:t>
            </a:r>
          </a:p>
          <a:p>
            <a:pPr>
              <a:spcBef>
                <a:spcPts val="0"/>
              </a:spcBef>
              <a:spcAft>
                <a:spcPts val="1200"/>
              </a:spcAft>
            </a:pPr>
            <a:r>
              <a:rPr lang="en-US" sz="2200" dirty="0">
                <a:latin typeface="Arial" panose="020B0604020202020204" pitchFamily="34" charset="0"/>
                <a:cs typeface="Arial" panose="020B0604020202020204" pitchFamily="34" charset="0"/>
              </a:rPr>
              <a:t>Implementation strategies can be construed as a method to create fit between EBIs and context </a:t>
            </a:r>
          </a:p>
        </p:txBody>
      </p:sp>
      <p:sp>
        <p:nvSpPr>
          <p:cNvPr id="11" name="Rectangle 10">
            <a:extLst>
              <a:ext uri="{FF2B5EF4-FFF2-40B4-BE49-F238E27FC236}">
                <a16:creationId xmlns:a16="http://schemas.microsoft.com/office/drawing/2014/main" id="{D10A2116-BEA5-47A2-87F9-DDAC1A81EC41}"/>
              </a:ext>
            </a:extLst>
          </p:cNvPr>
          <p:cNvSpPr/>
          <p:nvPr/>
        </p:nvSpPr>
        <p:spPr>
          <a:xfrm rot="10800000" flipV="1">
            <a:off x="514349" y="5887746"/>
            <a:ext cx="10118417" cy="523220"/>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von Thiele Schwarz, U., Aarons, G. A., &amp; Hasson, H. (2019). The Value Equation: Three complementary propositions for reconciling fidelity and adaptation in evidence-based practice implementation. BMC Health Services Research, 19(1), 868.</a:t>
            </a:r>
          </a:p>
        </p:txBody>
      </p:sp>
    </p:spTree>
    <p:extLst>
      <p:ext uri="{BB962C8B-B14F-4D97-AF65-F5344CB8AC3E}">
        <p14:creationId xmlns:p14="http://schemas.microsoft.com/office/powerpoint/2010/main" val="30819016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Fig. 1">
            <a:extLst>
              <a:ext uri="{FF2B5EF4-FFF2-40B4-BE49-F238E27FC236}">
                <a16:creationId xmlns:a16="http://schemas.microsoft.com/office/drawing/2014/main" id="{A1FFB0DC-EC89-467E-95BC-4F364833C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418" y="0"/>
            <a:ext cx="10177874" cy="572701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C93658E-AA12-4336-AFE3-9C797A287D07}"/>
              </a:ext>
            </a:extLst>
          </p:cNvPr>
          <p:cNvSpPr txBox="1"/>
          <p:nvPr/>
        </p:nvSpPr>
        <p:spPr>
          <a:xfrm>
            <a:off x="109415" y="5727016"/>
            <a:ext cx="12004431" cy="1077218"/>
          </a:xfrm>
          <a:prstGeom prst="rect">
            <a:avLst/>
          </a:prstGeom>
          <a:noFill/>
        </p:spPr>
        <p:txBody>
          <a:bodyPr wrap="square">
            <a:spAutoFit/>
          </a:bodyPr>
          <a:lstStyle/>
          <a:p>
            <a:pPr>
              <a:buNone/>
            </a:pPr>
            <a:r>
              <a:rPr lang="en-US" sz="1400" dirty="0" err="1">
                <a:effectLst/>
                <a:latin typeface="Arial" panose="020B0604020202020204" pitchFamily="34" charset="0"/>
                <a:cs typeface="Arial" panose="020B0604020202020204" pitchFamily="34" charset="0"/>
              </a:rPr>
              <a:t>Stirman</a:t>
            </a:r>
            <a:r>
              <a:rPr lang="en-US" sz="1400" dirty="0">
                <a:effectLst/>
                <a:latin typeface="Arial" panose="020B0604020202020204" pitchFamily="34" charset="0"/>
                <a:cs typeface="Arial" panose="020B0604020202020204" pitchFamily="34" charset="0"/>
              </a:rPr>
              <a:t>, S. W., Baumann, A. A., &amp; Miller, C. J. (2019). The FRAME: an expanded framework for reporting adaptations and modifications to evidence-based interventions. </a:t>
            </a:r>
            <a:r>
              <a:rPr lang="en-US" sz="1400" i="1" dirty="0">
                <a:effectLst/>
                <a:latin typeface="Arial" panose="020B0604020202020204" pitchFamily="34" charset="0"/>
                <a:cs typeface="Arial" panose="020B0604020202020204" pitchFamily="34" charset="0"/>
              </a:rPr>
              <a:t>Implementation Science</a:t>
            </a:r>
            <a:r>
              <a:rPr lang="en-US" sz="1400" dirty="0">
                <a:effectLst/>
                <a:latin typeface="Arial" panose="020B0604020202020204" pitchFamily="34" charset="0"/>
                <a:cs typeface="Arial" panose="020B0604020202020204" pitchFamily="34" charset="0"/>
              </a:rPr>
              <a:t>, </a:t>
            </a:r>
            <a:r>
              <a:rPr lang="en-US" sz="1400" i="1" dirty="0">
                <a:effectLst/>
                <a:latin typeface="Arial" panose="020B0604020202020204" pitchFamily="34" charset="0"/>
                <a:cs typeface="Arial" panose="020B0604020202020204" pitchFamily="34" charset="0"/>
              </a:rPr>
              <a:t>14</a:t>
            </a:r>
            <a:r>
              <a:rPr lang="en-US" sz="1400" dirty="0">
                <a:effectLst/>
                <a:latin typeface="Arial" panose="020B0604020202020204" pitchFamily="34" charset="0"/>
                <a:cs typeface="Arial" panose="020B0604020202020204" pitchFamily="34" charset="0"/>
              </a:rPr>
              <a:t>(1), 58.</a:t>
            </a:r>
          </a:p>
          <a:p>
            <a:pPr>
              <a:buNone/>
            </a:pPr>
            <a:r>
              <a:rPr lang="en-US" dirty="0"/>
              <a:t>Miller, C., Barnett, M.L., Baumann, A.A. </a:t>
            </a:r>
            <a:r>
              <a:rPr lang="en-US" i="1" dirty="0"/>
              <a:t>et al.</a:t>
            </a:r>
            <a:r>
              <a:rPr lang="en-US" dirty="0"/>
              <a:t> The FRAME-IS: a framework for documenting modifications to implementation strategies in healthcare. </a:t>
            </a:r>
            <a:r>
              <a:rPr lang="en-US" i="1" dirty="0"/>
              <a:t>Implementation Sci</a:t>
            </a:r>
            <a:r>
              <a:rPr lang="en-US" dirty="0"/>
              <a:t> </a:t>
            </a:r>
            <a:r>
              <a:rPr lang="en-US" b="1" dirty="0"/>
              <a:t>16</a:t>
            </a:r>
            <a:r>
              <a:rPr lang="en-US" dirty="0"/>
              <a:t>, 36 (2021). https://doi.org/10.1186/s13012-021-01105-3</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032185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022A87AB-D288-4038-BAD1-6BC3C0474255}"/>
              </a:ext>
            </a:extLst>
          </p:cNvPr>
          <p:cNvGrpSpPr/>
          <p:nvPr/>
        </p:nvGrpSpPr>
        <p:grpSpPr>
          <a:xfrm>
            <a:off x="4710303" y="293246"/>
            <a:ext cx="7248144" cy="6032331"/>
            <a:chOff x="2471928" y="412834"/>
            <a:chExt cx="7248144" cy="6032331"/>
          </a:xfrm>
        </p:grpSpPr>
        <p:sp>
          <p:nvSpPr>
            <p:cNvPr id="7" name="Rectangle: Rounded Corners 6">
              <a:extLst>
                <a:ext uri="{FF2B5EF4-FFF2-40B4-BE49-F238E27FC236}">
                  <a16:creationId xmlns:a16="http://schemas.microsoft.com/office/drawing/2014/main" id="{F49398B9-AECB-41D2-8D09-DECB42842848}"/>
                </a:ext>
              </a:extLst>
            </p:cNvPr>
            <p:cNvSpPr/>
            <p:nvPr/>
          </p:nvSpPr>
          <p:spPr>
            <a:xfrm>
              <a:off x="2471928" y="412834"/>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8" name="Rectangle 7" descr="Flowchart">
              <a:extLst>
                <a:ext uri="{FF2B5EF4-FFF2-40B4-BE49-F238E27FC236}">
                  <a16:creationId xmlns:a16="http://schemas.microsoft.com/office/drawing/2014/main" id="{BD9BEBAB-2CFB-4627-A887-FA48FE3D0008}"/>
                </a:ext>
              </a:extLst>
            </p:cNvPr>
            <p:cNvSpPr/>
            <p:nvPr/>
          </p:nvSpPr>
          <p:spPr>
            <a:xfrm>
              <a:off x="2723621" y="600044"/>
              <a:ext cx="457625" cy="457625"/>
            </a:xfrm>
            <a:prstGeom prst="rect">
              <a:avLst/>
            </a:prstGeom>
            <a:blipFill>
              <a:blip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9" name="Group 8">
              <a:extLst>
                <a:ext uri="{FF2B5EF4-FFF2-40B4-BE49-F238E27FC236}">
                  <a16:creationId xmlns:a16="http://schemas.microsoft.com/office/drawing/2014/main" id="{89977A45-D950-4C93-9CC9-7DE607ABE9AB}"/>
                </a:ext>
              </a:extLst>
            </p:cNvPr>
            <p:cNvGrpSpPr/>
            <p:nvPr/>
          </p:nvGrpSpPr>
          <p:grpSpPr>
            <a:xfrm>
              <a:off x="3432940" y="412834"/>
              <a:ext cx="3261664" cy="832045"/>
              <a:chOff x="961012" y="1952"/>
              <a:chExt cx="3261664" cy="832045"/>
            </a:xfrm>
          </p:grpSpPr>
          <p:sp>
            <p:nvSpPr>
              <p:cNvPr id="41" name="Rectangle 40">
                <a:extLst>
                  <a:ext uri="{FF2B5EF4-FFF2-40B4-BE49-F238E27FC236}">
                    <a16:creationId xmlns:a16="http://schemas.microsoft.com/office/drawing/2014/main" id="{B16379D1-D5F2-417A-A5BE-7B38EF128D4F}"/>
                  </a:ext>
                </a:extLst>
              </p:cNvPr>
              <p:cNvSpPr/>
              <p:nvPr/>
            </p:nvSpPr>
            <p:spPr>
              <a:xfrm>
                <a:off x="961012" y="1952"/>
                <a:ext cx="3261664"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42" name="TextBox 41">
                <a:extLst>
                  <a:ext uri="{FF2B5EF4-FFF2-40B4-BE49-F238E27FC236}">
                    <a16:creationId xmlns:a16="http://schemas.microsoft.com/office/drawing/2014/main" id="{EA41214B-B7B0-4D50-B563-2F98D4C63877}"/>
                  </a:ext>
                </a:extLst>
              </p:cNvPr>
              <p:cNvSpPr txBox="1"/>
              <p:nvPr/>
            </p:nvSpPr>
            <p:spPr>
              <a:xfrm>
                <a:off x="961012" y="1952"/>
                <a:ext cx="3261664"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dirty="0"/>
                  <a:t>Intervention is a package consisting of multiple components</a:t>
                </a:r>
              </a:p>
            </p:txBody>
          </p:sp>
        </p:grpSp>
        <p:grpSp>
          <p:nvGrpSpPr>
            <p:cNvPr id="10" name="Group 9">
              <a:extLst>
                <a:ext uri="{FF2B5EF4-FFF2-40B4-BE49-F238E27FC236}">
                  <a16:creationId xmlns:a16="http://schemas.microsoft.com/office/drawing/2014/main" id="{DBFBD84F-348F-4C34-A493-3492712B9CEF}"/>
                </a:ext>
              </a:extLst>
            </p:cNvPr>
            <p:cNvGrpSpPr/>
            <p:nvPr/>
          </p:nvGrpSpPr>
          <p:grpSpPr>
            <a:xfrm>
              <a:off x="6694605" y="412834"/>
              <a:ext cx="3025466" cy="832045"/>
              <a:chOff x="4222677" y="1952"/>
              <a:chExt cx="3025466" cy="832045"/>
            </a:xfrm>
          </p:grpSpPr>
          <p:sp>
            <p:nvSpPr>
              <p:cNvPr id="39" name="Rectangle 38">
                <a:extLst>
                  <a:ext uri="{FF2B5EF4-FFF2-40B4-BE49-F238E27FC236}">
                    <a16:creationId xmlns:a16="http://schemas.microsoft.com/office/drawing/2014/main" id="{7D9009D1-EDFE-453A-8114-DE3B0C564443}"/>
                  </a:ext>
                </a:extLst>
              </p:cNvPr>
              <p:cNvSpPr/>
              <p:nvPr/>
            </p:nvSpPr>
            <p:spPr>
              <a:xfrm>
                <a:off x="4222677" y="1952"/>
                <a:ext cx="3025466"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40" name="TextBox 39">
                <a:extLst>
                  <a:ext uri="{FF2B5EF4-FFF2-40B4-BE49-F238E27FC236}">
                    <a16:creationId xmlns:a16="http://schemas.microsoft.com/office/drawing/2014/main" id="{660D190B-226D-4E84-AF7A-5DC24DB02909}"/>
                  </a:ext>
                </a:extLst>
              </p:cNvPr>
              <p:cNvSpPr txBox="1"/>
              <p:nvPr/>
            </p:nvSpPr>
            <p:spPr>
              <a:xfrm>
                <a:off x="4222677" y="1952"/>
                <a:ext cx="3025466"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488950">
                  <a:lnSpc>
                    <a:spcPct val="100000"/>
                  </a:lnSpc>
                  <a:spcBef>
                    <a:spcPct val="0"/>
                  </a:spcBef>
                  <a:spcAft>
                    <a:spcPct val="35000"/>
                  </a:spcAft>
                  <a:buNone/>
                </a:pPr>
                <a:r>
                  <a:rPr lang="en-US" sz="1100" kern="1200"/>
                  <a:t>Can include combinations e.g., treatment, a device, care organization, multiple stakeholders </a:t>
                </a:r>
              </a:p>
            </p:txBody>
          </p:sp>
        </p:grpSp>
        <p:sp>
          <p:nvSpPr>
            <p:cNvPr id="11" name="Rectangle: Rounded Corners 10">
              <a:extLst>
                <a:ext uri="{FF2B5EF4-FFF2-40B4-BE49-F238E27FC236}">
                  <a16:creationId xmlns:a16="http://schemas.microsoft.com/office/drawing/2014/main" id="{EE55F271-D195-4727-9EBF-45B7CFEDD6B2}"/>
                </a:ext>
              </a:extLst>
            </p:cNvPr>
            <p:cNvSpPr/>
            <p:nvPr/>
          </p:nvSpPr>
          <p:spPr>
            <a:xfrm>
              <a:off x="2471928" y="1452891"/>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2" name="Rectangle 11" descr="Bar chart">
              <a:extLst>
                <a:ext uri="{FF2B5EF4-FFF2-40B4-BE49-F238E27FC236}">
                  <a16:creationId xmlns:a16="http://schemas.microsoft.com/office/drawing/2014/main" id="{00AFE2CC-899D-481F-9930-19DF9D0A96E8}"/>
                </a:ext>
              </a:extLst>
            </p:cNvPr>
            <p:cNvSpPr/>
            <p:nvPr/>
          </p:nvSpPr>
          <p:spPr>
            <a:xfrm>
              <a:off x="2723621" y="1640102"/>
              <a:ext cx="457625" cy="457625"/>
            </a:xfrm>
            <a:prstGeom prst="rect">
              <a:avLst/>
            </a:prstGeom>
            <a:blipFill>
              <a:blip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13" name="Group 12">
              <a:extLst>
                <a:ext uri="{FF2B5EF4-FFF2-40B4-BE49-F238E27FC236}">
                  <a16:creationId xmlns:a16="http://schemas.microsoft.com/office/drawing/2014/main" id="{FB8C1D15-8FF7-4681-875B-8ECEF2022312}"/>
                </a:ext>
              </a:extLst>
            </p:cNvPr>
            <p:cNvGrpSpPr/>
            <p:nvPr/>
          </p:nvGrpSpPr>
          <p:grpSpPr>
            <a:xfrm>
              <a:off x="3432940" y="1452891"/>
              <a:ext cx="6287131" cy="832045"/>
              <a:chOff x="961012" y="1042009"/>
              <a:chExt cx="6287131" cy="832045"/>
            </a:xfrm>
          </p:grpSpPr>
          <p:sp>
            <p:nvSpPr>
              <p:cNvPr id="37" name="Rectangle 36">
                <a:extLst>
                  <a:ext uri="{FF2B5EF4-FFF2-40B4-BE49-F238E27FC236}">
                    <a16:creationId xmlns:a16="http://schemas.microsoft.com/office/drawing/2014/main" id="{F23A222C-4FE6-4AA2-8AA4-3FEB6AAB4655}"/>
                  </a:ext>
                </a:extLst>
              </p:cNvPr>
              <p:cNvSpPr/>
              <p:nvPr/>
            </p:nvSpPr>
            <p:spPr>
              <a:xfrm>
                <a:off x="961012" y="1042009"/>
                <a:ext cx="6287131"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8" name="TextBox 37">
                <a:extLst>
                  <a:ext uri="{FF2B5EF4-FFF2-40B4-BE49-F238E27FC236}">
                    <a16:creationId xmlns:a16="http://schemas.microsoft.com/office/drawing/2014/main" id="{008035AA-36C8-4EDE-A2A2-06FEDAFD0898}"/>
                  </a:ext>
                </a:extLst>
              </p:cNvPr>
              <p:cNvSpPr txBox="1"/>
              <p:nvPr/>
            </p:nvSpPr>
            <p:spPr>
              <a:xfrm>
                <a:off x="961012" y="1042009"/>
                <a:ext cx="6287131"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a:t>Data are analyzed after each stage</a:t>
                </a:r>
              </a:p>
            </p:txBody>
          </p:sp>
        </p:grpSp>
        <p:sp>
          <p:nvSpPr>
            <p:cNvPr id="14" name="Rectangle: Rounded Corners 13">
              <a:extLst>
                <a:ext uri="{FF2B5EF4-FFF2-40B4-BE49-F238E27FC236}">
                  <a16:creationId xmlns:a16="http://schemas.microsoft.com/office/drawing/2014/main" id="{7BA6C49D-4D4B-4D40-A9F4-3C341093D1FE}"/>
                </a:ext>
              </a:extLst>
            </p:cNvPr>
            <p:cNvSpPr/>
            <p:nvPr/>
          </p:nvSpPr>
          <p:spPr>
            <a:xfrm>
              <a:off x="2471928" y="2492949"/>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5" name="Rectangle 14" descr="Checkmark">
              <a:extLst>
                <a:ext uri="{FF2B5EF4-FFF2-40B4-BE49-F238E27FC236}">
                  <a16:creationId xmlns:a16="http://schemas.microsoft.com/office/drawing/2014/main" id="{870A102F-4AF5-4FF5-AA30-D81D27779017}"/>
                </a:ext>
              </a:extLst>
            </p:cNvPr>
            <p:cNvSpPr/>
            <p:nvPr/>
          </p:nvSpPr>
          <p:spPr>
            <a:xfrm>
              <a:off x="2723621" y="2680159"/>
              <a:ext cx="457625" cy="457625"/>
            </a:xfrm>
            <a:prstGeom prst="rect">
              <a:avLst/>
            </a:prstGeom>
            <a: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16" name="Group 15">
              <a:extLst>
                <a:ext uri="{FF2B5EF4-FFF2-40B4-BE49-F238E27FC236}">
                  <a16:creationId xmlns:a16="http://schemas.microsoft.com/office/drawing/2014/main" id="{37C00BE1-D145-49E5-B42D-BEECE9181AE5}"/>
                </a:ext>
              </a:extLst>
            </p:cNvPr>
            <p:cNvGrpSpPr/>
            <p:nvPr/>
          </p:nvGrpSpPr>
          <p:grpSpPr>
            <a:xfrm>
              <a:off x="3432940" y="2492949"/>
              <a:ext cx="6287131" cy="832045"/>
              <a:chOff x="961012" y="2082067"/>
              <a:chExt cx="6287131" cy="832045"/>
            </a:xfrm>
          </p:grpSpPr>
          <p:sp>
            <p:nvSpPr>
              <p:cNvPr id="35" name="Rectangle 34">
                <a:extLst>
                  <a:ext uri="{FF2B5EF4-FFF2-40B4-BE49-F238E27FC236}">
                    <a16:creationId xmlns:a16="http://schemas.microsoft.com/office/drawing/2014/main" id="{C082FF51-83C5-4EB1-866B-CD86EDA5D654}"/>
                  </a:ext>
                </a:extLst>
              </p:cNvPr>
              <p:cNvSpPr/>
              <p:nvPr/>
            </p:nvSpPr>
            <p:spPr>
              <a:xfrm>
                <a:off x="961012" y="2082067"/>
                <a:ext cx="6287131"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6" name="TextBox 35">
                <a:extLst>
                  <a:ext uri="{FF2B5EF4-FFF2-40B4-BE49-F238E27FC236}">
                    <a16:creationId xmlns:a16="http://schemas.microsoft.com/office/drawing/2014/main" id="{DE5F770E-4395-4B04-BFF1-B186374A95EB}"/>
                  </a:ext>
                </a:extLst>
              </p:cNvPr>
              <p:cNvSpPr txBox="1"/>
              <p:nvPr/>
            </p:nvSpPr>
            <p:spPr>
              <a:xfrm>
                <a:off x="961012" y="2082067"/>
                <a:ext cx="6287131"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dirty="0"/>
                  <a:t>Intervention package is reconfigured based on analyses</a:t>
                </a:r>
              </a:p>
            </p:txBody>
          </p:sp>
        </p:grpSp>
        <p:sp>
          <p:nvSpPr>
            <p:cNvPr id="17" name="Rectangle: Rounded Corners 16">
              <a:extLst>
                <a:ext uri="{FF2B5EF4-FFF2-40B4-BE49-F238E27FC236}">
                  <a16:creationId xmlns:a16="http://schemas.microsoft.com/office/drawing/2014/main" id="{5FDFE271-5D9E-417A-AFA6-B1BD64059385}"/>
                </a:ext>
              </a:extLst>
            </p:cNvPr>
            <p:cNvSpPr/>
            <p:nvPr/>
          </p:nvSpPr>
          <p:spPr>
            <a:xfrm>
              <a:off x="2471928" y="3533006"/>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8" name="Rectangle 17" descr="Check List">
              <a:extLst>
                <a:ext uri="{FF2B5EF4-FFF2-40B4-BE49-F238E27FC236}">
                  <a16:creationId xmlns:a16="http://schemas.microsoft.com/office/drawing/2014/main" id="{EF8D06C5-5732-4188-A3E7-F526E80B7F68}"/>
                </a:ext>
              </a:extLst>
            </p:cNvPr>
            <p:cNvSpPr/>
            <p:nvPr/>
          </p:nvSpPr>
          <p:spPr>
            <a:xfrm>
              <a:off x="2723621" y="3720216"/>
              <a:ext cx="457625" cy="457625"/>
            </a:xfrm>
            <a:prstGeom prst="rect">
              <a:avLst/>
            </a:prstGeom>
            <a: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19" name="Group 18">
              <a:extLst>
                <a:ext uri="{FF2B5EF4-FFF2-40B4-BE49-F238E27FC236}">
                  <a16:creationId xmlns:a16="http://schemas.microsoft.com/office/drawing/2014/main" id="{E391D093-D6D6-417A-9DD1-60E52F83541D}"/>
                </a:ext>
              </a:extLst>
            </p:cNvPr>
            <p:cNvGrpSpPr/>
            <p:nvPr/>
          </p:nvGrpSpPr>
          <p:grpSpPr>
            <a:xfrm>
              <a:off x="3432940" y="3533006"/>
              <a:ext cx="6287131" cy="832045"/>
              <a:chOff x="961012" y="3122124"/>
              <a:chExt cx="6287131" cy="832045"/>
            </a:xfrm>
          </p:grpSpPr>
          <p:sp>
            <p:nvSpPr>
              <p:cNvPr id="33" name="Rectangle 32">
                <a:extLst>
                  <a:ext uri="{FF2B5EF4-FFF2-40B4-BE49-F238E27FC236}">
                    <a16:creationId xmlns:a16="http://schemas.microsoft.com/office/drawing/2014/main" id="{80FB9106-2E4E-4A6A-8AB9-F9C2BE4AD2F5}"/>
                  </a:ext>
                </a:extLst>
              </p:cNvPr>
              <p:cNvSpPr/>
              <p:nvPr/>
            </p:nvSpPr>
            <p:spPr>
              <a:xfrm>
                <a:off x="961012" y="3122124"/>
                <a:ext cx="6287131"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4" name="TextBox 33">
                <a:extLst>
                  <a:ext uri="{FF2B5EF4-FFF2-40B4-BE49-F238E27FC236}">
                    <a16:creationId xmlns:a16="http://schemas.microsoft.com/office/drawing/2014/main" id="{34D9151D-73D3-4EC1-9C88-07EAE70D949A}"/>
                  </a:ext>
                </a:extLst>
              </p:cNvPr>
              <p:cNvSpPr txBox="1"/>
              <p:nvPr/>
            </p:nvSpPr>
            <p:spPr>
              <a:xfrm>
                <a:off x="961012" y="3122124"/>
                <a:ext cx="6287131"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dirty="0"/>
                  <a:t>Revised intervention package is rolled out in the next stage </a:t>
                </a:r>
              </a:p>
            </p:txBody>
          </p:sp>
        </p:grpSp>
        <p:sp>
          <p:nvSpPr>
            <p:cNvPr id="20" name="Rectangle: Rounded Corners 19">
              <a:extLst>
                <a:ext uri="{FF2B5EF4-FFF2-40B4-BE49-F238E27FC236}">
                  <a16:creationId xmlns:a16="http://schemas.microsoft.com/office/drawing/2014/main" id="{08D34BE6-14D7-4418-9D3A-6CAD5D14ACED}"/>
                </a:ext>
              </a:extLst>
            </p:cNvPr>
            <p:cNvSpPr/>
            <p:nvPr/>
          </p:nvSpPr>
          <p:spPr>
            <a:xfrm>
              <a:off x="2471928" y="4573063"/>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1" name="Rectangle 20" descr="Presentation with Checklist">
              <a:extLst>
                <a:ext uri="{FF2B5EF4-FFF2-40B4-BE49-F238E27FC236}">
                  <a16:creationId xmlns:a16="http://schemas.microsoft.com/office/drawing/2014/main" id="{26D69D6E-BF60-492B-A96E-54A58CABD5BA}"/>
                </a:ext>
              </a:extLst>
            </p:cNvPr>
            <p:cNvSpPr/>
            <p:nvPr/>
          </p:nvSpPr>
          <p:spPr>
            <a:xfrm>
              <a:off x="2723621" y="4760273"/>
              <a:ext cx="457625" cy="457625"/>
            </a:xfrm>
            <a:prstGeom prst="rect">
              <a:avLst/>
            </a:prstGeom>
            <a: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22" name="Group 21">
              <a:extLst>
                <a:ext uri="{FF2B5EF4-FFF2-40B4-BE49-F238E27FC236}">
                  <a16:creationId xmlns:a16="http://schemas.microsoft.com/office/drawing/2014/main" id="{9D19481B-EBAD-427C-8DF8-4A9F7782C0E4}"/>
                </a:ext>
              </a:extLst>
            </p:cNvPr>
            <p:cNvGrpSpPr/>
            <p:nvPr/>
          </p:nvGrpSpPr>
          <p:grpSpPr>
            <a:xfrm>
              <a:off x="3432940" y="4573063"/>
              <a:ext cx="6287131" cy="832045"/>
              <a:chOff x="961012" y="4162181"/>
              <a:chExt cx="6287131" cy="832045"/>
            </a:xfrm>
          </p:grpSpPr>
          <p:sp>
            <p:nvSpPr>
              <p:cNvPr id="31" name="Rectangle 30">
                <a:extLst>
                  <a:ext uri="{FF2B5EF4-FFF2-40B4-BE49-F238E27FC236}">
                    <a16:creationId xmlns:a16="http://schemas.microsoft.com/office/drawing/2014/main" id="{D4BC87F3-9230-4BFD-944C-6339E256116B}"/>
                  </a:ext>
                </a:extLst>
              </p:cNvPr>
              <p:cNvSpPr/>
              <p:nvPr/>
            </p:nvSpPr>
            <p:spPr>
              <a:xfrm>
                <a:off x="961012" y="4162181"/>
                <a:ext cx="6287131"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2" name="TextBox 31">
                <a:extLst>
                  <a:ext uri="{FF2B5EF4-FFF2-40B4-BE49-F238E27FC236}">
                    <a16:creationId xmlns:a16="http://schemas.microsoft.com/office/drawing/2014/main" id="{07AB199F-BE05-47B2-A67E-E392EFB95661}"/>
                  </a:ext>
                </a:extLst>
              </p:cNvPr>
              <p:cNvSpPr txBox="1"/>
              <p:nvPr/>
            </p:nvSpPr>
            <p:spPr>
              <a:xfrm>
                <a:off x="961012" y="4162181"/>
                <a:ext cx="6287131"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a:t>Intervention package in later stages depends on the outcomes from previous stages and all data utilized for final outcome assessment</a:t>
                </a:r>
              </a:p>
            </p:txBody>
          </p:sp>
        </p:grpSp>
        <p:sp>
          <p:nvSpPr>
            <p:cNvPr id="23" name="Rectangle: Rounded Corners 22">
              <a:extLst>
                <a:ext uri="{FF2B5EF4-FFF2-40B4-BE49-F238E27FC236}">
                  <a16:creationId xmlns:a16="http://schemas.microsoft.com/office/drawing/2014/main" id="{F23794B2-F37C-4E57-8586-94CBE6202AF2}"/>
                </a:ext>
              </a:extLst>
            </p:cNvPr>
            <p:cNvSpPr/>
            <p:nvPr/>
          </p:nvSpPr>
          <p:spPr>
            <a:xfrm>
              <a:off x="2471928" y="5613120"/>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4" name="Rectangle 23" descr="Bullseye">
              <a:extLst>
                <a:ext uri="{FF2B5EF4-FFF2-40B4-BE49-F238E27FC236}">
                  <a16:creationId xmlns:a16="http://schemas.microsoft.com/office/drawing/2014/main" id="{454F0C47-5C0D-4CDB-A935-7C592FE4FA05}"/>
                </a:ext>
              </a:extLst>
            </p:cNvPr>
            <p:cNvSpPr/>
            <p:nvPr/>
          </p:nvSpPr>
          <p:spPr>
            <a:xfrm>
              <a:off x="2723621" y="5800330"/>
              <a:ext cx="457625" cy="457625"/>
            </a:xfrm>
            <a:prstGeom prst="rect">
              <a:avLst/>
            </a:prstGeom>
            <a:blipFill>
              <a:blip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25" name="Group 24">
              <a:extLst>
                <a:ext uri="{FF2B5EF4-FFF2-40B4-BE49-F238E27FC236}">
                  <a16:creationId xmlns:a16="http://schemas.microsoft.com/office/drawing/2014/main" id="{BFA5121C-A51E-4EAC-849E-2DC9D0DF5571}"/>
                </a:ext>
              </a:extLst>
            </p:cNvPr>
            <p:cNvGrpSpPr/>
            <p:nvPr/>
          </p:nvGrpSpPr>
          <p:grpSpPr>
            <a:xfrm>
              <a:off x="3432940" y="5613120"/>
              <a:ext cx="3261664" cy="832045"/>
              <a:chOff x="961012" y="5202238"/>
              <a:chExt cx="3261664" cy="832045"/>
            </a:xfrm>
          </p:grpSpPr>
          <p:sp>
            <p:nvSpPr>
              <p:cNvPr id="29" name="Rectangle 28">
                <a:extLst>
                  <a:ext uri="{FF2B5EF4-FFF2-40B4-BE49-F238E27FC236}">
                    <a16:creationId xmlns:a16="http://schemas.microsoft.com/office/drawing/2014/main" id="{EAD7FE98-5D50-43D0-B866-40FCAC844542}"/>
                  </a:ext>
                </a:extLst>
              </p:cNvPr>
              <p:cNvSpPr/>
              <p:nvPr/>
            </p:nvSpPr>
            <p:spPr>
              <a:xfrm>
                <a:off x="961012" y="5202238"/>
                <a:ext cx="3261664"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0" name="TextBox 29">
                <a:extLst>
                  <a:ext uri="{FF2B5EF4-FFF2-40B4-BE49-F238E27FC236}">
                    <a16:creationId xmlns:a16="http://schemas.microsoft.com/office/drawing/2014/main" id="{98A14026-BE93-4281-A443-D3C236B99366}"/>
                  </a:ext>
                </a:extLst>
              </p:cNvPr>
              <p:cNvSpPr txBox="1"/>
              <p:nvPr/>
            </p:nvSpPr>
            <p:spPr>
              <a:xfrm>
                <a:off x="961012" y="5202238"/>
                <a:ext cx="3261664"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dirty="0"/>
                  <a:t>An effective intervention package is sought, while minimizing intervention package cost. </a:t>
                </a:r>
              </a:p>
            </p:txBody>
          </p:sp>
        </p:grpSp>
        <p:grpSp>
          <p:nvGrpSpPr>
            <p:cNvPr id="26" name="Group 25">
              <a:extLst>
                <a:ext uri="{FF2B5EF4-FFF2-40B4-BE49-F238E27FC236}">
                  <a16:creationId xmlns:a16="http://schemas.microsoft.com/office/drawing/2014/main" id="{0456F02C-4767-4183-AF93-C17943028FF7}"/>
                </a:ext>
              </a:extLst>
            </p:cNvPr>
            <p:cNvGrpSpPr/>
            <p:nvPr/>
          </p:nvGrpSpPr>
          <p:grpSpPr>
            <a:xfrm>
              <a:off x="6694605" y="5613120"/>
              <a:ext cx="3025466" cy="832045"/>
              <a:chOff x="4222677" y="5202238"/>
              <a:chExt cx="3025466" cy="832045"/>
            </a:xfrm>
          </p:grpSpPr>
          <p:sp>
            <p:nvSpPr>
              <p:cNvPr id="27" name="Rectangle 26">
                <a:extLst>
                  <a:ext uri="{FF2B5EF4-FFF2-40B4-BE49-F238E27FC236}">
                    <a16:creationId xmlns:a16="http://schemas.microsoft.com/office/drawing/2014/main" id="{982119EF-39BB-4DBB-8896-CF5D8E85A0CD}"/>
                  </a:ext>
                </a:extLst>
              </p:cNvPr>
              <p:cNvSpPr/>
              <p:nvPr/>
            </p:nvSpPr>
            <p:spPr>
              <a:xfrm>
                <a:off x="4222677" y="5202238"/>
                <a:ext cx="3025466"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8" name="TextBox 27">
                <a:extLst>
                  <a:ext uri="{FF2B5EF4-FFF2-40B4-BE49-F238E27FC236}">
                    <a16:creationId xmlns:a16="http://schemas.microsoft.com/office/drawing/2014/main" id="{D7E1103C-1D40-4A4C-A4EA-D606A44450FC}"/>
                  </a:ext>
                </a:extLst>
              </p:cNvPr>
              <p:cNvSpPr txBox="1"/>
              <p:nvPr/>
            </p:nvSpPr>
            <p:spPr>
              <a:xfrm>
                <a:off x="4222677" y="5202238"/>
                <a:ext cx="3025466"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488950">
                  <a:lnSpc>
                    <a:spcPct val="100000"/>
                  </a:lnSpc>
                  <a:spcBef>
                    <a:spcPct val="0"/>
                  </a:spcBef>
                  <a:spcAft>
                    <a:spcPct val="35000"/>
                  </a:spcAft>
                  <a:buNone/>
                </a:pPr>
                <a:r>
                  <a:rPr lang="en-US" sz="1100" kern="1200" dirty="0"/>
                  <a:t>Cost of the intervention is minimized and the probability of desired outcome maximized </a:t>
                </a:r>
              </a:p>
            </p:txBody>
          </p:sp>
        </p:grpSp>
      </p:grpSp>
      <p:sp>
        <p:nvSpPr>
          <p:cNvPr id="43" name="Rectangle 42">
            <a:extLst>
              <a:ext uri="{FF2B5EF4-FFF2-40B4-BE49-F238E27FC236}">
                <a16:creationId xmlns:a16="http://schemas.microsoft.com/office/drawing/2014/main" id="{E61296E6-1AE7-45E8-87CB-EE9DFD8BB894}"/>
              </a:ext>
            </a:extLst>
          </p:cNvPr>
          <p:cNvSpPr/>
          <p:nvPr/>
        </p:nvSpPr>
        <p:spPr>
          <a:xfrm>
            <a:off x="0" y="0"/>
            <a:ext cx="4572000" cy="197813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rgbClr val="F2F2F2"/>
                </a:solidFill>
                <a:latin typeface="Arial" panose="020B0604020202020204" pitchFamily="34" charset="0"/>
                <a:cs typeface="Arial" panose="020B0604020202020204" pitchFamily="34" charset="0"/>
              </a:rPr>
              <a:t>Learn As You Go (LAGO) Designs</a:t>
            </a:r>
            <a:endParaRPr lang="en-US" sz="4400" dirty="0">
              <a:solidFill>
                <a:schemeClr val="bg1"/>
              </a:solidFill>
            </a:endParaRPr>
          </a:p>
        </p:txBody>
      </p:sp>
      <p:pic>
        <p:nvPicPr>
          <p:cNvPr id="45" name="Picture 44">
            <a:extLst>
              <a:ext uri="{FF2B5EF4-FFF2-40B4-BE49-F238E27FC236}">
                <a16:creationId xmlns:a16="http://schemas.microsoft.com/office/drawing/2014/main" id="{750F2A53-B5F0-44C0-BA76-4E1AD49BDA0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47" name="TextBox 46">
            <a:extLst>
              <a:ext uri="{FF2B5EF4-FFF2-40B4-BE49-F238E27FC236}">
                <a16:creationId xmlns:a16="http://schemas.microsoft.com/office/drawing/2014/main" id="{5CC6982E-6D4B-4222-A3C2-1DCC16F523A6}"/>
              </a:ext>
            </a:extLst>
          </p:cNvPr>
          <p:cNvSpPr txBox="1"/>
          <p:nvPr/>
        </p:nvSpPr>
        <p:spPr>
          <a:xfrm>
            <a:off x="390525" y="2723694"/>
            <a:ext cx="3790950" cy="2308324"/>
          </a:xfrm>
          <a:prstGeom prst="rect">
            <a:avLst/>
          </a:prstGeom>
          <a:noFill/>
        </p:spPr>
        <p:txBody>
          <a:bodyPr wrap="square">
            <a:spAutoFit/>
          </a:bodyPr>
          <a:lstStyle/>
          <a:p>
            <a:pPr>
              <a:spcAft>
                <a:spcPts val="600"/>
              </a:spcAft>
            </a:pPr>
            <a:r>
              <a:rPr lang="en-US" sz="2400" dirty="0" err="1">
                <a:latin typeface="Arial" panose="020B0604020202020204" pitchFamily="34" charset="0"/>
                <a:cs typeface="Arial" panose="020B0604020202020204" pitchFamily="34" charset="0"/>
              </a:rPr>
              <a:t>Nevo</a:t>
            </a:r>
            <a:r>
              <a:rPr lang="en-US" sz="2400" dirty="0">
                <a:latin typeface="Arial" panose="020B0604020202020204" pitchFamily="34" charset="0"/>
                <a:cs typeface="Arial" panose="020B0604020202020204" pitchFamily="34" charset="0"/>
              </a:rPr>
              <a:t>, D., Lok, J.J., &amp; Spiegelman, D. (2021). Analysis of “learn-as-you-go”(LAGO) studies. The Annals of Statistics, 49(2), 793-819.</a:t>
            </a:r>
          </a:p>
        </p:txBody>
      </p:sp>
    </p:spTree>
    <p:extLst>
      <p:ext uri="{BB962C8B-B14F-4D97-AF65-F5344CB8AC3E}">
        <p14:creationId xmlns:p14="http://schemas.microsoft.com/office/powerpoint/2010/main" val="9714315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E61296E6-1AE7-45E8-87CB-EE9DFD8BB894}"/>
              </a:ext>
            </a:extLst>
          </p:cNvPr>
          <p:cNvSpPr/>
          <p:nvPr/>
        </p:nvSpPr>
        <p:spPr>
          <a:xfrm>
            <a:off x="0" y="0"/>
            <a:ext cx="4572000" cy="197813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2F2F2"/>
                </a:solidFill>
                <a:latin typeface="Arial" panose="020B0604020202020204" pitchFamily="34" charset="0"/>
                <a:cs typeface="Arial" panose="020B0604020202020204" pitchFamily="34" charset="0"/>
              </a:rPr>
              <a:t>Learn As You Go (LAGO) </a:t>
            </a:r>
            <a:r>
              <a:rPr lang="en-US" sz="4000" dirty="0" err="1">
                <a:solidFill>
                  <a:srgbClr val="F2F2F2"/>
                </a:solidFill>
                <a:latin typeface="Arial" panose="020B0604020202020204" pitchFamily="34" charset="0"/>
                <a:cs typeface="Arial" panose="020B0604020202020204" pitchFamily="34" charset="0"/>
              </a:rPr>
              <a:t>BetterBirth</a:t>
            </a:r>
            <a:r>
              <a:rPr lang="en-US" sz="4000" dirty="0">
                <a:solidFill>
                  <a:srgbClr val="F2F2F2"/>
                </a:solidFill>
                <a:latin typeface="Arial" panose="020B0604020202020204" pitchFamily="34" charset="0"/>
                <a:cs typeface="Arial" panose="020B0604020202020204" pitchFamily="34" charset="0"/>
              </a:rPr>
              <a:t> Example</a:t>
            </a:r>
            <a:endParaRPr lang="en-US" sz="2400" dirty="0">
              <a:solidFill>
                <a:schemeClr val="bg1"/>
              </a:solidFill>
            </a:endParaRPr>
          </a:p>
        </p:txBody>
      </p:sp>
      <p:pic>
        <p:nvPicPr>
          <p:cNvPr id="45" name="Picture 44">
            <a:extLst>
              <a:ext uri="{FF2B5EF4-FFF2-40B4-BE49-F238E27FC236}">
                <a16:creationId xmlns:a16="http://schemas.microsoft.com/office/drawing/2014/main" id="{750F2A53-B5F0-44C0-BA76-4E1AD49BD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graphicFrame>
        <p:nvGraphicFramePr>
          <p:cNvPr id="46" name="Content Placeholder 2">
            <a:extLst>
              <a:ext uri="{FF2B5EF4-FFF2-40B4-BE49-F238E27FC236}">
                <a16:creationId xmlns:a16="http://schemas.microsoft.com/office/drawing/2014/main" id="{3941A702-FB93-46D4-BC05-994468C0E816}"/>
              </a:ext>
            </a:extLst>
          </p:cNvPr>
          <p:cNvGraphicFramePr>
            <a:graphicFrameLocks noGrp="1"/>
          </p:cNvGraphicFramePr>
          <p:nvPr>
            <p:ph idx="1"/>
            <p:extLst>
              <p:ext uri="{D42A27DB-BD31-4B8C-83A1-F6EECF244321}">
                <p14:modId xmlns:p14="http://schemas.microsoft.com/office/powerpoint/2010/main" val="2406495699"/>
              </p:ext>
            </p:extLst>
          </p:nvPr>
        </p:nvGraphicFramePr>
        <p:xfrm>
          <a:off x="4591303" y="0"/>
          <a:ext cx="7514972" cy="65597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8" name="TextBox 47">
            <a:extLst>
              <a:ext uri="{FF2B5EF4-FFF2-40B4-BE49-F238E27FC236}">
                <a16:creationId xmlns:a16="http://schemas.microsoft.com/office/drawing/2014/main" id="{D58C2064-7965-46D5-B270-259D1857D0A4}"/>
              </a:ext>
            </a:extLst>
          </p:cNvPr>
          <p:cNvSpPr txBox="1"/>
          <p:nvPr/>
        </p:nvSpPr>
        <p:spPr>
          <a:xfrm>
            <a:off x="66471" y="2411919"/>
            <a:ext cx="4414837" cy="4062651"/>
          </a:xfrm>
          <a:prstGeom prst="rect">
            <a:avLst/>
          </a:prstGeom>
          <a:noFill/>
        </p:spPr>
        <p:txBody>
          <a:bodyPr wrap="square">
            <a:spAutoFit/>
          </a:bodyPr>
          <a:lstStyle/>
          <a:p>
            <a:pPr>
              <a:spcAft>
                <a:spcPts val="600"/>
              </a:spcAft>
            </a:pPr>
            <a:r>
              <a:rPr lang="en-US" sz="1400" dirty="0" err="1">
                <a:latin typeface="Arial" panose="020B0604020202020204" pitchFamily="34" charset="0"/>
                <a:cs typeface="Arial" panose="020B0604020202020204" pitchFamily="34" charset="0"/>
              </a:rPr>
              <a:t>Nevo</a:t>
            </a:r>
            <a:r>
              <a:rPr lang="en-US" sz="1400" dirty="0">
                <a:latin typeface="Arial" panose="020B0604020202020204" pitchFamily="34" charset="0"/>
                <a:cs typeface="Arial" panose="020B0604020202020204" pitchFamily="34" charset="0"/>
              </a:rPr>
              <a:t>, D., Lok, J.J., &amp; Spiegelman, D. (2021). Analysis of “learn-as-you-go”(LAGO) studies. The Annals of Statistics, 49(2), 793-819.</a:t>
            </a:r>
          </a:p>
          <a:p>
            <a:pPr>
              <a:spcAft>
                <a:spcPts val="600"/>
              </a:spcAft>
            </a:pPr>
            <a:endParaRPr lang="en-US" sz="1400" dirty="0">
              <a:latin typeface="Arial" panose="020B0604020202020204" pitchFamily="34" charset="0"/>
              <a:cs typeface="Arial" panose="020B0604020202020204" pitchFamily="34" charset="0"/>
            </a:endParaRPr>
          </a:p>
          <a:p>
            <a:pPr>
              <a:spcAft>
                <a:spcPts val="600"/>
              </a:spcAft>
            </a:pPr>
            <a:r>
              <a:rPr lang="en-US" sz="1400" dirty="0">
                <a:latin typeface="Arial" panose="020B0604020202020204" pitchFamily="34" charset="0"/>
                <a:cs typeface="Arial" panose="020B0604020202020204" pitchFamily="34" charset="0"/>
              </a:rPr>
              <a:t>Ante Bing, Donna Spiegelman, Daniel Nevo, Judith J Lok, Learn-As-you-GO (LAGO) trials: optimizing treatments and preventing trial failure through ongoing learning, Biometrics, Volume 81, Issue 2, June 2025, ujaf061, https://doi.org/10.1093/biomtc/ujaf061</a:t>
            </a:r>
          </a:p>
          <a:p>
            <a:pPr>
              <a:spcAft>
                <a:spcPts val="600"/>
              </a:spcAft>
            </a:pPr>
            <a:endParaRPr lang="en-US" sz="1400" b="0" i="0" dirty="0">
              <a:effectLst/>
              <a:latin typeface="Arial" panose="020B0604020202020204" pitchFamily="34" charset="0"/>
            </a:endParaRPr>
          </a:p>
          <a:p>
            <a:pPr>
              <a:spcAft>
                <a:spcPts val="600"/>
              </a:spcAft>
            </a:pPr>
            <a:r>
              <a:rPr lang="en-US" sz="1400" b="0" i="0" dirty="0">
                <a:effectLst/>
                <a:latin typeface="Arial" panose="020B0604020202020204" pitchFamily="34" charset="0"/>
              </a:rPr>
              <a:t>Hirschhorn, L. R., Semrau, K., </a:t>
            </a:r>
            <a:r>
              <a:rPr lang="en-US" sz="1400" b="0" i="0" dirty="0" err="1">
                <a:effectLst/>
                <a:latin typeface="Arial" panose="020B0604020202020204" pitchFamily="34" charset="0"/>
              </a:rPr>
              <a:t>Kodkany</a:t>
            </a:r>
            <a:r>
              <a:rPr lang="en-US" sz="1400" b="0" i="0" dirty="0">
                <a:effectLst/>
                <a:latin typeface="Arial" panose="020B0604020202020204" pitchFamily="34" charset="0"/>
              </a:rPr>
              <a:t>, B., Churchill, R., Kapoor, A., Spector, J., ... &amp; Gawande, A. (2015). Learning before leaping: integration of an adaptive study design process prior to initiation of </a:t>
            </a:r>
            <a:r>
              <a:rPr lang="en-US" sz="1400" b="0" i="0" dirty="0" err="1">
                <a:effectLst/>
                <a:latin typeface="Arial" panose="020B0604020202020204" pitchFamily="34" charset="0"/>
              </a:rPr>
              <a:t>BetterBirth</a:t>
            </a:r>
            <a:r>
              <a:rPr lang="en-US" sz="1400" b="0" i="0" dirty="0">
                <a:effectLst/>
                <a:latin typeface="Arial" panose="020B0604020202020204" pitchFamily="34" charset="0"/>
              </a:rPr>
              <a:t>, a large-scale randomized controlled trial in Uttar Pradesh, India. Implementation science, 10:117.</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414624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0B0DD0-2BFE-4166-A498-80AB39892C36}"/>
              </a:ext>
            </a:extLst>
          </p:cNvPr>
          <p:cNvSpPr/>
          <p:nvPr/>
        </p:nvSpPr>
        <p:spPr>
          <a:xfrm>
            <a:off x="0" y="0"/>
            <a:ext cx="12192000" cy="104221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Effectiveness-Implementation Hybrid Designs</a:t>
            </a:r>
            <a:endParaRPr lang="en-US" sz="2800" dirty="0">
              <a:solidFill>
                <a:schemeClr val="bg1"/>
              </a:solidFill>
            </a:endParaRP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10" name="TextBox 9">
            <a:extLst>
              <a:ext uri="{FF2B5EF4-FFF2-40B4-BE49-F238E27FC236}">
                <a16:creationId xmlns:a16="http://schemas.microsoft.com/office/drawing/2014/main" id="{6AEEB445-1E2C-4FC8-99B6-C4526398127C}"/>
              </a:ext>
            </a:extLst>
          </p:cNvPr>
          <p:cNvSpPr txBox="1"/>
          <p:nvPr/>
        </p:nvSpPr>
        <p:spPr>
          <a:xfrm>
            <a:off x="669880" y="1362211"/>
            <a:ext cx="10883945" cy="3970318"/>
          </a:xfrm>
          <a:prstGeom prst="rect">
            <a:avLst/>
          </a:prstGeom>
          <a:noFill/>
        </p:spPr>
        <p:txBody>
          <a:bodyPr wrap="square">
            <a:spAutoFit/>
          </a:bodyPr>
          <a:lstStyle/>
          <a:p>
            <a:pPr marL="342900" indent="-342900">
              <a:spcAft>
                <a:spcPts val="2400"/>
              </a:spcAft>
              <a:buFont typeface="Wingdings" panose="05000000000000000000" pitchFamily="2" charset="2"/>
              <a:buChar char="Ø"/>
            </a:pPr>
            <a:r>
              <a:rPr lang="en-US" sz="3200" dirty="0">
                <a:latin typeface="Arial" panose="020B0604020202020204" pitchFamily="34" charset="0"/>
                <a:cs typeface="Arial" panose="020B0604020202020204" pitchFamily="34" charset="0"/>
              </a:rPr>
              <a:t>Dual focus </a:t>
            </a:r>
            <a:r>
              <a:rPr lang="en-US" sz="3200" i="1" dirty="0">
                <a:latin typeface="Arial" panose="020B0604020202020204" pitchFamily="34" charset="0"/>
                <a:cs typeface="Arial" panose="020B0604020202020204" pitchFamily="34" charset="0"/>
              </a:rPr>
              <a:t>a priori </a:t>
            </a:r>
            <a:r>
              <a:rPr lang="en-US" sz="3200" dirty="0">
                <a:latin typeface="Arial" panose="020B0604020202020204" pitchFamily="34" charset="0"/>
                <a:cs typeface="Arial" panose="020B0604020202020204" pitchFamily="34" charset="0"/>
              </a:rPr>
              <a:t>on assessing intervention effectiveness and implementation</a:t>
            </a:r>
          </a:p>
          <a:p>
            <a:pPr marL="342900" indent="-342900">
              <a:spcAft>
                <a:spcPts val="2400"/>
              </a:spcAft>
              <a:buFont typeface="Wingdings" panose="05000000000000000000" pitchFamily="2" charset="2"/>
              <a:buChar char="Ø"/>
            </a:pPr>
            <a:r>
              <a:rPr lang="en-US" sz="3200" dirty="0">
                <a:latin typeface="Arial" panose="020B0604020202020204" pitchFamily="34" charset="0"/>
                <a:cs typeface="Arial" panose="020B0604020202020204" pitchFamily="34" charset="0"/>
              </a:rPr>
              <a:t>Type 1, Type 2, Type 3</a:t>
            </a:r>
          </a:p>
          <a:p>
            <a:pPr marL="342900" indent="-342900">
              <a:spcAft>
                <a:spcPts val="2400"/>
              </a:spcAft>
              <a:buFont typeface="Wingdings" panose="05000000000000000000" pitchFamily="2" charset="2"/>
              <a:buChar char="Ø"/>
            </a:pPr>
            <a:r>
              <a:rPr lang="en-US" sz="3200" dirty="0">
                <a:latin typeface="Arial" panose="020B0604020202020204" pitchFamily="34" charset="0"/>
                <a:cs typeface="Arial" panose="020B0604020202020204" pitchFamily="34" charset="0"/>
              </a:rPr>
              <a:t>Overall goal is to accelerate transition from effectiveness trials to implementation trials</a:t>
            </a:r>
          </a:p>
          <a:p>
            <a:pPr marL="342900" indent="-342900">
              <a:spcAft>
                <a:spcPts val="2400"/>
              </a:spcAft>
              <a:buFont typeface="Wingdings" panose="05000000000000000000" pitchFamily="2" charset="2"/>
              <a:buChar char="Ø"/>
            </a:pPr>
            <a:r>
              <a:rPr lang="en-US" sz="3200" dirty="0">
                <a:latin typeface="Arial" panose="020B0604020202020204" pitchFamily="34" charset="0"/>
                <a:cs typeface="Arial" panose="020B0604020202020204" pitchFamily="34" charset="0"/>
              </a:rPr>
              <a:t>Hybrid designs are unique to implementation research </a:t>
            </a:r>
          </a:p>
        </p:txBody>
      </p:sp>
      <p:sp>
        <p:nvSpPr>
          <p:cNvPr id="11" name="TextBox 10">
            <a:extLst>
              <a:ext uri="{FF2B5EF4-FFF2-40B4-BE49-F238E27FC236}">
                <a16:creationId xmlns:a16="http://schemas.microsoft.com/office/drawing/2014/main" id="{FD93F003-A614-45BA-91B3-2B097ECD098E}"/>
              </a:ext>
            </a:extLst>
          </p:cNvPr>
          <p:cNvSpPr txBox="1"/>
          <p:nvPr/>
        </p:nvSpPr>
        <p:spPr>
          <a:xfrm>
            <a:off x="57150" y="5332529"/>
            <a:ext cx="12072327"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Curran, G.M., Bauer, M., Mittman, B., </a:t>
            </a:r>
            <a:r>
              <a:rPr lang="en-US" sz="1400" dirty="0" err="1">
                <a:latin typeface="Arial" panose="020B0604020202020204" pitchFamily="34" charset="0"/>
                <a:cs typeface="Arial" panose="020B0604020202020204" pitchFamily="34" charset="0"/>
              </a:rPr>
              <a:t>Pyne</a:t>
            </a:r>
            <a:r>
              <a:rPr lang="en-US" sz="1400" dirty="0">
                <a:latin typeface="Arial" panose="020B0604020202020204" pitchFamily="34" charset="0"/>
                <a:cs typeface="Arial" panose="020B0604020202020204" pitchFamily="34" charset="0"/>
              </a:rPr>
              <a:t>, J.M. and </a:t>
            </a:r>
            <a:r>
              <a:rPr lang="en-US" sz="1400" dirty="0" err="1">
                <a:latin typeface="Arial" panose="020B0604020202020204" pitchFamily="34" charset="0"/>
                <a:cs typeface="Arial" panose="020B0604020202020204" pitchFamily="34" charset="0"/>
              </a:rPr>
              <a:t>Stetler</a:t>
            </a:r>
            <a:r>
              <a:rPr lang="en-US" sz="1400" dirty="0">
                <a:latin typeface="Arial" panose="020B0604020202020204" pitchFamily="34" charset="0"/>
                <a:cs typeface="Arial" panose="020B0604020202020204" pitchFamily="34" charset="0"/>
              </a:rPr>
              <a:t>, C., 2012. Effectiveness-implementation hybrid designs: combining elements of clinical effectiveness and implementation research to enhance public health impact. </a:t>
            </a:r>
            <a:r>
              <a:rPr lang="en-US" sz="1400" i="1" dirty="0">
                <a:latin typeface="Arial" panose="020B0604020202020204" pitchFamily="34" charset="0"/>
                <a:cs typeface="Arial" panose="020B0604020202020204" pitchFamily="34" charset="0"/>
              </a:rPr>
              <a:t>Medical care</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50</a:t>
            </a:r>
            <a:r>
              <a:rPr lang="en-US" sz="1400" dirty="0">
                <a:latin typeface="Arial" panose="020B0604020202020204" pitchFamily="34" charset="0"/>
                <a:cs typeface="Arial" panose="020B0604020202020204" pitchFamily="34" charset="0"/>
              </a:rPr>
              <a:t>(3), p.217.</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Owen MA, Curran GM, Smith JD, Tedla Y, Cheng C, Spiegelman D. Power and Sample Size Calculations for Cluster Randomized Hybrid Type 2 Effectiveness-Implementation Studies. Stat Med. 2025 Feb 28;44(5):e70015. </a:t>
            </a:r>
            <a:r>
              <a:rPr lang="en-US" sz="1400" dirty="0" err="1">
                <a:latin typeface="Arial" panose="020B0604020202020204" pitchFamily="34" charset="0"/>
                <a:cs typeface="Arial" panose="020B0604020202020204" pitchFamily="34" charset="0"/>
              </a:rPr>
              <a:t>doi</a:t>
            </a:r>
            <a:r>
              <a:rPr lang="en-US" sz="1400" dirty="0">
                <a:latin typeface="Arial" panose="020B0604020202020204" pitchFamily="34" charset="0"/>
                <a:cs typeface="Arial" panose="020B0604020202020204" pitchFamily="34" charset="0"/>
              </a:rPr>
              <a:t>: 10.1002/sim.70015. PMID: 39930740.</a:t>
            </a:r>
          </a:p>
        </p:txBody>
      </p:sp>
    </p:spTree>
    <p:extLst>
      <p:ext uri="{BB962C8B-B14F-4D97-AF65-F5344CB8AC3E}">
        <p14:creationId xmlns:p14="http://schemas.microsoft.com/office/powerpoint/2010/main" val="50144915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0B0DD0-2BFE-4166-A498-80AB39892C36}"/>
              </a:ext>
            </a:extLst>
          </p:cNvPr>
          <p:cNvSpPr/>
          <p:nvPr/>
        </p:nvSpPr>
        <p:spPr>
          <a:xfrm>
            <a:off x="0" y="0"/>
            <a:ext cx="12192000" cy="104221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4400" dirty="0">
                <a:solidFill>
                  <a:schemeClr val="bg1"/>
                </a:solidFill>
                <a:latin typeface="Arial" panose="020B0604020202020204" pitchFamily="34" charset="0"/>
                <a:cs typeface="Arial" panose="020B0604020202020204" pitchFamily="34" charset="0"/>
              </a:rPr>
              <a:t>Hybrid Designs</a:t>
            </a: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8" name="Rectangle 10">
            <a:extLst>
              <a:ext uri="{FF2B5EF4-FFF2-40B4-BE49-F238E27FC236}">
                <a16:creationId xmlns:a16="http://schemas.microsoft.com/office/drawing/2014/main" id="{9DA5B984-4398-4524-8559-A716CCADCFB5}"/>
              </a:ext>
            </a:extLst>
          </p:cNvPr>
          <p:cNvSpPr>
            <a:spLocks noChangeArrowheads="1"/>
          </p:cNvSpPr>
          <p:nvPr/>
        </p:nvSpPr>
        <p:spPr bwMode="auto">
          <a:xfrm>
            <a:off x="1677490" y="1185446"/>
            <a:ext cx="2072640" cy="1005840"/>
          </a:xfrm>
          <a:prstGeom prst="rect">
            <a:avLst/>
          </a:prstGeom>
          <a:solidFill>
            <a:schemeClr val="accent1">
              <a:lumMod val="40000"/>
              <a:lumOff val="60000"/>
            </a:schemeClr>
          </a:solidFill>
          <a:ln w="9525">
            <a:solidFill>
              <a:schemeClr val="tx1"/>
            </a:solidFill>
            <a:miter lim="800000"/>
            <a:headEnd/>
            <a:tailEnd/>
          </a:ln>
        </p:spPr>
        <p:txBody>
          <a:bodyPr anchor="ctr" anchorCtr="0"/>
          <a:lstStyle/>
          <a:p>
            <a:pPr algn="ctr">
              <a:lnSpc>
                <a:spcPct val="90000"/>
              </a:lnSpc>
              <a:buNone/>
            </a:pPr>
            <a:r>
              <a:rPr lang="en-US" sz="2000" b="1" dirty="0">
                <a:latin typeface="Arial" panose="020B0604020202020204" pitchFamily="34" charset="0"/>
                <a:cs typeface="Arial" panose="020B0604020202020204" pitchFamily="34" charset="0"/>
              </a:rPr>
              <a:t>Clinical</a:t>
            </a:r>
          </a:p>
          <a:p>
            <a:pPr algn="ctr">
              <a:lnSpc>
                <a:spcPct val="90000"/>
              </a:lnSpc>
              <a:buNone/>
            </a:pPr>
            <a:r>
              <a:rPr lang="en-US" sz="2000" b="1" dirty="0">
                <a:latin typeface="Arial" panose="020B0604020202020204" pitchFamily="34" charset="0"/>
                <a:cs typeface="Arial" panose="020B0604020202020204" pitchFamily="34" charset="0"/>
              </a:rPr>
              <a:t>Effectiveness </a:t>
            </a:r>
          </a:p>
          <a:p>
            <a:pPr algn="ctr">
              <a:lnSpc>
                <a:spcPct val="90000"/>
              </a:lnSpc>
              <a:buNone/>
            </a:pPr>
            <a:r>
              <a:rPr lang="en-US" sz="2000" b="1" dirty="0">
                <a:latin typeface="Arial" panose="020B0604020202020204" pitchFamily="34" charset="0"/>
                <a:cs typeface="Arial" panose="020B0604020202020204" pitchFamily="34" charset="0"/>
              </a:rPr>
              <a:t>Research</a:t>
            </a:r>
          </a:p>
        </p:txBody>
      </p:sp>
      <p:sp>
        <p:nvSpPr>
          <p:cNvPr id="9" name="Rectangle 4">
            <a:extLst>
              <a:ext uri="{FF2B5EF4-FFF2-40B4-BE49-F238E27FC236}">
                <a16:creationId xmlns:a16="http://schemas.microsoft.com/office/drawing/2014/main" id="{085BCE4D-1297-4B43-82EF-77768CE086D8}"/>
              </a:ext>
            </a:extLst>
          </p:cNvPr>
          <p:cNvSpPr>
            <a:spLocks noChangeArrowheads="1"/>
          </p:cNvSpPr>
          <p:nvPr/>
        </p:nvSpPr>
        <p:spPr bwMode="auto">
          <a:xfrm>
            <a:off x="8002090" y="1185446"/>
            <a:ext cx="2072640" cy="1005840"/>
          </a:xfrm>
          <a:prstGeom prst="rect">
            <a:avLst/>
          </a:prstGeom>
          <a:solidFill>
            <a:schemeClr val="accent1">
              <a:lumMod val="40000"/>
              <a:lumOff val="60000"/>
            </a:schemeClr>
          </a:solidFill>
          <a:ln w="9525">
            <a:solidFill>
              <a:srgbClr val="000000"/>
            </a:solidFill>
            <a:miter lim="800000"/>
            <a:headEnd/>
            <a:tailEnd/>
          </a:ln>
        </p:spPr>
        <p:txBody>
          <a:bodyPr anchor="ctr" anchorCtr="0"/>
          <a:lstStyle/>
          <a:p>
            <a:pPr algn="ctr">
              <a:lnSpc>
                <a:spcPct val="90000"/>
              </a:lnSpc>
              <a:buNone/>
            </a:pPr>
            <a:r>
              <a:rPr lang="en-US" sz="2000" b="1" dirty="0">
                <a:latin typeface="Arial" panose="020B0604020202020204" pitchFamily="34" charset="0"/>
                <a:cs typeface="Arial" panose="020B0604020202020204" pitchFamily="34" charset="0"/>
              </a:rPr>
              <a:t>Implementation </a:t>
            </a:r>
          </a:p>
          <a:p>
            <a:pPr algn="ctr">
              <a:lnSpc>
                <a:spcPct val="90000"/>
              </a:lnSpc>
              <a:buNone/>
            </a:pPr>
            <a:r>
              <a:rPr lang="en-US" sz="2000" b="1" dirty="0">
                <a:latin typeface="Arial" panose="020B0604020202020204" pitchFamily="34" charset="0"/>
                <a:cs typeface="Arial" panose="020B0604020202020204" pitchFamily="34" charset="0"/>
              </a:rPr>
              <a:t>Research</a:t>
            </a:r>
          </a:p>
        </p:txBody>
      </p:sp>
      <p:sp>
        <p:nvSpPr>
          <p:cNvPr id="12" name="Rectangle 17">
            <a:extLst>
              <a:ext uri="{FF2B5EF4-FFF2-40B4-BE49-F238E27FC236}">
                <a16:creationId xmlns:a16="http://schemas.microsoft.com/office/drawing/2014/main" id="{49416113-1C3E-4D84-83D5-C62E14778D45}"/>
              </a:ext>
            </a:extLst>
          </p:cNvPr>
          <p:cNvSpPr>
            <a:spLocks noChangeArrowheads="1"/>
          </p:cNvSpPr>
          <p:nvPr/>
        </p:nvSpPr>
        <p:spPr bwMode="auto">
          <a:xfrm>
            <a:off x="1140728" y="3459478"/>
            <a:ext cx="1554480" cy="822960"/>
          </a:xfrm>
          <a:prstGeom prst="rect">
            <a:avLst/>
          </a:prstGeom>
          <a:solidFill>
            <a:schemeClr val="accent1">
              <a:lumMod val="40000"/>
              <a:lumOff val="60000"/>
            </a:schemeClr>
          </a:solidFill>
          <a:ln w="9525">
            <a:solidFill>
              <a:srgbClr val="000000"/>
            </a:solidFill>
            <a:miter lim="800000"/>
            <a:headEnd/>
            <a:tailEnd/>
          </a:ln>
          <a:effectLst>
            <a:outerShdw dist="28398" dir="1593903" algn="ctr" rotWithShape="0">
              <a:srgbClr val="808080"/>
            </a:outerShdw>
          </a:effectLst>
        </p:spPr>
        <p:txBody>
          <a:bodyPr/>
          <a:lstStyle/>
          <a:p>
            <a:pPr algn="ctr">
              <a:lnSpc>
                <a:spcPct val="120000"/>
              </a:lnSpc>
              <a:buNone/>
              <a:defRPr/>
            </a:pPr>
            <a:r>
              <a:rPr lang="en-US" sz="1800" b="1" dirty="0">
                <a:latin typeface="Arial" panose="020B0604020202020204" pitchFamily="34" charset="0"/>
                <a:cs typeface="Arial" panose="020B0604020202020204" pitchFamily="34" charset="0"/>
              </a:rPr>
              <a:t>Hybrid </a:t>
            </a:r>
          </a:p>
          <a:p>
            <a:pPr algn="ctr">
              <a:lnSpc>
                <a:spcPct val="120000"/>
              </a:lnSpc>
              <a:buNone/>
              <a:defRPr/>
            </a:pPr>
            <a:r>
              <a:rPr lang="en-US" sz="1800" b="1" dirty="0">
                <a:latin typeface="Arial" panose="020B0604020202020204" pitchFamily="34" charset="0"/>
                <a:cs typeface="Arial" panose="020B0604020202020204" pitchFamily="34" charset="0"/>
              </a:rPr>
              <a:t>Type I</a:t>
            </a:r>
            <a:endParaRPr lang="en-US" sz="1800" dirty="0">
              <a:latin typeface="Arial" panose="020B0604020202020204" pitchFamily="34" charset="0"/>
              <a:cs typeface="Arial" panose="020B0604020202020204" pitchFamily="34" charset="0"/>
            </a:endParaRPr>
          </a:p>
        </p:txBody>
      </p:sp>
      <p:sp>
        <p:nvSpPr>
          <p:cNvPr id="13" name="AutoShape 21">
            <a:extLst>
              <a:ext uri="{FF2B5EF4-FFF2-40B4-BE49-F238E27FC236}">
                <a16:creationId xmlns:a16="http://schemas.microsoft.com/office/drawing/2014/main" id="{4B5379F6-BA75-491A-9C8B-ADEC1DBF2D74}"/>
              </a:ext>
            </a:extLst>
          </p:cNvPr>
          <p:cNvSpPr>
            <a:spLocks noChangeArrowheads="1"/>
          </p:cNvSpPr>
          <p:nvPr/>
        </p:nvSpPr>
        <p:spPr bwMode="auto">
          <a:xfrm>
            <a:off x="1140728" y="1718846"/>
            <a:ext cx="9502586" cy="1710153"/>
          </a:xfrm>
          <a:prstGeom prst="triangle">
            <a:avLst>
              <a:gd name="adj" fmla="val 48657"/>
            </a:avLst>
          </a:prstGeom>
          <a:solidFill>
            <a:schemeClr val="accent1">
              <a:lumMod val="40000"/>
              <a:lumOff val="60000"/>
              <a:alpha val="45882"/>
            </a:schemeClr>
          </a:solidFill>
          <a:ln w="12700">
            <a:solidFill>
              <a:srgbClr val="020715"/>
            </a:solidFill>
            <a:miter lim="800000"/>
            <a:headEnd/>
            <a:tailEnd/>
          </a:ln>
        </p:spPr>
        <p:txBody>
          <a:bodyPr wrap="none" anchor="ctr"/>
          <a:lstStyle/>
          <a:p>
            <a:pPr>
              <a:buNone/>
            </a:pPr>
            <a:endParaRPr lang="en-US" dirty="0">
              <a:latin typeface="Arial" panose="020B0604020202020204" pitchFamily="34" charset="0"/>
              <a:cs typeface="Arial" panose="020B0604020202020204" pitchFamily="34" charset="0"/>
            </a:endParaRPr>
          </a:p>
        </p:txBody>
      </p:sp>
      <p:sp>
        <p:nvSpPr>
          <p:cNvPr id="14" name="Rectangle 17">
            <a:extLst>
              <a:ext uri="{FF2B5EF4-FFF2-40B4-BE49-F238E27FC236}">
                <a16:creationId xmlns:a16="http://schemas.microsoft.com/office/drawing/2014/main" id="{47C08843-8E20-4D4C-BD3C-1DB58D79D6FE}"/>
              </a:ext>
            </a:extLst>
          </p:cNvPr>
          <p:cNvSpPr>
            <a:spLocks noChangeArrowheads="1"/>
          </p:cNvSpPr>
          <p:nvPr/>
        </p:nvSpPr>
        <p:spPr bwMode="auto">
          <a:xfrm>
            <a:off x="5114781" y="3463824"/>
            <a:ext cx="1554480" cy="822960"/>
          </a:xfrm>
          <a:prstGeom prst="rect">
            <a:avLst/>
          </a:prstGeom>
          <a:solidFill>
            <a:schemeClr val="accent1">
              <a:lumMod val="40000"/>
              <a:lumOff val="60000"/>
            </a:schemeClr>
          </a:solidFill>
          <a:ln w="9525">
            <a:solidFill>
              <a:srgbClr val="000000"/>
            </a:solidFill>
            <a:miter lim="800000"/>
            <a:headEnd/>
            <a:tailEnd/>
          </a:ln>
          <a:effectLst>
            <a:outerShdw dist="28398" dir="1593903" algn="ctr" rotWithShape="0">
              <a:srgbClr val="808080"/>
            </a:outerShdw>
          </a:effectLst>
        </p:spPr>
        <p:txBody>
          <a:bodyPr/>
          <a:lstStyle/>
          <a:p>
            <a:pPr algn="ctr">
              <a:lnSpc>
                <a:spcPct val="120000"/>
              </a:lnSpc>
              <a:buNone/>
              <a:defRPr/>
            </a:pPr>
            <a:r>
              <a:rPr lang="en-US" sz="1800" b="1" dirty="0">
                <a:latin typeface="Arial" panose="020B0604020202020204" pitchFamily="34" charset="0"/>
                <a:cs typeface="Arial" panose="020B0604020202020204" pitchFamily="34" charset="0"/>
              </a:rPr>
              <a:t>Hybrid </a:t>
            </a:r>
          </a:p>
          <a:p>
            <a:pPr algn="ctr">
              <a:lnSpc>
                <a:spcPct val="120000"/>
              </a:lnSpc>
              <a:buNone/>
              <a:defRPr/>
            </a:pPr>
            <a:r>
              <a:rPr lang="en-US" sz="1800" b="1" dirty="0">
                <a:latin typeface="Arial" panose="020B0604020202020204" pitchFamily="34" charset="0"/>
                <a:cs typeface="Arial" panose="020B0604020202020204" pitchFamily="34" charset="0"/>
              </a:rPr>
              <a:t>Type II</a:t>
            </a:r>
            <a:endParaRPr lang="en-US" sz="1800" dirty="0">
              <a:latin typeface="Arial" panose="020B0604020202020204" pitchFamily="34" charset="0"/>
              <a:cs typeface="Arial" panose="020B0604020202020204" pitchFamily="34" charset="0"/>
            </a:endParaRPr>
          </a:p>
        </p:txBody>
      </p:sp>
      <p:sp>
        <p:nvSpPr>
          <p:cNvPr id="15" name="Rectangle 17">
            <a:extLst>
              <a:ext uri="{FF2B5EF4-FFF2-40B4-BE49-F238E27FC236}">
                <a16:creationId xmlns:a16="http://schemas.microsoft.com/office/drawing/2014/main" id="{AF30007F-0CF6-4706-920B-AEA20BD20B78}"/>
              </a:ext>
            </a:extLst>
          </p:cNvPr>
          <p:cNvSpPr>
            <a:spLocks noChangeArrowheads="1"/>
          </p:cNvSpPr>
          <p:nvPr/>
        </p:nvSpPr>
        <p:spPr bwMode="auto">
          <a:xfrm>
            <a:off x="9038410" y="3450304"/>
            <a:ext cx="1554480" cy="822960"/>
          </a:xfrm>
          <a:prstGeom prst="rect">
            <a:avLst/>
          </a:prstGeom>
          <a:solidFill>
            <a:schemeClr val="accent1">
              <a:lumMod val="40000"/>
              <a:lumOff val="60000"/>
            </a:schemeClr>
          </a:solidFill>
          <a:ln w="9525">
            <a:solidFill>
              <a:srgbClr val="000000"/>
            </a:solidFill>
            <a:miter lim="800000"/>
            <a:headEnd/>
            <a:tailEnd/>
          </a:ln>
          <a:effectLst>
            <a:outerShdw dist="28398" dir="1593903" algn="ctr" rotWithShape="0">
              <a:srgbClr val="808080"/>
            </a:outerShdw>
          </a:effectLst>
        </p:spPr>
        <p:txBody>
          <a:bodyPr/>
          <a:lstStyle/>
          <a:p>
            <a:pPr algn="ctr">
              <a:lnSpc>
                <a:spcPct val="120000"/>
              </a:lnSpc>
              <a:buNone/>
              <a:defRPr/>
            </a:pPr>
            <a:r>
              <a:rPr lang="en-US" sz="1800" b="1" dirty="0">
                <a:latin typeface="Arial" panose="020B0604020202020204" pitchFamily="34" charset="0"/>
                <a:cs typeface="Arial" panose="020B0604020202020204" pitchFamily="34" charset="0"/>
              </a:rPr>
              <a:t>Hybrid </a:t>
            </a:r>
          </a:p>
          <a:p>
            <a:pPr algn="ctr">
              <a:lnSpc>
                <a:spcPct val="120000"/>
              </a:lnSpc>
              <a:buNone/>
              <a:defRPr/>
            </a:pPr>
            <a:r>
              <a:rPr lang="en-US" sz="1800" b="1" dirty="0">
                <a:latin typeface="Arial" panose="020B0604020202020204" pitchFamily="34" charset="0"/>
                <a:cs typeface="Arial" panose="020B0604020202020204" pitchFamily="34" charset="0"/>
              </a:rPr>
              <a:t>Type III</a:t>
            </a:r>
            <a:endParaRPr lang="en-US" sz="1800" dirty="0">
              <a:latin typeface="Arial" panose="020B0604020202020204" pitchFamily="34" charset="0"/>
              <a:cs typeface="Arial" panose="020B0604020202020204" pitchFamily="34" charset="0"/>
            </a:endParaRPr>
          </a:p>
        </p:txBody>
      </p:sp>
      <p:sp>
        <p:nvSpPr>
          <p:cNvPr id="16" name="Rectangle 22">
            <a:extLst>
              <a:ext uri="{FF2B5EF4-FFF2-40B4-BE49-F238E27FC236}">
                <a16:creationId xmlns:a16="http://schemas.microsoft.com/office/drawing/2014/main" id="{A2022637-6E40-409B-B2BD-6F28D829ED1E}"/>
              </a:ext>
            </a:extLst>
          </p:cNvPr>
          <p:cNvSpPr>
            <a:spLocks noChangeArrowheads="1"/>
          </p:cNvSpPr>
          <p:nvPr/>
        </p:nvSpPr>
        <p:spPr bwMode="auto">
          <a:xfrm>
            <a:off x="669880" y="4313480"/>
            <a:ext cx="2560320" cy="1645920"/>
          </a:xfrm>
          <a:prstGeom prst="rect">
            <a:avLst/>
          </a:prstGeom>
          <a:noFill/>
          <a:ln w="9525">
            <a:noFill/>
            <a:miter lim="800000"/>
            <a:headEnd/>
            <a:tailEnd/>
          </a:ln>
        </p:spPr>
        <p:txBody>
          <a:bodyPr wrap="square">
            <a:normAutofit lnSpcReduction="10000"/>
          </a:bodyPr>
          <a:lstStyle/>
          <a:p>
            <a:pPr algn="ctr">
              <a:buNone/>
            </a:pPr>
            <a:r>
              <a:rPr lang="en-US" sz="1800" b="1" dirty="0">
                <a:latin typeface="Arial" panose="020B0604020202020204" pitchFamily="34" charset="0"/>
                <a:cs typeface="Arial" panose="020B0604020202020204" pitchFamily="34" charset="0"/>
              </a:rPr>
              <a:t>Test clinical intervention</a:t>
            </a:r>
            <a:r>
              <a:rPr lang="en-US" sz="1800" dirty="0">
                <a:latin typeface="Arial" panose="020B0604020202020204" pitchFamily="34" charset="0"/>
                <a:cs typeface="Arial" panose="020B0604020202020204" pitchFamily="34" charset="0"/>
              </a:rPr>
              <a:t> </a:t>
            </a:r>
          </a:p>
          <a:p>
            <a:pPr algn="ctr">
              <a:buNone/>
            </a:pPr>
            <a:endParaRPr lang="en-US" sz="1800" i="1" dirty="0">
              <a:latin typeface="Arial" panose="020B0604020202020204" pitchFamily="34" charset="0"/>
              <a:cs typeface="Arial" panose="020B0604020202020204" pitchFamily="34" charset="0"/>
            </a:endParaRPr>
          </a:p>
          <a:p>
            <a:pPr algn="ctr">
              <a:buNone/>
            </a:pPr>
            <a:r>
              <a:rPr lang="en-US" sz="1800" i="1" dirty="0">
                <a:latin typeface="Arial" panose="020B0604020202020204" pitchFamily="34" charset="0"/>
                <a:cs typeface="Arial" panose="020B0604020202020204" pitchFamily="34" charset="0"/>
              </a:rPr>
              <a:t>observe/gather information on implementation</a:t>
            </a:r>
          </a:p>
        </p:txBody>
      </p:sp>
      <p:sp>
        <p:nvSpPr>
          <p:cNvPr id="17" name="Rectangle 23">
            <a:extLst>
              <a:ext uri="{FF2B5EF4-FFF2-40B4-BE49-F238E27FC236}">
                <a16:creationId xmlns:a16="http://schemas.microsoft.com/office/drawing/2014/main" id="{50161E21-2147-48C8-A051-63B6EC88BBB7}"/>
              </a:ext>
            </a:extLst>
          </p:cNvPr>
          <p:cNvSpPr>
            <a:spLocks noChangeArrowheads="1"/>
          </p:cNvSpPr>
          <p:nvPr/>
        </p:nvSpPr>
        <p:spPr bwMode="auto">
          <a:xfrm>
            <a:off x="4622665" y="4346674"/>
            <a:ext cx="2560320" cy="1645920"/>
          </a:xfrm>
          <a:prstGeom prst="rect">
            <a:avLst/>
          </a:prstGeom>
          <a:noFill/>
          <a:ln w="9525">
            <a:noFill/>
            <a:miter lim="800000"/>
            <a:headEnd/>
            <a:tailEnd/>
          </a:ln>
        </p:spPr>
        <p:txBody>
          <a:bodyPr wrap="square">
            <a:normAutofit/>
          </a:bodyPr>
          <a:lstStyle/>
          <a:p>
            <a:pPr algn="ctr">
              <a:buNone/>
            </a:pPr>
            <a:r>
              <a:rPr lang="en-US" sz="1800" b="1" dirty="0">
                <a:latin typeface="Arial" panose="020B0604020202020204" pitchFamily="34" charset="0"/>
                <a:cs typeface="Arial" panose="020B0604020202020204" pitchFamily="34" charset="0"/>
              </a:rPr>
              <a:t>Test clinical effectiveness</a:t>
            </a:r>
          </a:p>
          <a:p>
            <a:pPr algn="ctr">
              <a:buNone/>
            </a:pPr>
            <a:endParaRPr lang="en-US" sz="1800" b="1" dirty="0">
              <a:latin typeface="Arial" panose="020B0604020202020204" pitchFamily="34" charset="0"/>
              <a:cs typeface="Arial" panose="020B0604020202020204" pitchFamily="34" charset="0"/>
            </a:endParaRPr>
          </a:p>
          <a:p>
            <a:pPr algn="ctr">
              <a:buNone/>
            </a:pPr>
            <a:r>
              <a:rPr lang="en-US" sz="1800" b="1" dirty="0">
                <a:latin typeface="Arial" panose="020B0604020202020204" pitchFamily="34" charset="0"/>
                <a:cs typeface="Arial" panose="020B0604020202020204" pitchFamily="34" charset="0"/>
              </a:rPr>
              <a:t>Test implementation strategy</a:t>
            </a:r>
          </a:p>
        </p:txBody>
      </p:sp>
      <p:sp>
        <p:nvSpPr>
          <p:cNvPr id="18" name="Rectangle 24">
            <a:extLst>
              <a:ext uri="{FF2B5EF4-FFF2-40B4-BE49-F238E27FC236}">
                <a16:creationId xmlns:a16="http://schemas.microsoft.com/office/drawing/2014/main" id="{09046D8D-ECFD-4ED4-9E33-E8F0A20DA25E}"/>
              </a:ext>
            </a:extLst>
          </p:cNvPr>
          <p:cNvSpPr>
            <a:spLocks noChangeArrowheads="1"/>
          </p:cNvSpPr>
          <p:nvPr/>
        </p:nvSpPr>
        <p:spPr bwMode="auto">
          <a:xfrm>
            <a:off x="8535490" y="4313480"/>
            <a:ext cx="2560320" cy="1645920"/>
          </a:xfrm>
          <a:prstGeom prst="rect">
            <a:avLst/>
          </a:prstGeom>
          <a:noFill/>
          <a:ln w="9525">
            <a:noFill/>
            <a:miter lim="800000"/>
            <a:headEnd/>
            <a:tailEnd/>
          </a:ln>
        </p:spPr>
        <p:txBody>
          <a:bodyPr wrap="square">
            <a:normAutofit lnSpcReduction="10000"/>
          </a:bodyPr>
          <a:lstStyle/>
          <a:p>
            <a:pPr algn="ctr">
              <a:buNone/>
            </a:pPr>
            <a:r>
              <a:rPr lang="en-US" sz="1800" b="1" dirty="0">
                <a:latin typeface="Arial" panose="020B0604020202020204" pitchFamily="34" charset="0"/>
                <a:cs typeface="Arial" panose="020B0604020202020204" pitchFamily="34" charset="0"/>
              </a:rPr>
              <a:t>Test implementation strategy</a:t>
            </a:r>
            <a:endParaRPr lang="en-US" sz="1800" dirty="0">
              <a:latin typeface="Arial" panose="020B0604020202020204" pitchFamily="34" charset="0"/>
              <a:cs typeface="Arial" panose="020B0604020202020204" pitchFamily="34" charset="0"/>
            </a:endParaRPr>
          </a:p>
          <a:p>
            <a:pPr algn="ctr">
              <a:buNone/>
            </a:pPr>
            <a:endParaRPr lang="en-US" sz="1800" i="1" dirty="0">
              <a:latin typeface="Arial" panose="020B0604020202020204" pitchFamily="34" charset="0"/>
              <a:cs typeface="Arial" panose="020B0604020202020204" pitchFamily="34" charset="0"/>
            </a:endParaRPr>
          </a:p>
          <a:p>
            <a:pPr algn="ctr">
              <a:buNone/>
            </a:pPr>
            <a:r>
              <a:rPr lang="en-US" sz="1800" i="1" dirty="0">
                <a:latin typeface="Arial" panose="020B0604020202020204" pitchFamily="34" charset="0"/>
                <a:cs typeface="Arial" panose="020B0604020202020204" pitchFamily="34" charset="0"/>
              </a:rPr>
              <a:t>observe/gather information on clinical outcomes</a:t>
            </a:r>
          </a:p>
        </p:txBody>
      </p:sp>
      <p:cxnSp>
        <p:nvCxnSpPr>
          <p:cNvPr id="19" name="Straight Arrow Connector 15">
            <a:extLst>
              <a:ext uri="{FF2B5EF4-FFF2-40B4-BE49-F238E27FC236}">
                <a16:creationId xmlns:a16="http://schemas.microsoft.com/office/drawing/2014/main" id="{CB0CD976-AA51-44C1-A7CE-9491E91393BF}"/>
              </a:ext>
            </a:extLst>
          </p:cNvPr>
          <p:cNvCxnSpPr>
            <a:cxnSpLocks noChangeShapeType="1"/>
            <a:stCxn id="8" idx="3"/>
            <a:endCxn id="9" idx="1"/>
          </p:cNvCxnSpPr>
          <p:nvPr/>
        </p:nvCxnSpPr>
        <p:spPr bwMode="auto">
          <a:xfrm>
            <a:off x="3750130" y="1688366"/>
            <a:ext cx="4251960" cy="0"/>
          </a:xfrm>
          <a:prstGeom prst="straightConnector1">
            <a:avLst/>
          </a:prstGeom>
          <a:noFill/>
          <a:ln w="66675" cmpd="dbl">
            <a:solidFill>
              <a:schemeClr val="tx1"/>
            </a:solidFill>
            <a:round/>
            <a:headEnd/>
            <a:tailEnd type="none" w="med" len="med"/>
          </a:ln>
        </p:spPr>
      </p:cxnSp>
      <p:sp>
        <p:nvSpPr>
          <p:cNvPr id="31" name="TextBox 14">
            <a:extLst>
              <a:ext uri="{FF2B5EF4-FFF2-40B4-BE49-F238E27FC236}">
                <a16:creationId xmlns:a16="http://schemas.microsoft.com/office/drawing/2014/main" id="{2D78A99E-D65E-4458-A0C3-F4ADA1C91BD0}"/>
              </a:ext>
            </a:extLst>
          </p:cNvPr>
          <p:cNvSpPr txBox="1">
            <a:spLocks noChangeArrowheads="1"/>
          </p:cNvSpPr>
          <p:nvPr/>
        </p:nvSpPr>
        <p:spPr bwMode="auto">
          <a:xfrm>
            <a:off x="242894" y="6019290"/>
            <a:ext cx="11706211" cy="523220"/>
          </a:xfrm>
          <a:prstGeom prst="rect">
            <a:avLst/>
          </a:prstGeom>
          <a:noFill/>
          <a:ln w="9525">
            <a:noFill/>
            <a:miter lim="800000"/>
            <a:headEnd/>
            <a:tailEnd/>
          </a:ln>
        </p:spPr>
        <p:txBody>
          <a:bodyPr wrap="square">
            <a:spAutoFit/>
          </a:bodyPr>
          <a:lstStyle/>
          <a:p>
            <a:pPr>
              <a:buNone/>
            </a:pPr>
            <a:r>
              <a:rPr lang="en-US" sz="1400" dirty="0">
                <a:latin typeface="Arial" panose="020B0604020202020204" pitchFamily="34" charset="0"/>
                <a:cs typeface="Arial" panose="020B0604020202020204" pitchFamily="34" charset="0"/>
              </a:rPr>
              <a:t>Adapted from Curran, G. M., Bauer, M., </a:t>
            </a:r>
            <a:r>
              <a:rPr lang="en-US" sz="1400" dirty="0" err="1">
                <a:latin typeface="Arial" panose="020B0604020202020204" pitchFamily="34" charset="0"/>
                <a:cs typeface="Arial" panose="020B0604020202020204" pitchFamily="34" charset="0"/>
              </a:rPr>
              <a:t>Mittman</a:t>
            </a:r>
            <a:r>
              <a:rPr lang="en-US" sz="1400" dirty="0">
                <a:latin typeface="Arial" panose="020B0604020202020204" pitchFamily="34" charset="0"/>
                <a:cs typeface="Arial" panose="020B0604020202020204" pitchFamily="34" charset="0"/>
              </a:rPr>
              <a:t>, B., </a:t>
            </a:r>
            <a:r>
              <a:rPr lang="en-US" sz="1400" dirty="0" err="1">
                <a:latin typeface="Arial" panose="020B0604020202020204" pitchFamily="34" charset="0"/>
                <a:cs typeface="Arial" panose="020B0604020202020204" pitchFamily="34" charset="0"/>
              </a:rPr>
              <a:t>Pyne</a:t>
            </a:r>
            <a:r>
              <a:rPr lang="en-US" sz="1400" dirty="0">
                <a:latin typeface="Arial" panose="020B0604020202020204" pitchFamily="34" charset="0"/>
                <a:cs typeface="Arial" panose="020B0604020202020204" pitchFamily="34" charset="0"/>
              </a:rPr>
              <a:t>, J. M., &amp; </a:t>
            </a:r>
            <a:r>
              <a:rPr lang="en-US" sz="1400" dirty="0" err="1">
                <a:latin typeface="Arial" panose="020B0604020202020204" pitchFamily="34" charset="0"/>
                <a:cs typeface="Arial" panose="020B0604020202020204" pitchFamily="34" charset="0"/>
              </a:rPr>
              <a:t>Stetler</a:t>
            </a:r>
            <a:r>
              <a:rPr lang="en-US" sz="1400" dirty="0">
                <a:latin typeface="Arial" panose="020B0604020202020204" pitchFamily="34" charset="0"/>
                <a:cs typeface="Arial" panose="020B0604020202020204" pitchFamily="34" charset="0"/>
              </a:rPr>
              <a:t>, C. (2012). Effectiveness-implementation hybrid designs: combining elements of clinical effectiveness and implementation research to enhance public health impact. </a:t>
            </a:r>
            <a:r>
              <a:rPr lang="en-US" sz="1400" i="1" dirty="0">
                <a:latin typeface="Arial" panose="020B0604020202020204" pitchFamily="34" charset="0"/>
                <a:cs typeface="Arial" panose="020B0604020202020204" pitchFamily="34" charset="0"/>
              </a:rPr>
              <a:t>Medical care</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50</a:t>
            </a:r>
            <a:r>
              <a:rPr lang="en-US" sz="1400" dirty="0">
                <a:latin typeface="Arial" panose="020B0604020202020204" pitchFamily="34" charset="0"/>
                <a:cs typeface="Arial" panose="020B0604020202020204" pitchFamily="34" charset="0"/>
              </a:rPr>
              <a:t>(3), 217.  </a:t>
            </a:r>
          </a:p>
        </p:txBody>
      </p:sp>
    </p:spTree>
    <p:extLst>
      <p:ext uri="{BB962C8B-B14F-4D97-AF65-F5344CB8AC3E}">
        <p14:creationId xmlns:p14="http://schemas.microsoft.com/office/powerpoint/2010/main" val="198224718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FCC11B-99F9-4F44-B655-996AAD9CF922}"/>
              </a:ext>
            </a:extLst>
          </p:cNvPr>
          <p:cNvSpPr/>
          <p:nvPr/>
        </p:nvSpPr>
        <p:spPr>
          <a:xfrm>
            <a:off x="0" y="0"/>
            <a:ext cx="12192000" cy="92569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Observational Study Designs</a:t>
            </a:r>
          </a:p>
        </p:txBody>
      </p:sp>
      <p:pic>
        <p:nvPicPr>
          <p:cNvPr id="7" name="Picture 6">
            <a:extLst>
              <a:ext uri="{FF2B5EF4-FFF2-40B4-BE49-F238E27FC236}">
                <a16:creationId xmlns:a16="http://schemas.microsoft.com/office/drawing/2014/main" id="{4A1DE95A-2601-4330-8221-269A92A1CA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6" name="TextBox 5">
            <a:extLst>
              <a:ext uri="{FF2B5EF4-FFF2-40B4-BE49-F238E27FC236}">
                <a16:creationId xmlns:a16="http://schemas.microsoft.com/office/drawing/2014/main" id="{31BC30F3-C403-4D23-A9D5-951BC8EE7BF8}"/>
              </a:ext>
            </a:extLst>
          </p:cNvPr>
          <p:cNvSpPr txBox="1"/>
          <p:nvPr/>
        </p:nvSpPr>
        <p:spPr>
          <a:xfrm>
            <a:off x="275302" y="1293366"/>
            <a:ext cx="11651226" cy="3046988"/>
          </a:xfrm>
          <a:prstGeom prst="rect">
            <a:avLst/>
          </a:prstGeom>
          <a:noFill/>
        </p:spPr>
        <p:txBody>
          <a:bodyPr wrap="square">
            <a:spAutoFit/>
          </a:bodyPr>
          <a:lstStyle/>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Studying or assessing phenomena as they occur naturally</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Policy initiatives can rarely be randomized</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Cohort study, e.g. from </a:t>
            </a:r>
            <a:r>
              <a:rPr lang="en-US" sz="3200" b="1" dirty="0">
                <a:latin typeface="Arial" panose="020B0604020202020204" pitchFamily="34" charset="0"/>
                <a:cs typeface="Arial" panose="020B0604020202020204" pitchFamily="34" charset="0"/>
              </a:rPr>
              <a:t>electronic health records</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Cross-sectional study, e.g. from </a:t>
            </a:r>
            <a:r>
              <a:rPr lang="en-US" sz="3200" b="1" dirty="0">
                <a:latin typeface="Arial" panose="020B0604020202020204" pitchFamily="34" charset="0"/>
                <a:cs typeface="Arial" panose="020B0604020202020204" pitchFamily="34" charset="0"/>
              </a:rPr>
              <a:t>electronic health records</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Two-stage designs, e.g. from </a:t>
            </a:r>
            <a:r>
              <a:rPr lang="en-US" sz="3200" b="1" dirty="0">
                <a:latin typeface="Arial" panose="020B0604020202020204" pitchFamily="34" charset="0"/>
                <a:cs typeface="Arial" panose="020B0604020202020204" pitchFamily="34" charset="0"/>
              </a:rPr>
              <a:t>electronic health records </a:t>
            </a:r>
            <a:r>
              <a:rPr lang="en-US" sz="3200" dirty="0">
                <a:latin typeface="Arial" panose="020B0604020202020204" pitchFamily="34" charset="0"/>
                <a:cs typeface="Arial" panose="020B0604020202020204" pitchFamily="34" charset="0"/>
              </a:rPr>
              <a:t>enhanced with sub-samples of more detailed data</a:t>
            </a:r>
          </a:p>
        </p:txBody>
      </p:sp>
      <p:sp>
        <p:nvSpPr>
          <p:cNvPr id="8" name="TextBox 7">
            <a:extLst>
              <a:ext uri="{FF2B5EF4-FFF2-40B4-BE49-F238E27FC236}">
                <a16:creationId xmlns:a16="http://schemas.microsoft.com/office/drawing/2014/main" id="{B675EE72-77C6-4E43-BF26-962E0C083C6A}"/>
              </a:ext>
            </a:extLst>
          </p:cNvPr>
          <p:cNvSpPr txBox="1"/>
          <p:nvPr/>
        </p:nvSpPr>
        <p:spPr>
          <a:xfrm>
            <a:off x="275302" y="4287361"/>
            <a:ext cx="11651226" cy="203132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Harrison, M. B., Graham, I. D., Van Den Hoek, J., </a:t>
            </a:r>
            <a:r>
              <a:rPr lang="en-US" sz="1400" dirty="0" err="1">
                <a:latin typeface="Arial" panose="020B0604020202020204" pitchFamily="34" charset="0"/>
                <a:cs typeface="Arial" panose="020B0604020202020204" pitchFamily="34" charset="0"/>
              </a:rPr>
              <a:t>Dogherty</a:t>
            </a:r>
            <a:r>
              <a:rPr lang="en-US" sz="1400" dirty="0">
                <a:latin typeface="Arial" panose="020B0604020202020204" pitchFamily="34" charset="0"/>
                <a:cs typeface="Arial" panose="020B0604020202020204" pitchFamily="34" charset="0"/>
              </a:rPr>
              <a:t>, E. J., Carley, M. E., &amp; Angus, V. (2013). Guideline adaptation and implementation planning: a prospective observational study. </a:t>
            </a:r>
            <a:r>
              <a:rPr lang="en-US" sz="1400" i="1" dirty="0">
                <a:latin typeface="Arial" panose="020B0604020202020204" pitchFamily="34" charset="0"/>
                <a:cs typeface="Arial" panose="020B0604020202020204" pitchFamily="34" charset="0"/>
              </a:rPr>
              <a:t>Implementation science</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8</a:t>
            </a:r>
            <a:r>
              <a:rPr lang="en-US" sz="1400" dirty="0">
                <a:latin typeface="Arial" panose="020B0604020202020204" pitchFamily="34" charset="0"/>
                <a:cs typeface="Arial" panose="020B0604020202020204" pitchFamily="34" charset="0"/>
              </a:rPr>
              <a:t>(1), 49.</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Lau, A. S., Rodriguez, A., Bando, L., Innes-</a:t>
            </a:r>
            <a:r>
              <a:rPr lang="en-US" sz="1400" dirty="0" err="1">
                <a:latin typeface="Arial" panose="020B0604020202020204" pitchFamily="34" charset="0"/>
                <a:cs typeface="Arial" panose="020B0604020202020204" pitchFamily="34" charset="0"/>
              </a:rPr>
              <a:t>Gomberg</a:t>
            </a:r>
            <a:r>
              <a:rPr lang="en-US" sz="1400" dirty="0">
                <a:latin typeface="Arial" panose="020B0604020202020204" pitchFamily="34" charset="0"/>
                <a:cs typeface="Arial" panose="020B0604020202020204" pitchFamily="34" charset="0"/>
              </a:rPr>
              <a:t>, D., &amp; Brookman-Frazee, L. (2020). Research community collaboration in observational implementation research: Complementary motivations and concerns in engaging in the study of implementation as usual. </a:t>
            </a:r>
            <a:r>
              <a:rPr lang="en-US" sz="1400" i="1" dirty="0">
                <a:latin typeface="Arial" panose="020B0604020202020204" pitchFamily="34" charset="0"/>
                <a:cs typeface="Arial" panose="020B0604020202020204" pitchFamily="34" charset="0"/>
              </a:rPr>
              <a:t>Administration and Policy in Mental Health and Mental Health Services Research</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47</a:t>
            </a:r>
            <a:r>
              <a:rPr lang="en-US" sz="1400" dirty="0">
                <a:latin typeface="Arial" panose="020B0604020202020204" pitchFamily="34" charset="0"/>
                <a:cs typeface="Arial" panose="020B0604020202020204" pitchFamily="34" charset="0"/>
              </a:rPr>
              <a:t>(2), 210-226.</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DiPietro, N. A. (2010). Methods in epidemiology: observational study designs. </a:t>
            </a:r>
            <a:r>
              <a:rPr lang="en-US" sz="1400" i="1" dirty="0">
                <a:latin typeface="Arial" panose="020B0604020202020204" pitchFamily="34" charset="0"/>
                <a:cs typeface="Arial" panose="020B0604020202020204" pitchFamily="34" charset="0"/>
              </a:rPr>
              <a:t>Pharmacotherapy: The Journal of Human Pharmacology and Drug Therapy</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30</a:t>
            </a:r>
            <a:r>
              <a:rPr lang="en-US" sz="1400" dirty="0">
                <a:latin typeface="Arial" panose="020B0604020202020204" pitchFamily="34" charset="0"/>
                <a:cs typeface="Arial" panose="020B0604020202020204" pitchFamily="34" charset="0"/>
              </a:rPr>
              <a:t>(10), 973-984.</a:t>
            </a:r>
          </a:p>
        </p:txBody>
      </p:sp>
    </p:spTree>
    <p:extLst>
      <p:ext uri="{BB962C8B-B14F-4D97-AF65-F5344CB8AC3E}">
        <p14:creationId xmlns:p14="http://schemas.microsoft.com/office/powerpoint/2010/main" val="320433717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3"/>
          <a:stretch>
            <a:fillRect/>
          </a:stretch>
        </p:blipFill>
        <p:spPr>
          <a:xfrm>
            <a:off x="4821175" y="1715589"/>
            <a:ext cx="7096899" cy="4730984"/>
          </a:xfrm>
          <a:prstGeom prst="rect">
            <a:avLst/>
          </a:prstGeom>
        </p:spPr>
      </p:pic>
      <p:graphicFrame>
        <p:nvGraphicFramePr>
          <p:cNvPr id="5" name="Diagrama 4"/>
          <p:cNvGraphicFramePr/>
          <p:nvPr/>
        </p:nvGraphicFramePr>
        <p:xfrm>
          <a:off x="745672" y="1486066"/>
          <a:ext cx="3788228" cy="47309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CuadroTexto 1"/>
          <p:cNvSpPr txBox="1"/>
          <p:nvPr/>
        </p:nvSpPr>
        <p:spPr>
          <a:xfrm>
            <a:off x="838201" y="6296297"/>
            <a:ext cx="3603170" cy="215444"/>
          </a:xfrm>
          <a:prstGeom prst="rect">
            <a:avLst/>
          </a:prstGeom>
          <a:noFill/>
        </p:spPr>
        <p:txBody>
          <a:bodyPr wrap="square" rtlCol="0">
            <a:spAutoFit/>
          </a:bodyPr>
          <a:lstStyle/>
          <a:p>
            <a:r>
              <a:rPr lang="es-MX" sz="800" dirty="0" err="1"/>
              <a:t>Hypertension</a:t>
            </a:r>
            <a:r>
              <a:rPr lang="es-MX" sz="800" dirty="0"/>
              <a:t>, diabetes, </a:t>
            </a:r>
            <a:r>
              <a:rPr lang="es-MX" sz="800" dirty="0" err="1"/>
              <a:t>dyslipidemia</a:t>
            </a:r>
            <a:r>
              <a:rPr lang="es-MX" sz="800" dirty="0"/>
              <a:t>, </a:t>
            </a:r>
            <a:r>
              <a:rPr lang="es-MX" sz="800" dirty="0" err="1"/>
              <a:t>obesity</a:t>
            </a:r>
            <a:endParaRPr lang="es-MX" sz="800" dirty="0"/>
          </a:p>
        </p:txBody>
      </p:sp>
      <p:sp>
        <p:nvSpPr>
          <p:cNvPr id="7" name="Rectangle 6">
            <a:extLst>
              <a:ext uri="{FF2B5EF4-FFF2-40B4-BE49-F238E27FC236}">
                <a16:creationId xmlns:a16="http://schemas.microsoft.com/office/drawing/2014/main" id="{C2E703CD-EF02-446D-B5E1-B362CDCBC9A8}"/>
              </a:ext>
            </a:extLst>
          </p:cNvPr>
          <p:cNvSpPr/>
          <p:nvPr/>
        </p:nvSpPr>
        <p:spPr>
          <a:xfrm>
            <a:off x="0" y="0"/>
            <a:ext cx="12192000" cy="134112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ítulo 5">
            <a:extLst>
              <a:ext uri="{FF2B5EF4-FFF2-40B4-BE49-F238E27FC236}">
                <a16:creationId xmlns:a16="http://schemas.microsoft.com/office/drawing/2014/main" id="{90D810A4-136E-4991-B017-CBCC330E5D6D}"/>
              </a:ext>
            </a:extLst>
          </p:cNvPr>
          <p:cNvSpPr txBox="1">
            <a:spLocks/>
          </p:cNvSpPr>
          <p:nvPr/>
        </p:nvSpPr>
        <p:spPr>
          <a:xfrm>
            <a:off x="107576" y="365126"/>
            <a:ext cx="11985812" cy="1254668"/>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4000" dirty="0">
                <a:solidFill>
                  <a:schemeClr val="bg1"/>
                </a:solidFill>
              </a:rPr>
              <a:t>CASALUD: Are </a:t>
            </a:r>
            <a:r>
              <a:rPr lang="es-MX" sz="4000" dirty="0" err="1">
                <a:solidFill>
                  <a:schemeClr val="bg1"/>
                </a:solidFill>
              </a:rPr>
              <a:t>there</a:t>
            </a:r>
            <a:r>
              <a:rPr lang="es-MX" sz="4000" dirty="0">
                <a:solidFill>
                  <a:schemeClr val="bg1"/>
                </a:solidFill>
              </a:rPr>
              <a:t> </a:t>
            </a:r>
            <a:r>
              <a:rPr lang="es-MX" sz="4000" dirty="0" err="1">
                <a:solidFill>
                  <a:schemeClr val="bg1"/>
                </a:solidFill>
              </a:rPr>
              <a:t>disparities</a:t>
            </a:r>
            <a:r>
              <a:rPr lang="es-MX" sz="4000" dirty="0">
                <a:solidFill>
                  <a:schemeClr val="bg1"/>
                </a:solidFill>
              </a:rPr>
              <a:t> in </a:t>
            </a:r>
            <a:r>
              <a:rPr lang="es-MX" sz="4000" dirty="0" err="1">
                <a:solidFill>
                  <a:schemeClr val="bg1"/>
                </a:solidFill>
              </a:rPr>
              <a:t>quality</a:t>
            </a:r>
            <a:r>
              <a:rPr lang="es-MX" sz="4000" dirty="0">
                <a:solidFill>
                  <a:schemeClr val="bg1"/>
                </a:solidFill>
              </a:rPr>
              <a:t> of </a:t>
            </a:r>
            <a:r>
              <a:rPr lang="es-MX" sz="4000" dirty="0" err="1">
                <a:solidFill>
                  <a:schemeClr val="bg1"/>
                </a:solidFill>
              </a:rPr>
              <a:t>cardiometabolic</a:t>
            </a:r>
            <a:r>
              <a:rPr lang="es-MX" sz="4000" dirty="0">
                <a:solidFill>
                  <a:schemeClr val="bg1"/>
                </a:solidFill>
              </a:rPr>
              <a:t> care </a:t>
            </a:r>
            <a:r>
              <a:rPr lang="es-MX" sz="4000" dirty="0" err="1">
                <a:solidFill>
                  <a:schemeClr val="bg1"/>
                </a:solidFill>
              </a:rPr>
              <a:t>by</a:t>
            </a:r>
            <a:r>
              <a:rPr lang="es-MX" sz="4000" dirty="0">
                <a:solidFill>
                  <a:schemeClr val="bg1"/>
                </a:solidFill>
              </a:rPr>
              <a:t> </a:t>
            </a:r>
            <a:r>
              <a:rPr lang="es-MX" sz="4000" dirty="0" err="1">
                <a:solidFill>
                  <a:schemeClr val="bg1"/>
                </a:solidFill>
              </a:rPr>
              <a:t>state</a:t>
            </a:r>
            <a:r>
              <a:rPr lang="es-MX" sz="4000" dirty="0">
                <a:solidFill>
                  <a:schemeClr val="bg1"/>
                </a:solidFill>
              </a:rPr>
              <a:t> in </a:t>
            </a:r>
            <a:r>
              <a:rPr lang="es-MX" sz="4000" dirty="0" err="1">
                <a:solidFill>
                  <a:schemeClr val="bg1"/>
                </a:solidFill>
              </a:rPr>
              <a:t>Mexico</a:t>
            </a:r>
            <a:r>
              <a:rPr lang="es-MX" sz="4000" dirty="0">
                <a:solidFill>
                  <a:schemeClr val="bg1"/>
                </a:solidFill>
              </a:rPr>
              <a:t>? A </a:t>
            </a:r>
            <a:r>
              <a:rPr lang="es-MX" sz="4000" dirty="0" err="1">
                <a:solidFill>
                  <a:schemeClr val="bg1"/>
                </a:solidFill>
              </a:rPr>
              <a:t>cross-sectional</a:t>
            </a:r>
            <a:r>
              <a:rPr lang="es-MX" sz="4000" dirty="0">
                <a:solidFill>
                  <a:schemeClr val="bg1"/>
                </a:solidFill>
              </a:rPr>
              <a:t> EHR-</a:t>
            </a:r>
            <a:r>
              <a:rPr lang="es-MX" sz="4000" dirty="0" err="1">
                <a:solidFill>
                  <a:schemeClr val="bg1"/>
                </a:solidFill>
              </a:rPr>
              <a:t>based</a:t>
            </a:r>
            <a:r>
              <a:rPr lang="es-MX" sz="4000" dirty="0">
                <a:solidFill>
                  <a:schemeClr val="bg1"/>
                </a:solidFill>
              </a:rPr>
              <a:t> </a:t>
            </a:r>
            <a:r>
              <a:rPr lang="es-MX" sz="4000" dirty="0" err="1">
                <a:solidFill>
                  <a:schemeClr val="bg1"/>
                </a:solidFill>
              </a:rPr>
              <a:t>study</a:t>
            </a:r>
            <a:br>
              <a:rPr lang="es-MX" sz="2000" dirty="0">
                <a:solidFill>
                  <a:schemeClr val="bg1"/>
                </a:solidFill>
              </a:rPr>
            </a:br>
            <a:r>
              <a:rPr lang="es-MX" sz="2000" dirty="0">
                <a:solidFill>
                  <a:schemeClr val="bg1"/>
                </a:solidFill>
              </a:rPr>
              <a:t>	</a:t>
            </a:r>
          </a:p>
        </p:txBody>
      </p:sp>
      <p:sp>
        <p:nvSpPr>
          <p:cNvPr id="6" name="Rectangle 5">
            <a:extLst>
              <a:ext uri="{FF2B5EF4-FFF2-40B4-BE49-F238E27FC236}">
                <a16:creationId xmlns:a16="http://schemas.microsoft.com/office/drawing/2014/main" id="{74C76EBB-2DB8-4FAB-B31A-2962D4887CC5}"/>
              </a:ext>
            </a:extLst>
          </p:cNvPr>
          <p:cNvSpPr/>
          <p:nvPr/>
        </p:nvSpPr>
        <p:spPr>
          <a:xfrm>
            <a:off x="11281410" y="2263140"/>
            <a:ext cx="548640" cy="3749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extLst>
      <p:ext uri="{BB962C8B-B14F-4D97-AF65-F5344CB8AC3E}">
        <p14:creationId xmlns:p14="http://schemas.microsoft.com/office/powerpoint/2010/main" val="392000993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0B0DD0-2BFE-4166-A498-80AB39892C36}"/>
              </a:ext>
            </a:extLst>
          </p:cNvPr>
          <p:cNvSpPr/>
          <p:nvPr/>
        </p:nvSpPr>
        <p:spPr>
          <a:xfrm>
            <a:off x="0" y="0"/>
            <a:ext cx="12192000" cy="77152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4400" dirty="0">
                <a:solidFill>
                  <a:schemeClr val="bg1"/>
                </a:solidFill>
                <a:latin typeface="Arial" panose="020B0604020202020204" pitchFamily="34" charset="0"/>
                <a:cs typeface="Arial" panose="020B0604020202020204" pitchFamily="34" charset="0"/>
              </a:rPr>
              <a:t>A Few Take Home Points</a:t>
            </a:r>
            <a:endParaRPr lang="en-US" sz="2800" dirty="0">
              <a:solidFill>
                <a:schemeClr val="bg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20" name="TextBox 19">
            <a:extLst>
              <a:ext uri="{FF2B5EF4-FFF2-40B4-BE49-F238E27FC236}">
                <a16:creationId xmlns:a16="http://schemas.microsoft.com/office/drawing/2014/main" id="{22493B0D-0515-4791-A7FF-8F8B1283D645}"/>
              </a:ext>
            </a:extLst>
          </p:cNvPr>
          <p:cNvSpPr txBox="1"/>
          <p:nvPr/>
        </p:nvSpPr>
        <p:spPr>
          <a:xfrm>
            <a:off x="145677" y="829538"/>
            <a:ext cx="9111916" cy="4770537"/>
          </a:xfrm>
          <a:prstGeom prst="rect">
            <a:avLst/>
          </a:prstGeom>
          <a:noFill/>
        </p:spPr>
        <p:txBody>
          <a:bodyPr wrap="square">
            <a:spAutoFit/>
          </a:bodyPr>
          <a:lstStyle/>
          <a:p>
            <a:pPr>
              <a:spcBef>
                <a:spcPct val="0"/>
              </a:spcBef>
              <a:spcAft>
                <a:spcPts val="12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Implementation studies require consideration of context, multiple levels, multiple components; timing matters</a:t>
            </a:r>
          </a:p>
          <a:p>
            <a:pPr>
              <a:spcBef>
                <a:spcPct val="0"/>
              </a:spcBef>
              <a:spcAft>
                <a:spcPts val="12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Identify and rank potential study designs then decide</a:t>
            </a:r>
          </a:p>
          <a:p>
            <a:pPr>
              <a:spcBef>
                <a:spcPct val="0"/>
              </a:spcBef>
              <a:spcAft>
                <a:spcPts val="12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Consider randomization in real-world roll-outs when possible to increase rigor</a:t>
            </a:r>
          </a:p>
          <a:p>
            <a:pPr>
              <a:spcBef>
                <a:spcPct val="0"/>
              </a:spcBef>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Consider innovative approaches if relevant to your </a:t>
            </a:r>
          </a:p>
          <a:p>
            <a:pPr>
              <a:spcBef>
                <a:spcPct val="0"/>
              </a:spcBef>
              <a:buClr>
                <a:schemeClr val="tx2">
                  <a:lumMod val="60000"/>
                  <a:lumOff val="40000"/>
                </a:schemeClr>
              </a:buClr>
            </a:pPr>
            <a:r>
              <a:rPr lang="en-US" sz="2400" dirty="0">
                <a:latin typeface="Arial" panose="020B0604020202020204" pitchFamily="34" charset="0"/>
                <a:cs typeface="Arial" panose="020B0604020202020204" pitchFamily="34" charset="0"/>
              </a:rPr>
              <a:t>study</a:t>
            </a:r>
          </a:p>
          <a:p>
            <a:pPr>
              <a:spcBef>
                <a:spcPct val="0"/>
              </a:spcBef>
              <a:buClr>
                <a:schemeClr val="tx2">
                  <a:lumMod val="60000"/>
                  <a:lumOff val="40000"/>
                </a:schemeClr>
              </a:buClr>
            </a:pPr>
            <a:endParaRPr lang="en-US" sz="2400" dirty="0">
              <a:latin typeface="Arial" panose="020B0604020202020204" pitchFamily="34" charset="0"/>
              <a:cs typeface="Arial" panose="020B0604020202020204" pitchFamily="34" charset="0"/>
            </a:endParaRPr>
          </a:p>
          <a:p>
            <a:pPr>
              <a:spcBef>
                <a:spcPct val="0"/>
              </a:spcBef>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If randomization is not possible, there are </a:t>
            </a:r>
          </a:p>
          <a:p>
            <a:pPr>
              <a:spcBef>
                <a:spcPct val="0"/>
              </a:spcBef>
              <a:buClr>
                <a:schemeClr val="tx2">
                  <a:lumMod val="60000"/>
                  <a:lumOff val="40000"/>
                </a:schemeClr>
              </a:buClr>
            </a:pPr>
            <a:r>
              <a:rPr lang="en-US" sz="2400" dirty="0">
                <a:latin typeface="Arial" panose="020B0604020202020204" pitchFamily="34" charset="0"/>
                <a:cs typeface="Arial" panose="020B0604020202020204" pitchFamily="34" charset="0"/>
              </a:rPr>
              <a:t>quasi-experimental and observational designs </a:t>
            </a:r>
          </a:p>
          <a:p>
            <a:pPr>
              <a:spcBef>
                <a:spcPct val="0"/>
              </a:spcBef>
              <a:buClr>
                <a:schemeClr val="tx2">
                  <a:lumMod val="60000"/>
                  <a:lumOff val="40000"/>
                </a:schemeClr>
              </a:buClr>
            </a:pPr>
            <a:r>
              <a:rPr lang="en-US" sz="2400" dirty="0">
                <a:latin typeface="Arial" panose="020B0604020202020204" pitchFamily="34" charset="0"/>
                <a:cs typeface="Arial" panose="020B0604020202020204" pitchFamily="34" charset="0"/>
              </a:rPr>
              <a:t>available – this is the focus of causal inference</a:t>
            </a:r>
          </a:p>
        </p:txBody>
      </p:sp>
      <p:pic>
        <p:nvPicPr>
          <p:cNvPr id="21" name="Picture 20">
            <a:extLst>
              <a:ext uri="{FF2B5EF4-FFF2-40B4-BE49-F238E27FC236}">
                <a16:creationId xmlns:a16="http://schemas.microsoft.com/office/drawing/2014/main" id="{DFCECACD-4EC0-45FD-B9EC-B2334E63E5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89423" y="883326"/>
            <a:ext cx="2847439" cy="4067770"/>
          </a:xfrm>
          <a:prstGeom prst="rect">
            <a:avLst/>
          </a:prstGeom>
        </p:spPr>
      </p:pic>
      <p:pic>
        <p:nvPicPr>
          <p:cNvPr id="22" name="Picture 2" descr="https://global.oup.com/academic/covers/pop-up/9780190647421">
            <a:extLst>
              <a:ext uri="{FF2B5EF4-FFF2-40B4-BE49-F238E27FC236}">
                <a16:creationId xmlns:a16="http://schemas.microsoft.com/office/drawing/2014/main" id="{EF3B1A1B-A256-45CD-931C-D85A4C844F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7169" y="3555890"/>
            <a:ext cx="2456928" cy="353746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1C266A01-3367-4C11-A72A-15DBFD88C8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60752" y="3731565"/>
            <a:ext cx="2456929" cy="3186111"/>
          </a:xfrm>
          <a:prstGeom prst="rect">
            <a:avLst/>
          </a:prstGeom>
        </p:spPr>
      </p:pic>
    </p:spTree>
    <p:extLst>
      <p:ext uri="{BB962C8B-B14F-4D97-AF65-F5344CB8AC3E}">
        <p14:creationId xmlns:p14="http://schemas.microsoft.com/office/powerpoint/2010/main" val="370916914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theme/theme1.xml><?xml version="1.0" encoding="utf-8"?>
<a:theme xmlns:a="http://schemas.openxmlformats.org/drawingml/2006/main" name="ysph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56A"/>
        </a:solidFill>
        <a:ln>
          <a:noFill/>
        </a:ln>
      </a:spPr>
      <a:bodyPr rtlCol="0" anchor="ctr"/>
      <a:lstStyle>
        <a:defPPr algn="ctr">
          <a:defRPr sz="4400" dirty="0" smtClean="0">
            <a:solidFill>
              <a:schemeClr val="bg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ysph theme" id="{A273E6F1-11F6-48BF-8C40-201B3A3C711D}" vid="{0BEB8359-017B-4AF6-80F0-00237EDF1F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ysph theme</Template>
  <TotalTime>3800</TotalTime>
  <Words>3580</Words>
  <Application>Microsoft Office PowerPoint</Application>
  <PresentationFormat>Widescreen</PresentationFormat>
  <Paragraphs>312</Paragraphs>
  <Slides>41</Slides>
  <Notes>19</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Helvetica</vt:lpstr>
      <vt:lpstr>Times New Roman</vt:lpstr>
      <vt:lpstr>Wingdings</vt:lpstr>
      <vt:lpstr>ysph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Maternal mortality is nearly entirely preventable</vt:lpstr>
      <vt:lpstr>Proposal: Multi-factorial CRT (cluster-randomized trial)  to prevent maternal mortality</vt:lpstr>
      <vt:lpstr>Definitions of Implementation Science</vt:lpstr>
      <vt:lpstr>PowerPoint Presentation</vt:lpstr>
      <vt:lpstr>Features of Implementation and Dissemination Research</vt:lpstr>
      <vt:lpstr>PowerPoint Presentation</vt:lpstr>
      <vt:lpstr>PowerPoint Presentation</vt:lpstr>
      <vt:lpstr>PowerPoint Presentation</vt:lpstr>
      <vt:lpstr>PowerPoint Presentation</vt:lpstr>
      <vt:lpstr>PowerPoint Presentation</vt:lpstr>
      <vt:lpstr>PowerPoint Presentation</vt:lpstr>
      <vt:lpstr> Case Study:  The Familia Salama study Dar es Salaam, Tanzania </vt:lpstr>
      <vt:lpstr>60 Wards in 2 of 3 districts in Dar es Salaam were randomized to one of four arms in this cluster-randomized implementation trial</vt:lpstr>
      <vt:lpstr>PowerPoint Presentation</vt:lpstr>
      <vt:lpstr>Early Access to ART in Swaziland, CHAI Impact of early initiation versus national standard of care of antiretroviral therapy in Swaziland’s public sector health system: the MaxART stepped-wedge randomized trial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Marla Saben</dc:creator>
  <cp:lastModifiedBy>Spiegelman, Donna</cp:lastModifiedBy>
  <cp:revision>156</cp:revision>
  <dcterms:created xsi:type="dcterms:W3CDTF">2019-09-02T04:55:34Z</dcterms:created>
  <dcterms:modified xsi:type="dcterms:W3CDTF">2026-09-07T23:38:52Z</dcterms:modified>
</cp:coreProperties>
</file>